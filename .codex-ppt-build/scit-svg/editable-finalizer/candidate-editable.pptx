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84a09fce604ee6" /><Relationship Type="http://schemas.openxmlformats.org/officeDocument/2006/relationships/extended-properties" Target="/docProps/app.xml" Id="Rb6741e2ec0a84f7f" /><Relationship Type="http://schemas.openxmlformats.org/officeDocument/2006/relationships/officeDocument" Target="/ppt/presentation.xml" Id="R93be260bc5444e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460ca2578b4851"/>
  </p:sldMasterIdLst>
  <p:notesMasterIdLst>
    <p:notesMasterId xmlns:r="http://schemas.openxmlformats.org/officeDocument/2006/relationships" r:id="R6a4ca1431102469f"/>
  </p:notesMasterIdLst>
  <p:sldIdLst>
    <p:sldId xmlns:r="http://schemas.openxmlformats.org/officeDocument/2006/relationships" id="256" r:id="R1c1cab41825643d7"/>
  </p:sldIdLst>
  <p:sldSz cx="22860000" cy="13335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e39b2dad71490c" /><Relationship Type="http://schemas.openxmlformats.org/officeDocument/2006/relationships/slideMaster" Target="/ppt/slideMasters/slideMaster1.xml" Id="R16460ca2578b4851" /><Relationship Type="http://schemas.openxmlformats.org/officeDocument/2006/relationships/notesMaster" Target="/ppt/notesMasters/notesMaster1.xml" Id="R6a4ca1431102469f" /><Relationship Type="http://schemas.openxmlformats.org/officeDocument/2006/relationships/presProps" Target="/ppt/presProps.xml" Id="R0ccd58bb43014683" /><Relationship Type="http://schemas.openxmlformats.org/officeDocument/2006/relationships/tableStyles" Target="/ppt/tableStyles.xml" Id="R85a7f9e8ea0c4871" /><Relationship Type="http://schemas.openxmlformats.org/officeDocument/2006/relationships/slide" Target="/ppt/slides/slide1.xml" Id="R1c1cab41825643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170cdc219643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3857c593334f29" /><Relationship Type="http://schemas.openxmlformats.org/officeDocument/2006/relationships/notesMaster" Target="/ppt/notesMasters/notesMaster1.xml" Id="R89e564e2ca2742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Reconstructed as native PowerPoint shapes from figures/scit_speech_figure_blueprint.svg. Every box, line, arrowhead, and text label is independently editable.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1a6808f58a42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ea4a4db2d24d78" /><Relationship Type="http://schemas.openxmlformats.org/officeDocument/2006/relationships/slideLayout" Target="/ppt/slideLayouts/slideLayout1.xml" Id="R0157a441c79843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57a441c79843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daf365225c4964" /><Relationship Type="http://schemas.openxmlformats.org/officeDocument/2006/relationships/notesSlide" Target="/ppt/notesSlides/notesSlide1.xml" Id="Rc1b6179077314b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3" name="svg_rect_001">
            <a:extLst xmlns:a="http://schemas.openxmlformats.org/drawingml/2006/main">
              <a:ext uri="{FF2B5EF4-FFF2-40B4-BE49-F238E27FC236}">
                <a16:creationId xmlns:a16="http://schemas.microsoft.com/office/drawing/2014/main" id="{08A95D12-3D68-4B13-9EB6-CF6D65D4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00" cy="1333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vg_rect_002">
            <a:extLst xmlns:a="http://schemas.openxmlformats.org/drawingml/2006/main">
              <a:ext uri="{FF2B5EF4-FFF2-40B4-BE49-F238E27FC236}">
                <a16:creationId xmlns:a16="http://schemas.microsoft.com/office/drawing/2014/main" id="{4F3A0FAF-0F82-4AE3-AC52-07861552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2247900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DB5E8"/>
            </a:solidFill>
            <a:prstDash val="dash"/>
          </a:ln>
        </p:spPr>
      </p:sp>
      <p:sp>
        <p:nvSpPr>
          <p:cNvPr id="3" name="svg_circle_003">
            <a:extLst xmlns:a="http://schemas.openxmlformats.org/drawingml/2006/main">
              <a:ext uri="{FF2B5EF4-FFF2-40B4-BE49-F238E27FC236}">
                <a16:creationId xmlns:a16="http://schemas.microsoft.com/office/drawing/2014/main" id="{5346FBDA-35CC-4730-89C9-951CB2CA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2571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0B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vg_text_004">
            <a:extLst xmlns:a="http://schemas.openxmlformats.org/drawingml/2006/main">
              <a:ext uri="{FF2B5EF4-FFF2-40B4-BE49-F238E27FC236}">
                <a16:creationId xmlns:a16="http://schemas.microsoft.com/office/drawing/2014/main" id="{3C41D144-C6C8-4E63-89E4-C544B6A5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" y="324564"/>
            <a:ext cx="565785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svg_text_005">
            <a:extLst xmlns:a="http://schemas.openxmlformats.org/drawingml/2006/main">
              <a:ext uri="{FF2B5EF4-FFF2-40B4-BE49-F238E27FC236}">
                <a16:creationId xmlns:a16="http://schemas.microsoft.com/office/drawing/2014/main" id="{BA4C55DA-72B1-455E-820E-7300693D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2613"/>
            <a:ext cx="606552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F172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F1720"/>
                </a:solidFill>
                <a:latin typeface="Arial"/>
                <a:ea typeface="Arial"/>
                <a:cs typeface="Arial"/>
              </a:rPr>
              <a:t>OFFLINE ENCODER ARCHITECTURE SEARCH</a:t>
            </a:r>
          </a:p>
        </p:txBody>
      </p:sp>
      <p:sp>
        <p:nvSpPr>
          <p:cNvPr id="6" name="svg_rect_006">
            <a:extLst xmlns:a="http://schemas.openxmlformats.org/drawingml/2006/main">
              <a:ext uri="{FF2B5EF4-FFF2-40B4-BE49-F238E27FC236}">
                <a16:creationId xmlns:a16="http://schemas.microsoft.com/office/drawing/2014/main" id="{AB6A5168-9FAC-472D-998F-1242D8C7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0" y="323850"/>
            <a:ext cx="1714500" cy="381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ECF6FF"/>
          </a:solidFill>
          <a:ln xmlns:a="http://schemas.openxmlformats.org/drawingml/2006/main" w="14288">
            <a:solidFill>
              <a:srgbClr val="78AFE0"/>
            </a:solidFill>
            <a:prstDash val="solid"/>
          </a:ln>
        </p:spPr>
      </p:sp>
      <p:sp>
        <p:nvSpPr>
          <p:cNvPr id="7" name="svg_text_007">
            <a:extLst xmlns:a="http://schemas.openxmlformats.org/drawingml/2006/main">
              <a:ext uri="{FF2B5EF4-FFF2-40B4-BE49-F238E27FC236}">
                <a16:creationId xmlns:a16="http://schemas.microsoft.com/office/drawing/2014/main" id="{1A7C0F91-E105-4210-AF94-53FFCE0A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4740" y="396621"/>
            <a:ext cx="2263521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Encoder Search Only</a:t>
            </a:r>
          </a:p>
        </p:txBody>
      </p:sp>
      <p:sp>
        <p:nvSpPr>
          <p:cNvPr id="8" name="svg_rect_008">
            <a:extLst xmlns:a="http://schemas.openxmlformats.org/drawingml/2006/main">
              <a:ext uri="{FF2B5EF4-FFF2-40B4-BE49-F238E27FC236}">
                <a16:creationId xmlns:a16="http://schemas.microsoft.com/office/drawing/2014/main" id="{5149E7E4-A772-4737-BFAD-61E228C2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2857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9050">
            <a:solidFill>
              <a:srgbClr val="408FD2"/>
            </a:solidFill>
            <a:prstDash val="solid"/>
          </a:ln>
        </p:spPr>
      </p:sp>
      <p:sp>
        <p:nvSpPr>
          <p:cNvPr id="9" name="svg_text_009">
            <a:extLst xmlns:a="http://schemas.openxmlformats.org/drawingml/2006/main">
              <a:ext uri="{FF2B5EF4-FFF2-40B4-BE49-F238E27FC236}">
                <a16:creationId xmlns:a16="http://schemas.microsoft.com/office/drawing/2014/main" id="{C391F33D-738B-492E-B575-A22CD672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22" y="1130046"/>
            <a:ext cx="2703957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Candidate Encoder Space</a:t>
            </a:r>
          </a:p>
        </p:txBody>
      </p:sp>
      <p:sp>
        <p:nvSpPr>
          <p:cNvPr id="10" name="svg_text_010">
            <a:extLst xmlns:a="http://schemas.openxmlformats.org/drawingml/2006/main">
              <a:ext uri="{FF2B5EF4-FFF2-40B4-BE49-F238E27FC236}">
                <a16:creationId xmlns:a16="http://schemas.microsoft.com/office/drawing/2014/main" id="{03E0E025-6AF7-40EE-B2E1-2235E978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" y="1408557"/>
            <a:ext cx="334518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candidate blocks, widths and depths</a:t>
            </a:r>
          </a:p>
        </p:txBody>
      </p:sp>
      <p:sp>
        <p:nvSpPr>
          <p:cNvPr id="11" name="svg_path_011">
            <a:extLst xmlns:a="http://schemas.openxmlformats.org/drawingml/2006/main">
              <a:ext uri="{FF2B5EF4-FFF2-40B4-BE49-F238E27FC236}">
                <a16:creationId xmlns:a16="http://schemas.microsoft.com/office/drawing/2014/main" id="{24D0A6D1-50EF-43BE-83A1-C160D0AA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00175"/>
            <a:ext cx="762000" cy="9525"/>
          </a:xfrm>
          <a:custGeom xmlns:a="http://schemas.openxmlformats.org/drawingml/2006/main"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86D8"/>
            </a:solidFill>
            <a:prstDash val="solid"/>
          </a:ln>
        </p:spPr>
      </p:sp>
      <p:sp>
        <p:nvSpPr>
          <p:cNvPr id="12" name="svg_arrowhead_012">
            <a:extLst xmlns:a="http://schemas.openxmlformats.org/drawingml/2006/main">
              <a:ext uri="{FF2B5EF4-FFF2-40B4-BE49-F238E27FC236}">
                <a16:creationId xmlns:a16="http://schemas.microsoft.com/office/drawing/2014/main" id="{9DB57572-0C8B-4027-8796-182955F5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347788"/>
            <a:ext cx="104775" cy="104775"/>
          </a:xfrm>
          <a:custGeom xmlns:a="http://schemas.openxmlformats.org/drawingml/2006/main"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386D8"/>
          </a:solidFill>
          <a:ln xmlns:a="http://schemas.openxmlformats.org/drawingml/2006/main" w="4763">
            <a:solidFill>
              <a:srgbClr val="2386D8"/>
            </a:solidFill>
            <a:prstDash val="solid"/>
          </a:ln>
        </p:spPr>
      </p:sp>
      <p:sp>
        <p:nvSpPr>
          <p:cNvPr id="13" name="svg_rect_013">
            <a:extLst xmlns:a="http://schemas.openxmlformats.org/drawingml/2006/main">
              <a:ext uri="{FF2B5EF4-FFF2-40B4-BE49-F238E27FC236}">
                <a16:creationId xmlns:a16="http://schemas.microsoft.com/office/drawing/2014/main" id="{FDDB53FE-9D7B-4B30-BC38-0763F0FD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904875"/>
            <a:ext cx="34766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9050">
            <a:solidFill>
              <a:srgbClr val="408FD2"/>
            </a:solidFill>
            <a:prstDash val="solid"/>
          </a:ln>
        </p:spPr>
      </p:sp>
      <p:sp>
        <p:nvSpPr>
          <p:cNvPr id="14" name="svg_text_014">
            <a:extLst xmlns:a="http://schemas.openxmlformats.org/drawingml/2006/main">
              <a:ext uri="{FF2B5EF4-FFF2-40B4-BE49-F238E27FC236}">
                <a16:creationId xmlns:a16="http://schemas.microsoft.com/office/drawing/2014/main" id="{17295D53-B7C0-4ADB-8A33-4671A1A5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495" y="1044321"/>
            <a:ext cx="3364611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Teacher-Guided Proxy Training</a:t>
            </a:r>
          </a:p>
        </p:txBody>
      </p:sp>
      <p:sp>
        <p:nvSpPr>
          <p:cNvPr id="15" name="svg_text_015">
            <a:extLst xmlns:a="http://schemas.openxmlformats.org/drawingml/2006/main">
              <a:ext uri="{FF2B5EF4-FFF2-40B4-BE49-F238E27FC236}">
                <a16:creationId xmlns:a16="http://schemas.microsoft.com/office/drawing/2014/main" id="{411EF151-8D90-4706-8491-CA8BD728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227" y="1313307"/>
            <a:ext cx="307314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Teacher → distillation → Student</a:t>
            </a:r>
          </a:p>
        </p:txBody>
      </p:sp>
      <p:sp>
        <p:nvSpPr>
          <p:cNvPr id="16" name="svg_text_016">
            <a:extLst xmlns:a="http://schemas.openxmlformats.org/drawingml/2006/main">
              <a:ext uri="{FF2B5EF4-FFF2-40B4-BE49-F238E27FC236}">
                <a16:creationId xmlns:a16="http://schemas.microsoft.com/office/drawing/2014/main" id="{92D989DC-FFC4-4B55-831B-1E173CA4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0515" y="1541907"/>
            <a:ext cx="379857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short proxy training for every candidate</a:t>
            </a:r>
          </a:p>
        </p:txBody>
      </p:sp>
      <p:sp>
        <p:nvSpPr>
          <p:cNvPr id="17" name="svg_path_017">
            <a:extLst xmlns:a="http://schemas.openxmlformats.org/drawingml/2006/main">
              <a:ext uri="{FF2B5EF4-FFF2-40B4-BE49-F238E27FC236}">
                <a16:creationId xmlns:a16="http://schemas.microsoft.com/office/drawing/2014/main" id="{0A95D842-CBF4-4E0B-8C88-65D44D73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400175"/>
            <a:ext cx="762000" cy="9525"/>
          </a:xfrm>
          <a:custGeom xmlns:a="http://schemas.openxmlformats.org/drawingml/2006/main"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86D8"/>
            </a:solidFill>
            <a:prstDash val="solid"/>
          </a:ln>
        </p:spPr>
      </p:sp>
      <p:sp>
        <p:nvSpPr>
          <p:cNvPr id="18" name="svg_arrowhead_018">
            <a:extLst xmlns:a="http://schemas.openxmlformats.org/drawingml/2006/main">
              <a:ext uri="{FF2B5EF4-FFF2-40B4-BE49-F238E27FC236}">
                <a16:creationId xmlns:a16="http://schemas.microsoft.com/office/drawing/2014/main" id="{4ECC5CFC-2ABA-4592-BFAE-2E1A5C34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347788"/>
            <a:ext cx="104775" cy="104775"/>
          </a:xfrm>
          <a:custGeom xmlns:a="http://schemas.openxmlformats.org/drawingml/2006/main"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386D8"/>
          </a:solidFill>
          <a:ln xmlns:a="http://schemas.openxmlformats.org/drawingml/2006/main" w="4763">
            <a:solidFill>
              <a:srgbClr val="2386D8"/>
            </a:solidFill>
            <a:prstDash val="solid"/>
          </a:ln>
        </p:spPr>
      </p:sp>
      <p:sp>
        <p:nvSpPr>
          <p:cNvPr id="19" name="svg_rect_019">
            <a:extLst xmlns:a="http://schemas.openxmlformats.org/drawingml/2006/main">
              <a:ext uri="{FF2B5EF4-FFF2-40B4-BE49-F238E27FC236}">
                <a16:creationId xmlns:a16="http://schemas.microsoft.com/office/drawing/2014/main" id="{C073334C-C93C-4899-AC0C-D2C00077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904875"/>
            <a:ext cx="34766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9050">
            <a:solidFill>
              <a:srgbClr val="408FD2"/>
            </a:solidFill>
            <a:prstDash val="solid"/>
          </a:ln>
        </p:spPr>
      </p:sp>
      <p:sp>
        <p:nvSpPr>
          <p:cNvPr id="20" name="svg_text_020">
            <a:extLst xmlns:a="http://schemas.openxmlformats.org/drawingml/2006/main">
              <a:ext uri="{FF2B5EF4-FFF2-40B4-BE49-F238E27FC236}">
                <a16:creationId xmlns:a16="http://schemas.microsoft.com/office/drawing/2014/main" id="{75C5E554-8709-4DF0-B24B-5D3D7FFA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065" y="1044321"/>
            <a:ext cx="347472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Resource and Quality Profiling</a:t>
            </a:r>
          </a:p>
        </p:txBody>
      </p:sp>
      <p:sp>
        <p:nvSpPr>
          <p:cNvPr id="21" name="svg_text_021">
            <a:extLst xmlns:a="http://schemas.openxmlformats.org/drawingml/2006/main">
              <a:ext uri="{FF2B5EF4-FFF2-40B4-BE49-F238E27FC236}">
                <a16:creationId xmlns:a16="http://schemas.microsoft.com/office/drawing/2014/main" id="{F927258F-8A5C-40C4-B3DB-48A1E8A1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496" y="1313307"/>
            <a:ext cx="343585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quality ↑ · latency ↓ · model size ↓</a:t>
            </a:r>
          </a:p>
        </p:txBody>
      </p:sp>
      <p:sp>
        <p:nvSpPr>
          <p:cNvPr id="22" name="svg_text_022">
            <a:extLst xmlns:a="http://schemas.openxmlformats.org/drawingml/2006/main">
              <a:ext uri="{FF2B5EF4-FFF2-40B4-BE49-F238E27FC236}">
                <a16:creationId xmlns:a16="http://schemas.microsoft.com/office/drawing/2014/main" id="{0E09EDDF-9998-4E05-A66D-9D389931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191" y="1541907"/>
            <a:ext cx="298246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one point per candidate encoder</a:t>
            </a:r>
          </a:p>
        </p:txBody>
      </p:sp>
      <p:sp>
        <p:nvSpPr>
          <p:cNvPr id="23" name="svg_path_023">
            <a:extLst xmlns:a="http://schemas.openxmlformats.org/drawingml/2006/main">
              <a:ext uri="{FF2B5EF4-FFF2-40B4-BE49-F238E27FC236}">
                <a16:creationId xmlns:a16="http://schemas.microsoft.com/office/drawing/2014/main" id="{D0DB05B1-31C5-4552-A03F-B61D7044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1400175"/>
            <a:ext cx="762000" cy="9525"/>
          </a:xfrm>
          <a:custGeom xmlns:a="http://schemas.openxmlformats.org/drawingml/2006/main"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86D8"/>
            </a:solidFill>
            <a:prstDash val="solid"/>
          </a:ln>
        </p:spPr>
      </p:sp>
      <p:sp>
        <p:nvSpPr>
          <p:cNvPr id="24" name="svg_arrowhead_024">
            <a:extLst xmlns:a="http://schemas.openxmlformats.org/drawingml/2006/main">
              <a:ext uri="{FF2B5EF4-FFF2-40B4-BE49-F238E27FC236}">
                <a16:creationId xmlns:a16="http://schemas.microsoft.com/office/drawing/2014/main" id="{ACA477E6-6F4B-425F-9B2F-F6ADA1CE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8725" y="1347788"/>
            <a:ext cx="104775" cy="104775"/>
          </a:xfrm>
          <a:custGeom xmlns:a="http://schemas.openxmlformats.org/drawingml/2006/main"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386D8"/>
          </a:solidFill>
          <a:ln xmlns:a="http://schemas.openxmlformats.org/drawingml/2006/main" w="4763">
            <a:solidFill>
              <a:srgbClr val="2386D8"/>
            </a:solidFill>
            <a:prstDash val="solid"/>
          </a:ln>
        </p:spPr>
      </p:sp>
      <p:sp>
        <p:nvSpPr>
          <p:cNvPr id="25" name="svg_rect_025">
            <a:extLst xmlns:a="http://schemas.openxmlformats.org/drawingml/2006/main">
              <a:ext uri="{FF2B5EF4-FFF2-40B4-BE49-F238E27FC236}">
                <a16:creationId xmlns:a16="http://schemas.microsoft.com/office/drawing/2014/main" id="{77532E52-0A81-4A56-BBD4-1F3E4D00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1000125"/>
            <a:ext cx="276225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9050">
            <a:solidFill>
              <a:srgbClr val="408FD2"/>
            </a:solidFill>
            <a:prstDash val="solid"/>
          </a:ln>
        </p:spPr>
      </p:sp>
      <p:sp>
        <p:nvSpPr>
          <p:cNvPr id="26" name="svg_text_026">
            <a:extLst xmlns:a="http://schemas.openxmlformats.org/drawingml/2006/main">
              <a:ext uri="{FF2B5EF4-FFF2-40B4-BE49-F238E27FC236}">
                <a16:creationId xmlns:a16="http://schemas.microsoft.com/office/drawing/2014/main" id="{BB025C8E-7059-4F2C-A6BD-039857E4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8028" y="1130046"/>
            <a:ext cx="1933194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Pareto Selection</a:t>
            </a:r>
          </a:p>
        </p:txBody>
      </p:sp>
      <p:sp>
        <p:nvSpPr>
          <p:cNvPr id="27" name="svg_text_027">
            <a:extLst xmlns:a="http://schemas.openxmlformats.org/drawingml/2006/main">
              <a:ext uri="{FF2B5EF4-FFF2-40B4-BE49-F238E27FC236}">
                <a16:creationId xmlns:a16="http://schemas.microsoft.com/office/drawing/2014/main" id="{28633209-B5DB-4DE1-A6CC-09DDB358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9408" y="1408557"/>
            <a:ext cx="2710434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quality versus resource cost</a:t>
            </a:r>
          </a:p>
        </p:txBody>
      </p:sp>
      <p:sp>
        <p:nvSpPr>
          <p:cNvPr id="28" name="svg_path_028">
            <a:extLst xmlns:a="http://schemas.openxmlformats.org/drawingml/2006/main">
              <a:ext uri="{FF2B5EF4-FFF2-40B4-BE49-F238E27FC236}">
                <a16:creationId xmlns:a16="http://schemas.microsoft.com/office/drawing/2014/main" id="{08CC4D68-9661-4611-8808-B946477F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1400175"/>
            <a:ext cx="762000" cy="9525"/>
          </a:xfrm>
          <a:custGeom xmlns:a="http://schemas.openxmlformats.org/drawingml/2006/main"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86D8"/>
            </a:solidFill>
            <a:prstDash val="solid"/>
          </a:ln>
        </p:spPr>
      </p:sp>
      <p:sp>
        <p:nvSpPr>
          <p:cNvPr id="29" name="svg_arrowhead_029">
            <a:extLst xmlns:a="http://schemas.openxmlformats.org/drawingml/2006/main">
              <a:ext uri="{FF2B5EF4-FFF2-40B4-BE49-F238E27FC236}">
                <a16:creationId xmlns:a16="http://schemas.microsoft.com/office/drawing/2014/main" id="{66905301-C6DF-4FC5-8DB3-8ABAE87A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2975" y="1347788"/>
            <a:ext cx="104775" cy="104775"/>
          </a:xfrm>
          <a:custGeom xmlns:a="http://schemas.openxmlformats.org/drawingml/2006/main"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386D8"/>
          </a:solidFill>
          <a:ln xmlns:a="http://schemas.openxmlformats.org/drawingml/2006/main" w="4763">
            <a:solidFill>
              <a:srgbClr val="2386D8"/>
            </a:solidFill>
            <a:prstDash val="solid"/>
          </a:ln>
        </p:spPr>
      </p:sp>
      <p:sp>
        <p:nvSpPr>
          <p:cNvPr id="30" name="svg_rect_030">
            <a:extLst xmlns:a="http://schemas.openxmlformats.org/drawingml/2006/main">
              <a:ext uri="{FF2B5EF4-FFF2-40B4-BE49-F238E27FC236}">
                <a16:creationId xmlns:a16="http://schemas.microsoft.com/office/drawing/2014/main" id="{917A281A-E33F-4040-BF97-0FA32198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04875"/>
            <a:ext cx="34766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9050">
            <a:solidFill>
              <a:srgbClr val="408FD2"/>
            </a:solidFill>
            <a:prstDash val="solid"/>
          </a:ln>
        </p:spPr>
      </p:sp>
      <p:sp>
        <p:nvSpPr>
          <p:cNvPr id="31" name="svg_text_031">
            <a:extLst xmlns:a="http://schemas.openxmlformats.org/drawingml/2006/main">
              <a:ext uri="{FF2B5EF4-FFF2-40B4-BE49-F238E27FC236}">
                <a16:creationId xmlns:a16="http://schemas.microsoft.com/office/drawing/2014/main" id="{D483E38D-78A1-4F98-9EA9-3652F939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34485" y="1044321"/>
            <a:ext cx="237363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NAS-Selected Encoder</a:t>
            </a:r>
          </a:p>
        </p:txBody>
      </p:sp>
      <p:sp>
        <p:nvSpPr>
          <p:cNvPr id="32" name="svg_text_032">
            <a:extLst xmlns:a="http://schemas.openxmlformats.org/drawingml/2006/main">
              <a:ext uri="{FF2B5EF4-FFF2-40B4-BE49-F238E27FC236}">
                <a16:creationId xmlns:a16="http://schemas.microsoft.com/office/drawing/2014/main" id="{B765D117-55D0-4B6B-94DC-79C31542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56761" y="1313307"/>
            <a:ext cx="252907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selected architecture only</a:t>
            </a:r>
          </a:p>
        </p:txBody>
      </p:sp>
      <p:sp>
        <p:nvSpPr>
          <p:cNvPr id="33" name="svg_text_033">
            <a:extLst xmlns:a="http://schemas.openxmlformats.org/drawingml/2006/main">
              <a:ext uri="{FF2B5EF4-FFF2-40B4-BE49-F238E27FC236}">
                <a16:creationId xmlns:a16="http://schemas.microsoft.com/office/drawing/2014/main" id="{B1E0A233-495A-4F55-89D3-0B0D36BB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6083" y="1541907"/>
            <a:ext cx="2710434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used for full codec training</a:t>
            </a:r>
          </a:p>
        </p:txBody>
      </p:sp>
      <p:sp>
        <p:nvSpPr>
          <p:cNvPr id="34" name="svg_path_034">
            <a:extLst xmlns:a="http://schemas.openxmlformats.org/drawingml/2006/main">
              <a:ext uri="{FF2B5EF4-FFF2-40B4-BE49-F238E27FC236}">
                <a16:creationId xmlns:a16="http://schemas.microsoft.com/office/drawing/2014/main" id="{951BC8C0-A1D4-4EA4-B8CD-081D2875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05000"/>
            <a:ext cx="15259050" cy="1857375"/>
          </a:xfrm>
          <a:custGeom xmlns:a="http://schemas.openxmlformats.org/drawingml/2006/main">
            <a:pathLst>
              <a:path w="15259050" h="1857375">
                <a:moveTo>
                  <a:pt x="15259050" y="0"/>
                </a:moveTo>
                <a:lnTo>
                  <a:pt x="15259050" y="361950"/>
                </a:lnTo>
                <a:lnTo>
                  <a:pt x="0" y="361950"/>
                </a:lnTo>
                <a:lnTo>
                  <a:pt x="0" y="1857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386D8"/>
            </a:solidFill>
            <a:prstDash val="dash"/>
          </a:ln>
        </p:spPr>
      </p:sp>
      <p:sp>
        <p:nvSpPr>
          <p:cNvPr id="35" name="svg_arrowhead_035">
            <a:extLst xmlns:a="http://schemas.openxmlformats.org/drawingml/2006/main">
              <a:ext uri="{FF2B5EF4-FFF2-40B4-BE49-F238E27FC236}">
                <a16:creationId xmlns:a16="http://schemas.microsoft.com/office/drawing/2014/main" id="{DBF4AE98-2413-466F-94A5-A0EBE568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9863" y="3657600"/>
            <a:ext cx="104775" cy="104775"/>
          </a:xfrm>
          <a:custGeom xmlns:a="http://schemas.openxmlformats.org/drawingml/2006/main">
            <a:pathLst>
              <a:path w="104775" h="104775">
                <a:moveTo>
                  <a:pt x="52388" y="104775"/>
                </a:moveTo>
                <a:lnTo>
                  <a:pt x="0" y="0"/>
                </a:lnTo>
                <a:lnTo>
                  <a:pt x="104775" y="0"/>
                </a:lnTo>
                <a:close/>
              </a:path>
            </a:pathLst>
          </a:custGeom>
          <a:solidFill xmlns:a="http://schemas.openxmlformats.org/drawingml/2006/main">
            <a:srgbClr val="2386D8"/>
          </a:solidFill>
          <a:ln xmlns:a="http://schemas.openxmlformats.org/drawingml/2006/main" w="4763">
            <a:solidFill>
              <a:srgbClr val="2386D8"/>
            </a:solidFill>
            <a:prstDash val="solid"/>
          </a:ln>
        </p:spPr>
      </p:sp>
      <p:sp>
        <p:nvSpPr>
          <p:cNvPr id="36" name="svg_rect_036">
            <a:extLst xmlns:a="http://schemas.openxmlformats.org/drawingml/2006/main">
              <a:ext uri="{FF2B5EF4-FFF2-40B4-BE49-F238E27FC236}">
                <a16:creationId xmlns:a16="http://schemas.microsoft.com/office/drawing/2014/main" id="{954D1BDD-CE35-433D-9CE7-26ABA2BB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619375"/>
            <a:ext cx="11144250" cy="3667125"/>
          </a:xfrm>
          <a:prstGeom xmlns:a="http://schemas.openxmlformats.org/drawingml/2006/main" prst="roundRect">
            <a:avLst>
              <a:gd name="adj" fmla="val 31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DB5E8"/>
            </a:solidFill>
            <a:prstDash val="dash"/>
          </a:ln>
        </p:spPr>
      </p:sp>
      <p:sp>
        <p:nvSpPr>
          <p:cNvPr id="37" name="svg_circle_037">
            <a:extLst xmlns:a="http://schemas.openxmlformats.org/drawingml/2006/main">
              <a:ext uri="{FF2B5EF4-FFF2-40B4-BE49-F238E27FC236}">
                <a16:creationId xmlns:a16="http://schemas.microsoft.com/office/drawing/2014/main" id="{3968918D-50F9-4082-BDDB-891F59EC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26860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0B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vg_text_038">
            <a:extLst xmlns:a="http://schemas.openxmlformats.org/drawingml/2006/main">
              <a:ext uri="{FF2B5EF4-FFF2-40B4-BE49-F238E27FC236}">
                <a16:creationId xmlns:a16="http://schemas.microsoft.com/office/drawing/2014/main" id="{E377F8C3-AA98-4A6F-A18E-823C1349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" y="2753439"/>
            <a:ext cx="565785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9" name="svg_text_039">
            <a:extLst xmlns:a="http://schemas.openxmlformats.org/drawingml/2006/main">
              <a:ext uri="{FF2B5EF4-FFF2-40B4-BE49-F238E27FC236}">
                <a16:creationId xmlns:a16="http://schemas.microsoft.com/office/drawing/2014/main" id="{9DE53892-AC74-4FE4-B4E9-B11930DE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1488"/>
            <a:ext cx="606552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F172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F1720"/>
                </a:solidFill>
                <a:latin typeface="Arial"/>
                <a:ea typeface="Arial"/>
                <a:cs typeface="Arial"/>
              </a:rPr>
              <a:t>SPEECH ENCODING AND THREE-LAYER RVQ</a:t>
            </a:r>
          </a:p>
        </p:txBody>
      </p:sp>
      <p:sp>
        <p:nvSpPr>
          <p:cNvPr id="40" name="svg_rect_040">
            <a:extLst xmlns:a="http://schemas.openxmlformats.org/drawingml/2006/main">
              <a:ext uri="{FF2B5EF4-FFF2-40B4-BE49-F238E27FC236}">
                <a16:creationId xmlns:a16="http://schemas.microsoft.com/office/drawing/2014/main" id="{523B69F7-C008-4729-B31B-374568C0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857625"/>
            <a:ext cx="11906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9050">
            <a:solidFill>
              <a:srgbClr val="408FD2"/>
            </a:solidFill>
            <a:prstDash val="solid"/>
          </a:ln>
        </p:spPr>
      </p:sp>
      <p:sp>
        <p:nvSpPr>
          <p:cNvPr id="41" name="svg_text_041">
            <a:extLst xmlns:a="http://schemas.openxmlformats.org/drawingml/2006/main">
              <a:ext uri="{FF2B5EF4-FFF2-40B4-BE49-F238E27FC236}">
                <a16:creationId xmlns:a16="http://schemas.microsoft.com/office/drawing/2014/main" id="{25D4C6FA-92EA-4656-8B9D-7EEC6EB2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123" y="4063746"/>
            <a:ext cx="832104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16 kHz</a:t>
            </a:r>
          </a:p>
        </p:txBody>
      </p:sp>
      <p:sp>
        <p:nvSpPr>
          <p:cNvPr id="42" name="svg_text_042">
            <a:extLst xmlns:a="http://schemas.openxmlformats.org/drawingml/2006/main">
              <a:ext uri="{FF2B5EF4-FFF2-40B4-BE49-F238E27FC236}">
                <a16:creationId xmlns:a16="http://schemas.microsoft.com/office/drawing/2014/main" id="{D0DF01D5-8E13-4358-B9E7-B93FEDB4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796" y="4320921"/>
            <a:ext cx="1492758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Input Speech</a:t>
            </a:r>
          </a:p>
        </p:txBody>
      </p:sp>
      <p:sp>
        <p:nvSpPr>
          <p:cNvPr id="43" name="svg_path_043">
            <a:extLst xmlns:a="http://schemas.openxmlformats.org/drawingml/2006/main">
              <a:ext uri="{FF2B5EF4-FFF2-40B4-BE49-F238E27FC236}">
                <a16:creationId xmlns:a16="http://schemas.microsoft.com/office/drawing/2014/main" id="{0AF5E057-3339-49EB-92FA-B4274691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38650"/>
            <a:ext cx="866775" cy="428625"/>
          </a:xfrm>
          <a:custGeom xmlns:a="http://schemas.openxmlformats.org/drawingml/2006/main">
            <a:pathLst>
              <a:path w="866775" h="428625">
                <a:moveTo>
                  <a:pt x="0" y="257175"/>
                </a:moveTo>
                <a:lnTo>
                  <a:pt x="76200" y="85725"/>
                </a:lnTo>
                <a:lnTo>
                  <a:pt x="152400" y="381000"/>
                </a:lnTo>
                <a:lnTo>
                  <a:pt x="238125" y="0"/>
                </a:lnTo>
                <a:lnTo>
                  <a:pt x="323850" y="428625"/>
                </a:lnTo>
                <a:lnTo>
                  <a:pt x="409575" y="133350"/>
                </a:lnTo>
                <a:lnTo>
                  <a:pt x="495300" y="352425"/>
                </a:lnTo>
                <a:lnTo>
                  <a:pt x="581025" y="38100"/>
                </a:lnTo>
                <a:lnTo>
                  <a:pt x="666750" y="400050"/>
                </a:lnTo>
                <a:lnTo>
                  <a:pt x="771525" y="190500"/>
                </a:lnTo>
                <a:lnTo>
                  <a:pt x="866775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3AD95"/>
            </a:solidFill>
            <a:prstDash val="solid"/>
          </a:ln>
        </p:spPr>
      </p:sp>
      <p:sp>
        <p:nvSpPr>
          <p:cNvPr id="44" name="svg_path_044">
            <a:extLst xmlns:a="http://schemas.openxmlformats.org/drawingml/2006/main">
              <a:ext uri="{FF2B5EF4-FFF2-40B4-BE49-F238E27FC236}">
                <a16:creationId xmlns:a16="http://schemas.microsoft.com/office/drawing/2014/main" id="{FDF74506-3519-4390-819F-D9E72394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52925"/>
            <a:ext cx="333375" cy="9525"/>
          </a:xfrm>
          <a:custGeom xmlns:a="http://schemas.openxmlformats.org/drawingml/2006/main">
            <a:pathLst>
              <a:path w="333375" h="952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86D8"/>
            </a:solidFill>
            <a:prstDash val="solid"/>
          </a:ln>
        </p:spPr>
      </p:sp>
      <p:sp>
        <p:nvSpPr>
          <p:cNvPr id="45" name="svg_arrowhead_045">
            <a:extLst xmlns:a="http://schemas.openxmlformats.org/drawingml/2006/main">
              <a:ext uri="{FF2B5EF4-FFF2-40B4-BE49-F238E27FC236}">
                <a16:creationId xmlns:a16="http://schemas.microsoft.com/office/drawing/2014/main" id="{BAC86458-82D8-4866-8A55-330AAA02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300538"/>
            <a:ext cx="104775" cy="104775"/>
          </a:xfrm>
          <a:custGeom xmlns:a="http://schemas.openxmlformats.org/drawingml/2006/main"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386D8"/>
          </a:solidFill>
          <a:ln xmlns:a="http://schemas.openxmlformats.org/drawingml/2006/main" w="4763">
            <a:solidFill>
              <a:srgbClr val="2386D8"/>
            </a:solidFill>
            <a:prstDash val="solid"/>
          </a:ln>
        </p:spPr>
      </p:sp>
      <p:sp>
        <p:nvSpPr>
          <p:cNvPr id="46" name="svg_rect_046">
            <a:extLst xmlns:a="http://schemas.openxmlformats.org/drawingml/2006/main">
              <a:ext uri="{FF2B5EF4-FFF2-40B4-BE49-F238E27FC236}">
                <a16:creationId xmlns:a16="http://schemas.microsoft.com/office/drawing/2014/main" id="{C6605467-B30B-4C69-B191-8CF71F0D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762375"/>
            <a:ext cx="1619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9050">
            <a:solidFill>
              <a:srgbClr val="408FD2"/>
            </a:solidFill>
            <a:prstDash val="solid"/>
          </a:ln>
        </p:spPr>
      </p:sp>
      <p:sp>
        <p:nvSpPr>
          <p:cNvPr id="47" name="svg_text_047">
            <a:extLst xmlns:a="http://schemas.openxmlformats.org/drawingml/2006/main">
              <a:ext uri="{FF2B5EF4-FFF2-40B4-BE49-F238E27FC236}">
                <a16:creationId xmlns:a16="http://schemas.microsoft.com/office/drawing/2014/main" id="{71A69B8D-6373-4F62-B3E9-E96DFB37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871" y="3997071"/>
            <a:ext cx="1492758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NAS-Selected</a:t>
            </a:r>
          </a:p>
        </p:txBody>
      </p:sp>
      <p:sp>
        <p:nvSpPr>
          <p:cNvPr id="48" name="svg_text_048">
            <a:extLst xmlns:a="http://schemas.openxmlformats.org/drawingml/2006/main">
              <a:ext uri="{FF2B5EF4-FFF2-40B4-BE49-F238E27FC236}">
                <a16:creationId xmlns:a16="http://schemas.microsoft.com/office/drawing/2014/main" id="{9483DF73-4994-40A4-8D9A-82B0B7B1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762" y="4254246"/>
            <a:ext cx="1712976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SEANet Encoder</a:t>
            </a:r>
          </a:p>
        </p:txBody>
      </p:sp>
      <p:sp>
        <p:nvSpPr>
          <p:cNvPr id="49" name="svg_text_049">
            <a:extLst xmlns:a="http://schemas.openxmlformats.org/drawingml/2006/main">
              <a:ext uri="{FF2B5EF4-FFF2-40B4-BE49-F238E27FC236}">
                <a16:creationId xmlns:a16="http://schemas.microsoft.com/office/drawing/2014/main" id="{E882E68B-E40D-46E1-9625-E70DDA40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42282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architecture from Panel 1</a:t>
            </a:r>
          </a:p>
        </p:txBody>
      </p:sp>
      <p:sp>
        <p:nvSpPr>
          <p:cNvPr id="50" name="svg_path_050">
            <a:extLst xmlns:a="http://schemas.openxmlformats.org/drawingml/2006/main">
              <a:ext uri="{FF2B5EF4-FFF2-40B4-BE49-F238E27FC236}">
                <a16:creationId xmlns:a16="http://schemas.microsoft.com/office/drawing/2014/main" id="{1B774871-9D0B-446C-B368-6425C24E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352925"/>
            <a:ext cx="333375" cy="9525"/>
          </a:xfrm>
          <a:custGeom xmlns:a="http://schemas.openxmlformats.org/drawingml/2006/main">
            <a:pathLst>
              <a:path w="333375" h="952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86D8"/>
            </a:solidFill>
            <a:prstDash val="solid"/>
          </a:ln>
        </p:spPr>
      </p:sp>
      <p:sp>
        <p:nvSpPr>
          <p:cNvPr id="51" name="svg_arrowhead_051">
            <a:extLst xmlns:a="http://schemas.openxmlformats.org/drawingml/2006/main">
              <a:ext uri="{FF2B5EF4-FFF2-40B4-BE49-F238E27FC236}">
                <a16:creationId xmlns:a16="http://schemas.microsoft.com/office/drawing/2014/main" id="{AC9FA930-F537-4FA8-8B85-84543B0B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300538"/>
            <a:ext cx="104775" cy="104775"/>
          </a:xfrm>
          <a:custGeom xmlns:a="http://schemas.openxmlformats.org/drawingml/2006/main"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386D8"/>
          </a:solidFill>
          <a:ln xmlns:a="http://schemas.openxmlformats.org/drawingml/2006/main" w="4763">
            <a:solidFill>
              <a:srgbClr val="2386D8"/>
            </a:solidFill>
            <a:prstDash val="solid"/>
          </a:ln>
        </p:spPr>
      </p:sp>
      <p:sp>
        <p:nvSpPr>
          <p:cNvPr id="52" name="svg_rect_052">
            <a:extLst xmlns:a="http://schemas.openxmlformats.org/drawingml/2006/main">
              <a:ext uri="{FF2B5EF4-FFF2-40B4-BE49-F238E27FC236}">
                <a16:creationId xmlns:a16="http://schemas.microsoft.com/office/drawing/2014/main" id="{C697A35C-ED76-4B62-8624-09B4C514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57625"/>
            <a:ext cx="13811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9050">
            <a:solidFill>
              <a:srgbClr val="408FD2"/>
            </a:solidFill>
            <a:prstDash val="solid"/>
          </a:ln>
        </p:spPr>
      </p:sp>
      <p:sp>
        <p:nvSpPr>
          <p:cNvPr id="53" name="svg_text_053">
            <a:extLst xmlns:a="http://schemas.openxmlformats.org/drawingml/2006/main">
              <a:ext uri="{FF2B5EF4-FFF2-40B4-BE49-F238E27FC236}">
                <a16:creationId xmlns:a16="http://schemas.microsoft.com/office/drawing/2014/main" id="{379AC905-AA03-4630-A5DB-CB385C95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4780" y="4063746"/>
            <a:ext cx="127254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Continuous</a:t>
            </a:r>
          </a:p>
        </p:txBody>
      </p:sp>
      <p:sp>
        <p:nvSpPr>
          <p:cNvPr id="54" name="svg_text_054">
            <a:extLst xmlns:a="http://schemas.openxmlformats.org/drawingml/2006/main">
              <a:ext uri="{FF2B5EF4-FFF2-40B4-BE49-F238E27FC236}">
                <a16:creationId xmlns:a16="http://schemas.microsoft.com/office/drawing/2014/main" id="{7CB0E78B-3A0A-488A-8D9A-0BF46EC6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889" y="4301871"/>
            <a:ext cx="1052322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Latent z</a:t>
            </a:r>
          </a:p>
        </p:txBody>
      </p:sp>
      <p:sp>
        <p:nvSpPr>
          <p:cNvPr id="55" name="svg_text_055">
            <a:extLst xmlns:a="http://schemas.openxmlformats.org/drawingml/2006/main">
              <a:ext uri="{FF2B5EF4-FFF2-40B4-BE49-F238E27FC236}">
                <a16:creationId xmlns:a16="http://schemas.microsoft.com/office/drawing/2014/main" id="{58FC5D96-1EC4-47E1-A1D0-AE929F62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5240" y="4561332"/>
            <a:ext cx="153162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50 Hz, d = 1024</a:t>
            </a:r>
          </a:p>
        </p:txBody>
      </p:sp>
      <p:sp>
        <p:nvSpPr>
          <p:cNvPr id="56" name="svg_path_056">
            <a:extLst xmlns:a="http://schemas.openxmlformats.org/drawingml/2006/main">
              <a:ext uri="{FF2B5EF4-FFF2-40B4-BE49-F238E27FC236}">
                <a16:creationId xmlns:a16="http://schemas.microsoft.com/office/drawing/2014/main" id="{51E7EE73-3FDE-436F-B08C-BE7E2328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352925"/>
            <a:ext cx="333375" cy="9525"/>
          </a:xfrm>
          <a:custGeom xmlns:a="http://schemas.openxmlformats.org/drawingml/2006/main">
            <a:pathLst>
              <a:path w="333375" h="952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86D8"/>
            </a:solidFill>
            <a:prstDash val="solid"/>
          </a:ln>
        </p:spPr>
      </p:sp>
      <p:sp>
        <p:nvSpPr>
          <p:cNvPr id="57" name="svg_arrowhead_057">
            <a:extLst xmlns:a="http://schemas.openxmlformats.org/drawingml/2006/main">
              <a:ext uri="{FF2B5EF4-FFF2-40B4-BE49-F238E27FC236}">
                <a16:creationId xmlns:a16="http://schemas.microsoft.com/office/drawing/2014/main" id="{55F4FB3A-F5A0-4B3A-ABD1-564B3AD4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300538"/>
            <a:ext cx="104775" cy="104775"/>
          </a:xfrm>
          <a:custGeom xmlns:a="http://schemas.openxmlformats.org/drawingml/2006/main"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386D8"/>
          </a:solidFill>
          <a:ln xmlns:a="http://schemas.openxmlformats.org/drawingml/2006/main" w="4763">
            <a:solidFill>
              <a:srgbClr val="2386D8"/>
            </a:solidFill>
            <a:prstDash val="solid"/>
          </a:ln>
        </p:spPr>
      </p:sp>
      <p:sp>
        <p:nvSpPr>
          <p:cNvPr id="58" name="svg_rect_058">
            <a:extLst xmlns:a="http://schemas.openxmlformats.org/drawingml/2006/main">
              <a:ext uri="{FF2B5EF4-FFF2-40B4-BE49-F238E27FC236}">
                <a16:creationId xmlns:a16="http://schemas.microsoft.com/office/drawing/2014/main" id="{C48115F5-7380-4F15-85A8-7D659D00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33800"/>
            <a:ext cx="15716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9050">
            <a:solidFill>
              <a:srgbClr val="EF8D32"/>
            </a:solidFill>
            <a:prstDash val="solid"/>
          </a:ln>
        </p:spPr>
      </p:sp>
      <p:sp>
        <p:nvSpPr>
          <p:cNvPr id="59" name="svg_text_059">
            <a:extLst xmlns:a="http://schemas.openxmlformats.org/drawingml/2006/main">
              <a:ext uri="{FF2B5EF4-FFF2-40B4-BE49-F238E27FC236}">
                <a16:creationId xmlns:a16="http://schemas.microsoft.com/office/drawing/2014/main" id="{86A75ABE-3520-49B8-B05F-3000EA91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203" y="3920871"/>
            <a:ext cx="1933194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Q1 / Codebook C1</a:t>
            </a:r>
          </a:p>
        </p:txBody>
      </p:sp>
      <p:sp>
        <p:nvSpPr>
          <p:cNvPr id="60" name="svg_text_060">
            <a:extLst xmlns:a="http://schemas.openxmlformats.org/drawingml/2006/main">
              <a:ext uri="{FF2B5EF4-FFF2-40B4-BE49-F238E27FC236}">
                <a16:creationId xmlns:a16="http://schemas.microsoft.com/office/drawing/2014/main" id="{4D505CD5-F08B-44A5-A5CB-8D31C60F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329" y="4199382"/>
            <a:ext cx="1440942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Coarse Content</a:t>
            </a:r>
          </a:p>
        </p:txBody>
      </p:sp>
      <p:sp>
        <p:nvSpPr>
          <p:cNvPr id="61" name="svg_text_061">
            <a:extLst xmlns:a="http://schemas.openxmlformats.org/drawingml/2006/main">
              <a:ext uri="{FF2B5EF4-FFF2-40B4-BE49-F238E27FC236}">
                <a16:creationId xmlns:a16="http://schemas.microsoft.com/office/drawing/2014/main" id="{CC2F3118-6F70-4A1B-B686-44D59479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5668" y="4427982"/>
            <a:ext cx="1350264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1,024 entries</a:t>
            </a:r>
          </a:p>
        </p:txBody>
      </p:sp>
      <p:sp>
        <p:nvSpPr>
          <p:cNvPr id="62" name="svg_text_062">
            <a:extLst xmlns:a="http://schemas.openxmlformats.org/drawingml/2006/main">
              <a:ext uri="{FF2B5EF4-FFF2-40B4-BE49-F238E27FC236}">
                <a16:creationId xmlns:a16="http://schemas.microsoft.com/office/drawing/2014/main" id="{474B9381-9827-434E-AC0A-37C57E61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9367" y="4654296"/>
            <a:ext cx="1602867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275" b="0" i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index i₁ → q₁</a:t>
            </a:r>
          </a:p>
        </p:txBody>
      </p:sp>
      <p:sp>
        <p:nvSpPr>
          <p:cNvPr id="63" name="svg_path_063">
            <a:extLst xmlns:a="http://schemas.openxmlformats.org/drawingml/2006/main">
              <a:ext uri="{FF2B5EF4-FFF2-40B4-BE49-F238E27FC236}">
                <a16:creationId xmlns:a16="http://schemas.microsoft.com/office/drawing/2014/main" id="{872ADB75-E67C-47B8-98D6-774021BF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352925"/>
            <a:ext cx="285750" cy="9525"/>
          </a:xfrm>
          <a:custGeom xmlns:a="http://schemas.openxmlformats.org/drawingml/2006/main"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86D8"/>
            </a:solidFill>
            <a:prstDash val="solid"/>
          </a:ln>
        </p:spPr>
      </p:sp>
      <p:sp>
        <p:nvSpPr>
          <p:cNvPr id="64" name="svg_arrowhead_064">
            <a:extLst xmlns:a="http://schemas.openxmlformats.org/drawingml/2006/main">
              <a:ext uri="{FF2B5EF4-FFF2-40B4-BE49-F238E27FC236}">
                <a16:creationId xmlns:a16="http://schemas.microsoft.com/office/drawing/2014/main" id="{F5750829-FBAA-4781-9889-CC709AA2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300538"/>
            <a:ext cx="104775" cy="104775"/>
          </a:xfrm>
          <a:custGeom xmlns:a="http://schemas.openxmlformats.org/drawingml/2006/main"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386D8"/>
          </a:solidFill>
          <a:ln xmlns:a="http://schemas.openxmlformats.org/drawingml/2006/main" w="4763">
            <a:solidFill>
              <a:srgbClr val="2386D8"/>
            </a:solidFill>
            <a:prstDash val="solid"/>
          </a:ln>
        </p:spPr>
      </p:sp>
      <p:sp>
        <p:nvSpPr>
          <p:cNvPr id="65" name="svg_text_065">
            <a:extLst xmlns:a="http://schemas.openxmlformats.org/drawingml/2006/main">
              <a:ext uri="{FF2B5EF4-FFF2-40B4-BE49-F238E27FC236}">
                <a16:creationId xmlns:a16="http://schemas.microsoft.com/office/drawing/2014/main" id="{70BADF38-A6D7-4892-86D8-3B286819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847" y="4046982"/>
            <a:ext cx="35280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r₁</a:t>
            </a:r>
          </a:p>
        </p:txBody>
      </p:sp>
      <p:sp>
        <p:nvSpPr>
          <p:cNvPr id="66" name="svg_rect_066">
            <a:extLst xmlns:a="http://schemas.openxmlformats.org/drawingml/2006/main">
              <a:ext uri="{FF2B5EF4-FFF2-40B4-BE49-F238E27FC236}">
                <a16:creationId xmlns:a16="http://schemas.microsoft.com/office/drawing/2014/main" id="{827484E5-6057-4E5B-9DA7-66F0E00D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733800"/>
            <a:ext cx="15716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FFAF4"/>
          </a:solidFill>
          <a:ln xmlns:a="http://schemas.openxmlformats.org/drawingml/2006/main" w="19050">
            <a:solidFill>
              <a:srgbClr val="4CA873"/>
            </a:solidFill>
            <a:prstDash val="solid"/>
          </a:ln>
        </p:spPr>
      </p:sp>
      <p:sp>
        <p:nvSpPr>
          <p:cNvPr id="67" name="svg_text_067">
            <a:extLst xmlns:a="http://schemas.openxmlformats.org/drawingml/2006/main">
              <a:ext uri="{FF2B5EF4-FFF2-40B4-BE49-F238E27FC236}">
                <a16:creationId xmlns:a16="http://schemas.microsoft.com/office/drawing/2014/main" id="{07359D01-D333-453E-881F-F00B7A66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1578" y="3920871"/>
            <a:ext cx="1933194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Q2 / Codebook C2</a:t>
            </a:r>
          </a:p>
        </p:txBody>
      </p:sp>
      <p:sp>
        <p:nvSpPr>
          <p:cNvPr id="68" name="svg_text_068">
            <a:extLst xmlns:a="http://schemas.openxmlformats.org/drawingml/2006/main">
              <a:ext uri="{FF2B5EF4-FFF2-40B4-BE49-F238E27FC236}">
                <a16:creationId xmlns:a16="http://schemas.microsoft.com/office/drawing/2014/main" id="{6054C753-1B7C-4B11-A429-4C26B4F6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1009" y="4199382"/>
            <a:ext cx="1894332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Acoustic Refinement</a:t>
            </a:r>
          </a:p>
        </p:txBody>
      </p:sp>
      <p:sp>
        <p:nvSpPr>
          <p:cNvPr id="69" name="svg_text_069">
            <a:extLst xmlns:a="http://schemas.openxmlformats.org/drawingml/2006/main">
              <a:ext uri="{FF2B5EF4-FFF2-40B4-BE49-F238E27FC236}">
                <a16:creationId xmlns:a16="http://schemas.microsoft.com/office/drawing/2014/main" id="{65A224B9-34AF-43EA-A9B8-D4D0E2C9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3043" y="4427982"/>
            <a:ext cx="1350264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1,024 entries</a:t>
            </a:r>
          </a:p>
        </p:txBody>
      </p:sp>
      <p:sp>
        <p:nvSpPr>
          <p:cNvPr id="70" name="svg_text_070">
            <a:extLst xmlns:a="http://schemas.openxmlformats.org/drawingml/2006/main">
              <a:ext uri="{FF2B5EF4-FFF2-40B4-BE49-F238E27FC236}">
                <a16:creationId xmlns:a16="http://schemas.microsoft.com/office/drawing/2014/main" id="{63F63CCE-D29C-4052-ABC2-6BC05298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742" y="4654296"/>
            <a:ext cx="1602867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275" b="0" i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index i₂ → q₂</a:t>
            </a:r>
          </a:p>
        </p:txBody>
      </p:sp>
      <p:sp>
        <p:nvSpPr>
          <p:cNvPr id="71" name="svg_path_071">
            <a:extLst xmlns:a="http://schemas.openxmlformats.org/drawingml/2006/main">
              <a:ext uri="{FF2B5EF4-FFF2-40B4-BE49-F238E27FC236}">
                <a16:creationId xmlns:a16="http://schemas.microsoft.com/office/drawing/2014/main" id="{F456C2BC-F62E-4EFA-9BD5-A817A087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352925"/>
            <a:ext cx="285750" cy="9525"/>
          </a:xfrm>
          <a:custGeom xmlns:a="http://schemas.openxmlformats.org/drawingml/2006/main"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86D8"/>
            </a:solidFill>
            <a:prstDash val="solid"/>
          </a:ln>
        </p:spPr>
      </p:sp>
      <p:sp>
        <p:nvSpPr>
          <p:cNvPr id="72" name="svg_arrowhead_072">
            <a:extLst xmlns:a="http://schemas.openxmlformats.org/drawingml/2006/main">
              <a:ext uri="{FF2B5EF4-FFF2-40B4-BE49-F238E27FC236}">
                <a16:creationId xmlns:a16="http://schemas.microsoft.com/office/drawing/2014/main" id="{2E2807CF-EC10-4DB7-97BB-416C52DF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300538"/>
            <a:ext cx="104775" cy="104775"/>
          </a:xfrm>
          <a:custGeom xmlns:a="http://schemas.openxmlformats.org/drawingml/2006/main"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386D8"/>
          </a:solidFill>
          <a:ln xmlns:a="http://schemas.openxmlformats.org/drawingml/2006/main" w="4763">
            <a:solidFill>
              <a:srgbClr val="2386D8"/>
            </a:solidFill>
            <a:prstDash val="solid"/>
          </a:ln>
        </p:spPr>
      </p:sp>
      <p:sp>
        <p:nvSpPr>
          <p:cNvPr id="73" name="svg_text_073">
            <a:extLst xmlns:a="http://schemas.openxmlformats.org/drawingml/2006/main">
              <a:ext uri="{FF2B5EF4-FFF2-40B4-BE49-F238E27FC236}">
                <a16:creationId xmlns:a16="http://schemas.microsoft.com/office/drawing/2014/main" id="{8D4D512C-54C1-4531-A5FF-3900FD53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222" y="4046982"/>
            <a:ext cx="35280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r₂</a:t>
            </a:r>
          </a:p>
        </p:txBody>
      </p:sp>
      <p:sp>
        <p:nvSpPr>
          <p:cNvPr id="74" name="svg_rect_074">
            <a:extLst xmlns:a="http://schemas.openxmlformats.org/drawingml/2006/main">
              <a:ext uri="{FF2B5EF4-FFF2-40B4-BE49-F238E27FC236}">
                <a16:creationId xmlns:a16="http://schemas.microsoft.com/office/drawing/2014/main" id="{59495AB3-6BAE-44AC-84FB-E7E89FB4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33800"/>
            <a:ext cx="1714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4F2FF"/>
          </a:solidFill>
          <a:ln xmlns:a="http://schemas.openxmlformats.org/drawingml/2006/main" w="19050">
            <a:solidFill>
              <a:srgbClr val="7374D8"/>
            </a:solidFill>
            <a:prstDash val="solid"/>
          </a:ln>
        </p:spPr>
      </p:sp>
      <p:sp>
        <p:nvSpPr>
          <p:cNvPr id="75" name="svg_text_075">
            <a:extLst xmlns:a="http://schemas.openxmlformats.org/drawingml/2006/main">
              <a:ext uri="{FF2B5EF4-FFF2-40B4-BE49-F238E27FC236}">
                <a16:creationId xmlns:a16="http://schemas.microsoft.com/office/drawing/2014/main" id="{6788F7FF-6699-4179-8536-3F8946BB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5153" y="3920871"/>
            <a:ext cx="1933194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Q3 / Codebook C3</a:t>
            </a:r>
          </a:p>
        </p:txBody>
      </p:sp>
      <p:sp>
        <p:nvSpPr>
          <p:cNvPr id="76" name="svg_text_076">
            <a:extLst xmlns:a="http://schemas.openxmlformats.org/drawingml/2006/main">
              <a:ext uri="{FF2B5EF4-FFF2-40B4-BE49-F238E27FC236}">
                <a16:creationId xmlns:a16="http://schemas.microsoft.com/office/drawing/2014/main" id="{031C6115-487D-4757-8FCF-C71E2BB7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889" y="4199382"/>
            <a:ext cx="2347722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Fine Acoustic Refinement</a:t>
            </a:r>
          </a:p>
        </p:txBody>
      </p:sp>
      <p:sp>
        <p:nvSpPr>
          <p:cNvPr id="77" name="svg_text_077">
            <a:extLst xmlns:a="http://schemas.openxmlformats.org/drawingml/2006/main">
              <a:ext uri="{FF2B5EF4-FFF2-40B4-BE49-F238E27FC236}">
                <a16:creationId xmlns:a16="http://schemas.microsoft.com/office/drawing/2014/main" id="{656C0B5F-83A0-4872-9072-D1A49BBB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6618" y="4427982"/>
            <a:ext cx="1350264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1,024 entries</a:t>
            </a:r>
          </a:p>
        </p:txBody>
      </p:sp>
      <p:sp>
        <p:nvSpPr>
          <p:cNvPr id="78" name="svg_text_078">
            <a:extLst xmlns:a="http://schemas.openxmlformats.org/drawingml/2006/main">
              <a:ext uri="{FF2B5EF4-FFF2-40B4-BE49-F238E27FC236}">
                <a16:creationId xmlns:a16="http://schemas.microsoft.com/office/drawing/2014/main" id="{407B096D-C3C7-40D1-9E35-D2454242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0317" y="4654296"/>
            <a:ext cx="1602867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275" b="0" i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index i₃ → q₃</a:t>
            </a:r>
          </a:p>
        </p:txBody>
      </p:sp>
      <p:sp>
        <p:nvSpPr>
          <p:cNvPr id="79" name="svg_rect_079">
            <a:extLst xmlns:a="http://schemas.openxmlformats.org/drawingml/2006/main">
              <a:ext uri="{FF2B5EF4-FFF2-40B4-BE49-F238E27FC236}">
                <a16:creationId xmlns:a16="http://schemas.microsoft.com/office/drawing/2014/main" id="{A1525E17-4CB7-4737-B280-7D12D74B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91125"/>
            <a:ext cx="333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92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svg_rect_080">
            <a:extLst xmlns:a="http://schemas.openxmlformats.org/drawingml/2006/main">
              <a:ext uri="{FF2B5EF4-FFF2-40B4-BE49-F238E27FC236}">
                <a16:creationId xmlns:a16="http://schemas.microsoft.com/office/drawing/2014/main" id="{595984E7-85B8-4B51-BC9D-23FC6755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91125"/>
            <a:ext cx="333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92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svg_rect_081">
            <a:extLst xmlns:a="http://schemas.openxmlformats.org/drawingml/2006/main">
              <a:ext uri="{FF2B5EF4-FFF2-40B4-BE49-F238E27FC236}">
                <a16:creationId xmlns:a16="http://schemas.microsoft.com/office/drawing/2014/main" id="{CBA9C231-68E6-4DA6-BF5B-B9EC52A9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91125"/>
            <a:ext cx="333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92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svg_text_082">
            <a:extLst xmlns:a="http://schemas.openxmlformats.org/drawingml/2006/main">
              <a:ext uri="{FF2B5EF4-FFF2-40B4-BE49-F238E27FC236}">
                <a16:creationId xmlns:a16="http://schemas.microsoft.com/office/drawing/2014/main" id="{018A6BDD-BF62-4403-87B4-2EB7A812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5041" y="5178171"/>
            <a:ext cx="391668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275" b="0" i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i₁</a:t>
            </a:r>
          </a:p>
        </p:txBody>
      </p:sp>
      <p:sp>
        <p:nvSpPr>
          <p:cNvPr id="83" name="svg_rect_083">
            <a:extLst xmlns:a="http://schemas.openxmlformats.org/drawingml/2006/main">
              <a:ext uri="{FF2B5EF4-FFF2-40B4-BE49-F238E27FC236}">
                <a16:creationId xmlns:a16="http://schemas.microsoft.com/office/drawing/2014/main" id="{BB2E1032-5134-4DE8-881A-445F8526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191125"/>
            <a:ext cx="333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B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svg_rect_084">
            <a:extLst xmlns:a="http://schemas.openxmlformats.org/drawingml/2006/main">
              <a:ext uri="{FF2B5EF4-FFF2-40B4-BE49-F238E27FC236}">
                <a16:creationId xmlns:a16="http://schemas.microsoft.com/office/drawing/2014/main" id="{2B9FAAEC-D22E-4576-8E91-8FAB0611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5191125"/>
            <a:ext cx="333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B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svg_rect_085">
            <a:extLst xmlns:a="http://schemas.openxmlformats.org/drawingml/2006/main">
              <a:ext uri="{FF2B5EF4-FFF2-40B4-BE49-F238E27FC236}">
                <a16:creationId xmlns:a16="http://schemas.microsoft.com/office/drawing/2014/main" id="{6E98558A-262F-4A62-AC18-17243EFE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191125"/>
            <a:ext cx="333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B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svg_text_086">
            <a:extLst xmlns:a="http://schemas.openxmlformats.org/drawingml/2006/main">
              <a:ext uri="{FF2B5EF4-FFF2-40B4-BE49-F238E27FC236}">
                <a16:creationId xmlns:a16="http://schemas.microsoft.com/office/drawing/2014/main" id="{A8E4A114-653F-485A-91FD-08413A29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2416" y="5178171"/>
            <a:ext cx="391668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275" b="0" i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i₂</a:t>
            </a:r>
          </a:p>
        </p:txBody>
      </p:sp>
      <p:sp>
        <p:nvSpPr>
          <p:cNvPr id="87" name="svg_rect_087">
            <a:extLst xmlns:a="http://schemas.openxmlformats.org/drawingml/2006/main">
              <a:ext uri="{FF2B5EF4-FFF2-40B4-BE49-F238E27FC236}">
                <a16:creationId xmlns:a16="http://schemas.microsoft.com/office/drawing/2014/main" id="{96D3A5C1-CE63-4849-9CE3-267001DF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191125"/>
            <a:ext cx="333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svg_rect_088">
            <a:extLst xmlns:a="http://schemas.openxmlformats.org/drawingml/2006/main">
              <a:ext uri="{FF2B5EF4-FFF2-40B4-BE49-F238E27FC236}">
                <a16:creationId xmlns:a16="http://schemas.microsoft.com/office/drawing/2014/main" id="{81038951-1719-49A1-B158-6FEDB2D6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5191125"/>
            <a:ext cx="333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svg_rect_089">
            <a:extLst xmlns:a="http://schemas.openxmlformats.org/drawingml/2006/main">
              <a:ext uri="{FF2B5EF4-FFF2-40B4-BE49-F238E27FC236}">
                <a16:creationId xmlns:a16="http://schemas.microsoft.com/office/drawing/2014/main" id="{DB95B25C-3AB0-40B6-B615-B7719B4F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5191125"/>
            <a:ext cx="333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svg_text_090">
            <a:extLst xmlns:a="http://schemas.openxmlformats.org/drawingml/2006/main">
              <a:ext uri="{FF2B5EF4-FFF2-40B4-BE49-F238E27FC236}">
                <a16:creationId xmlns:a16="http://schemas.microsoft.com/office/drawing/2014/main" id="{950CFF9D-2E13-4648-A9B7-F873C98A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7416" y="5178171"/>
            <a:ext cx="391668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275" b="0" i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i₃</a:t>
            </a:r>
          </a:p>
        </p:txBody>
      </p:sp>
      <p:sp>
        <p:nvSpPr>
          <p:cNvPr id="91" name="svg_path_091">
            <a:extLst xmlns:a="http://schemas.openxmlformats.org/drawingml/2006/main">
              <a:ext uri="{FF2B5EF4-FFF2-40B4-BE49-F238E27FC236}">
                <a16:creationId xmlns:a16="http://schemas.microsoft.com/office/drawing/2014/main" id="{67B90977-7619-4FAC-96EC-F9F61DDD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619750"/>
            <a:ext cx="5429250" cy="190500"/>
          </a:xfrm>
          <a:custGeom xmlns:a="http://schemas.openxmlformats.org/drawingml/2006/main">
            <a:pathLst>
              <a:path w="5429250" h="190500">
                <a:moveTo>
                  <a:pt x="0" y="0"/>
                </a:moveTo>
                <a:lnTo>
                  <a:pt x="0" y="190500"/>
                </a:lnTo>
                <a:lnTo>
                  <a:pt x="5429250" y="190500"/>
                </a:lnTo>
                <a:lnTo>
                  <a:pt x="5429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506070"/>
            </a:solidFill>
            <a:prstDash val="solid"/>
          </a:ln>
        </p:spPr>
      </p:sp>
      <p:sp>
        <p:nvSpPr>
          <p:cNvPr id="92" name="svg_text_092">
            <a:extLst xmlns:a="http://schemas.openxmlformats.org/drawingml/2006/main">
              <a:ext uri="{FF2B5EF4-FFF2-40B4-BE49-F238E27FC236}">
                <a16:creationId xmlns:a16="http://schemas.microsoft.com/office/drawing/2014/main" id="{161D0F2E-B75F-4D2F-A8B9-A49FB7E8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6797" y="5940171"/>
            <a:ext cx="3915156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Quantized Latent zq = q₁ + q₂ + q₃</a:t>
            </a:r>
          </a:p>
        </p:txBody>
      </p:sp>
      <p:sp>
        <p:nvSpPr>
          <p:cNvPr id="93" name="svg_rect_093">
            <a:extLst xmlns:a="http://schemas.openxmlformats.org/drawingml/2006/main">
              <a:ext uri="{FF2B5EF4-FFF2-40B4-BE49-F238E27FC236}">
                <a16:creationId xmlns:a16="http://schemas.microsoft.com/office/drawing/2014/main" id="{8F3F8157-0B6B-44F9-9010-8C6279DC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619375"/>
            <a:ext cx="4953000" cy="3667125"/>
          </a:xfrm>
          <a:prstGeom xmlns:a="http://schemas.openxmlformats.org/drawingml/2006/main" prst="roundRect">
            <a:avLst>
              <a:gd name="adj" fmla="val 31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DB5E8"/>
            </a:solidFill>
            <a:prstDash val="dash"/>
          </a:ln>
        </p:spPr>
      </p:sp>
      <p:sp>
        <p:nvSpPr>
          <p:cNvPr id="94" name="svg_circle_094">
            <a:extLst xmlns:a="http://schemas.openxmlformats.org/drawingml/2006/main">
              <a:ext uri="{FF2B5EF4-FFF2-40B4-BE49-F238E27FC236}">
                <a16:creationId xmlns:a16="http://schemas.microsoft.com/office/drawing/2014/main" id="{CD8BE1BA-BF06-4DAD-A82F-E2D85777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6860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0B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svg_text_095">
            <a:extLst xmlns:a="http://schemas.openxmlformats.org/drawingml/2006/main">
              <a:ext uri="{FF2B5EF4-FFF2-40B4-BE49-F238E27FC236}">
                <a16:creationId xmlns:a16="http://schemas.microsoft.com/office/drawing/2014/main" id="{2E6FCCFD-C6B2-4221-992F-395EC99F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5733" y="2753439"/>
            <a:ext cx="565785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6" name="svg_text_096">
            <a:extLst xmlns:a="http://schemas.openxmlformats.org/drawingml/2006/main">
              <a:ext uri="{FF2B5EF4-FFF2-40B4-BE49-F238E27FC236}">
                <a16:creationId xmlns:a16="http://schemas.microsoft.com/office/drawing/2014/main" id="{65850136-E786-4256-B830-71BADF19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2761488"/>
            <a:ext cx="4718304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F172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F1720"/>
                </a:solidFill>
                <a:latin typeface="Arial"/>
                <a:ea typeface="Arial"/>
                <a:cs typeface="Arial"/>
              </a:rPr>
              <a:t>DISCRETE INDEX TRANSMISSION</a:t>
            </a:r>
          </a:p>
        </p:txBody>
      </p:sp>
      <p:sp>
        <p:nvSpPr>
          <p:cNvPr id="97" name="svg_rect_097">
            <a:extLst xmlns:a="http://schemas.openxmlformats.org/drawingml/2006/main">
              <a:ext uri="{FF2B5EF4-FFF2-40B4-BE49-F238E27FC236}">
                <a16:creationId xmlns:a16="http://schemas.microsoft.com/office/drawing/2014/main" id="{C1FBE3A7-F703-472D-AD34-AF88DF3C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3714750"/>
            <a:ext cx="1000125" cy="166687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9050">
            <a:solidFill>
              <a:srgbClr val="408FD2"/>
            </a:solidFill>
            <a:prstDash val="solid"/>
          </a:ln>
        </p:spPr>
      </p:sp>
      <p:sp>
        <p:nvSpPr>
          <p:cNvPr id="98" name="svg_text_098">
            <a:extLst xmlns:a="http://schemas.openxmlformats.org/drawingml/2006/main">
              <a:ext uri="{FF2B5EF4-FFF2-40B4-BE49-F238E27FC236}">
                <a16:creationId xmlns:a16="http://schemas.microsoft.com/office/drawing/2014/main" id="{6F05B53F-ADEE-4BD6-8A57-40D0FCB2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0847" y="3837432"/>
            <a:ext cx="35280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i₁</a:t>
            </a:r>
          </a:p>
        </p:txBody>
      </p:sp>
      <p:sp>
        <p:nvSpPr>
          <p:cNvPr id="99" name="svg_rect_099">
            <a:extLst xmlns:a="http://schemas.openxmlformats.org/drawingml/2006/main">
              <a:ext uri="{FF2B5EF4-FFF2-40B4-BE49-F238E27FC236}">
                <a16:creationId xmlns:a16="http://schemas.microsoft.com/office/drawing/2014/main" id="{CF28A9CC-E396-4BA0-BEAF-83FF2A22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409575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92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svg_text_100">
            <a:extLst xmlns:a="http://schemas.openxmlformats.org/drawingml/2006/main">
              <a:ext uri="{FF2B5EF4-FFF2-40B4-BE49-F238E27FC236}">
                <a16:creationId xmlns:a16="http://schemas.microsoft.com/office/drawing/2014/main" id="{84A7036F-458B-42DD-8667-30E28C55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0847" y="4332732"/>
            <a:ext cx="35280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i₂</a:t>
            </a:r>
          </a:p>
        </p:txBody>
      </p:sp>
      <p:sp>
        <p:nvSpPr>
          <p:cNvPr id="101" name="svg_rect_101">
            <a:extLst xmlns:a="http://schemas.openxmlformats.org/drawingml/2006/main">
              <a:ext uri="{FF2B5EF4-FFF2-40B4-BE49-F238E27FC236}">
                <a16:creationId xmlns:a16="http://schemas.microsoft.com/office/drawing/2014/main" id="{3F5AC5FE-FDE6-47E9-AF41-859596E1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459105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B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svg_text_102">
            <a:extLst xmlns:a="http://schemas.openxmlformats.org/drawingml/2006/main">
              <a:ext uri="{FF2B5EF4-FFF2-40B4-BE49-F238E27FC236}">
                <a16:creationId xmlns:a16="http://schemas.microsoft.com/office/drawing/2014/main" id="{4E4F639D-0C2C-4D5C-9ACE-DB5A436C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0847" y="4828032"/>
            <a:ext cx="35280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i₃</a:t>
            </a:r>
          </a:p>
        </p:txBody>
      </p:sp>
      <p:sp>
        <p:nvSpPr>
          <p:cNvPr id="103" name="svg_rect_103">
            <a:extLst xmlns:a="http://schemas.openxmlformats.org/drawingml/2006/main">
              <a:ext uri="{FF2B5EF4-FFF2-40B4-BE49-F238E27FC236}">
                <a16:creationId xmlns:a16="http://schemas.microsoft.com/office/drawing/2014/main" id="{730A2204-F674-4768-A876-77650EE1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508635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svg_path_104">
            <a:extLst xmlns:a="http://schemas.openxmlformats.org/drawingml/2006/main">
              <a:ext uri="{FF2B5EF4-FFF2-40B4-BE49-F238E27FC236}">
                <a16:creationId xmlns:a16="http://schemas.microsoft.com/office/drawing/2014/main" id="{ECA5A266-80AB-450F-A1B3-EBA58A9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4476750"/>
            <a:ext cx="257175" cy="9525"/>
          </a:xfrm>
          <a:custGeom xmlns:a="http://schemas.openxmlformats.org/drawingml/2006/main">
            <a:pathLst>
              <a:path w="257175" h="952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86D8"/>
            </a:solidFill>
            <a:prstDash val="solid"/>
          </a:ln>
        </p:spPr>
      </p:sp>
      <p:sp>
        <p:nvSpPr>
          <p:cNvPr id="105" name="svg_arrowhead_105">
            <a:extLst xmlns:a="http://schemas.openxmlformats.org/drawingml/2006/main">
              <a:ext uri="{FF2B5EF4-FFF2-40B4-BE49-F238E27FC236}">
                <a16:creationId xmlns:a16="http://schemas.microsoft.com/office/drawing/2014/main" id="{5975E7C8-CF50-40EB-98A0-FF01A6E6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4475" y="4424363"/>
            <a:ext cx="104775" cy="104775"/>
          </a:xfrm>
          <a:custGeom xmlns:a="http://schemas.openxmlformats.org/drawingml/2006/main"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386D8"/>
          </a:solidFill>
          <a:ln xmlns:a="http://schemas.openxmlformats.org/drawingml/2006/main" w="4763">
            <a:solidFill>
              <a:srgbClr val="2386D8"/>
            </a:solidFill>
            <a:prstDash val="solid"/>
          </a:ln>
        </p:spPr>
      </p:sp>
      <p:sp>
        <p:nvSpPr>
          <p:cNvPr id="106" name="svg_rect_106">
            <a:extLst xmlns:a="http://schemas.openxmlformats.org/drawingml/2006/main">
              <a:ext uri="{FF2B5EF4-FFF2-40B4-BE49-F238E27FC236}">
                <a16:creationId xmlns:a16="http://schemas.microsoft.com/office/drawing/2014/main" id="{D337F988-230F-4CE2-9078-B241435B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1190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9050">
            <a:solidFill>
              <a:srgbClr val="408FD2"/>
            </a:solidFill>
            <a:prstDash val="solid"/>
          </a:ln>
        </p:spPr>
      </p:sp>
      <p:sp>
        <p:nvSpPr>
          <p:cNvPr id="107" name="svg_text_107">
            <a:extLst xmlns:a="http://schemas.openxmlformats.org/drawingml/2006/main">
              <a:ext uri="{FF2B5EF4-FFF2-40B4-BE49-F238E27FC236}">
                <a16:creationId xmlns:a16="http://schemas.microsoft.com/office/drawing/2014/main" id="{22A6125B-14A5-4405-971F-A362FEF3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8366" y="4035171"/>
            <a:ext cx="1602867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Index Packing</a:t>
            </a:r>
          </a:p>
        </p:txBody>
      </p:sp>
      <p:sp>
        <p:nvSpPr>
          <p:cNvPr id="108" name="svg_text_108">
            <a:extLst xmlns:a="http://schemas.openxmlformats.org/drawingml/2006/main">
              <a:ext uri="{FF2B5EF4-FFF2-40B4-BE49-F238E27FC236}">
                <a16:creationId xmlns:a16="http://schemas.microsoft.com/office/drawing/2014/main" id="{C6548B47-4E72-409F-8BCE-3EA8E138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8058" y="4294632"/>
            <a:ext cx="443484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and</a:t>
            </a:r>
          </a:p>
        </p:txBody>
      </p:sp>
      <p:sp>
        <p:nvSpPr>
          <p:cNvPr id="109" name="svg_text_109">
            <a:extLst xmlns:a="http://schemas.openxmlformats.org/drawingml/2006/main">
              <a:ext uri="{FF2B5EF4-FFF2-40B4-BE49-F238E27FC236}">
                <a16:creationId xmlns:a16="http://schemas.microsoft.com/office/drawing/2014/main" id="{2C725B4C-3FD4-4864-A031-DB30CF78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8366" y="4492371"/>
            <a:ext cx="1602867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Packetization</a:t>
            </a:r>
          </a:p>
        </p:txBody>
      </p:sp>
      <p:sp>
        <p:nvSpPr>
          <p:cNvPr id="110" name="svg_text_110">
            <a:extLst xmlns:a="http://schemas.openxmlformats.org/drawingml/2006/main">
              <a:ext uri="{FF2B5EF4-FFF2-40B4-BE49-F238E27FC236}">
                <a16:creationId xmlns:a16="http://schemas.microsoft.com/office/drawing/2014/main" id="{A80CDC5E-B49F-4561-A40A-60099C59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2634" y="4780407"/>
            <a:ext cx="1894332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3 × 10 bits × 50 Hz</a:t>
            </a:r>
          </a:p>
        </p:txBody>
      </p:sp>
      <p:sp>
        <p:nvSpPr>
          <p:cNvPr id="111" name="svg_path_111">
            <a:extLst xmlns:a="http://schemas.openxmlformats.org/drawingml/2006/main">
              <a:ext uri="{FF2B5EF4-FFF2-40B4-BE49-F238E27FC236}">
                <a16:creationId xmlns:a16="http://schemas.microsoft.com/office/drawing/2014/main" id="{7F9408F6-81B2-4FC6-87B6-99D509EA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4476750"/>
            <a:ext cx="238125" cy="9525"/>
          </a:xfrm>
          <a:custGeom xmlns:a="http://schemas.openxmlformats.org/drawingml/2006/main"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86D8"/>
            </a:solidFill>
            <a:prstDash val="solid"/>
          </a:ln>
        </p:spPr>
      </p:sp>
      <p:sp>
        <p:nvSpPr>
          <p:cNvPr id="112" name="svg_arrowhead_112">
            <a:extLst xmlns:a="http://schemas.openxmlformats.org/drawingml/2006/main">
              <a:ext uri="{FF2B5EF4-FFF2-40B4-BE49-F238E27FC236}">
                <a16:creationId xmlns:a16="http://schemas.microsoft.com/office/drawing/2014/main" id="{C8CBD439-4F44-4132-81EB-4C4AC708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3225" y="4424363"/>
            <a:ext cx="104775" cy="104775"/>
          </a:xfrm>
          <a:custGeom xmlns:a="http://schemas.openxmlformats.org/drawingml/2006/main"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386D8"/>
          </a:solidFill>
          <a:ln xmlns:a="http://schemas.openxmlformats.org/drawingml/2006/main" w="4763">
            <a:solidFill>
              <a:srgbClr val="2386D8"/>
            </a:solidFill>
            <a:prstDash val="solid"/>
          </a:ln>
        </p:spPr>
      </p:sp>
      <p:sp>
        <p:nvSpPr>
          <p:cNvPr id="113" name="svg_rect_113">
            <a:extLst xmlns:a="http://schemas.openxmlformats.org/drawingml/2006/main">
              <a:ext uri="{FF2B5EF4-FFF2-40B4-BE49-F238E27FC236}">
                <a16:creationId xmlns:a16="http://schemas.microsoft.com/office/drawing/2014/main" id="{9996EA0F-379A-43C2-938F-C7D6B910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3905250"/>
            <a:ext cx="857250" cy="11430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9050">
            <a:solidFill>
              <a:srgbClr val="408FD2"/>
            </a:solidFill>
            <a:prstDash val="solid"/>
          </a:ln>
        </p:spPr>
      </p:sp>
      <p:sp>
        <p:nvSpPr>
          <p:cNvPr id="114" name="svg_text_114">
            <a:extLst xmlns:a="http://schemas.openxmlformats.org/drawingml/2006/main">
              <a:ext uri="{FF2B5EF4-FFF2-40B4-BE49-F238E27FC236}">
                <a16:creationId xmlns:a16="http://schemas.microsoft.com/office/drawing/2014/main" id="{0339BBA4-E0F9-4E8E-ADB6-4CA2D50E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0464" y="4130421"/>
            <a:ext cx="1052322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Discrete</a:t>
            </a:r>
          </a:p>
        </p:txBody>
      </p:sp>
      <p:sp>
        <p:nvSpPr>
          <p:cNvPr id="115" name="svg_text_115">
            <a:extLst xmlns:a="http://schemas.openxmlformats.org/drawingml/2006/main">
              <a:ext uri="{FF2B5EF4-FFF2-40B4-BE49-F238E27FC236}">
                <a16:creationId xmlns:a16="http://schemas.microsoft.com/office/drawing/2014/main" id="{83D83F62-555F-4F4C-A3E5-6B537017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410" y="4378071"/>
            <a:ext cx="1162431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Bitstream</a:t>
            </a:r>
          </a:p>
        </p:txBody>
      </p:sp>
      <p:sp>
        <p:nvSpPr>
          <p:cNvPr id="116" name="svg_path_116">
            <a:extLst xmlns:a="http://schemas.openxmlformats.org/drawingml/2006/main">
              <a:ext uri="{FF2B5EF4-FFF2-40B4-BE49-F238E27FC236}">
                <a16:creationId xmlns:a16="http://schemas.microsoft.com/office/drawing/2014/main" id="{E286D453-78E7-49C8-BABA-F2B9B049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4476750"/>
            <a:ext cx="238125" cy="9525"/>
          </a:xfrm>
          <a:custGeom xmlns:a="http://schemas.openxmlformats.org/drawingml/2006/main"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86D8"/>
            </a:solidFill>
            <a:prstDash val="solid"/>
          </a:ln>
        </p:spPr>
      </p:sp>
      <p:sp>
        <p:nvSpPr>
          <p:cNvPr id="117" name="svg_arrowhead_117">
            <a:extLst xmlns:a="http://schemas.openxmlformats.org/drawingml/2006/main">
              <a:ext uri="{FF2B5EF4-FFF2-40B4-BE49-F238E27FC236}">
                <a16:creationId xmlns:a16="http://schemas.microsoft.com/office/drawing/2014/main" id="{CC18761D-5E75-414A-AE15-973D9E20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4424363"/>
            <a:ext cx="104775" cy="104775"/>
          </a:xfrm>
          <a:custGeom xmlns:a="http://schemas.openxmlformats.org/drawingml/2006/main"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386D8"/>
          </a:solidFill>
          <a:ln xmlns:a="http://schemas.openxmlformats.org/drawingml/2006/main" w="4763">
            <a:solidFill>
              <a:srgbClr val="2386D8"/>
            </a:solidFill>
            <a:prstDash val="solid"/>
          </a:ln>
        </p:spPr>
      </p:sp>
      <p:sp>
        <p:nvSpPr>
          <p:cNvPr id="118" name="svg_rect_118">
            <a:extLst xmlns:a="http://schemas.openxmlformats.org/drawingml/2006/main">
              <a:ext uri="{FF2B5EF4-FFF2-40B4-BE49-F238E27FC236}">
                <a16:creationId xmlns:a16="http://schemas.microsoft.com/office/drawing/2014/main" id="{1C938C6D-5455-4AEC-9129-452370E8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3375" y="3905250"/>
            <a:ext cx="666750" cy="11430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9050">
            <a:solidFill>
              <a:srgbClr val="408FD2"/>
            </a:solidFill>
            <a:prstDash val="solid"/>
          </a:ln>
        </p:spPr>
      </p:sp>
      <p:sp>
        <p:nvSpPr>
          <p:cNvPr id="119" name="svg_text_119">
            <a:extLst xmlns:a="http://schemas.openxmlformats.org/drawingml/2006/main">
              <a:ext uri="{FF2B5EF4-FFF2-40B4-BE49-F238E27FC236}">
                <a16:creationId xmlns:a16="http://schemas.microsoft.com/office/drawing/2014/main" id="{B2E2D092-004E-4DF3-8BCD-DA7EC2C3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5753" y="4187571"/>
            <a:ext cx="721995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Comm.</a:t>
            </a:r>
          </a:p>
        </p:txBody>
      </p:sp>
      <p:sp>
        <p:nvSpPr>
          <p:cNvPr id="120" name="svg_text_120">
            <a:extLst xmlns:a="http://schemas.openxmlformats.org/drawingml/2006/main">
              <a:ext uri="{FF2B5EF4-FFF2-40B4-BE49-F238E27FC236}">
                <a16:creationId xmlns:a16="http://schemas.microsoft.com/office/drawing/2014/main" id="{FA363AE7-2EF4-40BC-8ED7-5C2F4554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5644" y="4435221"/>
            <a:ext cx="942213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Channel</a:t>
            </a:r>
          </a:p>
        </p:txBody>
      </p:sp>
      <p:sp>
        <p:nvSpPr>
          <p:cNvPr id="121" name="svg_text_121">
            <a:extLst xmlns:a="http://schemas.openxmlformats.org/drawingml/2006/main">
              <a:ext uri="{FF2B5EF4-FFF2-40B4-BE49-F238E27FC236}">
                <a16:creationId xmlns:a16="http://schemas.microsoft.com/office/drawing/2014/main" id="{CF1DB421-734C-43AF-8179-2286BC83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9227" y="5349621"/>
            <a:ext cx="3805047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Nominal Index Payload: 1.5 kbit/s</a:t>
            </a:r>
          </a:p>
        </p:txBody>
      </p:sp>
      <p:sp>
        <p:nvSpPr>
          <p:cNvPr id="122" name="svg_rect_122">
            <a:extLst xmlns:a="http://schemas.openxmlformats.org/drawingml/2006/main">
              <a:ext uri="{FF2B5EF4-FFF2-40B4-BE49-F238E27FC236}">
                <a16:creationId xmlns:a16="http://schemas.microsoft.com/office/drawing/2014/main" id="{39A04456-8D62-427F-A0BC-F44CA562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5734050"/>
            <a:ext cx="3048000" cy="4000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CF6FF"/>
          </a:solidFill>
          <a:ln xmlns:a="http://schemas.openxmlformats.org/drawingml/2006/main" w="14288">
            <a:solidFill>
              <a:srgbClr val="78AFE0"/>
            </a:solidFill>
            <a:prstDash val="solid"/>
          </a:ln>
        </p:spPr>
      </p:sp>
      <p:sp>
        <p:nvSpPr>
          <p:cNvPr id="123" name="svg_text_123">
            <a:extLst xmlns:a="http://schemas.openxmlformats.org/drawingml/2006/main">
              <a:ext uri="{FF2B5EF4-FFF2-40B4-BE49-F238E27FC236}">
                <a16:creationId xmlns:a16="http://schemas.microsoft.com/office/drawing/2014/main" id="{26B93B53-1B5D-4AD1-9166-4DDDE40B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9008" y="5825871"/>
            <a:ext cx="4245483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ONLY DISCRETE INDICES ARE TRANSMITTED</a:t>
            </a:r>
          </a:p>
        </p:txBody>
      </p:sp>
      <p:sp>
        <p:nvSpPr>
          <p:cNvPr id="124" name="svg_rect_124">
            <a:extLst xmlns:a="http://schemas.openxmlformats.org/drawingml/2006/main">
              <a:ext uri="{FF2B5EF4-FFF2-40B4-BE49-F238E27FC236}">
                <a16:creationId xmlns:a16="http://schemas.microsoft.com/office/drawing/2014/main" id="{EBB46DEB-F931-4B50-8F1E-44937B71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0" y="2619375"/>
            <a:ext cx="6000750" cy="3667125"/>
          </a:xfrm>
          <a:prstGeom xmlns:a="http://schemas.openxmlformats.org/drawingml/2006/main" prst="roundRect">
            <a:avLst>
              <a:gd name="adj" fmla="val 31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DB5E8"/>
            </a:solidFill>
            <a:prstDash val="dash"/>
          </a:ln>
        </p:spPr>
      </p:sp>
      <p:sp>
        <p:nvSpPr>
          <p:cNvPr id="125" name="svg_circle_125">
            <a:extLst xmlns:a="http://schemas.openxmlformats.org/drawingml/2006/main">
              <a:ext uri="{FF2B5EF4-FFF2-40B4-BE49-F238E27FC236}">
                <a16:creationId xmlns:a16="http://schemas.microsoft.com/office/drawing/2014/main" id="{3524F493-8DDD-4E05-AD0B-61775EEB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5425" y="26860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0B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svg_text_126">
            <a:extLst xmlns:a="http://schemas.openxmlformats.org/drawingml/2006/main">
              <a:ext uri="{FF2B5EF4-FFF2-40B4-BE49-F238E27FC236}">
                <a16:creationId xmlns:a16="http://schemas.microsoft.com/office/drawing/2014/main" id="{EDBD3584-5789-4C1F-A2EA-74CBDE4B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9233" y="2753439"/>
            <a:ext cx="565785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7" name="svg_text_127">
            <a:extLst xmlns:a="http://schemas.openxmlformats.org/drawingml/2006/main">
              <a:ext uri="{FF2B5EF4-FFF2-40B4-BE49-F238E27FC236}">
                <a16:creationId xmlns:a16="http://schemas.microsoft.com/office/drawing/2014/main" id="{7B17C45B-4C76-4AB5-B6D3-9EB26B75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3125" y="2669286"/>
            <a:ext cx="4446270" cy="324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SHARED-CODEBOOK RECONSTRUCTION</a:t>
            </a:r>
          </a:p>
        </p:txBody>
      </p:sp>
      <p:sp>
        <p:nvSpPr>
          <p:cNvPr id="128" name="svg_text_128">
            <a:extLst xmlns:a="http://schemas.openxmlformats.org/drawingml/2006/main">
              <a:ext uri="{FF2B5EF4-FFF2-40B4-BE49-F238E27FC236}">
                <a16:creationId xmlns:a16="http://schemas.microsoft.com/office/drawing/2014/main" id="{F1AF4564-9E11-45C7-9AAC-002AFBE5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3125" y="2916936"/>
            <a:ext cx="1881378" cy="324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 DECODING</a:t>
            </a:r>
          </a:p>
        </p:txBody>
      </p:sp>
      <p:sp>
        <p:nvSpPr>
          <p:cNvPr id="129" name="svg_rect_129">
            <a:extLst xmlns:a="http://schemas.openxmlformats.org/drawingml/2006/main">
              <a:ext uri="{FF2B5EF4-FFF2-40B4-BE49-F238E27FC236}">
                <a16:creationId xmlns:a16="http://schemas.microsoft.com/office/drawing/2014/main" id="{4D42ECB8-A1D6-4CFF-B49E-CF1A75D4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3952875"/>
            <a:ext cx="714375" cy="119062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9050">
            <a:solidFill>
              <a:srgbClr val="408FD2"/>
            </a:solidFill>
            <a:prstDash val="solid"/>
          </a:ln>
        </p:spPr>
      </p:sp>
      <p:sp>
        <p:nvSpPr>
          <p:cNvPr id="130" name="svg_text_130">
            <a:extLst xmlns:a="http://schemas.openxmlformats.org/drawingml/2006/main">
              <a:ext uri="{FF2B5EF4-FFF2-40B4-BE49-F238E27FC236}">
                <a16:creationId xmlns:a16="http://schemas.microsoft.com/office/drawing/2014/main" id="{B67A2A77-5C55-45B4-A560-854637B9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0863" y="3665982"/>
            <a:ext cx="896874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Received</a:t>
            </a:r>
          </a:p>
        </p:txBody>
      </p:sp>
      <p:sp>
        <p:nvSpPr>
          <p:cNvPr id="131" name="svg_rect_131">
            <a:extLst xmlns:a="http://schemas.openxmlformats.org/drawingml/2006/main">
              <a:ext uri="{FF2B5EF4-FFF2-40B4-BE49-F238E27FC236}">
                <a16:creationId xmlns:a16="http://schemas.microsoft.com/office/drawing/2014/main" id="{6DE2B29E-867B-44F8-9B47-770FBE75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4143375"/>
            <a:ext cx="4286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92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svg_rect_132">
            <a:extLst xmlns:a="http://schemas.openxmlformats.org/drawingml/2006/main">
              <a:ext uri="{FF2B5EF4-FFF2-40B4-BE49-F238E27FC236}">
                <a16:creationId xmlns:a16="http://schemas.microsoft.com/office/drawing/2014/main" id="{E10EB627-0860-49AA-BF66-C78A0E60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4457700"/>
            <a:ext cx="4286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B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svg_rect_133">
            <a:extLst xmlns:a="http://schemas.openxmlformats.org/drawingml/2006/main">
              <a:ext uri="{FF2B5EF4-FFF2-40B4-BE49-F238E27FC236}">
                <a16:creationId xmlns:a16="http://schemas.microsoft.com/office/drawing/2014/main" id="{5F9274D7-02E2-43AC-A130-1AAD51D2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4772025"/>
            <a:ext cx="4286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svg_path_134">
            <a:extLst xmlns:a="http://schemas.openxmlformats.org/drawingml/2006/main">
              <a:ext uri="{FF2B5EF4-FFF2-40B4-BE49-F238E27FC236}">
                <a16:creationId xmlns:a16="http://schemas.microsoft.com/office/drawing/2014/main" id="{0B8695E5-C4EB-4636-84D8-017013A2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0" y="4238625"/>
            <a:ext cx="238125" cy="9525"/>
          </a:xfrm>
          <a:custGeom xmlns:a="http://schemas.openxmlformats.org/drawingml/2006/main"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386D8"/>
            </a:solidFill>
            <a:prstDash val="solid"/>
          </a:ln>
        </p:spPr>
      </p:sp>
      <p:sp>
        <p:nvSpPr>
          <p:cNvPr id="135" name="svg_arrowhead_135">
            <a:extLst xmlns:a="http://schemas.openxmlformats.org/drawingml/2006/main">
              <a:ext uri="{FF2B5EF4-FFF2-40B4-BE49-F238E27FC236}">
                <a16:creationId xmlns:a16="http://schemas.microsoft.com/office/drawing/2014/main" id="{78603726-A1AF-474A-9BDF-683015B5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54600" y="4186238"/>
            <a:ext cx="104775" cy="104775"/>
          </a:xfrm>
          <a:custGeom xmlns:a="http://schemas.openxmlformats.org/drawingml/2006/main"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386D8"/>
          </a:solidFill>
          <a:ln xmlns:a="http://schemas.openxmlformats.org/drawingml/2006/main" w="4763">
            <a:solidFill>
              <a:srgbClr val="2386D8"/>
            </a:solidFill>
            <a:prstDash val="solid"/>
          </a:ln>
        </p:spPr>
      </p:sp>
      <p:sp>
        <p:nvSpPr>
          <p:cNvPr id="136" name="svg_path_136">
            <a:extLst xmlns:a="http://schemas.openxmlformats.org/drawingml/2006/main">
              <a:ext uri="{FF2B5EF4-FFF2-40B4-BE49-F238E27FC236}">
                <a16:creationId xmlns:a16="http://schemas.microsoft.com/office/drawing/2014/main" id="{40B5177B-7ADF-4EFF-8AA6-80113F4C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0" y="4543425"/>
            <a:ext cx="238125" cy="9525"/>
          </a:xfrm>
          <a:custGeom xmlns:a="http://schemas.openxmlformats.org/drawingml/2006/main"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386D8"/>
            </a:solidFill>
            <a:prstDash val="solid"/>
          </a:ln>
        </p:spPr>
      </p:sp>
      <p:sp>
        <p:nvSpPr>
          <p:cNvPr id="137" name="svg_arrowhead_137">
            <a:extLst xmlns:a="http://schemas.openxmlformats.org/drawingml/2006/main">
              <a:ext uri="{FF2B5EF4-FFF2-40B4-BE49-F238E27FC236}">
                <a16:creationId xmlns:a16="http://schemas.microsoft.com/office/drawing/2014/main" id="{DD2F12D7-BA67-40AF-9170-D1EDB002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54600" y="4491038"/>
            <a:ext cx="104775" cy="104775"/>
          </a:xfrm>
          <a:custGeom xmlns:a="http://schemas.openxmlformats.org/drawingml/2006/main"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386D8"/>
          </a:solidFill>
          <a:ln xmlns:a="http://schemas.openxmlformats.org/drawingml/2006/main" w="4763">
            <a:solidFill>
              <a:srgbClr val="2386D8"/>
            </a:solidFill>
            <a:prstDash val="solid"/>
          </a:ln>
        </p:spPr>
      </p:sp>
      <p:sp>
        <p:nvSpPr>
          <p:cNvPr id="138" name="svg_path_138">
            <a:extLst xmlns:a="http://schemas.openxmlformats.org/drawingml/2006/main">
              <a:ext uri="{FF2B5EF4-FFF2-40B4-BE49-F238E27FC236}">
                <a16:creationId xmlns:a16="http://schemas.microsoft.com/office/drawing/2014/main" id="{AEAB04F5-8131-4A00-A950-7FFADABE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0" y="4857750"/>
            <a:ext cx="238125" cy="9525"/>
          </a:xfrm>
          <a:custGeom xmlns:a="http://schemas.openxmlformats.org/drawingml/2006/main"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386D8"/>
            </a:solidFill>
            <a:prstDash val="solid"/>
          </a:ln>
        </p:spPr>
      </p:sp>
      <p:sp>
        <p:nvSpPr>
          <p:cNvPr id="139" name="svg_arrowhead_139">
            <a:extLst xmlns:a="http://schemas.openxmlformats.org/drawingml/2006/main">
              <a:ext uri="{FF2B5EF4-FFF2-40B4-BE49-F238E27FC236}">
                <a16:creationId xmlns:a16="http://schemas.microsoft.com/office/drawing/2014/main" id="{D402BD9A-8BB6-44C3-8720-AED68367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54600" y="4805363"/>
            <a:ext cx="104775" cy="104775"/>
          </a:xfrm>
          <a:custGeom xmlns:a="http://schemas.openxmlformats.org/drawingml/2006/main"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386D8"/>
          </a:solidFill>
          <a:ln xmlns:a="http://schemas.openxmlformats.org/drawingml/2006/main" w="4763">
            <a:solidFill>
              <a:srgbClr val="2386D8"/>
            </a:solidFill>
            <a:prstDash val="solid"/>
          </a:ln>
        </p:spPr>
      </p:sp>
      <p:sp>
        <p:nvSpPr>
          <p:cNvPr id="140" name="svg_rect_140">
            <a:extLst xmlns:a="http://schemas.openxmlformats.org/drawingml/2006/main">
              <a:ext uri="{FF2B5EF4-FFF2-40B4-BE49-F238E27FC236}">
                <a16:creationId xmlns:a16="http://schemas.microsoft.com/office/drawing/2014/main" id="{2323F534-700E-4DE9-8969-7829CD90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59375" y="3857625"/>
            <a:ext cx="1285875" cy="666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EF8D32"/>
            </a:solidFill>
            <a:prstDash val="solid"/>
          </a:ln>
        </p:spPr>
      </p:sp>
      <p:sp>
        <p:nvSpPr>
          <p:cNvPr id="141" name="svg_text_141">
            <a:extLst xmlns:a="http://schemas.openxmlformats.org/drawingml/2006/main">
              <a:ext uri="{FF2B5EF4-FFF2-40B4-BE49-F238E27FC236}">
                <a16:creationId xmlns:a16="http://schemas.microsoft.com/office/drawing/2014/main" id="{9C877DD6-7649-4929-B980-1B106295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23205" y="3924681"/>
            <a:ext cx="9486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1546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15466"/>
                </a:solidFill>
                <a:latin typeface="Arial"/>
                <a:ea typeface="Arial"/>
                <a:cs typeface="Arial"/>
              </a:rPr>
              <a:t>Pre-Shared</a:t>
            </a:r>
          </a:p>
        </p:txBody>
      </p:sp>
      <p:sp>
        <p:nvSpPr>
          <p:cNvPr id="142" name="svg_text_142">
            <a:extLst xmlns:a="http://schemas.openxmlformats.org/drawingml/2006/main">
              <a:ext uri="{FF2B5EF4-FFF2-40B4-BE49-F238E27FC236}">
                <a16:creationId xmlns:a16="http://schemas.microsoft.com/office/drawing/2014/main" id="{797F1F74-ABC3-415B-8FAF-31D3CE26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84343" y="4086606"/>
            <a:ext cx="1026414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1546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15466"/>
                </a:solidFill>
                <a:latin typeface="Arial"/>
                <a:ea typeface="Arial"/>
                <a:cs typeface="Arial"/>
              </a:rPr>
              <a:t>Codebook C1</a:t>
            </a:r>
          </a:p>
        </p:txBody>
      </p:sp>
      <p:sp>
        <p:nvSpPr>
          <p:cNvPr id="143" name="svg_text_143">
            <a:extLst xmlns:a="http://schemas.openxmlformats.org/drawingml/2006/main">
              <a:ext uri="{FF2B5EF4-FFF2-40B4-BE49-F238E27FC236}">
                <a16:creationId xmlns:a16="http://schemas.microsoft.com/office/drawing/2014/main" id="{4F1785F6-2607-4787-BF17-B26FE6F2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26444" y="4263771"/>
            <a:ext cx="942213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275" b="0" i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i₁ → q₁</a:t>
            </a:r>
          </a:p>
        </p:txBody>
      </p:sp>
      <p:sp>
        <p:nvSpPr>
          <p:cNvPr id="144" name="svg_rect_144">
            <a:extLst xmlns:a="http://schemas.openxmlformats.org/drawingml/2006/main">
              <a:ext uri="{FF2B5EF4-FFF2-40B4-BE49-F238E27FC236}">
                <a16:creationId xmlns:a16="http://schemas.microsoft.com/office/drawing/2014/main" id="{ACE9A834-7F5B-4A98-86F1-49B5E199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59375" y="4572000"/>
            <a:ext cx="1285875" cy="666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FFAF4"/>
          </a:solidFill>
          <a:ln xmlns:a="http://schemas.openxmlformats.org/drawingml/2006/main" w="9525">
            <a:solidFill>
              <a:srgbClr val="4CA873"/>
            </a:solidFill>
            <a:prstDash val="solid"/>
          </a:ln>
        </p:spPr>
      </p:sp>
      <p:sp>
        <p:nvSpPr>
          <p:cNvPr id="145" name="svg_text_145">
            <a:extLst xmlns:a="http://schemas.openxmlformats.org/drawingml/2006/main">
              <a:ext uri="{FF2B5EF4-FFF2-40B4-BE49-F238E27FC236}">
                <a16:creationId xmlns:a16="http://schemas.microsoft.com/office/drawing/2014/main" id="{E418E0C1-4FBF-416C-A9D7-2D92A8D0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23205" y="4639056"/>
            <a:ext cx="9486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1546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15466"/>
                </a:solidFill>
                <a:latin typeface="Arial"/>
                <a:ea typeface="Arial"/>
                <a:cs typeface="Arial"/>
              </a:rPr>
              <a:t>Pre-Shared</a:t>
            </a:r>
          </a:p>
        </p:txBody>
      </p:sp>
      <p:sp>
        <p:nvSpPr>
          <p:cNvPr id="146" name="svg_text_146">
            <a:extLst xmlns:a="http://schemas.openxmlformats.org/drawingml/2006/main">
              <a:ext uri="{FF2B5EF4-FFF2-40B4-BE49-F238E27FC236}">
                <a16:creationId xmlns:a16="http://schemas.microsoft.com/office/drawing/2014/main" id="{AA0C99F5-5205-4A2E-A304-8586B36C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84343" y="4800981"/>
            <a:ext cx="1026414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1546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15466"/>
                </a:solidFill>
                <a:latin typeface="Arial"/>
                <a:ea typeface="Arial"/>
                <a:cs typeface="Arial"/>
              </a:rPr>
              <a:t>Codebook C2</a:t>
            </a:r>
          </a:p>
        </p:txBody>
      </p:sp>
      <p:sp>
        <p:nvSpPr>
          <p:cNvPr id="147" name="svg_text_147">
            <a:extLst xmlns:a="http://schemas.openxmlformats.org/drawingml/2006/main">
              <a:ext uri="{FF2B5EF4-FFF2-40B4-BE49-F238E27FC236}">
                <a16:creationId xmlns:a16="http://schemas.microsoft.com/office/drawing/2014/main" id="{9949C025-6840-4127-85E0-B6423909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26444" y="4978146"/>
            <a:ext cx="942213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275" b="0" i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i₂ → q₂</a:t>
            </a:r>
          </a:p>
        </p:txBody>
      </p:sp>
      <p:sp>
        <p:nvSpPr>
          <p:cNvPr id="148" name="svg_rect_148">
            <a:extLst xmlns:a="http://schemas.openxmlformats.org/drawingml/2006/main">
              <a:ext uri="{FF2B5EF4-FFF2-40B4-BE49-F238E27FC236}">
                <a16:creationId xmlns:a16="http://schemas.microsoft.com/office/drawing/2014/main" id="{E37721BD-FD38-44B5-B832-435A4FD4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59375" y="5286375"/>
            <a:ext cx="1285875" cy="666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4F2FF"/>
          </a:solidFill>
          <a:ln xmlns:a="http://schemas.openxmlformats.org/drawingml/2006/main" w="9525">
            <a:solidFill>
              <a:srgbClr val="7374D8"/>
            </a:solidFill>
            <a:prstDash val="solid"/>
          </a:ln>
        </p:spPr>
      </p:sp>
      <p:sp>
        <p:nvSpPr>
          <p:cNvPr id="149" name="svg_text_149">
            <a:extLst xmlns:a="http://schemas.openxmlformats.org/drawingml/2006/main">
              <a:ext uri="{FF2B5EF4-FFF2-40B4-BE49-F238E27FC236}">
                <a16:creationId xmlns:a16="http://schemas.microsoft.com/office/drawing/2014/main" id="{817E770F-7F4D-4F64-B69C-A5BA7C66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23205" y="5353431"/>
            <a:ext cx="9486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1546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15466"/>
                </a:solidFill>
                <a:latin typeface="Arial"/>
                <a:ea typeface="Arial"/>
                <a:cs typeface="Arial"/>
              </a:rPr>
              <a:t>Pre-Shared</a:t>
            </a:r>
          </a:p>
        </p:txBody>
      </p:sp>
      <p:sp>
        <p:nvSpPr>
          <p:cNvPr id="150" name="svg_text_150">
            <a:extLst xmlns:a="http://schemas.openxmlformats.org/drawingml/2006/main">
              <a:ext uri="{FF2B5EF4-FFF2-40B4-BE49-F238E27FC236}">
                <a16:creationId xmlns:a16="http://schemas.microsoft.com/office/drawing/2014/main" id="{5A042A2D-A9A1-439C-A07F-67FF00AD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84343" y="5515356"/>
            <a:ext cx="1026414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1546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15466"/>
                </a:solidFill>
                <a:latin typeface="Arial"/>
                <a:ea typeface="Arial"/>
                <a:cs typeface="Arial"/>
              </a:rPr>
              <a:t>Codebook C3</a:t>
            </a:r>
          </a:p>
        </p:txBody>
      </p:sp>
      <p:sp>
        <p:nvSpPr>
          <p:cNvPr id="151" name="svg_text_151">
            <a:extLst xmlns:a="http://schemas.openxmlformats.org/drawingml/2006/main">
              <a:ext uri="{FF2B5EF4-FFF2-40B4-BE49-F238E27FC236}">
                <a16:creationId xmlns:a16="http://schemas.microsoft.com/office/drawing/2014/main" id="{DBC6B296-79D1-4A00-AAE2-689D8F9B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26444" y="5692521"/>
            <a:ext cx="942213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275" b="0" i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i₃ → q₃</a:t>
            </a:r>
          </a:p>
        </p:txBody>
      </p:sp>
      <p:sp>
        <p:nvSpPr>
          <p:cNvPr id="152" name="svg_path_152">
            <a:extLst xmlns:a="http://schemas.openxmlformats.org/drawingml/2006/main">
              <a:ext uri="{FF2B5EF4-FFF2-40B4-BE49-F238E27FC236}">
                <a16:creationId xmlns:a16="http://schemas.microsoft.com/office/drawing/2014/main" id="{804DBB1C-8748-48B3-9045-4C32F2D6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0" y="4191000"/>
            <a:ext cx="285750" cy="619125"/>
          </a:xfrm>
          <a:custGeom xmlns:a="http://schemas.openxmlformats.org/drawingml/2006/main">
            <a:pathLst>
              <a:path w="285750" h="619125">
                <a:moveTo>
                  <a:pt x="0" y="0"/>
                </a:moveTo>
                <a:lnTo>
                  <a:pt x="285750" y="0"/>
                </a:lnTo>
                <a:lnTo>
                  <a:pt x="285750" y="6191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386D8"/>
            </a:solidFill>
            <a:prstDash val="solid"/>
          </a:ln>
        </p:spPr>
      </p:sp>
      <p:sp>
        <p:nvSpPr>
          <p:cNvPr id="153" name="svg_arrowhead_153">
            <a:extLst xmlns:a="http://schemas.openxmlformats.org/drawingml/2006/main">
              <a:ext uri="{FF2B5EF4-FFF2-40B4-BE49-F238E27FC236}">
                <a16:creationId xmlns:a16="http://schemas.microsoft.com/office/drawing/2014/main" id="{3A81E0FB-2BB4-4E1D-8B98-8F0EA98D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78613" y="4705350"/>
            <a:ext cx="104775" cy="104775"/>
          </a:xfrm>
          <a:custGeom xmlns:a="http://schemas.openxmlformats.org/drawingml/2006/main">
            <a:pathLst>
              <a:path w="104775" h="104775">
                <a:moveTo>
                  <a:pt x="52388" y="104775"/>
                </a:moveTo>
                <a:lnTo>
                  <a:pt x="0" y="0"/>
                </a:lnTo>
                <a:lnTo>
                  <a:pt x="104775" y="0"/>
                </a:lnTo>
                <a:close/>
              </a:path>
            </a:pathLst>
          </a:custGeom>
          <a:solidFill xmlns:a="http://schemas.openxmlformats.org/drawingml/2006/main">
            <a:srgbClr val="2386D8"/>
          </a:solidFill>
          <a:ln xmlns:a="http://schemas.openxmlformats.org/drawingml/2006/main" w="4763">
            <a:solidFill>
              <a:srgbClr val="2386D8"/>
            </a:solidFill>
            <a:prstDash val="solid"/>
          </a:ln>
        </p:spPr>
      </p:sp>
      <p:sp>
        <p:nvSpPr>
          <p:cNvPr id="154" name="svg_path_154">
            <a:extLst xmlns:a="http://schemas.openxmlformats.org/drawingml/2006/main">
              <a:ext uri="{FF2B5EF4-FFF2-40B4-BE49-F238E27FC236}">
                <a16:creationId xmlns:a16="http://schemas.microsoft.com/office/drawing/2014/main" id="{C63B8DF0-A3E6-43ED-80D0-2FFD5108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0" y="4905375"/>
            <a:ext cx="285750" cy="9525"/>
          </a:xfrm>
          <a:custGeom xmlns:a="http://schemas.openxmlformats.org/drawingml/2006/main"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386D8"/>
            </a:solidFill>
            <a:prstDash val="solid"/>
          </a:ln>
        </p:spPr>
      </p:sp>
      <p:sp>
        <p:nvSpPr>
          <p:cNvPr id="155" name="svg_arrowhead_155">
            <a:extLst xmlns:a="http://schemas.openxmlformats.org/drawingml/2006/main">
              <a:ext uri="{FF2B5EF4-FFF2-40B4-BE49-F238E27FC236}">
                <a16:creationId xmlns:a16="http://schemas.microsoft.com/office/drawing/2014/main" id="{1FD06D68-C2AD-48B6-9485-76043013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26225" y="4852988"/>
            <a:ext cx="104775" cy="104775"/>
          </a:xfrm>
          <a:custGeom xmlns:a="http://schemas.openxmlformats.org/drawingml/2006/main"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386D8"/>
          </a:solidFill>
          <a:ln xmlns:a="http://schemas.openxmlformats.org/drawingml/2006/main" w="4763">
            <a:solidFill>
              <a:srgbClr val="2386D8"/>
            </a:solidFill>
            <a:prstDash val="solid"/>
          </a:ln>
        </p:spPr>
      </p:sp>
      <p:sp>
        <p:nvSpPr>
          <p:cNvPr id="156" name="svg_path_156">
            <a:extLst xmlns:a="http://schemas.openxmlformats.org/drawingml/2006/main">
              <a:ext uri="{FF2B5EF4-FFF2-40B4-BE49-F238E27FC236}">
                <a16:creationId xmlns:a16="http://schemas.microsoft.com/office/drawing/2014/main" id="{C640E47A-E84F-402F-BE2B-D4D6290F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0" y="5000625"/>
            <a:ext cx="285750" cy="619125"/>
          </a:xfrm>
          <a:custGeom xmlns:a="http://schemas.openxmlformats.org/drawingml/2006/main">
            <a:pathLst>
              <a:path w="285750" h="619125">
                <a:moveTo>
                  <a:pt x="0" y="619125"/>
                </a:moveTo>
                <a:lnTo>
                  <a:pt x="285750" y="619125"/>
                </a:ln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386D8"/>
            </a:solidFill>
            <a:prstDash val="solid"/>
          </a:ln>
        </p:spPr>
      </p:sp>
      <p:sp>
        <p:nvSpPr>
          <p:cNvPr id="157" name="svg_arrowhead_157">
            <a:extLst xmlns:a="http://schemas.openxmlformats.org/drawingml/2006/main">
              <a:ext uri="{FF2B5EF4-FFF2-40B4-BE49-F238E27FC236}">
                <a16:creationId xmlns:a16="http://schemas.microsoft.com/office/drawing/2014/main" id="{CCB74063-A625-42AF-A5CB-738C1A73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78613" y="5000625"/>
            <a:ext cx="104775" cy="104775"/>
          </a:xfrm>
          <a:custGeom xmlns:a="http://schemas.openxmlformats.org/drawingml/2006/main">
            <a:pathLst>
              <a:path w="104775" h="104775">
                <a:moveTo>
                  <a:pt x="52388" y="0"/>
                </a:moveTo>
                <a:lnTo>
                  <a:pt x="104775" y="104775"/>
                </a:lnTo>
                <a:lnTo>
                  <a:pt x="0" y="104775"/>
                </a:lnTo>
                <a:close/>
              </a:path>
            </a:pathLst>
          </a:custGeom>
          <a:solidFill xmlns:a="http://schemas.openxmlformats.org/drawingml/2006/main">
            <a:srgbClr val="2386D8"/>
          </a:solidFill>
          <a:ln xmlns:a="http://schemas.openxmlformats.org/drawingml/2006/main" w="4763">
            <a:solidFill>
              <a:srgbClr val="2386D8"/>
            </a:solidFill>
            <a:prstDash val="solid"/>
          </a:ln>
        </p:spPr>
      </p:sp>
      <p:sp>
        <p:nvSpPr>
          <p:cNvPr id="158" name="svg_circle_158">
            <a:extLst xmlns:a="http://schemas.openxmlformats.org/drawingml/2006/main">
              <a:ext uri="{FF2B5EF4-FFF2-40B4-BE49-F238E27FC236}">
                <a16:creationId xmlns:a16="http://schemas.microsoft.com/office/drawing/2014/main" id="{8B6D1C04-EF4D-4ED7-B293-603E91D6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0" y="4667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668D2"/>
            </a:solidFill>
            <a:prstDash val="solid"/>
          </a:ln>
        </p:spPr>
      </p:sp>
      <p:sp>
        <p:nvSpPr>
          <p:cNvPr id="159" name="svg_text_159">
            <a:extLst xmlns:a="http://schemas.openxmlformats.org/drawingml/2006/main">
              <a:ext uri="{FF2B5EF4-FFF2-40B4-BE49-F238E27FC236}">
                <a16:creationId xmlns:a16="http://schemas.microsoft.com/office/drawing/2014/main" id="{96B2C66C-46C2-4D27-9B61-D96DE342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9073" y="4681728"/>
            <a:ext cx="649605" cy="4576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60" name="svg_text_160">
            <a:extLst xmlns:a="http://schemas.openxmlformats.org/drawingml/2006/main">
              <a:ext uri="{FF2B5EF4-FFF2-40B4-BE49-F238E27FC236}">
                <a16:creationId xmlns:a16="http://schemas.microsoft.com/office/drawing/2014/main" id="{89976921-4DE1-4B24-B939-7A88E5C6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27496" y="3463671"/>
            <a:ext cx="1492758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275" b="0" i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q₁ + q₂ + q₃</a:t>
            </a:r>
          </a:p>
        </p:txBody>
      </p:sp>
      <p:sp>
        <p:nvSpPr>
          <p:cNvPr id="161" name="svg_path_161">
            <a:extLst xmlns:a="http://schemas.openxmlformats.org/drawingml/2006/main">
              <a:ext uri="{FF2B5EF4-FFF2-40B4-BE49-F238E27FC236}">
                <a16:creationId xmlns:a16="http://schemas.microsoft.com/office/drawing/2014/main" id="{4BE6FDF9-8B63-48F7-99FF-255D3105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0" y="4905375"/>
            <a:ext cx="285750" cy="9525"/>
          </a:xfrm>
          <a:custGeom xmlns:a="http://schemas.openxmlformats.org/drawingml/2006/main"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86D8"/>
            </a:solidFill>
            <a:prstDash val="solid"/>
          </a:ln>
        </p:spPr>
      </p:sp>
      <p:sp>
        <p:nvSpPr>
          <p:cNvPr id="162" name="svg_arrowhead_162">
            <a:extLst xmlns:a="http://schemas.openxmlformats.org/drawingml/2006/main">
              <a:ext uri="{FF2B5EF4-FFF2-40B4-BE49-F238E27FC236}">
                <a16:creationId xmlns:a16="http://schemas.microsoft.com/office/drawing/2014/main" id="{9A88909E-3494-4C63-8A2B-7EE526A2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2975" y="4852988"/>
            <a:ext cx="104775" cy="104775"/>
          </a:xfrm>
          <a:custGeom xmlns:a="http://schemas.openxmlformats.org/drawingml/2006/main"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386D8"/>
          </a:solidFill>
          <a:ln xmlns:a="http://schemas.openxmlformats.org/drawingml/2006/main" w="4763">
            <a:solidFill>
              <a:srgbClr val="2386D8"/>
            </a:solidFill>
            <a:prstDash val="solid"/>
          </a:ln>
        </p:spPr>
      </p:sp>
      <p:sp>
        <p:nvSpPr>
          <p:cNvPr id="163" name="svg_rect_163">
            <a:extLst xmlns:a="http://schemas.openxmlformats.org/drawingml/2006/main">
              <a:ext uri="{FF2B5EF4-FFF2-40B4-BE49-F238E27FC236}">
                <a16:creationId xmlns:a16="http://schemas.microsoft.com/office/drawing/2014/main" id="{D0373FB3-D1B8-4EC2-96DB-E1B45F67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0" y="4381500"/>
            <a:ext cx="904875" cy="1047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9050">
            <a:solidFill>
              <a:srgbClr val="408FD2"/>
            </a:solidFill>
            <a:prstDash val="solid"/>
          </a:ln>
        </p:spPr>
      </p:sp>
      <p:sp>
        <p:nvSpPr>
          <p:cNvPr id="164" name="svg_text_164">
            <a:extLst xmlns:a="http://schemas.openxmlformats.org/drawingml/2006/main">
              <a:ext uri="{FF2B5EF4-FFF2-40B4-BE49-F238E27FC236}">
                <a16:creationId xmlns:a16="http://schemas.microsoft.com/office/drawing/2014/main" id="{4F59E85C-22CA-4C72-B087-A364017B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210" y="4492371"/>
            <a:ext cx="1162431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Recovered</a:t>
            </a:r>
          </a:p>
        </p:txBody>
      </p:sp>
      <p:sp>
        <p:nvSpPr>
          <p:cNvPr id="165" name="svg_text_165">
            <a:extLst xmlns:a="http://schemas.openxmlformats.org/drawingml/2006/main">
              <a:ext uri="{FF2B5EF4-FFF2-40B4-BE49-F238E27FC236}">
                <a16:creationId xmlns:a16="http://schemas.microsoft.com/office/drawing/2014/main" id="{55187814-26C0-4C59-A612-4AE570DE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210" y="4730496"/>
            <a:ext cx="1162431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Latent zq</a:t>
            </a:r>
          </a:p>
        </p:txBody>
      </p:sp>
      <p:sp>
        <p:nvSpPr>
          <p:cNvPr id="166" name="svg_text_166">
            <a:extLst xmlns:a="http://schemas.openxmlformats.org/drawingml/2006/main">
              <a:ext uri="{FF2B5EF4-FFF2-40B4-BE49-F238E27FC236}">
                <a16:creationId xmlns:a16="http://schemas.microsoft.com/office/drawing/2014/main" id="{229CFC38-9507-4F4A-A7D3-4CF575C1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3356" y="5020056"/>
            <a:ext cx="110413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1546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15466"/>
                </a:solidFill>
                <a:latin typeface="Arial"/>
                <a:ea typeface="Arial"/>
                <a:cs typeface="Arial"/>
              </a:rPr>
              <a:t>using shared</a:t>
            </a:r>
          </a:p>
        </p:txBody>
      </p:sp>
      <p:sp>
        <p:nvSpPr>
          <p:cNvPr id="167" name="svg_text_167">
            <a:extLst xmlns:a="http://schemas.openxmlformats.org/drawingml/2006/main">
              <a:ext uri="{FF2B5EF4-FFF2-40B4-BE49-F238E27FC236}">
                <a16:creationId xmlns:a16="http://schemas.microsoft.com/office/drawing/2014/main" id="{58D653F6-7007-4A12-8FBB-3255E88E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09942" y="5181981"/>
            <a:ext cx="87096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1546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15466"/>
                </a:solidFill>
                <a:latin typeface="Arial"/>
                <a:ea typeface="Arial"/>
                <a:cs typeface="Arial"/>
              </a:rPr>
              <a:t>codebooks</a:t>
            </a:r>
          </a:p>
        </p:txBody>
      </p:sp>
      <p:sp>
        <p:nvSpPr>
          <p:cNvPr id="168" name="svg_path_168">
            <a:extLst xmlns:a="http://schemas.openxmlformats.org/drawingml/2006/main">
              <a:ext uri="{FF2B5EF4-FFF2-40B4-BE49-F238E27FC236}">
                <a16:creationId xmlns:a16="http://schemas.microsoft.com/office/drawing/2014/main" id="{2D0907EC-66AF-45A9-8E36-BBF2C143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2625" y="4905375"/>
            <a:ext cx="285750" cy="9525"/>
          </a:xfrm>
          <a:custGeom xmlns:a="http://schemas.openxmlformats.org/drawingml/2006/main"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86D8"/>
            </a:solidFill>
            <a:prstDash val="solid"/>
          </a:ln>
        </p:spPr>
      </p:sp>
      <p:sp>
        <p:nvSpPr>
          <p:cNvPr id="169" name="svg_arrowhead_169">
            <a:extLst xmlns:a="http://schemas.openxmlformats.org/drawingml/2006/main">
              <a:ext uri="{FF2B5EF4-FFF2-40B4-BE49-F238E27FC236}">
                <a16:creationId xmlns:a16="http://schemas.microsoft.com/office/drawing/2014/main" id="{85626B1B-D34C-4E87-8889-DF723314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83600" y="4852988"/>
            <a:ext cx="104775" cy="104775"/>
          </a:xfrm>
          <a:custGeom xmlns:a="http://schemas.openxmlformats.org/drawingml/2006/main"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386D8"/>
          </a:solidFill>
          <a:ln xmlns:a="http://schemas.openxmlformats.org/drawingml/2006/main" w="4763">
            <a:solidFill>
              <a:srgbClr val="2386D8"/>
            </a:solidFill>
            <a:prstDash val="solid"/>
          </a:ln>
        </p:spPr>
      </p:sp>
      <p:sp>
        <p:nvSpPr>
          <p:cNvPr id="170" name="svg_rect_170">
            <a:extLst xmlns:a="http://schemas.openxmlformats.org/drawingml/2006/main">
              <a:ext uri="{FF2B5EF4-FFF2-40B4-BE49-F238E27FC236}">
                <a16:creationId xmlns:a16="http://schemas.microsoft.com/office/drawing/2014/main" id="{610862C5-C500-4B53-BB95-7E0CEC20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88375" y="4381500"/>
            <a:ext cx="904875" cy="1047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9050">
            <a:solidFill>
              <a:srgbClr val="408FD2"/>
            </a:solidFill>
            <a:prstDash val="solid"/>
          </a:ln>
        </p:spPr>
      </p:sp>
      <p:sp>
        <p:nvSpPr>
          <p:cNvPr id="171" name="svg_text_171">
            <a:extLst xmlns:a="http://schemas.openxmlformats.org/drawingml/2006/main">
              <a:ext uri="{FF2B5EF4-FFF2-40B4-BE49-F238E27FC236}">
                <a16:creationId xmlns:a16="http://schemas.microsoft.com/office/drawing/2014/main" id="{92A2BD0D-5504-4D1B-A3CE-1CF8CB9F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19998" y="4549521"/>
            <a:ext cx="832104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SEANet</a:t>
            </a:r>
          </a:p>
        </p:txBody>
      </p:sp>
      <p:sp>
        <p:nvSpPr>
          <p:cNvPr id="172" name="svg_text_172">
            <a:extLst xmlns:a="http://schemas.openxmlformats.org/drawingml/2006/main">
              <a:ext uri="{FF2B5EF4-FFF2-40B4-BE49-F238E27FC236}">
                <a16:creationId xmlns:a16="http://schemas.microsoft.com/office/drawing/2014/main" id="{20362F60-2B27-4B87-80E0-8EF9923B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64944" y="4797171"/>
            <a:ext cx="942213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Decoder</a:t>
            </a:r>
          </a:p>
        </p:txBody>
      </p:sp>
      <p:sp>
        <p:nvSpPr>
          <p:cNvPr id="173" name="svg_path_173">
            <a:extLst xmlns:a="http://schemas.openxmlformats.org/drawingml/2006/main">
              <a:ext uri="{FF2B5EF4-FFF2-40B4-BE49-F238E27FC236}">
                <a16:creationId xmlns:a16="http://schemas.microsoft.com/office/drawing/2014/main" id="{9006D7FE-8FAC-4FD1-AA76-6BA27A0F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0" y="4905375"/>
            <a:ext cx="190500" cy="9525"/>
          </a:xfrm>
          <a:custGeom xmlns:a="http://schemas.openxmlformats.org/drawingml/2006/main"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86D8"/>
            </a:solidFill>
            <a:prstDash val="solid"/>
          </a:ln>
        </p:spPr>
      </p:sp>
      <p:sp>
        <p:nvSpPr>
          <p:cNvPr id="174" name="svg_arrowhead_174">
            <a:extLst xmlns:a="http://schemas.openxmlformats.org/drawingml/2006/main">
              <a:ext uri="{FF2B5EF4-FFF2-40B4-BE49-F238E27FC236}">
                <a16:creationId xmlns:a16="http://schemas.microsoft.com/office/drawing/2014/main" id="{8A6B7B98-66DE-4831-96B0-9471C5DF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78975" y="4852988"/>
            <a:ext cx="104775" cy="104775"/>
          </a:xfrm>
          <a:custGeom xmlns:a="http://schemas.openxmlformats.org/drawingml/2006/main"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386D8"/>
          </a:solidFill>
          <a:ln xmlns:a="http://schemas.openxmlformats.org/drawingml/2006/main" w="4763">
            <a:solidFill>
              <a:srgbClr val="2386D8"/>
            </a:solidFill>
            <a:prstDash val="solid"/>
          </a:ln>
        </p:spPr>
      </p:sp>
      <p:sp>
        <p:nvSpPr>
          <p:cNvPr id="175" name="svg_text_175">
            <a:extLst xmlns:a="http://schemas.openxmlformats.org/drawingml/2006/main">
              <a:ext uri="{FF2B5EF4-FFF2-40B4-BE49-F238E27FC236}">
                <a16:creationId xmlns:a16="http://schemas.microsoft.com/office/drawing/2014/main" id="{D028BE37-87DA-4696-BDF6-4D57449A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60918" y="5570982"/>
            <a:ext cx="1350264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Reconstructed</a:t>
            </a:r>
          </a:p>
        </p:txBody>
      </p:sp>
      <p:sp>
        <p:nvSpPr>
          <p:cNvPr id="176" name="svg_text_176">
            <a:extLst xmlns:a="http://schemas.openxmlformats.org/drawingml/2006/main">
              <a:ext uri="{FF2B5EF4-FFF2-40B4-BE49-F238E27FC236}">
                <a16:creationId xmlns:a16="http://schemas.microsoft.com/office/drawing/2014/main" id="{A33B8060-DE77-461F-9D74-CADF7E3E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0240" y="5761482"/>
            <a:ext cx="153162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Speech output →</a:t>
            </a:r>
          </a:p>
        </p:txBody>
      </p:sp>
      <p:sp>
        <p:nvSpPr>
          <p:cNvPr id="177" name="svg_rect_177">
            <a:extLst xmlns:a="http://schemas.openxmlformats.org/drawingml/2006/main">
              <a:ext uri="{FF2B5EF4-FFF2-40B4-BE49-F238E27FC236}">
                <a16:creationId xmlns:a16="http://schemas.microsoft.com/office/drawing/2014/main" id="{497F27C6-0942-4E69-99C1-E35B7DF2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5981700"/>
            <a:ext cx="3905250" cy="2667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ECF6FF"/>
          </a:solidFill>
          <a:ln xmlns:a="http://schemas.openxmlformats.org/drawingml/2006/main" w="14288">
            <a:solidFill>
              <a:srgbClr val="78AFE0"/>
            </a:solidFill>
            <a:prstDash val="solid"/>
          </a:ln>
        </p:spPr>
      </p:sp>
      <p:sp>
        <p:nvSpPr>
          <p:cNvPr id="178" name="svg_text_178">
            <a:extLst xmlns:a="http://schemas.openxmlformats.org/drawingml/2006/main">
              <a:ext uri="{FF2B5EF4-FFF2-40B4-BE49-F238E27FC236}">
                <a16:creationId xmlns:a16="http://schemas.microsoft.com/office/drawing/2014/main" id="{7ED8FBDB-C1BC-4AA3-AE74-43659A6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3516" y="6039231"/>
            <a:ext cx="460171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1546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15466"/>
                </a:solidFill>
                <a:latin typeface="Arial"/>
                <a:ea typeface="Arial"/>
                <a:cs typeface="Arial"/>
              </a:rPr>
              <a:t>Codebooks and decoder are pre-deployed; never transmitted</a:t>
            </a:r>
          </a:p>
        </p:txBody>
      </p:sp>
      <p:sp>
        <p:nvSpPr>
          <p:cNvPr id="179" name="svg_rect_179">
            <a:extLst xmlns:a="http://schemas.openxmlformats.org/drawingml/2006/main">
              <a:ext uri="{FF2B5EF4-FFF2-40B4-BE49-F238E27FC236}">
                <a16:creationId xmlns:a16="http://schemas.microsoft.com/office/drawing/2014/main" id="{662EA181-814E-4ADD-94DE-F7D692B4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477000"/>
            <a:ext cx="16287750" cy="666750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DB5E8"/>
            </a:solidFill>
            <a:prstDash val="dash"/>
          </a:ln>
        </p:spPr>
      </p:sp>
      <p:sp>
        <p:nvSpPr>
          <p:cNvPr id="180" name="svg_circle_180">
            <a:extLst xmlns:a="http://schemas.openxmlformats.org/drawingml/2006/main">
              <a:ext uri="{FF2B5EF4-FFF2-40B4-BE49-F238E27FC236}">
                <a16:creationId xmlns:a16="http://schemas.microsoft.com/office/drawing/2014/main" id="{BA90323B-D456-4B41-99A0-BE4137A8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65436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0B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svg_text_181">
            <a:extLst xmlns:a="http://schemas.openxmlformats.org/drawingml/2006/main">
              <a:ext uri="{FF2B5EF4-FFF2-40B4-BE49-F238E27FC236}">
                <a16:creationId xmlns:a16="http://schemas.microsoft.com/office/drawing/2014/main" id="{1070FF6F-E33B-4818-AC3D-F1F9CACD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" y="6611064"/>
            <a:ext cx="565785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82" name="svg_text_182">
            <a:extLst xmlns:a="http://schemas.openxmlformats.org/drawingml/2006/main">
              <a:ext uri="{FF2B5EF4-FFF2-40B4-BE49-F238E27FC236}">
                <a16:creationId xmlns:a16="http://schemas.microsoft.com/office/drawing/2014/main" id="{5EB8CFA6-172C-41F7-8D5F-A33F7FD7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619113"/>
            <a:ext cx="859155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F172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F1720"/>
                </a:solidFill>
                <a:latin typeface="Arial"/>
                <a:ea typeface="Arial"/>
                <a:cs typeface="Arial"/>
              </a:rPr>
              <a:t>ADVERSARIAL TRAINING AND CHANNEL-AWARE FINE-TUNING</a:t>
            </a:r>
          </a:p>
        </p:txBody>
      </p:sp>
      <p:sp>
        <p:nvSpPr>
          <p:cNvPr id="183" name="svg_rect_183">
            <a:extLst xmlns:a="http://schemas.openxmlformats.org/drawingml/2006/main">
              <a:ext uri="{FF2B5EF4-FFF2-40B4-BE49-F238E27FC236}">
                <a16:creationId xmlns:a16="http://schemas.microsoft.com/office/drawing/2014/main" id="{02ADBC1F-D494-49EE-9B9D-91A6DDFE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6610350"/>
            <a:ext cx="1762125" cy="381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ECF6FF"/>
          </a:solidFill>
          <a:ln xmlns:a="http://schemas.openxmlformats.org/drawingml/2006/main" w="14288">
            <a:solidFill>
              <a:srgbClr val="78AFE0"/>
            </a:solidFill>
            <a:prstDash val="solid"/>
          </a:ln>
        </p:spPr>
      </p:sp>
      <p:sp>
        <p:nvSpPr>
          <p:cNvPr id="184" name="svg_text_184">
            <a:extLst xmlns:a="http://schemas.openxmlformats.org/drawingml/2006/main">
              <a:ext uri="{FF2B5EF4-FFF2-40B4-BE49-F238E27FC236}">
                <a16:creationId xmlns:a16="http://schemas.microsoft.com/office/drawing/2014/main" id="{7BDE92C5-1CC9-4719-A860-2322C66C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7616" y="6683121"/>
            <a:ext cx="1602867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TRAINING ONLY</a:t>
            </a:r>
          </a:p>
        </p:txBody>
      </p:sp>
      <p:sp>
        <p:nvSpPr>
          <p:cNvPr id="185" name="svg_rect_185">
            <a:extLst xmlns:a="http://schemas.openxmlformats.org/drawingml/2006/main">
              <a:ext uri="{FF2B5EF4-FFF2-40B4-BE49-F238E27FC236}">
                <a16:creationId xmlns:a16="http://schemas.microsoft.com/office/drawing/2014/main" id="{CB62949D-756B-432D-BD58-D8A0DCF0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7143750"/>
            <a:ext cx="9048750" cy="5810250"/>
          </a:xfrm>
          <a:prstGeom xmlns:a="http://schemas.openxmlformats.org/drawingml/2006/main" prst="roundRect">
            <a:avLst>
              <a:gd name="adj" fmla="val 1639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15240">
            <a:solidFill>
              <a:srgbClr val="A8CBEA"/>
            </a:solidFill>
            <a:prstDash val="dash"/>
          </a:ln>
        </p:spPr>
      </p:sp>
      <p:sp>
        <p:nvSpPr>
          <p:cNvPr id="186" name="svg_rect_186">
            <a:extLst xmlns:a="http://schemas.openxmlformats.org/drawingml/2006/main">
              <a:ext uri="{FF2B5EF4-FFF2-40B4-BE49-F238E27FC236}">
                <a16:creationId xmlns:a16="http://schemas.microsoft.com/office/drawing/2014/main" id="{605D6C14-6ACB-45BA-A0C3-098BBAEC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286625"/>
            <a:ext cx="476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6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svg_text_187">
            <a:extLst xmlns:a="http://schemas.openxmlformats.org/drawingml/2006/main">
              <a:ext uri="{FF2B5EF4-FFF2-40B4-BE49-F238E27FC236}">
                <a16:creationId xmlns:a16="http://schemas.microsoft.com/office/drawing/2014/main" id="{F47E890B-EF0A-4875-915D-98D755FB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" y="7321296"/>
            <a:ext cx="391668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5A</a:t>
            </a:r>
          </a:p>
        </p:txBody>
      </p:sp>
      <p:sp>
        <p:nvSpPr>
          <p:cNvPr id="188" name="svg_text_188">
            <a:extLst xmlns:a="http://schemas.openxmlformats.org/drawingml/2006/main">
              <a:ext uri="{FF2B5EF4-FFF2-40B4-BE49-F238E27FC236}">
                <a16:creationId xmlns:a16="http://schemas.microsoft.com/office/drawing/2014/main" id="{EC962CC5-378E-4FA4-AAD6-2253293C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308723"/>
            <a:ext cx="3571875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SCIT-Speech-Base Training</a:t>
            </a:r>
          </a:p>
        </p:txBody>
      </p:sp>
      <p:sp>
        <p:nvSpPr>
          <p:cNvPr id="189" name="svg_rect_189">
            <a:extLst xmlns:a="http://schemas.openxmlformats.org/drawingml/2006/main">
              <a:ext uri="{FF2B5EF4-FFF2-40B4-BE49-F238E27FC236}">
                <a16:creationId xmlns:a16="http://schemas.microsoft.com/office/drawing/2014/main" id="{F17578CB-BE83-4B5E-A0FE-E255A662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0"/>
            <a:ext cx="13811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9050">
            <a:solidFill>
              <a:srgbClr val="408FD2"/>
            </a:solidFill>
            <a:prstDash val="solid"/>
          </a:ln>
        </p:spPr>
      </p:sp>
      <p:sp>
        <p:nvSpPr>
          <p:cNvPr id="190" name="svg_text_190">
            <a:extLst xmlns:a="http://schemas.openxmlformats.org/drawingml/2006/main">
              <a:ext uri="{FF2B5EF4-FFF2-40B4-BE49-F238E27FC236}">
                <a16:creationId xmlns:a16="http://schemas.microsoft.com/office/drawing/2014/main" id="{FC94189B-D456-4E5E-9323-B7D637C2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17" y="8664321"/>
            <a:ext cx="1602867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Real Speech x</a:t>
            </a:r>
          </a:p>
        </p:txBody>
      </p:sp>
      <p:sp>
        <p:nvSpPr>
          <p:cNvPr id="191" name="svg_text_191">
            <a:extLst xmlns:a="http://schemas.openxmlformats.org/drawingml/2006/main">
              <a:ext uri="{FF2B5EF4-FFF2-40B4-BE49-F238E27FC236}">
                <a16:creationId xmlns:a16="http://schemas.microsoft.com/office/drawing/2014/main" id="{12A31EB0-9FBB-4127-86D8-CD384D55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23" y="8923782"/>
            <a:ext cx="1803654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training reference</a:t>
            </a:r>
          </a:p>
        </p:txBody>
      </p:sp>
      <p:sp>
        <p:nvSpPr>
          <p:cNvPr id="192" name="svg_rect_192">
            <a:extLst xmlns:a="http://schemas.openxmlformats.org/drawingml/2006/main">
              <a:ext uri="{FF2B5EF4-FFF2-40B4-BE49-F238E27FC236}">
                <a16:creationId xmlns:a16="http://schemas.microsoft.com/office/drawing/2014/main" id="{EB343A7B-14C2-49F4-A158-89821839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8572500"/>
            <a:ext cx="223837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9050">
            <a:solidFill>
              <a:srgbClr val="408FD2"/>
            </a:solidFill>
            <a:prstDash val="solid"/>
          </a:ln>
        </p:spPr>
      </p:sp>
      <p:sp>
        <p:nvSpPr>
          <p:cNvPr id="193" name="svg_text_193">
            <a:extLst xmlns:a="http://schemas.openxmlformats.org/drawingml/2006/main">
              <a:ext uri="{FF2B5EF4-FFF2-40B4-BE49-F238E27FC236}">
                <a16:creationId xmlns:a16="http://schemas.microsoft.com/office/drawing/2014/main" id="{7906C7CE-E590-4895-A9F5-3B361701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697" y="8683371"/>
            <a:ext cx="2703957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SCIT-Speech Generator G</a:t>
            </a:r>
          </a:p>
        </p:txBody>
      </p:sp>
      <p:sp>
        <p:nvSpPr>
          <p:cNvPr id="194" name="svg_text_194">
            <a:extLst xmlns:a="http://schemas.openxmlformats.org/drawingml/2006/main">
              <a:ext uri="{FF2B5EF4-FFF2-40B4-BE49-F238E27FC236}">
                <a16:creationId xmlns:a16="http://schemas.microsoft.com/office/drawing/2014/main" id="{231AD428-B573-473A-AE25-DADCB8E6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8153" y="8952357"/>
            <a:ext cx="2257044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Encoder + RVQ + Decoder</a:t>
            </a:r>
          </a:p>
        </p:txBody>
      </p:sp>
      <p:sp>
        <p:nvSpPr>
          <p:cNvPr id="195" name="svg_text_195">
            <a:extLst xmlns:a="http://schemas.openxmlformats.org/drawingml/2006/main">
              <a:ext uri="{FF2B5EF4-FFF2-40B4-BE49-F238E27FC236}">
                <a16:creationId xmlns:a16="http://schemas.microsoft.com/office/drawing/2014/main" id="{A7796E2E-2973-4966-8B5D-7BC9613C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102" y="9171432"/>
            <a:ext cx="307314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produces reconstructed speech x̂</a:t>
            </a:r>
          </a:p>
        </p:txBody>
      </p:sp>
      <p:sp>
        <p:nvSpPr>
          <p:cNvPr id="196" name="svg_path_196">
            <a:extLst xmlns:a="http://schemas.openxmlformats.org/drawingml/2006/main">
              <a:ext uri="{FF2B5EF4-FFF2-40B4-BE49-F238E27FC236}">
                <a16:creationId xmlns:a16="http://schemas.microsoft.com/office/drawing/2014/main" id="{DDC34488-7941-48A3-BCBD-C0BB79C2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8905875"/>
            <a:ext cx="714375" cy="9525"/>
          </a:xfrm>
          <a:custGeom xmlns:a="http://schemas.openxmlformats.org/drawingml/2006/main">
            <a:pathLst>
              <a:path w="714375" h="9525">
                <a:moveTo>
                  <a:pt x="0" y="0"/>
                </a:moveTo>
                <a:lnTo>
                  <a:pt x="714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86D8"/>
            </a:solidFill>
            <a:prstDash val="solid"/>
          </a:ln>
        </p:spPr>
      </p:sp>
      <p:sp>
        <p:nvSpPr>
          <p:cNvPr id="197" name="svg_arrowhead_197">
            <a:extLst xmlns:a="http://schemas.openxmlformats.org/drawingml/2006/main">
              <a:ext uri="{FF2B5EF4-FFF2-40B4-BE49-F238E27FC236}">
                <a16:creationId xmlns:a16="http://schemas.microsoft.com/office/drawing/2014/main" id="{4797C9A3-7F25-4819-98CF-8144ED10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8853488"/>
            <a:ext cx="104775" cy="104775"/>
          </a:xfrm>
          <a:custGeom xmlns:a="http://schemas.openxmlformats.org/drawingml/2006/main"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386D8"/>
          </a:solidFill>
          <a:ln xmlns:a="http://schemas.openxmlformats.org/drawingml/2006/main" w="4763">
            <a:solidFill>
              <a:srgbClr val="2386D8"/>
            </a:solidFill>
            <a:prstDash val="solid"/>
          </a:ln>
        </p:spPr>
      </p:sp>
      <p:sp>
        <p:nvSpPr>
          <p:cNvPr id="198" name="svg_rect_198">
            <a:extLst xmlns:a="http://schemas.openxmlformats.org/drawingml/2006/main">
              <a:ext uri="{FF2B5EF4-FFF2-40B4-BE49-F238E27FC236}">
                <a16:creationId xmlns:a16="http://schemas.microsoft.com/office/drawing/2014/main" id="{3958889C-8B50-4254-9B6C-929D605E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620000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7145">
            <a:solidFill>
              <a:srgbClr val="527CA3"/>
            </a:solidFill>
            <a:prstDash val="dash"/>
          </a:ln>
        </p:spPr>
      </p:sp>
      <p:sp>
        <p:nvSpPr>
          <p:cNvPr id="199" name="svg_text_199">
            <a:extLst xmlns:a="http://schemas.openxmlformats.org/drawingml/2006/main">
              <a:ext uri="{FF2B5EF4-FFF2-40B4-BE49-F238E27FC236}">
                <a16:creationId xmlns:a16="http://schemas.microsoft.com/office/drawing/2014/main" id="{9D0A2CE6-2FD2-416A-92FB-0AE13821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4692" y="7692771"/>
            <a:ext cx="1602867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Frozen HuBERT</a:t>
            </a:r>
          </a:p>
        </p:txBody>
      </p:sp>
      <p:sp>
        <p:nvSpPr>
          <p:cNvPr id="200" name="svg_text_200">
            <a:extLst xmlns:a="http://schemas.openxmlformats.org/drawingml/2006/main">
              <a:ext uri="{FF2B5EF4-FFF2-40B4-BE49-F238E27FC236}">
                <a16:creationId xmlns:a16="http://schemas.microsoft.com/office/drawing/2014/main" id="{1B65960C-07A4-49B5-AD9A-CE3E3052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019" y="7911846"/>
            <a:ext cx="942213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Teacher</a:t>
            </a:r>
          </a:p>
        </p:txBody>
      </p:sp>
      <p:sp>
        <p:nvSpPr>
          <p:cNvPr id="201" name="svg_text_201">
            <a:extLst xmlns:a="http://schemas.openxmlformats.org/drawingml/2006/main">
              <a:ext uri="{FF2B5EF4-FFF2-40B4-BE49-F238E27FC236}">
                <a16:creationId xmlns:a16="http://schemas.microsoft.com/office/drawing/2014/main" id="{D1C0FC35-8316-43A5-9AC6-A214D949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470" y="8153781"/>
            <a:ext cx="133731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1546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15466"/>
                </a:solidFill>
                <a:latin typeface="Arial"/>
                <a:ea typeface="Arial"/>
                <a:cs typeface="Arial"/>
              </a:rPr>
              <a:t>teacher feature</a:t>
            </a:r>
          </a:p>
        </p:txBody>
      </p:sp>
      <p:sp>
        <p:nvSpPr>
          <p:cNvPr id="202" name="svg_path_202">
            <a:extLst xmlns:a="http://schemas.openxmlformats.org/drawingml/2006/main">
              <a:ext uri="{FF2B5EF4-FFF2-40B4-BE49-F238E27FC236}">
                <a16:creationId xmlns:a16="http://schemas.microsoft.com/office/drawing/2014/main" id="{0202DA13-6139-4A89-93B6-B8D7986F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991475"/>
            <a:ext cx="1028700" cy="581025"/>
          </a:xfrm>
          <a:custGeom xmlns:a="http://schemas.openxmlformats.org/drawingml/2006/main">
            <a:pathLst>
              <a:path w="1028700" h="581025">
                <a:moveTo>
                  <a:pt x="0" y="581025"/>
                </a:moveTo>
                <a:lnTo>
                  <a:pt x="0" y="0"/>
                </a:lnTo>
                <a:lnTo>
                  <a:pt x="1028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D6285"/>
            </a:solidFill>
            <a:prstDash val="dash"/>
          </a:ln>
        </p:spPr>
      </p:sp>
      <p:sp>
        <p:nvSpPr>
          <p:cNvPr id="203" name="svg_arrowhead_203">
            <a:extLst xmlns:a="http://schemas.openxmlformats.org/drawingml/2006/main">
              <a:ext uri="{FF2B5EF4-FFF2-40B4-BE49-F238E27FC236}">
                <a16:creationId xmlns:a16="http://schemas.microsoft.com/office/drawing/2014/main" id="{E6264422-49EE-495F-A505-E6AC61FE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7939088"/>
            <a:ext cx="104775" cy="104775"/>
          </a:xfrm>
          <a:custGeom xmlns:a="http://schemas.openxmlformats.org/drawingml/2006/main"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D6285"/>
          </a:solidFill>
          <a:ln xmlns:a="http://schemas.openxmlformats.org/drawingml/2006/main" w="4763">
            <a:solidFill>
              <a:srgbClr val="3D6285"/>
            </a:solidFill>
            <a:prstDash val="solid"/>
          </a:ln>
        </p:spPr>
      </p:sp>
      <p:sp>
        <p:nvSpPr>
          <p:cNvPr id="204" name="svg_path_204">
            <a:extLst xmlns:a="http://schemas.openxmlformats.org/drawingml/2006/main">
              <a:ext uri="{FF2B5EF4-FFF2-40B4-BE49-F238E27FC236}">
                <a16:creationId xmlns:a16="http://schemas.microsoft.com/office/drawing/2014/main" id="{53E9D138-B5F4-41C2-BA20-FC5FC9D0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991475"/>
            <a:ext cx="476250" cy="581025"/>
          </a:xfrm>
          <a:custGeom xmlns:a="http://schemas.openxmlformats.org/drawingml/2006/main">
            <a:pathLst>
              <a:path w="476250" h="581025">
                <a:moveTo>
                  <a:pt x="0" y="0"/>
                </a:moveTo>
                <a:lnTo>
                  <a:pt x="476250" y="0"/>
                </a:lnTo>
                <a:lnTo>
                  <a:pt x="476250" y="581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D6285"/>
            </a:solidFill>
            <a:prstDash val="dash"/>
          </a:ln>
        </p:spPr>
      </p:sp>
      <p:sp>
        <p:nvSpPr>
          <p:cNvPr id="205" name="svg_arrowhead_205">
            <a:extLst xmlns:a="http://schemas.openxmlformats.org/drawingml/2006/main">
              <a:ext uri="{FF2B5EF4-FFF2-40B4-BE49-F238E27FC236}">
                <a16:creationId xmlns:a16="http://schemas.microsoft.com/office/drawing/2014/main" id="{04010C83-7AE4-4E58-8AFE-2175D31F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863" y="8467725"/>
            <a:ext cx="104775" cy="104775"/>
          </a:xfrm>
          <a:custGeom xmlns:a="http://schemas.openxmlformats.org/drawingml/2006/main">
            <a:pathLst>
              <a:path w="104775" h="104775">
                <a:moveTo>
                  <a:pt x="52388" y="104775"/>
                </a:moveTo>
                <a:lnTo>
                  <a:pt x="0" y="0"/>
                </a:lnTo>
                <a:lnTo>
                  <a:pt x="104775" y="0"/>
                </a:lnTo>
                <a:close/>
              </a:path>
            </a:pathLst>
          </a:custGeom>
          <a:solidFill xmlns:a="http://schemas.openxmlformats.org/drawingml/2006/main">
            <a:srgbClr val="3D6285"/>
          </a:solidFill>
          <a:ln xmlns:a="http://schemas.openxmlformats.org/drawingml/2006/main" w="4763">
            <a:solidFill>
              <a:srgbClr val="3D6285"/>
            </a:solidFill>
            <a:prstDash val="solid"/>
          </a:ln>
        </p:spPr>
      </p:sp>
      <p:sp>
        <p:nvSpPr>
          <p:cNvPr id="206" name="svg_text_206">
            <a:extLst xmlns:a="http://schemas.openxmlformats.org/drawingml/2006/main">
              <a:ext uri="{FF2B5EF4-FFF2-40B4-BE49-F238E27FC236}">
                <a16:creationId xmlns:a16="http://schemas.microsoft.com/office/drawing/2014/main" id="{48549F73-B9D5-4C60-98B1-E4B694DC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4048" y="7687056"/>
            <a:ext cx="1803654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1546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15466"/>
                </a:solidFill>
                <a:latin typeface="Arial"/>
                <a:ea typeface="Arial"/>
                <a:cs typeface="Arial"/>
              </a:rPr>
              <a:t>Semantic Distillation</a:t>
            </a:r>
          </a:p>
        </p:txBody>
      </p:sp>
      <p:sp>
        <p:nvSpPr>
          <p:cNvPr id="207" name="svg_text_207">
            <a:extLst xmlns:a="http://schemas.openxmlformats.org/drawingml/2006/main">
              <a:ext uri="{FF2B5EF4-FFF2-40B4-BE49-F238E27FC236}">
                <a16:creationId xmlns:a16="http://schemas.microsoft.com/office/drawing/2014/main" id="{FC89667F-79B2-4088-AEA1-1090D1CD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5840" y="7858506"/>
            <a:ext cx="56007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1546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15466"/>
                </a:solidFill>
                <a:latin typeface="Arial"/>
                <a:ea typeface="Arial"/>
                <a:cs typeface="Arial"/>
              </a:rPr>
              <a:t>to Q1</a:t>
            </a:r>
          </a:p>
        </p:txBody>
      </p:sp>
      <p:sp>
        <p:nvSpPr>
          <p:cNvPr id="208" name="svg_rect_208">
            <a:extLst xmlns:a="http://schemas.openxmlformats.org/drawingml/2006/main">
              <a:ext uri="{FF2B5EF4-FFF2-40B4-BE49-F238E27FC236}">
                <a16:creationId xmlns:a16="http://schemas.microsoft.com/office/drawing/2014/main" id="{16AD6059-9E39-4421-91EB-33B34665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8572500"/>
            <a:ext cx="1524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9050">
            <a:solidFill>
              <a:srgbClr val="408FD2"/>
            </a:solidFill>
            <a:prstDash val="solid"/>
          </a:ln>
        </p:spPr>
      </p:sp>
      <p:sp>
        <p:nvSpPr>
          <p:cNvPr id="209" name="svg_text_209">
            <a:extLst xmlns:a="http://schemas.openxmlformats.org/drawingml/2006/main">
              <a:ext uri="{FF2B5EF4-FFF2-40B4-BE49-F238E27FC236}">
                <a16:creationId xmlns:a16="http://schemas.microsoft.com/office/drawing/2014/main" id="{04F0C0FF-A3DF-41B9-9E25-6B048A49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7442" y="8664321"/>
            <a:ext cx="1602867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Reconstructed</a:t>
            </a:r>
          </a:p>
        </p:txBody>
      </p:sp>
      <p:sp>
        <p:nvSpPr>
          <p:cNvPr id="210" name="svg_text_210">
            <a:extLst xmlns:a="http://schemas.openxmlformats.org/drawingml/2006/main">
              <a:ext uri="{FF2B5EF4-FFF2-40B4-BE49-F238E27FC236}">
                <a16:creationId xmlns:a16="http://schemas.microsoft.com/office/drawing/2014/main" id="{2E199430-E2CC-4380-ADFA-9984B1E7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660" y="8892921"/>
            <a:ext cx="1162431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Speech x̂</a:t>
            </a:r>
          </a:p>
        </p:txBody>
      </p:sp>
      <p:sp>
        <p:nvSpPr>
          <p:cNvPr id="211" name="svg_path_211">
            <a:extLst xmlns:a="http://schemas.openxmlformats.org/drawingml/2006/main">
              <a:ext uri="{FF2B5EF4-FFF2-40B4-BE49-F238E27FC236}">
                <a16:creationId xmlns:a16="http://schemas.microsoft.com/office/drawing/2014/main" id="{AB635088-F64F-4F85-ADC4-EC927C63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8905875"/>
            <a:ext cx="476250" cy="9525"/>
          </a:xfrm>
          <a:custGeom xmlns:a="http://schemas.openxmlformats.org/drawingml/2006/main"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86D8"/>
            </a:solidFill>
            <a:prstDash val="solid"/>
          </a:ln>
        </p:spPr>
      </p:sp>
      <p:sp>
        <p:nvSpPr>
          <p:cNvPr id="212" name="svg_arrowhead_212">
            <a:extLst xmlns:a="http://schemas.openxmlformats.org/drawingml/2006/main">
              <a:ext uri="{FF2B5EF4-FFF2-40B4-BE49-F238E27FC236}">
                <a16:creationId xmlns:a16="http://schemas.microsoft.com/office/drawing/2014/main" id="{784CE0B6-8FEF-40D9-91AB-7364ACE0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8853488"/>
            <a:ext cx="104775" cy="104775"/>
          </a:xfrm>
          <a:custGeom xmlns:a="http://schemas.openxmlformats.org/drawingml/2006/main"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386D8"/>
          </a:solidFill>
          <a:ln xmlns:a="http://schemas.openxmlformats.org/drawingml/2006/main" w="4763">
            <a:solidFill>
              <a:srgbClr val="2386D8"/>
            </a:solidFill>
            <a:prstDash val="solid"/>
          </a:ln>
        </p:spPr>
      </p:sp>
      <p:sp>
        <p:nvSpPr>
          <p:cNvPr id="213" name="svg_rect_213">
            <a:extLst xmlns:a="http://schemas.openxmlformats.org/drawingml/2006/main">
              <a:ext uri="{FF2B5EF4-FFF2-40B4-BE49-F238E27FC236}">
                <a16:creationId xmlns:a16="http://schemas.microsoft.com/office/drawing/2014/main" id="{16DBDF9E-9625-4A5D-A61C-E960E888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9906000"/>
            <a:ext cx="1571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9050">
            <a:solidFill>
              <a:srgbClr val="408FD2"/>
            </a:solidFill>
            <a:prstDash val="solid"/>
          </a:ln>
        </p:spPr>
      </p:sp>
      <p:sp>
        <p:nvSpPr>
          <p:cNvPr id="214" name="svg_text_214">
            <a:extLst xmlns:a="http://schemas.openxmlformats.org/drawingml/2006/main">
              <a:ext uri="{FF2B5EF4-FFF2-40B4-BE49-F238E27FC236}">
                <a16:creationId xmlns:a16="http://schemas.microsoft.com/office/drawing/2014/main" id="{2BAFA62E-AF64-4C57-8861-6F230B5D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383" y="10016871"/>
            <a:ext cx="1823085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Multi-Scale GAN</a:t>
            </a:r>
          </a:p>
        </p:txBody>
      </p:sp>
      <p:sp>
        <p:nvSpPr>
          <p:cNvPr id="215" name="svg_text_215">
            <a:extLst xmlns:a="http://schemas.openxmlformats.org/drawingml/2006/main">
              <a:ext uri="{FF2B5EF4-FFF2-40B4-BE49-F238E27FC236}">
                <a16:creationId xmlns:a16="http://schemas.microsoft.com/office/drawing/2014/main" id="{1A3DD336-4E43-40F5-AA64-11390EE7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1437" y="10254996"/>
            <a:ext cx="1712976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Discriminators</a:t>
            </a:r>
          </a:p>
        </p:txBody>
      </p:sp>
      <p:sp>
        <p:nvSpPr>
          <p:cNvPr id="216" name="svg_text_216">
            <a:extLst xmlns:a="http://schemas.openxmlformats.org/drawingml/2006/main">
              <a:ext uri="{FF2B5EF4-FFF2-40B4-BE49-F238E27FC236}">
                <a16:creationId xmlns:a16="http://schemas.microsoft.com/office/drawing/2014/main" id="{E1F56DC7-D4BF-4E25-A50E-7454914A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759" y="10543032"/>
            <a:ext cx="1894332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waveform · periodic</a:t>
            </a:r>
          </a:p>
        </p:txBody>
      </p:sp>
      <p:sp>
        <p:nvSpPr>
          <p:cNvPr id="217" name="svg_text_217">
            <a:extLst xmlns:a="http://schemas.openxmlformats.org/drawingml/2006/main">
              <a:ext uri="{FF2B5EF4-FFF2-40B4-BE49-F238E27FC236}">
                <a16:creationId xmlns:a16="http://schemas.microsoft.com/office/drawing/2014/main" id="{735686A5-CA1A-4627-A7EB-25F26CDE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7454" y="10762107"/>
            <a:ext cx="1440942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time-frequency</a:t>
            </a:r>
          </a:p>
        </p:txBody>
      </p:sp>
      <p:sp>
        <p:nvSpPr>
          <p:cNvPr id="218" name="svg_path_218">
            <a:extLst xmlns:a="http://schemas.openxmlformats.org/drawingml/2006/main">
              <a:ext uri="{FF2B5EF4-FFF2-40B4-BE49-F238E27FC236}">
                <a16:creationId xmlns:a16="http://schemas.microsoft.com/office/drawing/2014/main" id="{B0B6ED05-E0D6-46E9-8F33-34428FC0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0"/>
            <a:ext cx="4124325" cy="1238250"/>
          </a:xfrm>
          <a:custGeom xmlns:a="http://schemas.openxmlformats.org/drawingml/2006/main">
            <a:pathLst>
              <a:path w="4124325" h="1238250">
                <a:moveTo>
                  <a:pt x="0" y="0"/>
                </a:moveTo>
                <a:lnTo>
                  <a:pt x="0" y="1238250"/>
                </a:lnTo>
                <a:lnTo>
                  <a:pt x="4124325" y="1238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386D8"/>
            </a:solidFill>
            <a:prstDash val="solid"/>
          </a:ln>
        </p:spPr>
      </p:sp>
      <p:sp>
        <p:nvSpPr>
          <p:cNvPr id="219" name="svg_arrowhead_219">
            <a:extLst xmlns:a="http://schemas.openxmlformats.org/drawingml/2006/main">
              <a:ext uri="{FF2B5EF4-FFF2-40B4-BE49-F238E27FC236}">
                <a16:creationId xmlns:a16="http://schemas.microsoft.com/office/drawing/2014/main" id="{A5A09CE3-752A-44EB-8CF8-992B0DEF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0425113"/>
            <a:ext cx="104775" cy="104775"/>
          </a:xfrm>
          <a:custGeom xmlns:a="http://schemas.openxmlformats.org/drawingml/2006/main"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386D8"/>
          </a:solidFill>
          <a:ln xmlns:a="http://schemas.openxmlformats.org/drawingml/2006/main" w="4763">
            <a:solidFill>
              <a:srgbClr val="2386D8"/>
            </a:solidFill>
            <a:prstDash val="solid"/>
          </a:ln>
        </p:spPr>
      </p:sp>
      <p:sp>
        <p:nvSpPr>
          <p:cNvPr id="220" name="svg_text_220">
            <a:extLst xmlns:a="http://schemas.openxmlformats.org/drawingml/2006/main">
              <a:ext uri="{FF2B5EF4-FFF2-40B4-BE49-F238E27FC236}">
                <a16:creationId xmlns:a16="http://schemas.microsoft.com/office/drawing/2014/main" id="{9E691004-02EF-497B-8B38-4C26CE3D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616" y="10209657"/>
            <a:ext cx="71551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Real x</a:t>
            </a:r>
          </a:p>
        </p:txBody>
      </p:sp>
      <p:sp>
        <p:nvSpPr>
          <p:cNvPr id="221" name="svg_path_221">
            <a:extLst xmlns:a="http://schemas.openxmlformats.org/drawingml/2006/main">
              <a:ext uri="{FF2B5EF4-FFF2-40B4-BE49-F238E27FC236}">
                <a16:creationId xmlns:a16="http://schemas.microsoft.com/office/drawing/2014/main" id="{510DCF86-8DAD-446F-8926-D2015629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9239250"/>
            <a:ext cx="9525" cy="666750"/>
          </a:xfrm>
          <a:custGeom xmlns:a="http://schemas.openxmlformats.org/drawingml/2006/main">
            <a:pathLst>
              <a:path w="952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386D8"/>
            </a:solidFill>
            <a:prstDash val="solid"/>
          </a:ln>
        </p:spPr>
      </p:sp>
      <p:sp>
        <p:nvSpPr>
          <p:cNvPr id="222" name="svg_arrowhead_222">
            <a:extLst xmlns:a="http://schemas.openxmlformats.org/drawingml/2006/main">
              <a:ext uri="{FF2B5EF4-FFF2-40B4-BE49-F238E27FC236}">
                <a16:creationId xmlns:a16="http://schemas.microsoft.com/office/drawing/2014/main" id="{EF8D3874-8BA6-4FA6-BCE7-54E3EB06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6488" y="9801225"/>
            <a:ext cx="104775" cy="104775"/>
          </a:xfrm>
          <a:custGeom xmlns:a="http://schemas.openxmlformats.org/drawingml/2006/main">
            <a:pathLst>
              <a:path w="104775" h="104775">
                <a:moveTo>
                  <a:pt x="52388" y="104775"/>
                </a:moveTo>
                <a:lnTo>
                  <a:pt x="0" y="0"/>
                </a:lnTo>
                <a:lnTo>
                  <a:pt x="104775" y="0"/>
                </a:lnTo>
                <a:close/>
              </a:path>
            </a:pathLst>
          </a:custGeom>
          <a:solidFill xmlns:a="http://schemas.openxmlformats.org/drawingml/2006/main">
            <a:srgbClr val="2386D8"/>
          </a:solidFill>
          <a:ln xmlns:a="http://schemas.openxmlformats.org/drawingml/2006/main" w="4763">
            <a:solidFill>
              <a:srgbClr val="2386D8"/>
            </a:solidFill>
            <a:prstDash val="solid"/>
          </a:ln>
        </p:spPr>
      </p:sp>
      <p:sp>
        <p:nvSpPr>
          <p:cNvPr id="223" name="svg_text_223">
            <a:extLst xmlns:a="http://schemas.openxmlformats.org/drawingml/2006/main">
              <a:ext uri="{FF2B5EF4-FFF2-40B4-BE49-F238E27FC236}">
                <a16:creationId xmlns:a16="http://schemas.microsoft.com/office/drawing/2014/main" id="{FC6D5EBD-DADA-4E7F-A710-4D3DBC57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57" y="9552432"/>
            <a:ext cx="125958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Generated x̂</a:t>
            </a:r>
          </a:p>
        </p:txBody>
      </p:sp>
      <p:sp>
        <p:nvSpPr>
          <p:cNvPr id="224" name="svg_rect_224">
            <a:extLst xmlns:a="http://schemas.openxmlformats.org/drawingml/2006/main">
              <a:ext uri="{FF2B5EF4-FFF2-40B4-BE49-F238E27FC236}">
                <a16:creationId xmlns:a16="http://schemas.microsoft.com/office/drawing/2014/main" id="{5B49A15F-C75C-4C2A-9482-4D9423AD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858375"/>
            <a:ext cx="14763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8EA"/>
          </a:solidFill>
          <a:ln xmlns:a="http://schemas.openxmlformats.org/drawingml/2006/main" w="17145">
            <a:solidFill>
              <a:srgbClr val="D89A33"/>
            </a:solidFill>
            <a:prstDash val="solid"/>
          </a:ln>
        </p:spPr>
      </p:sp>
      <p:sp>
        <p:nvSpPr>
          <p:cNvPr id="225" name="svg_text_225">
            <a:extLst xmlns:a="http://schemas.openxmlformats.org/drawingml/2006/main">
              <a:ext uri="{FF2B5EF4-FFF2-40B4-BE49-F238E27FC236}">
                <a16:creationId xmlns:a16="http://schemas.microsoft.com/office/drawing/2014/main" id="{B4C4E2D9-23DC-4BAD-9275-FAFF170B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1578" y="10016871"/>
            <a:ext cx="1933194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Adversarial Loss</a:t>
            </a:r>
          </a:p>
        </p:txBody>
      </p:sp>
      <p:sp>
        <p:nvSpPr>
          <p:cNvPr id="226" name="svg_rect_226">
            <a:extLst xmlns:a="http://schemas.openxmlformats.org/drawingml/2006/main">
              <a:ext uri="{FF2B5EF4-FFF2-40B4-BE49-F238E27FC236}">
                <a16:creationId xmlns:a16="http://schemas.microsoft.com/office/drawing/2014/main" id="{9201020A-3C21-46EB-A4B7-3EA28060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0572750"/>
            <a:ext cx="147637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8EA"/>
          </a:solidFill>
          <a:ln xmlns:a="http://schemas.openxmlformats.org/drawingml/2006/main" w="17145">
            <a:solidFill>
              <a:srgbClr val="D89A33"/>
            </a:solidFill>
            <a:prstDash val="solid"/>
          </a:ln>
        </p:spPr>
      </p:sp>
      <p:sp>
        <p:nvSpPr>
          <p:cNvPr id="227" name="svg_text_227">
            <a:extLst xmlns:a="http://schemas.openxmlformats.org/drawingml/2006/main">
              <a:ext uri="{FF2B5EF4-FFF2-40B4-BE49-F238E27FC236}">
                <a16:creationId xmlns:a16="http://schemas.microsoft.com/office/drawing/2014/main" id="{E23F5D27-C59E-4C47-83CA-E94B4ED6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1578" y="10664571"/>
            <a:ext cx="1933194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Feature-Matching</a:t>
            </a:r>
          </a:p>
        </p:txBody>
      </p:sp>
      <p:sp>
        <p:nvSpPr>
          <p:cNvPr id="228" name="svg_text_228">
            <a:extLst xmlns:a="http://schemas.openxmlformats.org/drawingml/2006/main">
              <a:ext uri="{FF2B5EF4-FFF2-40B4-BE49-F238E27FC236}">
                <a16:creationId xmlns:a16="http://schemas.microsoft.com/office/drawing/2014/main" id="{89FD06AF-C26C-4D75-B11B-ACB75719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2232" y="10874121"/>
            <a:ext cx="611886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Loss</a:t>
            </a:r>
          </a:p>
        </p:txBody>
      </p:sp>
      <p:sp>
        <p:nvSpPr>
          <p:cNvPr id="229" name="svg_path_229">
            <a:extLst xmlns:a="http://schemas.openxmlformats.org/drawingml/2006/main">
              <a:ext uri="{FF2B5EF4-FFF2-40B4-BE49-F238E27FC236}">
                <a16:creationId xmlns:a16="http://schemas.microsoft.com/office/drawing/2014/main" id="{970279D7-68DF-4774-8C61-FA4AFB37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0191750"/>
            <a:ext cx="476250" cy="9525"/>
          </a:xfrm>
          <a:custGeom xmlns:a="http://schemas.openxmlformats.org/drawingml/2006/main"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386D8"/>
            </a:solidFill>
            <a:prstDash val="solid"/>
          </a:ln>
        </p:spPr>
      </p:sp>
      <p:sp>
        <p:nvSpPr>
          <p:cNvPr id="230" name="svg_arrowhead_230">
            <a:extLst xmlns:a="http://schemas.openxmlformats.org/drawingml/2006/main">
              <a:ext uri="{FF2B5EF4-FFF2-40B4-BE49-F238E27FC236}">
                <a16:creationId xmlns:a16="http://schemas.microsoft.com/office/drawing/2014/main" id="{D1B88582-B01A-4E2B-8CA3-66113A8D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0139363"/>
            <a:ext cx="104775" cy="104775"/>
          </a:xfrm>
          <a:custGeom xmlns:a="http://schemas.openxmlformats.org/drawingml/2006/main"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386D8"/>
          </a:solidFill>
          <a:ln xmlns:a="http://schemas.openxmlformats.org/drawingml/2006/main" w="4763">
            <a:solidFill>
              <a:srgbClr val="2386D8"/>
            </a:solidFill>
            <a:prstDash val="solid"/>
          </a:ln>
        </p:spPr>
      </p:sp>
      <p:sp>
        <p:nvSpPr>
          <p:cNvPr id="231" name="svg_path_231">
            <a:extLst xmlns:a="http://schemas.openxmlformats.org/drawingml/2006/main">
              <a:ext uri="{FF2B5EF4-FFF2-40B4-BE49-F238E27FC236}">
                <a16:creationId xmlns:a16="http://schemas.microsoft.com/office/drawing/2014/main" id="{EAD6FD2D-1827-4423-B031-516ADF5B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0839450"/>
            <a:ext cx="476250" cy="9525"/>
          </a:xfrm>
          <a:custGeom xmlns:a="http://schemas.openxmlformats.org/drawingml/2006/main"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386D8"/>
            </a:solidFill>
            <a:prstDash val="solid"/>
          </a:ln>
        </p:spPr>
      </p:sp>
      <p:sp>
        <p:nvSpPr>
          <p:cNvPr id="232" name="svg_arrowhead_232">
            <a:extLst xmlns:a="http://schemas.openxmlformats.org/drawingml/2006/main">
              <a:ext uri="{FF2B5EF4-FFF2-40B4-BE49-F238E27FC236}">
                <a16:creationId xmlns:a16="http://schemas.microsoft.com/office/drawing/2014/main" id="{F0F9018D-A404-44A7-994E-9F119945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0787063"/>
            <a:ext cx="104775" cy="104775"/>
          </a:xfrm>
          <a:custGeom xmlns:a="http://schemas.openxmlformats.org/drawingml/2006/main"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386D8"/>
          </a:solidFill>
          <a:ln xmlns:a="http://schemas.openxmlformats.org/drawingml/2006/main" w="4763">
            <a:solidFill>
              <a:srgbClr val="2386D8"/>
            </a:solidFill>
            <a:prstDash val="solid"/>
          </a:ln>
        </p:spPr>
      </p:sp>
      <p:sp>
        <p:nvSpPr>
          <p:cNvPr id="233" name="svg_path_233">
            <a:extLst xmlns:a="http://schemas.openxmlformats.org/drawingml/2006/main">
              <a:ext uri="{FF2B5EF4-FFF2-40B4-BE49-F238E27FC236}">
                <a16:creationId xmlns:a16="http://schemas.microsoft.com/office/drawing/2014/main" id="{5933FAF3-DE87-4805-A4AF-5D86B76A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9429750"/>
            <a:ext cx="3048000" cy="2095500"/>
          </a:xfrm>
          <a:custGeom xmlns:a="http://schemas.openxmlformats.org/drawingml/2006/main">
            <a:pathLst>
              <a:path w="3048000" h="2095500">
                <a:moveTo>
                  <a:pt x="3048000" y="714375"/>
                </a:moveTo>
                <a:lnTo>
                  <a:pt x="2809875" y="714375"/>
                </a:lnTo>
                <a:lnTo>
                  <a:pt x="2809875" y="2095500"/>
                </a:lnTo>
                <a:lnTo>
                  <a:pt x="0" y="20955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D6285"/>
            </a:solidFill>
            <a:prstDash val="dash"/>
          </a:ln>
        </p:spPr>
      </p:sp>
      <p:sp>
        <p:nvSpPr>
          <p:cNvPr id="234" name="svg_arrowhead_234">
            <a:extLst xmlns:a="http://schemas.openxmlformats.org/drawingml/2006/main">
              <a:ext uri="{FF2B5EF4-FFF2-40B4-BE49-F238E27FC236}">
                <a16:creationId xmlns:a16="http://schemas.microsoft.com/office/drawing/2014/main" id="{592DDACF-2BDC-41F9-AF66-23EFE294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363" y="9429750"/>
            <a:ext cx="104775" cy="104775"/>
          </a:xfrm>
          <a:custGeom xmlns:a="http://schemas.openxmlformats.org/drawingml/2006/main">
            <a:pathLst>
              <a:path w="104775" h="104775">
                <a:moveTo>
                  <a:pt x="52388" y="0"/>
                </a:moveTo>
                <a:lnTo>
                  <a:pt x="104775" y="104775"/>
                </a:lnTo>
                <a:lnTo>
                  <a:pt x="0" y="104775"/>
                </a:lnTo>
                <a:close/>
              </a:path>
            </a:pathLst>
          </a:custGeom>
          <a:solidFill xmlns:a="http://schemas.openxmlformats.org/drawingml/2006/main">
            <a:srgbClr val="3D6285"/>
          </a:solidFill>
          <a:ln xmlns:a="http://schemas.openxmlformats.org/drawingml/2006/main" w="4763">
            <a:solidFill>
              <a:srgbClr val="3D6285"/>
            </a:solidFill>
            <a:prstDash val="solid"/>
          </a:ln>
        </p:spPr>
      </p:sp>
      <p:sp>
        <p:nvSpPr>
          <p:cNvPr id="235" name="svg_path_235">
            <a:extLst xmlns:a="http://schemas.openxmlformats.org/drawingml/2006/main">
              <a:ext uri="{FF2B5EF4-FFF2-40B4-BE49-F238E27FC236}">
                <a16:creationId xmlns:a16="http://schemas.microsoft.com/office/drawing/2014/main" id="{152E961B-40B6-417C-9EAF-4E6F4985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9429750"/>
            <a:ext cx="3333750" cy="2333625"/>
          </a:xfrm>
          <a:custGeom xmlns:a="http://schemas.openxmlformats.org/drawingml/2006/main">
            <a:pathLst>
              <a:path w="3333750" h="2333625">
                <a:moveTo>
                  <a:pt x="3333750" y="1428750"/>
                </a:moveTo>
                <a:lnTo>
                  <a:pt x="2952750" y="1428750"/>
                </a:lnTo>
                <a:lnTo>
                  <a:pt x="2952750" y="2333625"/>
                </a:lnTo>
                <a:lnTo>
                  <a:pt x="0" y="233362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D6285"/>
            </a:solidFill>
            <a:prstDash val="dash"/>
          </a:ln>
        </p:spPr>
      </p:sp>
      <p:sp>
        <p:nvSpPr>
          <p:cNvPr id="236" name="svg_arrowhead_236">
            <a:extLst xmlns:a="http://schemas.openxmlformats.org/drawingml/2006/main">
              <a:ext uri="{FF2B5EF4-FFF2-40B4-BE49-F238E27FC236}">
                <a16:creationId xmlns:a16="http://schemas.microsoft.com/office/drawing/2014/main" id="{ED5BCFF2-A3D0-4B3B-8379-2AD9EA30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613" y="9429750"/>
            <a:ext cx="104775" cy="104775"/>
          </a:xfrm>
          <a:custGeom xmlns:a="http://schemas.openxmlformats.org/drawingml/2006/main">
            <a:pathLst>
              <a:path w="104775" h="104775">
                <a:moveTo>
                  <a:pt x="52388" y="0"/>
                </a:moveTo>
                <a:lnTo>
                  <a:pt x="104775" y="104775"/>
                </a:lnTo>
                <a:lnTo>
                  <a:pt x="0" y="104775"/>
                </a:lnTo>
                <a:close/>
              </a:path>
            </a:pathLst>
          </a:custGeom>
          <a:solidFill xmlns:a="http://schemas.openxmlformats.org/drawingml/2006/main">
            <a:srgbClr val="3D6285"/>
          </a:solidFill>
          <a:ln xmlns:a="http://schemas.openxmlformats.org/drawingml/2006/main" w="4763">
            <a:solidFill>
              <a:srgbClr val="3D6285"/>
            </a:solidFill>
            <a:prstDash val="solid"/>
          </a:ln>
        </p:spPr>
      </p:sp>
      <p:sp>
        <p:nvSpPr>
          <p:cNvPr id="237" name="svg_rect_237">
            <a:extLst xmlns:a="http://schemas.openxmlformats.org/drawingml/2006/main">
              <a:ext uri="{FF2B5EF4-FFF2-40B4-BE49-F238E27FC236}">
                <a16:creationId xmlns:a16="http://schemas.microsoft.com/office/drawing/2014/main" id="{A994C03B-71DF-4E8C-9571-7BEF8DCC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1858625"/>
            <a:ext cx="2762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8EA"/>
          </a:solidFill>
          <a:ln xmlns:a="http://schemas.openxmlformats.org/drawingml/2006/main" w="17145">
            <a:solidFill>
              <a:srgbClr val="D89A33"/>
            </a:solidFill>
            <a:prstDash val="solid"/>
          </a:ln>
        </p:spPr>
      </p:sp>
      <p:sp>
        <p:nvSpPr>
          <p:cNvPr id="238" name="svg_text_238">
            <a:extLst xmlns:a="http://schemas.openxmlformats.org/drawingml/2006/main">
              <a:ext uri="{FF2B5EF4-FFF2-40B4-BE49-F238E27FC236}">
                <a16:creationId xmlns:a16="http://schemas.microsoft.com/office/drawing/2014/main" id="{E1246A04-4BAD-466C-B0A4-A6054EED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9262" y="11950446"/>
            <a:ext cx="1712976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Waveform + Mel</a:t>
            </a:r>
          </a:p>
        </p:txBody>
      </p:sp>
      <p:sp>
        <p:nvSpPr>
          <p:cNvPr id="239" name="svg_text_239">
            <a:extLst xmlns:a="http://schemas.openxmlformats.org/drawingml/2006/main">
              <a:ext uri="{FF2B5EF4-FFF2-40B4-BE49-F238E27FC236}">
                <a16:creationId xmlns:a16="http://schemas.microsoft.com/office/drawing/2014/main" id="{C3C21CD9-847A-497C-96E3-556E7C0F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3990" y="12179046"/>
            <a:ext cx="2263521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Reconstruction Loss</a:t>
            </a:r>
          </a:p>
        </p:txBody>
      </p:sp>
      <p:sp>
        <p:nvSpPr>
          <p:cNvPr id="240" name="svg_text_240">
            <a:extLst xmlns:a="http://schemas.openxmlformats.org/drawingml/2006/main">
              <a:ext uri="{FF2B5EF4-FFF2-40B4-BE49-F238E27FC236}">
                <a16:creationId xmlns:a16="http://schemas.microsoft.com/office/drawing/2014/main" id="{55CB4EE0-A786-4F10-9361-B2BA9421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211" y="12438507"/>
            <a:ext cx="252907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compares x and x̂ directly</a:t>
            </a:r>
          </a:p>
        </p:txBody>
      </p:sp>
      <p:sp>
        <p:nvSpPr>
          <p:cNvPr id="241" name="svg_path_241">
            <a:extLst xmlns:a="http://schemas.openxmlformats.org/drawingml/2006/main">
              <a:ext uri="{FF2B5EF4-FFF2-40B4-BE49-F238E27FC236}">
                <a16:creationId xmlns:a16="http://schemas.microsoft.com/office/drawing/2014/main" id="{96F72EC1-32FA-4F5D-BA77-3E387BB8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239250"/>
            <a:ext cx="3524250" cy="3571875"/>
          </a:xfrm>
          <a:custGeom xmlns:a="http://schemas.openxmlformats.org/drawingml/2006/main">
            <a:pathLst>
              <a:path w="3524250" h="3571875">
                <a:moveTo>
                  <a:pt x="781050" y="0"/>
                </a:moveTo>
                <a:lnTo>
                  <a:pt x="0" y="0"/>
                </a:lnTo>
                <a:lnTo>
                  <a:pt x="0" y="3571875"/>
                </a:lnTo>
                <a:lnTo>
                  <a:pt x="3524250" y="3571875"/>
                </a:lnTo>
                <a:lnTo>
                  <a:pt x="3524250" y="34766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D6285"/>
            </a:solidFill>
            <a:prstDash val="dash"/>
          </a:ln>
        </p:spPr>
      </p:sp>
      <p:sp>
        <p:nvSpPr>
          <p:cNvPr id="242" name="svg_arrowhead_242">
            <a:extLst xmlns:a="http://schemas.openxmlformats.org/drawingml/2006/main">
              <a:ext uri="{FF2B5EF4-FFF2-40B4-BE49-F238E27FC236}">
                <a16:creationId xmlns:a16="http://schemas.microsoft.com/office/drawing/2014/main" id="{D60A8C86-EBEE-44A8-ABC5-A3330383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3363" y="12715875"/>
            <a:ext cx="104775" cy="104775"/>
          </a:xfrm>
          <a:custGeom xmlns:a="http://schemas.openxmlformats.org/drawingml/2006/main">
            <a:pathLst>
              <a:path w="104775" h="104775">
                <a:moveTo>
                  <a:pt x="52388" y="0"/>
                </a:moveTo>
                <a:lnTo>
                  <a:pt x="104775" y="104775"/>
                </a:lnTo>
                <a:lnTo>
                  <a:pt x="0" y="104775"/>
                </a:lnTo>
                <a:close/>
              </a:path>
            </a:pathLst>
          </a:custGeom>
          <a:solidFill xmlns:a="http://schemas.openxmlformats.org/drawingml/2006/main">
            <a:srgbClr val="3D6285"/>
          </a:solidFill>
          <a:ln xmlns:a="http://schemas.openxmlformats.org/drawingml/2006/main" w="4763">
            <a:solidFill>
              <a:srgbClr val="3D6285"/>
            </a:solidFill>
            <a:prstDash val="solid"/>
          </a:ln>
        </p:spPr>
      </p:sp>
      <p:sp>
        <p:nvSpPr>
          <p:cNvPr id="243" name="svg_path_243">
            <a:extLst xmlns:a="http://schemas.openxmlformats.org/drawingml/2006/main">
              <a:ext uri="{FF2B5EF4-FFF2-40B4-BE49-F238E27FC236}">
                <a16:creationId xmlns:a16="http://schemas.microsoft.com/office/drawing/2014/main" id="{DE1F50D9-88CB-4049-88AD-13994FF1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9239250"/>
            <a:ext cx="762000" cy="3048000"/>
          </a:xfrm>
          <a:custGeom xmlns:a="http://schemas.openxmlformats.org/drawingml/2006/main">
            <a:pathLst>
              <a:path w="762000" h="3048000">
                <a:moveTo>
                  <a:pt x="762000" y="0"/>
                </a:moveTo>
                <a:lnTo>
                  <a:pt x="762000" y="2428875"/>
                </a:lnTo>
                <a:lnTo>
                  <a:pt x="0" y="2428875"/>
                </a:lnTo>
                <a:lnTo>
                  <a:pt x="0" y="30480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D6285"/>
            </a:solidFill>
            <a:prstDash val="dash"/>
          </a:ln>
        </p:spPr>
      </p:sp>
      <p:sp>
        <p:nvSpPr>
          <p:cNvPr id="244" name="svg_arrowhead_244">
            <a:extLst xmlns:a="http://schemas.openxmlformats.org/drawingml/2006/main">
              <a:ext uri="{FF2B5EF4-FFF2-40B4-BE49-F238E27FC236}">
                <a16:creationId xmlns:a16="http://schemas.microsoft.com/office/drawing/2014/main" id="{D14F9D44-E066-4097-8F60-6D68CB06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4488" y="12182475"/>
            <a:ext cx="104775" cy="104775"/>
          </a:xfrm>
          <a:custGeom xmlns:a="http://schemas.openxmlformats.org/drawingml/2006/main">
            <a:pathLst>
              <a:path w="104775" h="104775">
                <a:moveTo>
                  <a:pt x="52388" y="104775"/>
                </a:moveTo>
                <a:lnTo>
                  <a:pt x="0" y="0"/>
                </a:lnTo>
                <a:lnTo>
                  <a:pt x="104775" y="0"/>
                </a:lnTo>
                <a:close/>
              </a:path>
            </a:pathLst>
          </a:custGeom>
          <a:solidFill xmlns:a="http://schemas.openxmlformats.org/drawingml/2006/main">
            <a:srgbClr val="3D6285"/>
          </a:solidFill>
          <a:ln xmlns:a="http://schemas.openxmlformats.org/drawingml/2006/main" w="4763">
            <a:solidFill>
              <a:srgbClr val="3D6285"/>
            </a:solidFill>
            <a:prstDash val="solid"/>
          </a:ln>
        </p:spPr>
      </p:sp>
      <p:sp>
        <p:nvSpPr>
          <p:cNvPr id="245" name="svg_path_245">
            <a:extLst xmlns:a="http://schemas.openxmlformats.org/drawingml/2006/main">
              <a:ext uri="{FF2B5EF4-FFF2-40B4-BE49-F238E27FC236}">
                <a16:creationId xmlns:a16="http://schemas.microsoft.com/office/drawing/2014/main" id="{A1330DEB-9128-4BF2-A025-8AD3B3E1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9429750"/>
            <a:ext cx="190500" cy="2428875"/>
          </a:xfrm>
          <a:custGeom xmlns:a="http://schemas.openxmlformats.org/drawingml/2006/main">
            <a:pathLst>
              <a:path w="190500" h="2428875">
                <a:moveTo>
                  <a:pt x="190500" y="2428875"/>
                </a:moveTo>
                <a:lnTo>
                  <a:pt x="190500" y="1952625"/>
                </a:lnTo>
                <a:lnTo>
                  <a:pt x="0" y="195262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D6285"/>
            </a:solidFill>
            <a:prstDash val="dash"/>
          </a:ln>
        </p:spPr>
      </p:sp>
      <p:sp>
        <p:nvSpPr>
          <p:cNvPr id="246" name="svg_arrowhead_246">
            <a:extLst xmlns:a="http://schemas.openxmlformats.org/drawingml/2006/main">
              <a:ext uri="{FF2B5EF4-FFF2-40B4-BE49-F238E27FC236}">
                <a16:creationId xmlns:a16="http://schemas.microsoft.com/office/drawing/2014/main" id="{DC103090-BCBB-40E2-9C79-EB29E1F0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2863" y="9429750"/>
            <a:ext cx="104775" cy="104775"/>
          </a:xfrm>
          <a:custGeom xmlns:a="http://schemas.openxmlformats.org/drawingml/2006/main">
            <a:pathLst>
              <a:path w="104775" h="104775">
                <a:moveTo>
                  <a:pt x="52388" y="0"/>
                </a:moveTo>
                <a:lnTo>
                  <a:pt x="104775" y="104775"/>
                </a:lnTo>
                <a:lnTo>
                  <a:pt x="0" y="104775"/>
                </a:lnTo>
                <a:close/>
              </a:path>
            </a:pathLst>
          </a:custGeom>
          <a:solidFill xmlns:a="http://schemas.openxmlformats.org/drawingml/2006/main">
            <a:srgbClr val="3D6285"/>
          </a:solidFill>
          <a:ln xmlns:a="http://schemas.openxmlformats.org/drawingml/2006/main" w="4763">
            <a:solidFill>
              <a:srgbClr val="3D6285"/>
            </a:solidFill>
            <a:prstDash val="solid"/>
          </a:ln>
        </p:spPr>
      </p:sp>
      <p:sp>
        <p:nvSpPr>
          <p:cNvPr id="247" name="svg_rect_247">
            <a:extLst xmlns:a="http://schemas.openxmlformats.org/drawingml/2006/main">
              <a:ext uri="{FF2B5EF4-FFF2-40B4-BE49-F238E27FC236}">
                <a16:creationId xmlns:a16="http://schemas.microsoft.com/office/drawing/2014/main" id="{E867DAB7-80E0-4184-BD12-1D0F96A5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0"/>
            <a:ext cx="147637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8EA"/>
          </a:solidFill>
          <a:ln xmlns:a="http://schemas.openxmlformats.org/drawingml/2006/main" w="17145">
            <a:solidFill>
              <a:srgbClr val="D89A33"/>
            </a:solidFill>
            <a:prstDash val="solid"/>
          </a:ln>
        </p:spPr>
      </p:sp>
      <p:sp>
        <p:nvSpPr>
          <p:cNvPr id="248" name="svg_text_248">
            <a:extLst xmlns:a="http://schemas.openxmlformats.org/drawingml/2006/main">
              <a:ext uri="{FF2B5EF4-FFF2-40B4-BE49-F238E27FC236}">
                <a16:creationId xmlns:a16="http://schemas.microsoft.com/office/drawing/2014/main" id="{2A63253C-BE0A-4AAE-8A58-E2B7C0A4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937" y="12093321"/>
            <a:ext cx="1712976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RVQ Commitment</a:t>
            </a:r>
          </a:p>
        </p:txBody>
      </p:sp>
      <p:sp>
        <p:nvSpPr>
          <p:cNvPr id="249" name="svg_text_249">
            <a:extLst xmlns:a="http://schemas.openxmlformats.org/drawingml/2006/main">
              <a:ext uri="{FF2B5EF4-FFF2-40B4-BE49-F238E27FC236}">
                <a16:creationId xmlns:a16="http://schemas.microsoft.com/office/drawing/2014/main" id="{E7A33AEE-CAF9-4FF2-9700-4F25D982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76" y="12352782"/>
            <a:ext cx="162229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updates RVQ only</a:t>
            </a:r>
          </a:p>
        </p:txBody>
      </p:sp>
      <p:sp>
        <p:nvSpPr>
          <p:cNvPr id="250" name="svg_path_250">
            <a:extLst xmlns:a="http://schemas.openxmlformats.org/drawingml/2006/main">
              <a:ext uri="{FF2B5EF4-FFF2-40B4-BE49-F238E27FC236}">
                <a16:creationId xmlns:a16="http://schemas.microsoft.com/office/drawing/2014/main" id="{894A5CBB-A238-46C0-B753-742A91DE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9429750"/>
            <a:ext cx="1838325" cy="2571750"/>
          </a:xfrm>
          <a:custGeom xmlns:a="http://schemas.openxmlformats.org/drawingml/2006/main">
            <a:pathLst>
              <a:path w="1838325" h="2571750">
                <a:moveTo>
                  <a:pt x="0" y="2571750"/>
                </a:moveTo>
                <a:lnTo>
                  <a:pt x="0" y="1762125"/>
                </a:lnTo>
                <a:lnTo>
                  <a:pt x="1838325" y="1762125"/>
                </a:lnTo>
                <a:lnTo>
                  <a:pt x="1838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D6285"/>
            </a:solidFill>
            <a:prstDash val="dash"/>
          </a:ln>
        </p:spPr>
      </p:sp>
      <p:sp>
        <p:nvSpPr>
          <p:cNvPr id="251" name="svg_arrowhead_251">
            <a:extLst xmlns:a="http://schemas.openxmlformats.org/drawingml/2006/main">
              <a:ext uri="{FF2B5EF4-FFF2-40B4-BE49-F238E27FC236}">
                <a16:creationId xmlns:a16="http://schemas.microsoft.com/office/drawing/2014/main" id="{E6CC24D7-2498-44DB-B6DD-BECFF152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363" y="9429750"/>
            <a:ext cx="104775" cy="104775"/>
          </a:xfrm>
          <a:custGeom xmlns:a="http://schemas.openxmlformats.org/drawingml/2006/main">
            <a:pathLst>
              <a:path w="104775" h="104775">
                <a:moveTo>
                  <a:pt x="52388" y="0"/>
                </a:moveTo>
                <a:lnTo>
                  <a:pt x="104775" y="104775"/>
                </a:lnTo>
                <a:lnTo>
                  <a:pt x="0" y="104775"/>
                </a:lnTo>
                <a:close/>
              </a:path>
            </a:pathLst>
          </a:custGeom>
          <a:solidFill xmlns:a="http://schemas.openxmlformats.org/drawingml/2006/main">
            <a:srgbClr val="3D6285"/>
          </a:solidFill>
          <a:ln xmlns:a="http://schemas.openxmlformats.org/drawingml/2006/main" w="4763">
            <a:solidFill>
              <a:srgbClr val="3D6285"/>
            </a:solidFill>
            <a:prstDash val="solid"/>
          </a:ln>
        </p:spPr>
      </p:sp>
      <p:sp>
        <p:nvSpPr>
          <p:cNvPr id="252" name="svg_rect_252">
            <a:extLst xmlns:a="http://schemas.openxmlformats.org/drawingml/2006/main">
              <a:ext uri="{FF2B5EF4-FFF2-40B4-BE49-F238E27FC236}">
                <a16:creationId xmlns:a16="http://schemas.microsoft.com/office/drawing/2014/main" id="{BF2A2F81-E425-44B0-AA90-1B72787A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7143750"/>
            <a:ext cx="6715125" cy="5810250"/>
          </a:xfrm>
          <a:prstGeom xmlns:a="http://schemas.openxmlformats.org/drawingml/2006/main" prst="roundRect">
            <a:avLst>
              <a:gd name="adj" fmla="val 1639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15240">
            <a:solidFill>
              <a:srgbClr val="A8CBEA"/>
            </a:solidFill>
            <a:prstDash val="dash"/>
          </a:ln>
        </p:spPr>
      </p:sp>
      <p:sp>
        <p:nvSpPr>
          <p:cNvPr id="253" name="svg_rect_253">
            <a:extLst xmlns:a="http://schemas.openxmlformats.org/drawingml/2006/main">
              <a:ext uri="{FF2B5EF4-FFF2-40B4-BE49-F238E27FC236}">
                <a16:creationId xmlns:a16="http://schemas.microsoft.com/office/drawing/2014/main" id="{B1EBE194-54B8-467A-866C-A57772EF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286625"/>
            <a:ext cx="476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6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svg_text_254">
            <a:extLst xmlns:a="http://schemas.openxmlformats.org/drawingml/2006/main">
              <a:ext uri="{FF2B5EF4-FFF2-40B4-BE49-F238E27FC236}">
                <a16:creationId xmlns:a16="http://schemas.microsoft.com/office/drawing/2014/main" id="{327DDE3B-A15B-407E-AFC8-8156419F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7791" y="7321296"/>
            <a:ext cx="391668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5B</a:t>
            </a:r>
          </a:p>
        </p:txBody>
      </p:sp>
      <p:sp>
        <p:nvSpPr>
          <p:cNvPr id="255" name="svg_text_255">
            <a:extLst xmlns:a="http://schemas.openxmlformats.org/drawingml/2006/main">
              <a:ext uri="{FF2B5EF4-FFF2-40B4-BE49-F238E27FC236}">
                <a16:creationId xmlns:a16="http://schemas.microsoft.com/office/drawing/2014/main" id="{D95F3851-BB48-4EF8-B4CA-E2A629A5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7308723"/>
            <a:ext cx="3571875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Channel-Aware Fine-Tuning</a:t>
            </a:r>
          </a:p>
        </p:txBody>
      </p:sp>
      <p:sp>
        <p:nvSpPr>
          <p:cNvPr id="256" name="svg_rect_256">
            <a:extLst xmlns:a="http://schemas.openxmlformats.org/drawingml/2006/main">
              <a:ext uri="{FF2B5EF4-FFF2-40B4-BE49-F238E27FC236}">
                <a16:creationId xmlns:a16="http://schemas.microsoft.com/office/drawing/2014/main" id="{71608D3C-B2EA-41A4-83DE-62FB548B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9429750"/>
            <a:ext cx="119062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9050">
            <a:solidFill>
              <a:srgbClr val="408FD2"/>
            </a:solidFill>
            <a:prstDash val="solid"/>
          </a:ln>
        </p:spPr>
      </p:sp>
      <p:sp>
        <p:nvSpPr>
          <p:cNvPr id="257" name="svg_text_257">
            <a:extLst xmlns:a="http://schemas.openxmlformats.org/drawingml/2006/main">
              <a:ext uri="{FF2B5EF4-FFF2-40B4-BE49-F238E27FC236}">
                <a16:creationId xmlns:a16="http://schemas.microsoft.com/office/drawing/2014/main" id="{48E7CC4D-0311-4507-A8B7-F85AAE7B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030" y="9540621"/>
            <a:ext cx="127254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Base Model</a:t>
            </a:r>
          </a:p>
        </p:txBody>
      </p:sp>
      <p:sp>
        <p:nvSpPr>
          <p:cNvPr id="258" name="svg_text_258">
            <a:extLst xmlns:a="http://schemas.openxmlformats.org/drawingml/2006/main">
              <a:ext uri="{FF2B5EF4-FFF2-40B4-BE49-F238E27FC236}">
                <a16:creationId xmlns:a16="http://schemas.microsoft.com/office/drawing/2014/main" id="{09C53B06-181A-44D2-9460-986664BA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030" y="9778746"/>
            <a:ext cx="127254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Checkpoint</a:t>
            </a:r>
          </a:p>
        </p:txBody>
      </p:sp>
      <p:sp>
        <p:nvSpPr>
          <p:cNvPr id="259" name="svg_path_259">
            <a:extLst xmlns:a="http://schemas.openxmlformats.org/drawingml/2006/main">
              <a:ext uri="{FF2B5EF4-FFF2-40B4-BE49-F238E27FC236}">
                <a16:creationId xmlns:a16="http://schemas.microsoft.com/office/drawing/2014/main" id="{43F52777-F1DE-4650-B28D-E2674EEF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9810750"/>
            <a:ext cx="333375" cy="9525"/>
          </a:xfrm>
          <a:custGeom xmlns:a="http://schemas.openxmlformats.org/drawingml/2006/main">
            <a:pathLst>
              <a:path w="333375" h="952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86D8"/>
            </a:solidFill>
            <a:prstDash val="solid"/>
          </a:ln>
        </p:spPr>
      </p:sp>
      <p:sp>
        <p:nvSpPr>
          <p:cNvPr id="260" name="svg_arrowhead_260">
            <a:extLst xmlns:a="http://schemas.openxmlformats.org/drawingml/2006/main">
              <a:ext uri="{FF2B5EF4-FFF2-40B4-BE49-F238E27FC236}">
                <a16:creationId xmlns:a16="http://schemas.microsoft.com/office/drawing/2014/main" id="{42998D44-9AD9-4D7D-A231-10EE7E5D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9758363"/>
            <a:ext cx="104775" cy="104775"/>
          </a:xfrm>
          <a:custGeom xmlns:a="http://schemas.openxmlformats.org/drawingml/2006/main"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386D8"/>
          </a:solidFill>
          <a:ln xmlns:a="http://schemas.openxmlformats.org/drawingml/2006/main" w="4763">
            <a:solidFill>
              <a:srgbClr val="2386D8"/>
            </a:solidFill>
            <a:prstDash val="solid"/>
          </a:ln>
        </p:spPr>
      </p:sp>
      <p:sp>
        <p:nvSpPr>
          <p:cNvPr id="261" name="svg_rect_261">
            <a:extLst xmlns:a="http://schemas.openxmlformats.org/drawingml/2006/main">
              <a:ext uri="{FF2B5EF4-FFF2-40B4-BE49-F238E27FC236}">
                <a16:creationId xmlns:a16="http://schemas.microsoft.com/office/drawing/2014/main" id="{85C88FE9-776F-43BA-944D-32BD378F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7905750"/>
            <a:ext cx="3476625" cy="44291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7145">
            <a:solidFill>
              <a:srgbClr val="527CA3"/>
            </a:solidFill>
            <a:prstDash val="dash"/>
          </a:ln>
        </p:spPr>
      </p:sp>
      <p:sp>
        <p:nvSpPr>
          <p:cNvPr id="262" name="svg_text_262">
            <a:extLst xmlns:a="http://schemas.openxmlformats.org/drawingml/2006/main">
              <a:ext uri="{FF2B5EF4-FFF2-40B4-BE49-F238E27FC236}">
                <a16:creationId xmlns:a16="http://schemas.microsoft.com/office/drawing/2014/main" id="{EDE3D935-E5D4-4F0C-8A37-50C76268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5886" y="8016621"/>
            <a:ext cx="3584829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CHANNEL-AWARE FINE-TUNING BLOCK</a:t>
            </a:r>
          </a:p>
        </p:txBody>
      </p:sp>
      <p:sp>
        <p:nvSpPr>
          <p:cNvPr id="263" name="svg_rect_263">
            <a:extLst xmlns:a="http://schemas.openxmlformats.org/drawingml/2006/main">
              <a:ext uri="{FF2B5EF4-FFF2-40B4-BE49-F238E27FC236}">
                <a16:creationId xmlns:a16="http://schemas.microsoft.com/office/drawing/2014/main" id="{D529D407-8AFE-4C8D-AB8A-DB67C5AD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8429625"/>
            <a:ext cx="214312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9050">
            <a:solidFill>
              <a:srgbClr val="408FD2"/>
            </a:solidFill>
            <a:prstDash val="solid"/>
          </a:ln>
        </p:spPr>
      </p:sp>
      <p:sp>
        <p:nvSpPr>
          <p:cNvPr id="264" name="svg_text_264">
            <a:extLst xmlns:a="http://schemas.openxmlformats.org/drawingml/2006/main">
              <a:ext uri="{FF2B5EF4-FFF2-40B4-BE49-F238E27FC236}">
                <a16:creationId xmlns:a16="http://schemas.microsoft.com/office/drawing/2014/main" id="{7A2EBE6E-8169-4175-9153-3F88E4CE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6213" y="8492871"/>
            <a:ext cx="2924175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Random RVQ-Depth Sampling</a:t>
            </a:r>
          </a:p>
        </p:txBody>
      </p:sp>
      <p:sp>
        <p:nvSpPr>
          <p:cNvPr id="265" name="svg_text_265">
            <a:extLst xmlns:a="http://schemas.openxmlformats.org/drawingml/2006/main">
              <a:ext uri="{FF2B5EF4-FFF2-40B4-BE49-F238E27FC236}">
                <a16:creationId xmlns:a16="http://schemas.microsoft.com/office/drawing/2014/main" id="{D71A3F30-46B2-43AB-BE03-F5741038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163" y="8744331"/>
            <a:ext cx="2192274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1546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15466"/>
                </a:solidFill>
                <a:latin typeface="Arial"/>
                <a:ea typeface="Arial"/>
                <a:cs typeface="Arial"/>
              </a:rPr>
              <a:t>training augmentation only</a:t>
            </a:r>
          </a:p>
        </p:txBody>
      </p:sp>
      <p:sp>
        <p:nvSpPr>
          <p:cNvPr id="266" name="svg_path_266">
            <a:extLst xmlns:a="http://schemas.openxmlformats.org/drawingml/2006/main">
              <a:ext uri="{FF2B5EF4-FFF2-40B4-BE49-F238E27FC236}">
                <a16:creationId xmlns:a16="http://schemas.microsoft.com/office/drawing/2014/main" id="{2DC54238-BEBA-4FBB-AE5F-A52C6B58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8953500"/>
            <a:ext cx="1162050" cy="285750"/>
          </a:xfrm>
          <a:custGeom xmlns:a="http://schemas.openxmlformats.org/drawingml/2006/main">
            <a:pathLst>
              <a:path w="1162050" h="285750">
                <a:moveTo>
                  <a:pt x="1162050" y="0"/>
                </a:moveTo>
                <a:lnTo>
                  <a:pt x="1162050" y="285750"/>
                </a:lnTo>
                <a:lnTo>
                  <a:pt x="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386D8"/>
            </a:solidFill>
            <a:prstDash val="solid"/>
          </a:ln>
        </p:spPr>
      </p:sp>
      <p:sp>
        <p:nvSpPr>
          <p:cNvPr id="267" name="svg_arrowhead_267">
            <a:extLst xmlns:a="http://schemas.openxmlformats.org/drawingml/2006/main">
              <a:ext uri="{FF2B5EF4-FFF2-40B4-BE49-F238E27FC236}">
                <a16:creationId xmlns:a16="http://schemas.microsoft.com/office/drawing/2014/main" id="{2C88F84F-BE89-46E6-A31A-FF068781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9186863"/>
            <a:ext cx="104775" cy="104775"/>
          </a:xfrm>
          <a:custGeom xmlns:a="http://schemas.openxmlformats.org/drawingml/2006/main">
            <a:pathLst>
              <a:path w="104775" h="104775">
                <a:moveTo>
                  <a:pt x="0" y="52388"/>
                </a:moveTo>
                <a:lnTo>
                  <a:pt x="104775" y="0"/>
                </a:lnTo>
                <a:lnTo>
                  <a:pt x="104775" y="104775"/>
                </a:lnTo>
                <a:close/>
              </a:path>
            </a:pathLst>
          </a:custGeom>
          <a:solidFill xmlns:a="http://schemas.openxmlformats.org/drawingml/2006/main">
            <a:srgbClr val="2386D8"/>
          </a:solidFill>
          <a:ln xmlns:a="http://schemas.openxmlformats.org/drawingml/2006/main" w="4763">
            <a:solidFill>
              <a:srgbClr val="2386D8"/>
            </a:solidFill>
            <a:prstDash val="solid"/>
          </a:ln>
        </p:spPr>
      </p:sp>
      <p:sp>
        <p:nvSpPr>
          <p:cNvPr id="268" name="svg_rect_268">
            <a:extLst xmlns:a="http://schemas.openxmlformats.org/drawingml/2006/main">
              <a:ext uri="{FF2B5EF4-FFF2-40B4-BE49-F238E27FC236}">
                <a16:creationId xmlns:a16="http://schemas.microsoft.com/office/drawing/2014/main" id="{F8AFCC10-BB08-4A32-9B87-78D0F80C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9239250"/>
            <a:ext cx="1143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9050">
            <a:solidFill>
              <a:srgbClr val="408FD2"/>
            </a:solidFill>
            <a:prstDash val="solid"/>
          </a:ln>
        </p:spPr>
      </p:sp>
      <p:sp>
        <p:nvSpPr>
          <p:cNvPr id="269" name="svg_text_269">
            <a:extLst xmlns:a="http://schemas.openxmlformats.org/drawingml/2006/main">
              <a:ext uri="{FF2B5EF4-FFF2-40B4-BE49-F238E27FC236}">
                <a16:creationId xmlns:a16="http://schemas.microsoft.com/office/drawing/2014/main" id="{E91FA5B9-D339-4D89-8126-B086AACD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316" y="9321546"/>
            <a:ext cx="1602867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Clean Indices</a:t>
            </a:r>
          </a:p>
        </p:txBody>
      </p:sp>
      <p:sp>
        <p:nvSpPr>
          <p:cNvPr id="270" name="svg_text_270">
            <a:extLst xmlns:a="http://schemas.openxmlformats.org/drawingml/2006/main">
              <a:ext uri="{FF2B5EF4-FFF2-40B4-BE49-F238E27FC236}">
                <a16:creationId xmlns:a16="http://schemas.microsoft.com/office/drawing/2014/main" id="{3F73CFEB-CF16-4C05-8B5E-2364B3C4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0589" y="9540621"/>
            <a:ext cx="1052322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275" b="0" i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i₁,i₂,i₃</a:t>
            </a:r>
          </a:p>
        </p:txBody>
      </p:sp>
      <p:sp>
        <p:nvSpPr>
          <p:cNvPr id="271" name="svg_path_271">
            <a:extLst xmlns:a="http://schemas.openxmlformats.org/drawingml/2006/main">
              <a:ext uri="{FF2B5EF4-FFF2-40B4-BE49-F238E27FC236}">
                <a16:creationId xmlns:a16="http://schemas.microsoft.com/office/drawing/2014/main" id="{E9788ABA-F2DC-4D30-BA33-D38397B0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9525000"/>
            <a:ext cx="285750" cy="9525"/>
          </a:xfrm>
          <a:custGeom xmlns:a="http://schemas.openxmlformats.org/drawingml/2006/main"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386D8"/>
            </a:solidFill>
            <a:prstDash val="solid"/>
          </a:ln>
        </p:spPr>
      </p:sp>
      <p:sp>
        <p:nvSpPr>
          <p:cNvPr id="272" name="svg_arrowhead_272">
            <a:extLst xmlns:a="http://schemas.openxmlformats.org/drawingml/2006/main">
              <a:ext uri="{FF2B5EF4-FFF2-40B4-BE49-F238E27FC236}">
                <a16:creationId xmlns:a16="http://schemas.microsoft.com/office/drawing/2014/main" id="{ADD79379-4824-43C1-BAF4-3FC7D982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225" y="9472613"/>
            <a:ext cx="104775" cy="104775"/>
          </a:xfrm>
          <a:custGeom xmlns:a="http://schemas.openxmlformats.org/drawingml/2006/main"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386D8"/>
          </a:solidFill>
          <a:ln xmlns:a="http://schemas.openxmlformats.org/drawingml/2006/main" w="4763">
            <a:solidFill>
              <a:srgbClr val="2386D8"/>
            </a:solidFill>
            <a:prstDash val="solid"/>
          </a:ln>
        </p:spPr>
      </p:sp>
      <p:sp>
        <p:nvSpPr>
          <p:cNvPr id="273" name="svg_rect_273">
            <a:extLst xmlns:a="http://schemas.openxmlformats.org/drawingml/2006/main">
              <a:ext uri="{FF2B5EF4-FFF2-40B4-BE49-F238E27FC236}">
                <a16:creationId xmlns:a16="http://schemas.microsoft.com/office/drawing/2014/main" id="{A20CE4B5-C215-43F3-9375-6AA1EA4B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9239250"/>
            <a:ext cx="119062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9050">
            <a:solidFill>
              <a:srgbClr val="408FD2"/>
            </a:solidFill>
            <a:prstDash val="solid"/>
          </a:ln>
        </p:spPr>
      </p:sp>
      <p:sp>
        <p:nvSpPr>
          <p:cNvPr id="274" name="svg_text_274">
            <a:extLst xmlns:a="http://schemas.openxmlformats.org/drawingml/2006/main">
              <a:ext uri="{FF2B5EF4-FFF2-40B4-BE49-F238E27FC236}">
                <a16:creationId xmlns:a16="http://schemas.microsoft.com/office/drawing/2014/main" id="{E7725C71-C547-4620-83A4-39E597B9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8280" y="9312021"/>
            <a:ext cx="127254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Decoder Dθ</a:t>
            </a:r>
          </a:p>
        </p:txBody>
      </p:sp>
      <p:sp>
        <p:nvSpPr>
          <p:cNvPr id="275" name="svg_text_275">
            <a:extLst xmlns:a="http://schemas.openxmlformats.org/drawingml/2006/main">
              <a:ext uri="{FF2B5EF4-FFF2-40B4-BE49-F238E27FC236}">
                <a16:creationId xmlns:a16="http://schemas.microsoft.com/office/drawing/2014/main" id="{284B9A4A-A76C-4038-969E-AD44F54A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0205" y="9573006"/>
            <a:ext cx="9486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1546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15466"/>
                </a:solidFill>
                <a:latin typeface="Arial"/>
                <a:ea typeface="Arial"/>
                <a:cs typeface="Arial"/>
              </a:rPr>
              <a:t>clean pass</a:t>
            </a:r>
          </a:p>
        </p:txBody>
      </p:sp>
      <p:sp>
        <p:nvSpPr>
          <p:cNvPr id="276" name="svg_path_276">
            <a:extLst xmlns:a="http://schemas.openxmlformats.org/drawingml/2006/main">
              <a:ext uri="{FF2B5EF4-FFF2-40B4-BE49-F238E27FC236}">
                <a16:creationId xmlns:a16="http://schemas.microsoft.com/office/drawing/2014/main" id="{EEE8818E-D71B-4DAA-9DEB-538C7EAE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9525000"/>
            <a:ext cx="142875" cy="9525"/>
          </a:xfrm>
          <a:custGeom xmlns:a="http://schemas.openxmlformats.org/drawingml/2006/main">
            <a:pathLst>
              <a:path w="142875" h="9525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386D8"/>
            </a:solidFill>
            <a:prstDash val="solid"/>
          </a:ln>
        </p:spPr>
      </p:sp>
      <p:sp>
        <p:nvSpPr>
          <p:cNvPr id="277" name="svg_arrowhead_277">
            <a:extLst xmlns:a="http://schemas.openxmlformats.org/drawingml/2006/main">
              <a:ext uri="{FF2B5EF4-FFF2-40B4-BE49-F238E27FC236}">
                <a16:creationId xmlns:a16="http://schemas.microsoft.com/office/drawing/2014/main" id="{F0D0453A-0488-4F83-95EB-ECE9702F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2725" y="9472613"/>
            <a:ext cx="104775" cy="104775"/>
          </a:xfrm>
          <a:custGeom xmlns:a="http://schemas.openxmlformats.org/drawingml/2006/main"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386D8"/>
          </a:solidFill>
          <a:ln xmlns:a="http://schemas.openxmlformats.org/drawingml/2006/main" w="4763">
            <a:solidFill>
              <a:srgbClr val="2386D8"/>
            </a:solidFill>
            <a:prstDash val="solid"/>
          </a:ln>
        </p:spPr>
      </p:sp>
      <p:sp>
        <p:nvSpPr>
          <p:cNvPr id="278" name="svg_rect_278">
            <a:extLst xmlns:a="http://schemas.openxmlformats.org/drawingml/2006/main">
              <a:ext uri="{FF2B5EF4-FFF2-40B4-BE49-F238E27FC236}">
                <a16:creationId xmlns:a16="http://schemas.microsoft.com/office/drawing/2014/main" id="{A95FF265-9768-4DB8-A79E-B29B8AB2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9239250"/>
            <a:ext cx="428625" cy="57150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9050">
            <a:solidFill>
              <a:srgbClr val="408FD2"/>
            </a:solidFill>
            <a:prstDash val="solid"/>
          </a:ln>
        </p:spPr>
      </p:sp>
      <p:sp>
        <p:nvSpPr>
          <p:cNvPr id="279" name="svg_text_279">
            <a:extLst xmlns:a="http://schemas.openxmlformats.org/drawingml/2006/main">
              <a:ext uri="{FF2B5EF4-FFF2-40B4-BE49-F238E27FC236}">
                <a16:creationId xmlns:a16="http://schemas.microsoft.com/office/drawing/2014/main" id="{27727EFD-7B45-45C4-B341-D1BDF52E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7015" y="9363456"/>
            <a:ext cx="56007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1546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15466"/>
                </a:solidFill>
                <a:latin typeface="Arial"/>
                <a:ea typeface="Arial"/>
                <a:cs typeface="Arial"/>
              </a:rPr>
              <a:t>Clean</a:t>
            </a:r>
          </a:p>
        </p:txBody>
      </p:sp>
      <p:sp>
        <p:nvSpPr>
          <p:cNvPr id="280" name="svg_text_280">
            <a:extLst xmlns:a="http://schemas.openxmlformats.org/drawingml/2006/main">
              <a:ext uri="{FF2B5EF4-FFF2-40B4-BE49-F238E27FC236}">
                <a16:creationId xmlns:a16="http://schemas.microsoft.com/office/drawing/2014/main" id="{92F8452A-5CA4-45A7-93DF-B5B8F693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4739" y="9534906"/>
            <a:ext cx="404622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1546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15466"/>
                </a:solidFill>
                <a:latin typeface="Arial"/>
                <a:ea typeface="Arial"/>
                <a:cs typeface="Arial"/>
              </a:rPr>
              <a:t>Mel</a:t>
            </a:r>
          </a:p>
        </p:txBody>
      </p:sp>
      <p:sp>
        <p:nvSpPr>
          <p:cNvPr id="281" name="svg_path_281">
            <a:extLst xmlns:a="http://schemas.openxmlformats.org/drawingml/2006/main">
              <a:ext uri="{FF2B5EF4-FFF2-40B4-BE49-F238E27FC236}">
                <a16:creationId xmlns:a16="http://schemas.microsoft.com/office/drawing/2014/main" id="{E2A3A39D-7E31-4E13-813C-680D26F7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9810750"/>
            <a:ext cx="9525" cy="476250"/>
          </a:xfrm>
          <a:custGeom xmlns:a="http://schemas.openxmlformats.org/drawingml/2006/main">
            <a:pathLst>
              <a:path w="952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386D8"/>
            </a:solidFill>
            <a:prstDash val="solid"/>
          </a:ln>
        </p:spPr>
      </p:sp>
      <p:sp>
        <p:nvSpPr>
          <p:cNvPr id="282" name="svg_arrowhead_282">
            <a:extLst xmlns:a="http://schemas.openxmlformats.org/drawingml/2006/main">
              <a:ext uri="{FF2B5EF4-FFF2-40B4-BE49-F238E27FC236}">
                <a16:creationId xmlns:a16="http://schemas.microsoft.com/office/drawing/2014/main" id="{337E9F83-C9C5-4FEE-AAB1-D818EC16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4363" y="10182225"/>
            <a:ext cx="104775" cy="104775"/>
          </a:xfrm>
          <a:custGeom xmlns:a="http://schemas.openxmlformats.org/drawingml/2006/main">
            <a:pathLst>
              <a:path w="104775" h="104775">
                <a:moveTo>
                  <a:pt x="52388" y="104775"/>
                </a:moveTo>
                <a:lnTo>
                  <a:pt x="0" y="0"/>
                </a:lnTo>
                <a:lnTo>
                  <a:pt x="104775" y="0"/>
                </a:lnTo>
                <a:close/>
              </a:path>
            </a:pathLst>
          </a:custGeom>
          <a:solidFill xmlns:a="http://schemas.openxmlformats.org/drawingml/2006/main">
            <a:srgbClr val="2386D8"/>
          </a:solidFill>
          <a:ln xmlns:a="http://schemas.openxmlformats.org/drawingml/2006/main" w="4763">
            <a:solidFill>
              <a:srgbClr val="2386D8"/>
            </a:solidFill>
            <a:prstDash val="solid"/>
          </a:ln>
        </p:spPr>
      </p:sp>
      <p:sp>
        <p:nvSpPr>
          <p:cNvPr id="283" name="svg_rect_283">
            <a:extLst xmlns:a="http://schemas.openxmlformats.org/drawingml/2006/main">
              <a:ext uri="{FF2B5EF4-FFF2-40B4-BE49-F238E27FC236}">
                <a16:creationId xmlns:a16="http://schemas.microsoft.com/office/drawing/2014/main" id="{C071B689-1547-4D39-B7AD-4690890F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10287000"/>
            <a:ext cx="138112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9050">
            <a:solidFill>
              <a:srgbClr val="408FD2"/>
            </a:solidFill>
            <a:prstDash val="solid"/>
          </a:ln>
        </p:spPr>
      </p:sp>
      <p:sp>
        <p:nvSpPr>
          <p:cNvPr id="284" name="svg_text_284">
            <a:extLst xmlns:a="http://schemas.openxmlformats.org/drawingml/2006/main">
              <a:ext uri="{FF2B5EF4-FFF2-40B4-BE49-F238E27FC236}">
                <a16:creationId xmlns:a16="http://schemas.microsoft.com/office/drawing/2014/main" id="{F07E8672-A64D-49D7-90DE-F27D8EDF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344" y="10445496"/>
            <a:ext cx="2153412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Index Perturbation</a:t>
            </a:r>
          </a:p>
        </p:txBody>
      </p:sp>
      <p:sp>
        <p:nvSpPr>
          <p:cNvPr id="285" name="svg_path_285">
            <a:extLst xmlns:a="http://schemas.openxmlformats.org/drawingml/2006/main">
              <a:ext uri="{FF2B5EF4-FFF2-40B4-BE49-F238E27FC236}">
                <a16:creationId xmlns:a16="http://schemas.microsoft.com/office/drawing/2014/main" id="{72C8982C-D821-424C-A3E6-98EFD52F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10572750"/>
            <a:ext cx="238125" cy="9525"/>
          </a:xfrm>
          <a:custGeom xmlns:a="http://schemas.openxmlformats.org/drawingml/2006/main"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386D8"/>
            </a:solidFill>
            <a:prstDash val="solid"/>
          </a:ln>
        </p:spPr>
      </p:sp>
      <p:sp>
        <p:nvSpPr>
          <p:cNvPr id="286" name="svg_arrowhead_286">
            <a:extLst xmlns:a="http://schemas.openxmlformats.org/drawingml/2006/main">
              <a:ext uri="{FF2B5EF4-FFF2-40B4-BE49-F238E27FC236}">
                <a16:creationId xmlns:a16="http://schemas.microsoft.com/office/drawing/2014/main" id="{596BC337-3F07-4251-8EC1-F329FF09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725" y="10520363"/>
            <a:ext cx="104775" cy="104775"/>
          </a:xfrm>
          <a:custGeom xmlns:a="http://schemas.openxmlformats.org/drawingml/2006/main"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386D8"/>
          </a:solidFill>
          <a:ln xmlns:a="http://schemas.openxmlformats.org/drawingml/2006/main" w="4763">
            <a:solidFill>
              <a:srgbClr val="2386D8"/>
            </a:solidFill>
            <a:prstDash val="solid"/>
          </a:ln>
        </p:spPr>
      </p:sp>
      <p:sp>
        <p:nvSpPr>
          <p:cNvPr id="287" name="svg_rect_287">
            <a:extLst xmlns:a="http://schemas.openxmlformats.org/drawingml/2006/main">
              <a:ext uri="{FF2B5EF4-FFF2-40B4-BE49-F238E27FC236}">
                <a16:creationId xmlns:a16="http://schemas.microsoft.com/office/drawing/2014/main" id="{5D1DD8CF-C544-49DA-A587-5F757191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10287000"/>
            <a:ext cx="1238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9050">
            <a:solidFill>
              <a:srgbClr val="408FD2"/>
            </a:solidFill>
            <a:prstDash val="solid"/>
          </a:ln>
        </p:spPr>
      </p:sp>
      <p:sp>
        <p:nvSpPr>
          <p:cNvPr id="288" name="svg_text_288">
            <a:extLst xmlns:a="http://schemas.openxmlformats.org/drawingml/2006/main">
              <a:ext uri="{FF2B5EF4-FFF2-40B4-BE49-F238E27FC236}">
                <a16:creationId xmlns:a16="http://schemas.microsoft.com/office/drawing/2014/main" id="{DB247C87-C0A7-407A-81F7-FEEEAAA2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410" y="10350246"/>
            <a:ext cx="1162431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Perturbed</a:t>
            </a:r>
          </a:p>
        </p:txBody>
      </p:sp>
      <p:sp>
        <p:nvSpPr>
          <p:cNvPr id="289" name="svg_text_289">
            <a:extLst xmlns:a="http://schemas.openxmlformats.org/drawingml/2006/main">
              <a:ext uri="{FF2B5EF4-FFF2-40B4-BE49-F238E27FC236}">
                <a16:creationId xmlns:a16="http://schemas.microsoft.com/office/drawing/2014/main" id="{3F2B22C1-E846-4A78-A54B-B49E024E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7464" y="10569321"/>
            <a:ext cx="1052322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275" b="0" i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ĩ₁,ĩ₂,ĩ₃</a:t>
            </a:r>
          </a:p>
        </p:txBody>
      </p:sp>
      <p:sp>
        <p:nvSpPr>
          <p:cNvPr id="290" name="svg_path_290">
            <a:extLst xmlns:a="http://schemas.openxmlformats.org/drawingml/2006/main">
              <a:ext uri="{FF2B5EF4-FFF2-40B4-BE49-F238E27FC236}">
                <a16:creationId xmlns:a16="http://schemas.microsoft.com/office/drawing/2014/main" id="{3AD6272F-F27B-47EB-8C88-4612F8D9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10858500"/>
            <a:ext cx="9525" cy="285750"/>
          </a:xfrm>
          <a:custGeom xmlns:a="http://schemas.openxmlformats.org/drawingml/2006/main"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386D8"/>
            </a:solidFill>
            <a:prstDash val="solid"/>
          </a:ln>
        </p:spPr>
      </p:sp>
      <p:sp>
        <p:nvSpPr>
          <p:cNvPr id="291" name="svg_arrowhead_291">
            <a:extLst xmlns:a="http://schemas.openxmlformats.org/drawingml/2006/main">
              <a:ext uri="{FF2B5EF4-FFF2-40B4-BE49-F238E27FC236}">
                <a16:creationId xmlns:a16="http://schemas.microsoft.com/office/drawing/2014/main" id="{EA91E961-9ED0-49BA-9341-4794C7F9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1238" y="11039475"/>
            <a:ext cx="104775" cy="104775"/>
          </a:xfrm>
          <a:custGeom xmlns:a="http://schemas.openxmlformats.org/drawingml/2006/main">
            <a:pathLst>
              <a:path w="104775" h="104775">
                <a:moveTo>
                  <a:pt x="52388" y="104775"/>
                </a:moveTo>
                <a:lnTo>
                  <a:pt x="0" y="0"/>
                </a:lnTo>
                <a:lnTo>
                  <a:pt x="104775" y="0"/>
                </a:lnTo>
                <a:close/>
              </a:path>
            </a:pathLst>
          </a:custGeom>
          <a:solidFill xmlns:a="http://schemas.openxmlformats.org/drawingml/2006/main">
            <a:srgbClr val="2386D8"/>
          </a:solidFill>
          <a:ln xmlns:a="http://schemas.openxmlformats.org/drawingml/2006/main" w="4763">
            <a:solidFill>
              <a:srgbClr val="2386D8"/>
            </a:solidFill>
            <a:prstDash val="solid"/>
          </a:ln>
        </p:spPr>
      </p:sp>
      <p:sp>
        <p:nvSpPr>
          <p:cNvPr id="292" name="svg_rect_292">
            <a:extLst xmlns:a="http://schemas.openxmlformats.org/drawingml/2006/main">
              <a:ext uri="{FF2B5EF4-FFF2-40B4-BE49-F238E27FC236}">
                <a16:creationId xmlns:a16="http://schemas.microsoft.com/office/drawing/2014/main" id="{D2773A9F-282E-470E-B0C4-AD2453C9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11144250"/>
            <a:ext cx="119062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9050">
            <a:solidFill>
              <a:srgbClr val="408FD2"/>
            </a:solidFill>
            <a:prstDash val="solid"/>
          </a:ln>
        </p:spPr>
      </p:sp>
      <p:sp>
        <p:nvSpPr>
          <p:cNvPr id="293" name="svg_text_293">
            <a:extLst xmlns:a="http://schemas.openxmlformats.org/drawingml/2006/main">
              <a:ext uri="{FF2B5EF4-FFF2-40B4-BE49-F238E27FC236}">
                <a16:creationId xmlns:a16="http://schemas.microsoft.com/office/drawing/2014/main" id="{D7A25EE4-C0C7-43C4-8B9B-7CDFCEC0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8780" y="11217021"/>
            <a:ext cx="127254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Decoder Dθ</a:t>
            </a:r>
          </a:p>
        </p:txBody>
      </p:sp>
      <p:sp>
        <p:nvSpPr>
          <p:cNvPr id="294" name="svg_text_294">
            <a:extLst xmlns:a="http://schemas.openxmlformats.org/drawingml/2006/main">
              <a:ext uri="{FF2B5EF4-FFF2-40B4-BE49-F238E27FC236}">
                <a16:creationId xmlns:a16="http://schemas.microsoft.com/office/drawing/2014/main" id="{4765B828-A343-48EB-BD8E-13D964B5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981" y="11478006"/>
            <a:ext cx="110413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1546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15466"/>
                </a:solidFill>
                <a:latin typeface="Arial"/>
                <a:ea typeface="Arial"/>
                <a:cs typeface="Arial"/>
              </a:rPr>
              <a:t>same weights</a:t>
            </a:r>
          </a:p>
        </p:txBody>
      </p:sp>
      <p:sp>
        <p:nvSpPr>
          <p:cNvPr id="295" name="svg_path_295">
            <a:extLst xmlns:a="http://schemas.openxmlformats.org/drawingml/2006/main">
              <a:ext uri="{FF2B5EF4-FFF2-40B4-BE49-F238E27FC236}">
                <a16:creationId xmlns:a16="http://schemas.microsoft.com/office/drawing/2014/main" id="{A9B92EAA-CCBC-4D9E-9176-5DD69F42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5125" y="11430000"/>
            <a:ext cx="95250" cy="9525"/>
          </a:xfrm>
          <a:custGeom xmlns:a="http://schemas.openxmlformats.org/drawingml/2006/main">
            <a:pathLst>
              <a:path w="95250" h="9525">
                <a:moveTo>
                  <a:pt x="0" y="0"/>
                </a:moveTo>
                <a:lnTo>
                  <a:pt x="9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386D8"/>
            </a:solidFill>
            <a:prstDash val="solid"/>
          </a:ln>
        </p:spPr>
      </p:sp>
      <p:sp>
        <p:nvSpPr>
          <p:cNvPr id="296" name="svg_arrowhead_296">
            <a:extLst xmlns:a="http://schemas.openxmlformats.org/drawingml/2006/main">
              <a:ext uri="{FF2B5EF4-FFF2-40B4-BE49-F238E27FC236}">
                <a16:creationId xmlns:a16="http://schemas.microsoft.com/office/drawing/2014/main" id="{298C6389-86B2-47BB-9811-C246FCA6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11377613"/>
            <a:ext cx="104775" cy="104775"/>
          </a:xfrm>
          <a:custGeom xmlns:a="http://schemas.openxmlformats.org/drawingml/2006/main"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386D8"/>
          </a:solidFill>
          <a:ln xmlns:a="http://schemas.openxmlformats.org/drawingml/2006/main" w="4763">
            <a:solidFill>
              <a:srgbClr val="2386D8"/>
            </a:solidFill>
            <a:prstDash val="solid"/>
          </a:ln>
        </p:spPr>
      </p:sp>
      <p:sp>
        <p:nvSpPr>
          <p:cNvPr id="297" name="svg_rect_297">
            <a:extLst xmlns:a="http://schemas.openxmlformats.org/drawingml/2006/main">
              <a:ext uri="{FF2B5EF4-FFF2-40B4-BE49-F238E27FC236}">
                <a16:creationId xmlns:a16="http://schemas.microsoft.com/office/drawing/2014/main" id="{CB0D9AAC-213B-4EA1-9A1D-67930C0F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0375" y="11144250"/>
            <a:ext cx="381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9050">
            <a:solidFill>
              <a:srgbClr val="408FD2"/>
            </a:solidFill>
            <a:prstDash val="solid"/>
          </a:ln>
        </p:spPr>
      </p:sp>
      <p:sp>
        <p:nvSpPr>
          <p:cNvPr id="298" name="svg_text_298">
            <a:extLst xmlns:a="http://schemas.openxmlformats.org/drawingml/2006/main">
              <a:ext uri="{FF2B5EF4-FFF2-40B4-BE49-F238E27FC236}">
                <a16:creationId xmlns:a16="http://schemas.microsoft.com/office/drawing/2014/main" id="{EB401FBC-3086-4CF8-AD6D-9E1CE82C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0840" y="11268456"/>
            <a:ext cx="56007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1546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15466"/>
                </a:solidFill>
                <a:latin typeface="Arial"/>
                <a:ea typeface="Arial"/>
                <a:cs typeface="Arial"/>
              </a:rPr>
              <a:t>Pert.</a:t>
            </a:r>
          </a:p>
        </p:txBody>
      </p:sp>
      <p:sp>
        <p:nvSpPr>
          <p:cNvPr id="299" name="svg_text_299">
            <a:extLst xmlns:a="http://schemas.openxmlformats.org/drawingml/2006/main">
              <a:ext uri="{FF2B5EF4-FFF2-40B4-BE49-F238E27FC236}">
                <a16:creationId xmlns:a16="http://schemas.microsoft.com/office/drawing/2014/main" id="{85B61AD1-C5FB-46BD-A595-3A628D30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8564" y="11439906"/>
            <a:ext cx="404622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1546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15466"/>
                </a:solidFill>
                <a:latin typeface="Arial"/>
                <a:ea typeface="Arial"/>
                <a:cs typeface="Arial"/>
              </a:rPr>
              <a:t>Mel</a:t>
            </a:r>
          </a:p>
        </p:txBody>
      </p:sp>
      <p:sp>
        <p:nvSpPr>
          <p:cNvPr id="300" name="svg_rect_300">
            <a:extLst xmlns:a="http://schemas.openxmlformats.org/drawingml/2006/main">
              <a:ext uri="{FF2B5EF4-FFF2-40B4-BE49-F238E27FC236}">
                <a16:creationId xmlns:a16="http://schemas.microsoft.com/office/drawing/2014/main" id="{709A8F88-76BA-4748-9CE2-B31B770E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11906250"/>
            <a:ext cx="242887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8EA"/>
          </a:solidFill>
          <a:ln xmlns:a="http://schemas.openxmlformats.org/drawingml/2006/main" w="17145">
            <a:solidFill>
              <a:srgbClr val="D89A33"/>
            </a:solidFill>
            <a:prstDash val="solid"/>
          </a:ln>
        </p:spPr>
      </p:sp>
      <p:sp>
        <p:nvSpPr>
          <p:cNvPr id="301" name="svg_text_301">
            <a:extLst xmlns:a="http://schemas.openxmlformats.org/drawingml/2006/main">
              <a:ext uri="{FF2B5EF4-FFF2-40B4-BE49-F238E27FC236}">
                <a16:creationId xmlns:a16="http://schemas.microsoft.com/office/drawing/2014/main" id="{BDA03C2C-5FAA-4B07-8D09-9451DA01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6540" y="11988546"/>
            <a:ext cx="2263521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Clean–Perturbed Mel</a:t>
            </a:r>
          </a:p>
        </p:txBody>
      </p:sp>
      <p:sp>
        <p:nvSpPr>
          <p:cNvPr id="302" name="svg_text_302">
            <a:extLst xmlns:a="http://schemas.openxmlformats.org/drawingml/2006/main">
              <a:ext uri="{FF2B5EF4-FFF2-40B4-BE49-F238E27FC236}">
                <a16:creationId xmlns:a16="http://schemas.microsoft.com/office/drawing/2014/main" id="{52DC6A5A-80EA-4B3A-8430-340BB32C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1703" y="12207621"/>
            <a:ext cx="1933194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Consistency Loss</a:t>
            </a:r>
          </a:p>
        </p:txBody>
      </p:sp>
      <p:sp>
        <p:nvSpPr>
          <p:cNvPr id="303" name="svg_path_303">
            <a:extLst xmlns:a="http://schemas.openxmlformats.org/drawingml/2006/main">
              <a:ext uri="{FF2B5EF4-FFF2-40B4-BE49-F238E27FC236}">
                <a16:creationId xmlns:a16="http://schemas.microsoft.com/office/drawing/2014/main" id="{A8F33EDF-6873-4B82-9A5E-7542D1CD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9810750"/>
            <a:ext cx="209550" cy="2381250"/>
          </a:xfrm>
          <a:custGeom xmlns:a="http://schemas.openxmlformats.org/drawingml/2006/main">
            <a:pathLst>
              <a:path w="209550" h="2381250">
                <a:moveTo>
                  <a:pt x="209550" y="0"/>
                </a:moveTo>
                <a:lnTo>
                  <a:pt x="209550" y="2381250"/>
                </a:lnTo>
                <a:lnTo>
                  <a:pt x="0" y="2381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D6285"/>
            </a:solidFill>
            <a:prstDash val="dash"/>
          </a:ln>
        </p:spPr>
      </p:sp>
      <p:sp>
        <p:nvSpPr>
          <p:cNvPr id="304" name="svg_arrowhead_304">
            <a:extLst xmlns:a="http://schemas.openxmlformats.org/drawingml/2006/main">
              <a:ext uri="{FF2B5EF4-FFF2-40B4-BE49-F238E27FC236}">
                <a16:creationId xmlns:a16="http://schemas.microsoft.com/office/drawing/2014/main" id="{8F10AE60-E59F-4BAB-B3DC-539AC55B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12139613"/>
            <a:ext cx="104775" cy="104775"/>
          </a:xfrm>
          <a:custGeom xmlns:a="http://schemas.openxmlformats.org/drawingml/2006/main">
            <a:pathLst>
              <a:path w="104775" h="104775">
                <a:moveTo>
                  <a:pt x="0" y="52388"/>
                </a:moveTo>
                <a:lnTo>
                  <a:pt x="104775" y="0"/>
                </a:lnTo>
                <a:lnTo>
                  <a:pt x="104775" y="104775"/>
                </a:lnTo>
                <a:close/>
              </a:path>
            </a:pathLst>
          </a:custGeom>
          <a:solidFill xmlns:a="http://schemas.openxmlformats.org/drawingml/2006/main">
            <a:srgbClr val="3D6285"/>
          </a:solidFill>
          <a:ln xmlns:a="http://schemas.openxmlformats.org/drawingml/2006/main" w="4763">
            <a:solidFill>
              <a:srgbClr val="3D6285"/>
            </a:solidFill>
            <a:prstDash val="solid"/>
          </a:ln>
        </p:spPr>
      </p:sp>
      <p:sp>
        <p:nvSpPr>
          <p:cNvPr id="305" name="svg_path_305">
            <a:extLst xmlns:a="http://schemas.openxmlformats.org/drawingml/2006/main">
              <a:ext uri="{FF2B5EF4-FFF2-40B4-BE49-F238E27FC236}">
                <a16:creationId xmlns:a16="http://schemas.microsoft.com/office/drawing/2014/main" id="{89923FE9-DBAA-4466-8794-682704B6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11715750"/>
            <a:ext cx="333375" cy="476250"/>
          </a:xfrm>
          <a:custGeom xmlns:a="http://schemas.openxmlformats.org/drawingml/2006/main">
            <a:pathLst>
              <a:path w="333375" h="476250">
                <a:moveTo>
                  <a:pt x="333375" y="0"/>
                </a:moveTo>
                <a:lnTo>
                  <a:pt x="333375" y="476250"/>
                </a:lnTo>
                <a:lnTo>
                  <a:pt x="0" y="476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D6285"/>
            </a:solidFill>
            <a:prstDash val="dash"/>
          </a:ln>
        </p:spPr>
      </p:sp>
      <p:sp>
        <p:nvSpPr>
          <p:cNvPr id="306" name="svg_arrowhead_306">
            <a:extLst xmlns:a="http://schemas.openxmlformats.org/drawingml/2006/main">
              <a:ext uri="{FF2B5EF4-FFF2-40B4-BE49-F238E27FC236}">
                <a16:creationId xmlns:a16="http://schemas.microsoft.com/office/drawing/2014/main" id="{99EE0654-BBB8-4C15-9ED3-4C90B43E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12139613"/>
            <a:ext cx="104775" cy="104775"/>
          </a:xfrm>
          <a:custGeom xmlns:a="http://schemas.openxmlformats.org/drawingml/2006/main">
            <a:pathLst>
              <a:path w="104775" h="104775">
                <a:moveTo>
                  <a:pt x="0" y="52388"/>
                </a:moveTo>
                <a:lnTo>
                  <a:pt x="104775" y="0"/>
                </a:lnTo>
                <a:lnTo>
                  <a:pt x="104775" y="104775"/>
                </a:lnTo>
                <a:close/>
              </a:path>
            </a:pathLst>
          </a:custGeom>
          <a:solidFill xmlns:a="http://schemas.openxmlformats.org/drawingml/2006/main">
            <a:srgbClr val="3D6285"/>
          </a:solidFill>
          <a:ln xmlns:a="http://schemas.openxmlformats.org/drawingml/2006/main" w="4763">
            <a:solidFill>
              <a:srgbClr val="3D6285"/>
            </a:solidFill>
            <a:prstDash val="solid"/>
          </a:ln>
        </p:spPr>
      </p:sp>
      <p:sp>
        <p:nvSpPr>
          <p:cNvPr id="307" name="svg_path_307">
            <a:extLst xmlns:a="http://schemas.openxmlformats.org/drawingml/2006/main">
              <a:ext uri="{FF2B5EF4-FFF2-40B4-BE49-F238E27FC236}">
                <a16:creationId xmlns:a16="http://schemas.microsoft.com/office/drawing/2014/main" id="{303FFEC3-025C-44C5-AEC7-723FE319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1375" y="8572500"/>
            <a:ext cx="781050" cy="762000"/>
          </a:xfrm>
          <a:custGeom xmlns:a="http://schemas.openxmlformats.org/drawingml/2006/main">
            <a:pathLst>
              <a:path w="781050" h="762000">
                <a:moveTo>
                  <a:pt x="0" y="0"/>
                </a:moveTo>
                <a:lnTo>
                  <a:pt x="781050" y="0"/>
                </a:lnTo>
                <a:lnTo>
                  <a:pt x="781050" y="7620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86D8"/>
            </a:solidFill>
            <a:prstDash val="solid"/>
          </a:ln>
        </p:spPr>
      </p:sp>
      <p:sp>
        <p:nvSpPr>
          <p:cNvPr id="308" name="svg_arrowhead_308">
            <a:extLst xmlns:a="http://schemas.openxmlformats.org/drawingml/2006/main">
              <a:ext uri="{FF2B5EF4-FFF2-40B4-BE49-F238E27FC236}">
                <a16:creationId xmlns:a16="http://schemas.microsoft.com/office/drawing/2014/main" id="{1F9FF703-4DA5-4885-BE6F-FAE72821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0038" y="9229725"/>
            <a:ext cx="104775" cy="104775"/>
          </a:xfrm>
          <a:custGeom xmlns:a="http://schemas.openxmlformats.org/drawingml/2006/main">
            <a:pathLst>
              <a:path w="104775" h="104775">
                <a:moveTo>
                  <a:pt x="52388" y="104775"/>
                </a:moveTo>
                <a:lnTo>
                  <a:pt x="0" y="0"/>
                </a:lnTo>
                <a:lnTo>
                  <a:pt x="104775" y="0"/>
                </a:lnTo>
                <a:close/>
              </a:path>
            </a:pathLst>
          </a:custGeom>
          <a:solidFill xmlns:a="http://schemas.openxmlformats.org/drawingml/2006/main">
            <a:srgbClr val="2386D8"/>
          </a:solidFill>
          <a:ln xmlns:a="http://schemas.openxmlformats.org/drawingml/2006/main" w="4763">
            <a:solidFill>
              <a:srgbClr val="2386D8"/>
            </a:solidFill>
            <a:prstDash val="solid"/>
          </a:ln>
        </p:spPr>
      </p:sp>
      <p:sp>
        <p:nvSpPr>
          <p:cNvPr id="309" name="svg_text_309">
            <a:extLst xmlns:a="http://schemas.openxmlformats.org/drawingml/2006/main">
              <a:ext uri="{FF2B5EF4-FFF2-40B4-BE49-F238E27FC236}">
                <a16:creationId xmlns:a16="http://schemas.microsoft.com/office/drawing/2014/main" id="{C5FB50F6-C5D3-4286-A135-CF8A940A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3621" y="8353806"/>
            <a:ext cx="149275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1546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15466"/>
                </a:solidFill>
                <a:latin typeface="Arial"/>
                <a:ea typeface="Arial"/>
                <a:cs typeface="Arial"/>
              </a:rPr>
              <a:t>optimized weights</a:t>
            </a:r>
          </a:p>
        </p:txBody>
      </p:sp>
      <p:sp>
        <p:nvSpPr>
          <p:cNvPr id="310" name="svg_rect_310">
            <a:extLst xmlns:a="http://schemas.openxmlformats.org/drawingml/2006/main">
              <a:ext uri="{FF2B5EF4-FFF2-40B4-BE49-F238E27FC236}">
                <a16:creationId xmlns:a16="http://schemas.microsoft.com/office/drawing/2014/main" id="{62419003-A1F5-415D-A658-21E6A31B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7125" y="9334500"/>
            <a:ext cx="1000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9050">
            <a:solidFill>
              <a:srgbClr val="408FD2"/>
            </a:solidFill>
            <a:prstDash val="solid"/>
          </a:ln>
        </p:spPr>
      </p:sp>
      <p:sp>
        <p:nvSpPr>
          <p:cNvPr id="311" name="svg_text_311">
            <a:extLst xmlns:a="http://schemas.openxmlformats.org/drawingml/2006/main">
              <a:ext uri="{FF2B5EF4-FFF2-40B4-BE49-F238E27FC236}">
                <a16:creationId xmlns:a16="http://schemas.microsoft.com/office/drawing/2014/main" id="{719A6EF2-59FF-4563-A482-207456F4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1101" y="9492996"/>
            <a:ext cx="1382649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SCIT-Speech</a:t>
            </a:r>
          </a:p>
        </p:txBody>
      </p:sp>
      <p:sp>
        <p:nvSpPr>
          <p:cNvPr id="312" name="svg_text_312">
            <a:extLst xmlns:a="http://schemas.openxmlformats.org/drawingml/2006/main">
              <a:ext uri="{FF2B5EF4-FFF2-40B4-BE49-F238E27FC236}">
                <a16:creationId xmlns:a16="http://schemas.microsoft.com/office/drawing/2014/main" id="{B665ECE5-6CF1-4CB2-B523-C37BA133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1537" y="9731121"/>
            <a:ext cx="501777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LCA</a:t>
            </a:r>
          </a:p>
        </p:txBody>
      </p:sp>
      <p:sp>
        <p:nvSpPr>
          <p:cNvPr id="313" name="svg_text_313">
            <a:extLst xmlns:a="http://schemas.openxmlformats.org/drawingml/2006/main">
              <a:ext uri="{FF2B5EF4-FFF2-40B4-BE49-F238E27FC236}">
                <a16:creationId xmlns:a16="http://schemas.microsoft.com/office/drawing/2014/main" id="{BD035F99-9D34-4F41-9AF7-44CB8E6D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84908" y="10001631"/>
            <a:ext cx="1415034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1546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15466"/>
                </a:solidFill>
                <a:latin typeface="Arial"/>
                <a:ea typeface="Arial"/>
                <a:cs typeface="Arial"/>
              </a:rPr>
              <a:t>final checkpoint</a:t>
            </a:r>
          </a:p>
        </p:txBody>
      </p:sp>
      <p:sp>
        <p:nvSpPr>
          <p:cNvPr id="314" name="svg_rect_314">
            <a:extLst xmlns:a="http://schemas.openxmlformats.org/drawingml/2006/main">
              <a:ext uri="{FF2B5EF4-FFF2-40B4-BE49-F238E27FC236}">
                <a16:creationId xmlns:a16="http://schemas.microsoft.com/office/drawing/2014/main" id="{02E4F10D-7598-4C94-BE83-7BDB97B7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0" y="6477000"/>
            <a:ext cx="6000750" cy="6667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DB5E8"/>
            </a:solidFill>
            <a:prstDash val="dash"/>
          </a:ln>
        </p:spPr>
      </p:sp>
      <p:sp>
        <p:nvSpPr>
          <p:cNvPr id="315" name="svg_circle_315">
            <a:extLst xmlns:a="http://schemas.openxmlformats.org/drawingml/2006/main">
              <a:ext uri="{FF2B5EF4-FFF2-40B4-BE49-F238E27FC236}">
                <a16:creationId xmlns:a16="http://schemas.microsoft.com/office/drawing/2014/main" id="{F5DC3E5F-DD5C-4F6D-BD66-F0A3AE0D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5425" y="65436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0B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" name="svg_text_316">
            <a:extLst xmlns:a="http://schemas.openxmlformats.org/drawingml/2006/main">
              <a:ext uri="{FF2B5EF4-FFF2-40B4-BE49-F238E27FC236}">
                <a16:creationId xmlns:a16="http://schemas.microsoft.com/office/drawing/2014/main" id="{AAAB7EF5-0001-46C9-BC01-20E84C95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9233" y="6611064"/>
            <a:ext cx="565785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17" name="svg_text_317">
            <a:extLst xmlns:a="http://schemas.openxmlformats.org/drawingml/2006/main">
              <a:ext uri="{FF2B5EF4-FFF2-40B4-BE49-F238E27FC236}">
                <a16:creationId xmlns:a16="http://schemas.microsoft.com/office/drawing/2014/main" id="{3BE99F27-219A-4C66-9929-1843B855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3125" y="6536436"/>
            <a:ext cx="3021330" cy="324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OPTIONAL TOKEN–AUDIO</a:t>
            </a:r>
          </a:p>
        </p:txBody>
      </p:sp>
      <p:sp>
        <p:nvSpPr>
          <p:cNvPr id="318" name="svg_text_318">
            <a:extLst xmlns:a="http://schemas.openxmlformats.org/drawingml/2006/main">
              <a:ext uri="{FF2B5EF4-FFF2-40B4-BE49-F238E27FC236}">
                <a16:creationId xmlns:a16="http://schemas.microsoft.com/office/drawing/2014/main" id="{C00F422F-8D57-4E7B-B325-7D6AC31F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3125" y="6784086"/>
            <a:ext cx="3306318" cy="324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SPEAKER CLASSIFICATION</a:t>
            </a:r>
          </a:p>
        </p:txBody>
      </p:sp>
      <p:sp>
        <p:nvSpPr>
          <p:cNvPr id="319" name="svg_text_319">
            <a:extLst xmlns:a="http://schemas.openxmlformats.org/drawingml/2006/main">
              <a:ext uri="{FF2B5EF4-FFF2-40B4-BE49-F238E27FC236}">
                <a16:creationId xmlns:a16="http://schemas.microsoft.com/office/drawing/2014/main" id="{FF22C1BB-EB31-425D-AAEC-CE5D3DC7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3935" y="7492746"/>
            <a:ext cx="237363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Received RVQ Indices</a:t>
            </a:r>
          </a:p>
        </p:txBody>
      </p:sp>
      <p:sp>
        <p:nvSpPr>
          <p:cNvPr id="320" name="svg_text_320">
            <a:extLst xmlns:a="http://schemas.openxmlformats.org/drawingml/2006/main">
              <a:ext uri="{FF2B5EF4-FFF2-40B4-BE49-F238E27FC236}">
                <a16:creationId xmlns:a16="http://schemas.microsoft.com/office/drawing/2014/main" id="{CE6417C0-5E7D-4DEB-8C6C-10136CE2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480" y="7730871"/>
            <a:ext cx="127254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275" b="0" i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i₁, i₂, i₃</a:t>
            </a:r>
          </a:p>
        </p:txBody>
      </p:sp>
      <p:sp>
        <p:nvSpPr>
          <p:cNvPr id="321" name="svg_rect_321">
            <a:extLst xmlns:a="http://schemas.openxmlformats.org/drawingml/2006/main">
              <a:ext uri="{FF2B5EF4-FFF2-40B4-BE49-F238E27FC236}">
                <a16:creationId xmlns:a16="http://schemas.microsoft.com/office/drawing/2014/main" id="{D201795B-4684-46FA-8241-07DED505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80962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92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" name="svg_rect_322">
            <a:extLst xmlns:a="http://schemas.openxmlformats.org/drawingml/2006/main">
              <a:ext uri="{FF2B5EF4-FFF2-40B4-BE49-F238E27FC236}">
                <a16:creationId xmlns:a16="http://schemas.microsoft.com/office/drawing/2014/main" id="{1E585ED2-040E-47C8-BD04-8C92C952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84010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B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" name="svg_rect_323">
            <a:extLst xmlns:a="http://schemas.openxmlformats.org/drawingml/2006/main">
              <a:ext uri="{FF2B5EF4-FFF2-40B4-BE49-F238E27FC236}">
                <a16:creationId xmlns:a16="http://schemas.microsoft.com/office/drawing/2014/main" id="{4EE6D76E-7352-47CC-8113-5A450523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87058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" name="svg_path_324">
            <a:extLst xmlns:a="http://schemas.openxmlformats.org/drawingml/2006/main">
              <a:ext uri="{FF2B5EF4-FFF2-40B4-BE49-F238E27FC236}">
                <a16:creationId xmlns:a16="http://schemas.microsoft.com/office/drawing/2014/main" id="{F8ACDDC9-4877-4B34-82B5-E9992AA1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4625" y="8477250"/>
            <a:ext cx="238125" cy="9525"/>
          </a:xfrm>
          <a:custGeom xmlns:a="http://schemas.openxmlformats.org/drawingml/2006/main"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86D8"/>
            </a:solidFill>
            <a:prstDash val="solid"/>
          </a:ln>
        </p:spPr>
      </p:sp>
      <p:sp>
        <p:nvSpPr>
          <p:cNvPr id="325" name="svg_arrowhead_325">
            <a:extLst xmlns:a="http://schemas.openxmlformats.org/drawingml/2006/main">
              <a:ext uri="{FF2B5EF4-FFF2-40B4-BE49-F238E27FC236}">
                <a16:creationId xmlns:a16="http://schemas.microsoft.com/office/drawing/2014/main" id="{995B2E95-2F28-4E99-97D1-EDFCFBBF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87975" y="8424863"/>
            <a:ext cx="104775" cy="104775"/>
          </a:xfrm>
          <a:custGeom xmlns:a="http://schemas.openxmlformats.org/drawingml/2006/main"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386D8"/>
          </a:solidFill>
          <a:ln xmlns:a="http://schemas.openxmlformats.org/drawingml/2006/main" w="4763">
            <a:solidFill>
              <a:srgbClr val="2386D8"/>
            </a:solidFill>
            <a:prstDash val="solid"/>
          </a:ln>
        </p:spPr>
      </p:sp>
      <p:sp>
        <p:nvSpPr>
          <p:cNvPr id="326" name="svg_rect_326">
            <a:extLst xmlns:a="http://schemas.openxmlformats.org/drawingml/2006/main">
              <a:ext uri="{FF2B5EF4-FFF2-40B4-BE49-F238E27FC236}">
                <a16:creationId xmlns:a16="http://schemas.microsoft.com/office/drawing/2014/main" id="{E328018B-8CB5-4C42-9679-4FEA07E3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0" y="8048625"/>
            <a:ext cx="13811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9050">
            <a:solidFill>
              <a:srgbClr val="408FD2"/>
            </a:solidFill>
            <a:prstDash val="solid"/>
          </a:ln>
        </p:spPr>
      </p:sp>
      <p:sp>
        <p:nvSpPr>
          <p:cNvPr id="327" name="svg_text_327">
            <a:extLst xmlns:a="http://schemas.openxmlformats.org/drawingml/2006/main">
              <a:ext uri="{FF2B5EF4-FFF2-40B4-BE49-F238E27FC236}">
                <a16:creationId xmlns:a16="http://schemas.microsoft.com/office/drawing/2014/main" id="{5239074C-5D59-428A-8266-FA835866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7117" y="8188071"/>
            <a:ext cx="1602867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Trainable RVQ</a:t>
            </a:r>
          </a:p>
        </p:txBody>
      </p:sp>
      <p:sp>
        <p:nvSpPr>
          <p:cNvPr id="328" name="svg_text_328">
            <a:extLst xmlns:a="http://schemas.openxmlformats.org/drawingml/2006/main">
              <a:ext uri="{FF2B5EF4-FFF2-40B4-BE49-F238E27FC236}">
                <a16:creationId xmlns:a16="http://schemas.microsoft.com/office/drawing/2014/main" id="{D85F8FD8-D778-483B-98E7-B25D8840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7117" y="8426196"/>
            <a:ext cx="1602867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Token Encoder</a:t>
            </a:r>
          </a:p>
        </p:txBody>
      </p:sp>
      <p:sp>
        <p:nvSpPr>
          <p:cNvPr id="329" name="svg_text_329">
            <a:extLst xmlns:a="http://schemas.openxmlformats.org/drawingml/2006/main">
              <a:ext uri="{FF2B5EF4-FFF2-40B4-BE49-F238E27FC236}">
                <a16:creationId xmlns:a16="http://schemas.microsoft.com/office/drawing/2014/main" id="{0EE0593D-C698-436C-A9C2-55C0B6F4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4774" y="8666607"/>
            <a:ext cx="987552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→ e_token</a:t>
            </a:r>
          </a:p>
        </p:txBody>
      </p:sp>
      <p:sp>
        <p:nvSpPr>
          <p:cNvPr id="330" name="svg_text_330">
            <a:extLst xmlns:a="http://schemas.openxmlformats.org/drawingml/2006/main">
              <a:ext uri="{FF2B5EF4-FFF2-40B4-BE49-F238E27FC236}">
                <a16:creationId xmlns:a16="http://schemas.microsoft.com/office/drawing/2014/main" id="{5A46E8D3-1EF2-4DDF-B9F9-44BA1782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3935" y="9778746"/>
            <a:ext cx="237363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Reconstructed Speech</a:t>
            </a:r>
          </a:p>
        </p:txBody>
      </p:sp>
      <p:sp>
        <p:nvSpPr>
          <p:cNvPr id="331" name="svg_rect_331">
            <a:extLst xmlns:a="http://schemas.openxmlformats.org/drawingml/2006/main">
              <a:ext uri="{FF2B5EF4-FFF2-40B4-BE49-F238E27FC236}">
                <a16:creationId xmlns:a16="http://schemas.microsoft.com/office/drawing/2014/main" id="{AE1E9236-C7D6-403C-A2FB-1FB7AF1F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10191750"/>
            <a:ext cx="1047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9050">
            <a:solidFill>
              <a:srgbClr val="408FD2"/>
            </a:solidFill>
            <a:prstDash val="solid"/>
          </a:ln>
        </p:spPr>
      </p:sp>
      <p:sp>
        <p:nvSpPr>
          <p:cNvPr id="332" name="svg_text_332">
            <a:extLst xmlns:a="http://schemas.openxmlformats.org/drawingml/2006/main">
              <a:ext uri="{FF2B5EF4-FFF2-40B4-BE49-F238E27FC236}">
                <a16:creationId xmlns:a16="http://schemas.microsoft.com/office/drawing/2014/main" id="{2A9D649C-A482-4D5A-904A-C944B172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9535" y="10283571"/>
            <a:ext cx="1162431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Speech x̂</a:t>
            </a:r>
          </a:p>
        </p:txBody>
      </p:sp>
      <p:sp>
        <p:nvSpPr>
          <p:cNvPr id="333" name="svg_text_333">
            <a:extLst xmlns:a="http://schemas.openxmlformats.org/drawingml/2006/main">
              <a:ext uri="{FF2B5EF4-FFF2-40B4-BE49-F238E27FC236}">
                <a16:creationId xmlns:a16="http://schemas.microsoft.com/office/drawing/2014/main" id="{AB44B3CF-081E-4A07-9C23-879549C7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0957" y="10543032"/>
            <a:ext cx="125958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from Panel 4</a:t>
            </a:r>
          </a:p>
        </p:txBody>
      </p:sp>
      <p:sp>
        <p:nvSpPr>
          <p:cNvPr id="334" name="svg_path_334">
            <a:extLst xmlns:a="http://schemas.openxmlformats.org/drawingml/2006/main">
              <a:ext uri="{FF2B5EF4-FFF2-40B4-BE49-F238E27FC236}">
                <a16:creationId xmlns:a16="http://schemas.microsoft.com/office/drawing/2014/main" id="{E46A0E02-4D9F-494E-B569-5349F63C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4625" y="10525125"/>
            <a:ext cx="238125" cy="9525"/>
          </a:xfrm>
          <a:custGeom xmlns:a="http://schemas.openxmlformats.org/drawingml/2006/main"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86D8"/>
            </a:solidFill>
            <a:prstDash val="solid"/>
          </a:ln>
        </p:spPr>
      </p:sp>
      <p:sp>
        <p:nvSpPr>
          <p:cNvPr id="335" name="svg_arrowhead_335">
            <a:extLst xmlns:a="http://schemas.openxmlformats.org/drawingml/2006/main">
              <a:ext uri="{FF2B5EF4-FFF2-40B4-BE49-F238E27FC236}">
                <a16:creationId xmlns:a16="http://schemas.microsoft.com/office/drawing/2014/main" id="{40A33426-51BA-4410-90A1-C72D9FF3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87975" y="10472738"/>
            <a:ext cx="104775" cy="104775"/>
          </a:xfrm>
          <a:custGeom xmlns:a="http://schemas.openxmlformats.org/drawingml/2006/main"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386D8"/>
          </a:solidFill>
          <a:ln xmlns:a="http://schemas.openxmlformats.org/drawingml/2006/main" w="4763">
            <a:solidFill>
              <a:srgbClr val="2386D8"/>
            </a:solidFill>
            <a:prstDash val="solid"/>
          </a:ln>
        </p:spPr>
      </p:sp>
      <p:sp>
        <p:nvSpPr>
          <p:cNvPr id="336" name="svg_rect_336">
            <a:extLst xmlns:a="http://schemas.openxmlformats.org/drawingml/2006/main">
              <a:ext uri="{FF2B5EF4-FFF2-40B4-BE49-F238E27FC236}">
                <a16:creationId xmlns:a16="http://schemas.microsoft.com/office/drawing/2014/main" id="{21EFA7E1-FADA-44B5-8B49-2615792A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0" y="10191750"/>
            <a:ext cx="11906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9050">
            <a:solidFill>
              <a:srgbClr val="408FD2"/>
            </a:solidFill>
            <a:prstDash val="solid"/>
          </a:ln>
        </p:spPr>
      </p:sp>
      <p:sp>
        <p:nvSpPr>
          <p:cNvPr id="337" name="svg_text_337">
            <a:extLst xmlns:a="http://schemas.openxmlformats.org/drawingml/2006/main">
              <a:ext uri="{FF2B5EF4-FFF2-40B4-BE49-F238E27FC236}">
                <a16:creationId xmlns:a16="http://schemas.microsoft.com/office/drawing/2014/main" id="{58B23422-F0F0-4802-8138-9F3409BC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67248" y="10283571"/>
            <a:ext cx="832104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Frozen</a:t>
            </a:r>
          </a:p>
        </p:txBody>
      </p:sp>
      <p:sp>
        <p:nvSpPr>
          <p:cNvPr id="338" name="svg_text_338">
            <a:extLst xmlns:a="http://schemas.openxmlformats.org/drawingml/2006/main">
              <a:ext uri="{FF2B5EF4-FFF2-40B4-BE49-F238E27FC236}">
                <a16:creationId xmlns:a16="http://schemas.microsoft.com/office/drawing/2014/main" id="{E13C0304-06DE-4AB1-ABEA-B759674F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47030" y="10512171"/>
            <a:ext cx="127254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ECAPA-TDNN</a:t>
            </a:r>
          </a:p>
        </p:txBody>
      </p:sp>
      <p:sp>
        <p:nvSpPr>
          <p:cNvPr id="339" name="svg_path_339">
            <a:extLst xmlns:a="http://schemas.openxmlformats.org/drawingml/2006/main">
              <a:ext uri="{FF2B5EF4-FFF2-40B4-BE49-F238E27FC236}">
                <a16:creationId xmlns:a16="http://schemas.microsoft.com/office/drawing/2014/main" id="{1BB25833-1995-4FC4-A2E9-C516F9AF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375" y="10525125"/>
            <a:ext cx="190500" cy="9525"/>
          </a:xfrm>
          <a:custGeom xmlns:a="http://schemas.openxmlformats.org/drawingml/2006/main"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86D8"/>
            </a:solidFill>
            <a:prstDash val="solid"/>
          </a:ln>
        </p:spPr>
      </p:sp>
      <p:sp>
        <p:nvSpPr>
          <p:cNvPr id="340" name="svg_arrowhead_340">
            <a:extLst xmlns:a="http://schemas.openxmlformats.org/drawingml/2006/main">
              <a:ext uri="{FF2B5EF4-FFF2-40B4-BE49-F238E27FC236}">
                <a16:creationId xmlns:a16="http://schemas.microsoft.com/office/drawing/2014/main" id="{B5A288BA-C06A-4E02-A11E-31EC2AB3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69100" y="10472738"/>
            <a:ext cx="104775" cy="104775"/>
          </a:xfrm>
          <a:custGeom xmlns:a="http://schemas.openxmlformats.org/drawingml/2006/main"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386D8"/>
          </a:solidFill>
          <a:ln xmlns:a="http://schemas.openxmlformats.org/drawingml/2006/main" w="4763">
            <a:solidFill>
              <a:srgbClr val="2386D8"/>
            </a:solidFill>
            <a:prstDash val="solid"/>
          </a:ln>
        </p:spPr>
      </p:sp>
      <p:sp>
        <p:nvSpPr>
          <p:cNvPr id="341" name="svg_rect_341">
            <a:extLst xmlns:a="http://schemas.openxmlformats.org/drawingml/2006/main">
              <a:ext uri="{FF2B5EF4-FFF2-40B4-BE49-F238E27FC236}">
                <a16:creationId xmlns:a16="http://schemas.microsoft.com/office/drawing/2014/main" id="{888D5B94-CCA7-4785-8116-C903AE81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3875" y="10191750"/>
            <a:ext cx="1143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9050">
            <a:solidFill>
              <a:srgbClr val="408FD2"/>
            </a:solidFill>
            <a:prstDash val="solid"/>
          </a:ln>
        </p:spPr>
      </p:sp>
      <p:sp>
        <p:nvSpPr>
          <p:cNvPr id="342" name="svg_text_342">
            <a:extLst xmlns:a="http://schemas.openxmlformats.org/drawingml/2006/main">
              <a:ext uri="{FF2B5EF4-FFF2-40B4-BE49-F238E27FC236}">
                <a16:creationId xmlns:a16="http://schemas.microsoft.com/office/drawing/2014/main" id="{CBF762A8-36DB-46B6-BA2E-FD88CD38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4160" y="10283571"/>
            <a:ext cx="1162431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Trainable</a:t>
            </a:r>
          </a:p>
        </p:txBody>
      </p:sp>
      <p:sp>
        <p:nvSpPr>
          <p:cNvPr id="343" name="svg_text_343">
            <a:extLst xmlns:a="http://schemas.openxmlformats.org/drawingml/2006/main">
              <a:ext uri="{FF2B5EF4-FFF2-40B4-BE49-F238E27FC236}">
                <a16:creationId xmlns:a16="http://schemas.microsoft.com/office/drawing/2014/main" id="{323E5F99-859C-4F28-8231-AE17BD76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09105" y="10512171"/>
            <a:ext cx="127254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Projection</a:t>
            </a:r>
          </a:p>
        </p:txBody>
      </p:sp>
      <p:sp>
        <p:nvSpPr>
          <p:cNvPr id="344" name="svg_text_344">
            <a:extLst xmlns:a="http://schemas.openxmlformats.org/drawingml/2006/main">
              <a:ext uri="{FF2B5EF4-FFF2-40B4-BE49-F238E27FC236}">
                <a16:creationId xmlns:a16="http://schemas.microsoft.com/office/drawing/2014/main" id="{FF9A7C0E-B2C3-4AD1-A73B-0F42076D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1599" y="10924032"/>
            <a:ext cx="987552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→ e_audio</a:t>
            </a:r>
          </a:p>
        </p:txBody>
      </p:sp>
      <p:sp>
        <p:nvSpPr>
          <p:cNvPr id="345" name="svg_rect_345">
            <a:extLst xmlns:a="http://schemas.openxmlformats.org/drawingml/2006/main">
              <a:ext uri="{FF2B5EF4-FFF2-40B4-BE49-F238E27FC236}">
                <a16:creationId xmlns:a16="http://schemas.microsoft.com/office/drawing/2014/main" id="{94CB5C3D-CDD4-4326-85CF-85398269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0" y="8191500"/>
            <a:ext cx="1571625" cy="190500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9050">
            <a:solidFill>
              <a:srgbClr val="408FD2"/>
            </a:solidFill>
            <a:prstDash val="solid"/>
          </a:ln>
        </p:spPr>
      </p:sp>
      <p:sp>
        <p:nvSpPr>
          <p:cNvPr id="346" name="svg_text_346">
            <a:extLst xmlns:a="http://schemas.openxmlformats.org/drawingml/2006/main">
              <a:ext uri="{FF2B5EF4-FFF2-40B4-BE49-F238E27FC236}">
                <a16:creationId xmlns:a16="http://schemas.microsoft.com/office/drawing/2014/main" id="{CF56F82A-C128-487D-B786-D4BEE4AD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27062" y="8349996"/>
            <a:ext cx="1712976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Learned Gate g</a:t>
            </a:r>
          </a:p>
        </p:txBody>
      </p:sp>
      <p:sp>
        <p:nvSpPr>
          <p:cNvPr id="347" name="svg_text_347">
            <a:extLst xmlns:a="http://schemas.openxmlformats.org/drawingml/2006/main">
              <a:ext uri="{FF2B5EF4-FFF2-40B4-BE49-F238E27FC236}">
                <a16:creationId xmlns:a16="http://schemas.microsoft.com/office/drawing/2014/main" id="{A8F60ED3-68BF-416B-956F-CAB5785A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2335" y="8921496"/>
            <a:ext cx="1162431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275" b="0" i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e_fused =</a:t>
            </a:r>
          </a:p>
        </p:txBody>
      </p:sp>
      <p:sp>
        <p:nvSpPr>
          <p:cNvPr id="348" name="svg_text_348">
            <a:extLst xmlns:a="http://schemas.openxmlformats.org/drawingml/2006/main">
              <a:ext uri="{FF2B5EF4-FFF2-40B4-BE49-F238E27FC236}">
                <a16:creationId xmlns:a16="http://schemas.microsoft.com/office/drawing/2014/main" id="{58C818E4-71DA-4BFE-93B1-468FAE02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2226" y="9226296"/>
            <a:ext cx="1382649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275" b="0" i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g e_token +</a:t>
            </a:r>
          </a:p>
        </p:txBody>
      </p:sp>
      <p:sp>
        <p:nvSpPr>
          <p:cNvPr id="349" name="svg_text_349">
            <a:extLst xmlns:a="http://schemas.openxmlformats.org/drawingml/2006/main">
              <a:ext uri="{FF2B5EF4-FFF2-40B4-BE49-F238E27FC236}">
                <a16:creationId xmlns:a16="http://schemas.microsoft.com/office/drawing/2014/main" id="{72F64E75-406A-4070-8790-7BE72CA6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7171" y="9531096"/>
            <a:ext cx="1492758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275" b="0" i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(1−g)e_audio</a:t>
            </a:r>
          </a:p>
        </p:txBody>
      </p:sp>
      <p:sp>
        <p:nvSpPr>
          <p:cNvPr id="350" name="svg_path_350">
            <a:extLst xmlns:a="http://schemas.openxmlformats.org/drawingml/2006/main">
              <a:ext uri="{FF2B5EF4-FFF2-40B4-BE49-F238E27FC236}">
                <a16:creationId xmlns:a16="http://schemas.microsoft.com/office/drawing/2014/main" id="{4BACE81D-031A-478B-82E0-8A352EFF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3875" y="8477250"/>
            <a:ext cx="428625" cy="9525"/>
          </a:xfrm>
          <a:custGeom xmlns:a="http://schemas.openxmlformats.org/drawingml/2006/main">
            <a:pathLst>
              <a:path w="428625" h="9525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386D8"/>
            </a:solidFill>
            <a:prstDash val="solid"/>
          </a:ln>
        </p:spPr>
      </p:sp>
      <p:sp>
        <p:nvSpPr>
          <p:cNvPr id="351" name="svg_arrowhead_351">
            <a:extLst xmlns:a="http://schemas.openxmlformats.org/drawingml/2006/main">
              <a:ext uri="{FF2B5EF4-FFF2-40B4-BE49-F238E27FC236}">
                <a16:creationId xmlns:a16="http://schemas.microsoft.com/office/drawing/2014/main" id="{38B76E2B-AFF5-44FF-B365-5417FBBE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7725" y="8424863"/>
            <a:ext cx="104775" cy="104775"/>
          </a:xfrm>
          <a:custGeom xmlns:a="http://schemas.openxmlformats.org/drawingml/2006/main"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386D8"/>
          </a:solidFill>
          <a:ln xmlns:a="http://schemas.openxmlformats.org/drawingml/2006/main" w="4763">
            <a:solidFill>
              <a:srgbClr val="2386D8"/>
            </a:solidFill>
            <a:prstDash val="solid"/>
          </a:ln>
        </p:spPr>
      </p:sp>
      <p:sp>
        <p:nvSpPr>
          <p:cNvPr id="352" name="svg_path_352">
            <a:extLst xmlns:a="http://schemas.openxmlformats.org/drawingml/2006/main">
              <a:ext uri="{FF2B5EF4-FFF2-40B4-BE49-F238E27FC236}">
                <a16:creationId xmlns:a16="http://schemas.microsoft.com/office/drawing/2014/main" id="{DC935894-BE37-46CE-93F6-F40458C1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16875" y="10096500"/>
            <a:ext cx="66675" cy="428625"/>
          </a:xfrm>
          <a:custGeom xmlns:a="http://schemas.openxmlformats.org/drawingml/2006/main">
            <a:pathLst>
              <a:path w="66675" h="428625">
                <a:moveTo>
                  <a:pt x="0" y="428625"/>
                </a:moveTo>
                <a:lnTo>
                  <a:pt x="66675" y="428625"/>
                </a:ln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386D8"/>
            </a:solidFill>
            <a:prstDash val="solid"/>
          </a:ln>
        </p:spPr>
      </p:sp>
      <p:sp>
        <p:nvSpPr>
          <p:cNvPr id="353" name="svg_arrowhead_353">
            <a:extLst xmlns:a="http://schemas.openxmlformats.org/drawingml/2006/main">
              <a:ext uri="{FF2B5EF4-FFF2-40B4-BE49-F238E27FC236}">
                <a16:creationId xmlns:a16="http://schemas.microsoft.com/office/drawing/2014/main" id="{66E124BB-772B-43E9-9546-B5F097E0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31163" y="10096500"/>
            <a:ext cx="104775" cy="104775"/>
          </a:xfrm>
          <a:custGeom xmlns:a="http://schemas.openxmlformats.org/drawingml/2006/main">
            <a:pathLst>
              <a:path w="104775" h="104775">
                <a:moveTo>
                  <a:pt x="52388" y="0"/>
                </a:moveTo>
                <a:lnTo>
                  <a:pt x="104775" y="104775"/>
                </a:lnTo>
                <a:lnTo>
                  <a:pt x="0" y="104775"/>
                </a:lnTo>
                <a:close/>
              </a:path>
            </a:pathLst>
          </a:custGeom>
          <a:solidFill xmlns:a="http://schemas.openxmlformats.org/drawingml/2006/main">
            <a:srgbClr val="2386D8"/>
          </a:solidFill>
          <a:ln xmlns:a="http://schemas.openxmlformats.org/drawingml/2006/main" w="4763">
            <a:solidFill>
              <a:srgbClr val="2386D8"/>
            </a:solidFill>
            <a:prstDash val="solid"/>
          </a:ln>
        </p:spPr>
      </p:sp>
      <p:sp>
        <p:nvSpPr>
          <p:cNvPr id="354" name="svg_path_354">
            <a:extLst xmlns:a="http://schemas.openxmlformats.org/drawingml/2006/main">
              <a:ext uri="{FF2B5EF4-FFF2-40B4-BE49-F238E27FC236}">
                <a16:creationId xmlns:a16="http://schemas.microsoft.com/office/drawing/2014/main" id="{EAB04706-F184-4726-B2D6-430F2D90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4125" y="9144000"/>
            <a:ext cx="142875" cy="9525"/>
          </a:xfrm>
          <a:custGeom xmlns:a="http://schemas.openxmlformats.org/drawingml/2006/main">
            <a:pathLst>
              <a:path w="142875" h="9525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86D8"/>
            </a:solidFill>
            <a:prstDash val="solid"/>
          </a:ln>
        </p:spPr>
      </p:sp>
      <p:sp>
        <p:nvSpPr>
          <p:cNvPr id="355" name="svg_arrowhead_355">
            <a:extLst xmlns:a="http://schemas.openxmlformats.org/drawingml/2006/main">
              <a:ext uri="{FF2B5EF4-FFF2-40B4-BE49-F238E27FC236}">
                <a16:creationId xmlns:a16="http://schemas.microsoft.com/office/drawing/2014/main" id="{04A1BB77-857F-4A8F-AE85-67B6E324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12225" y="9091613"/>
            <a:ext cx="104775" cy="104775"/>
          </a:xfrm>
          <a:custGeom xmlns:a="http://schemas.openxmlformats.org/drawingml/2006/main"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386D8"/>
          </a:solidFill>
          <a:ln xmlns:a="http://schemas.openxmlformats.org/drawingml/2006/main" w="4763">
            <a:solidFill>
              <a:srgbClr val="2386D8"/>
            </a:solidFill>
            <a:prstDash val="solid"/>
          </a:ln>
        </p:spPr>
      </p:sp>
      <p:sp>
        <p:nvSpPr>
          <p:cNvPr id="356" name="svg_rect_356">
            <a:extLst xmlns:a="http://schemas.openxmlformats.org/drawingml/2006/main">
              <a:ext uri="{FF2B5EF4-FFF2-40B4-BE49-F238E27FC236}">
                <a16:creationId xmlns:a16="http://schemas.microsoft.com/office/drawing/2014/main" id="{9D7C662C-9788-4EB0-B165-BBF93A06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0" y="8572500"/>
            <a:ext cx="809625" cy="114300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9050">
            <a:solidFill>
              <a:srgbClr val="408FD2"/>
            </a:solidFill>
            <a:prstDash val="solid"/>
          </a:ln>
        </p:spPr>
      </p:sp>
      <p:sp>
        <p:nvSpPr>
          <p:cNvPr id="357" name="svg_text_357">
            <a:extLst xmlns:a="http://schemas.openxmlformats.org/drawingml/2006/main">
              <a:ext uri="{FF2B5EF4-FFF2-40B4-BE49-F238E27FC236}">
                <a16:creationId xmlns:a16="http://schemas.microsoft.com/office/drawing/2014/main" id="{C4C8B5E7-4152-4141-8849-44A1BF62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5090" y="8831580"/>
            <a:ext cx="88392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110-Speaker</a:t>
            </a:r>
          </a:p>
        </p:txBody>
      </p:sp>
      <p:sp>
        <p:nvSpPr>
          <p:cNvPr id="358" name="svg_text_358">
            <a:extLst xmlns:a="http://schemas.openxmlformats.org/drawingml/2006/main">
              <a:ext uri="{FF2B5EF4-FFF2-40B4-BE49-F238E27FC236}">
                <a16:creationId xmlns:a16="http://schemas.microsoft.com/office/drawing/2014/main" id="{5DB99146-4F35-4AFF-B682-43DCB18E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07475" y="9041130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Closed-Set</a:t>
            </a:r>
          </a:p>
        </p:txBody>
      </p:sp>
      <p:sp>
        <p:nvSpPr>
          <p:cNvPr id="359" name="svg_text_359">
            <a:extLst xmlns:a="http://schemas.openxmlformats.org/drawingml/2006/main">
              <a:ext uri="{FF2B5EF4-FFF2-40B4-BE49-F238E27FC236}">
                <a16:creationId xmlns:a16="http://schemas.microsoft.com/office/drawing/2014/main" id="{3434957A-67B6-4942-8A5B-24E2392D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07475" y="9250680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Classifier</a:t>
            </a:r>
          </a:p>
        </p:txBody>
      </p:sp>
      <p:sp>
        <p:nvSpPr>
          <p:cNvPr id="360" name="svg_path_360">
            <a:extLst xmlns:a="http://schemas.openxmlformats.org/drawingml/2006/main">
              <a:ext uri="{FF2B5EF4-FFF2-40B4-BE49-F238E27FC236}">
                <a16:creationId xmlns:a16="http://schemas.microsoft.com/office/drawing/2014/main" id="{9DF4AE07-393B-4BB8-9F83-CAD54965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69375" y="9715500"/>
            <a:ext cx="447675" cy="1333500"/>
          </a:xfrm>
          <a:custGeom xmlns:a="http://schemas.openxmlformats.org/drawingml/2006/main">
            <a:pathLst>
              <a:path w="447675" h="1333500">
                <a:moveTo>
                  <a:pt x="447675" y="0"/>
                </a:moveTo>
                <a:lnTo>
                  <a:pt x="447675" y="1190625"/>
                </a:lnTo>
                <a:lnTo>
                  <a:pt x="0" y="1190625"/>
                </a:lnTo>
                <a:lnTo>
                  <a:pt x="0" y="13335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386D8"/>
            </a:solidFill>
            <a:prstDash val="solid"/>
          </a:ln>
        </p:spPr>
      </p:sp>
      <p:sp>
        <p:nvSpPr>
          <p:cNvPr id="361" name="svg_arrowhead_361">
            <a:extLst xmlns:a="http://schemas.openxmlformats.org/drawingml/2006/main">
              <a:ext uri="{FF2B5EF4-FFF2-40B4-BE49-F238E27FC236}">
                <a16:creationId xmlns:a16="http://schemas.microsoft.com/office/drawing/2014/main" id="{4FF7DF08-F5AE-48D8-82E6-C5E40D65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16988" y="10944225"/>
            <a:ext cx="104775" cy="104775"/>
          </a:xfrm>
          <a:custGeom xmlns:a="http://schemas.openxmlformats.org/drawingml/2006/main">
            <a:pathLst>
              <a:path w="104775" h="104775">
                <a:moveTo>
                  <a:pt x="52388" y="104775"/>
                </a:moveTo>
                <a:lnTo>
                  <a:pt x="0" y="0"/>
                </a:lnTo>
                <a:lnTo>
                  <a:pt x="104775" y="0"/>
                </a:lnTo>
                <a:close/>
              </a:path>
            </a:pathLst>
          </a:custGeom>
          <a:solidFill xmlns:a="http://schemas.openxmlformats.org/drawingml/2006/main">
            <a:srgbClr val="2386D8"/>
          </a:solidFill>
          <a:ln xmlns:a="http://schemas.openxmlformats.org/drawingml/2006/main" w="4763">
            <a:solidFill>
              <a:srgbClr val="2386D8"/>
            </a:solidFill>
            <a:prstDash val="solid"/>
          </a:ln>
        </p:spPr>
      </p:sp>
      <p:sp>
        <p:nvSpPr>
          <p:cNvPr id="362" name="svg_rect_362">
            <a:extLst xmlns:a="http://schemas.openxmlformats.org/drawingml/2006/main">
              <a:ext uri="{FF2B5EF4-FFF2-40B4-BE49-F238E27FC236}">
                <a16:creationId xmlns:a16="http://schemas.microsoft.com/office/drawing/2014/main" id="{71B1889C-AFA6-4A18-A1BE-4A230394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0" y="11049000"/>
            <a:ext cx="1619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9050">
            <a:solidFill>
              <a:srgbClr val="408FD2"/>
            </a:solidFill>
            <a:prstDash val="solid"/>
          </a:ln>
        </p:spPr>
      </p:sp>
      <p:sp>
        <p:nvSpPr>
          <p:cNvPr id="363" name="svg_text_363">
            <a:extLst xmlns:a="http://schemas.openxmlformats.org/drawingml/2006/main">
              <a:ext uri="{FF2B5EF4-FFF2-40B4-BE49-F238E27FC236}">
                <a16:creationId xmlns:a16="http://schemas.microsoft.com/office/drawing/2014/main" id="{8A2557CB-1D6C-40B8-9DE7-99AEE7EB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6870" y="11162157"/>
            <a:ext cx="198501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Predicted Speaker ID</a:t>
            </a:r>
          </a:p>
        </p:txBody>
      </p:sp>
      <p:sp>
        <p:nvSpPr>
          <p:cNvPr id="364" name="svg_text_364">
            <a:extLst xmlns:a="http://schemas.openxmlformats.org/drawingml/2006/main">
              <a:ext uri="{FF2B5EF4-FFF2-40B4-BE49-F238E27FC236}">
                <a16:creationId xmlns:a16="http://schemas.microsoft.com/office/drawing/2014/main" id="{869B0101-B237-4EFE-8B7A-1DE38243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63432" y="11369421"/>
            <a:ext cx="611886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3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32E"/>
                </a:solidFill>
                <a:latin typeface="Arial"/>
                <a:ea typeface="Arial"/>
                <a:cs typeface="Arial"/>
              </a:rPr>
              <a:t>p225</a:t>
            </a:r>
          </a:p>
        </p:txBody>
      </p:sp>
      <p:sp>
        <p:nvSpPr>
          <p:cNvPr id="365" name="svg_rect_365">
            <a:extLst xmlns:a="http://schemas.openxmlformats.org/drawingml/2006/main">
              <a:ext uri="{FF2B5EF4-FFF2-40B4-BE49-F238E27FC236}">
                <a16:creationId xmlns:a16="http://schemas.microsoft.com/office/drawing/2014/main" id="{14242A32-0136-4C4E-9EE5-7E982341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12096750"/>
            <a:ext cx="15716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CF6FF"/>
          </a:solidFill>
          <a:ln xmlns:a="http://schemas.openxmlformats.org/drawingml/2006/main" w="14288">
            <a:solidFill>
              <a:srgbClr val="78AFE0"/>
            </a:solidFill>
            <a:prstDash val="solid"/>
          </a:ln>
        </p:spPr>
      </p:sp>
      <p:sp>
        <p:nvSpPr>
          <p:cNvPr id="366" name="svg_text_366">
            <a:extLst xmlns:a="http://schemas.openxmlformats.org/drawingml/2006/main">
              <a:ext uri="{FF2B5EF4-FFF2-40B4-BE49-F238E27FC236}">
                <a16:creationId xmlns:a16="http://schemas.microsoft.com/office/drawing/2014/main" id="{A2C1D2C5-7022-49E8-9572-4756A65C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0759" y="12228957"/>
            <a:ext cx="1894332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Frozen Speech Codec</a:t>
            </a:r>
          </a:p>
        </p:txBody>
      </p:sp>
      <p:sp>
        <p:nvSpPr>
          <p:cNvPr id="367" name="svg_rect_367">
            <a:extLst xmlns:a="http://schemas.openxmlformats.org/drawingml/2006/main">
              <a:ext uri="{FF2B5EF4-FFF2-40B4-BE49-F238E27FC236}">
                <a16:creationId xmlns:a16="http://schemas.microsoft.com/office/drawing/2014/main" id="{6BE2E08C-5772-4784-AD8E-EAFAD390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0" y="12096750"/>
            <a:ext cx="219075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CF6FF"/>
          </a:solidFill>
          <a:ln xmlns:a="http://schemas.openxmlformats.org/drawingml/2006/main" w="14288">
            <a:solidFill>
              <a:srgbClr val="78AFE0"/>
            </a:solidFill>
            <a:prstDash val="solid"/>
          </a:ln>
        </p:spPr>
      </p:sp>
      <p:sp>
        <p:nvSpPr>
          <p:cNvPr id="368" name="svg_text_368">
            <a:extLst xmlns:a="http://schemas.openxmlformats.org/drawingml/2006/main">
              <a:ext uri="{FF2B5EF4-FFF2-40B4-BE49-F238E27FC236}">
                <a16:creationId xmlns:a16="http://schemas.microsoft.com/office/drawing/2014/main" id="{D51C4282-479F-4F15-8C7E-87447227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68569" y="12228957"/>
            <a:ext cx="2801112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Separately Trained Classifier</a:t>
            </a:r>
          </a:p>
        </p:txBody>
      </p:sp>
      <p:sp>
        <p:nvSpPr>
          <p:cNvPr id="369" name="svg_rect_369">
            <a:extLst xmlns:a="http://schemas.openxmlformats.org/drawingml/2006/main">
              <a:ext uri="{FF2B5EF4-FFF2-40B4-BE49-F238E27FC236}">
                <a16:creationId xmlns:a16="http://schemas.microsoft.com/office/drawing/2014/main" id="{B4A6F6D7-A481-4B6E-AD9A-544F7018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0" y="12096750"/>
            <a:ext cx="15716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CF6FF"/>
          </a:solidFill>
          <a:ln xmlns:a="http://schemas.openxmlformats.org/drawingml/2006/main" w="14288">
            <a:solidFill>
              <a:srgbClr val="78AFE0"/>
            </a:solidFill>
            <a:prstDash val="solid"/>
          </a:ln>
        </p:spPr>
      </p:sp>
      <p:sp>
        <p:nvSpPr>
          <p:cNvPr id="370" name="svg_text_370">
            <a:extLst xmlns:a="http://schemas.openxmlformats.org/drawingml/2006/main">
              <a:ext uri="{FF2B5EF4-FFF2-40B4-BE49-F238E27FC236}">
                <a16:creationId xmlns:a16="http://schemas.microsoft.com/office/drawing/2014/main" id="{5660F106-2C26-4508-A4BA-23D34528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16697" y="12163806"/>
            <a:ext cx="164820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1546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15466"/>
                </a:solidFill>
                <a:latin typeface="Arial"/>
                <a:ea typeface="Arial"/>
                <a:cs typeface="Arial"/>
              </a:rPr>
              <a:t>Receiver-side only;</a:t>
            </a:r>
          </a:p>
        </p:txBody>
      </p:sp>
      <p:sp>
        <p:nvSpPr>
          <p:cNvPr id="371" name="svg_text_371">
            <a:extLst xmlns:a="http://schemas.openxmlformats.org/drawingml/2006/main">
              <a:ext uri="{FF2B5EF4-FFF2-40B4-BE49-F238E27FC236}">
                <a16:creationId xmlns:a16="http://schemas.microsoft.com/office/drawing/2014/main" id="{B510B9CC-F093-4DE5-B458-1721B27F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44663" y="12335256"/>
            <a:ext cx="2192274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1546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15466"/>
                </a:solidFill>
                <a:latin typeface="Arial"/>
                <a:ea typeface="Arial"/>
                <a:cs typeface="Arial"/>
              </a:rPr>
              <a:t>no additional transmission</a:t>
            </a:r>
          </a:p>
        </p:txBody>
      </p:sp>
      <p:sp>
        <p:nvSpPr>
          <p:cNvPr id="372" name="svg_path_372">
            <a:extLst xmlns:a="http://schemas.openxmlformats.org/drawingml/2006/main">
              <a:ext uri="{FF2B5EF4-FFF2-40B4-BE49-F238E27FC236}">
                <a16:creationId xmlns:a16="http://schemas.microsoft.com/office/drawing/2014/main" id="{F920BC42-5401-4257-BEAF-9B2D7AAD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9300" y="5143500"/>
            <a:ext cx="28575" cy="1333500"/>
          </a:xfrm>
          <a:custGeom xmlns:a="http://schemas.openxmlformats.org/drawingml/2006/main">
            <a:pathLst>
              <a:path w="28575" h="1333500">
                <a:moveTo>
                  <a:pt x="0" y="0"/>
                </a:moveTo>
                <a:lnTo>
                  <a:pt x="0" y="1238250"/>
                </a:lnTo>
                <a:lnTo>
                  <a:pt x="28575" y="1238250"/>
                </a:lnTo>
                <a:lnTo>
                  <a:pt x="28575" y="13335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386D8"/>
            </a:solidFill>
            <a:prstDash val="dash"/>
          </a:ln>
        </p:spPr>
      </p:sp>
      <p:sp>
        <p:nvSpPr>
          <p:cNvPr id="373" name="svg_arrowhead_373">
            <a:extLst xmlns:a="http://schemas.openxmlformats.org/drawingml/2006/main">
              <a:ext uri="{FF2B5EF4-FFF2-40B4-BE49-F238E27FC236}">
                <a16:creationId xmlns:a16="http://schemas.microsoft.com/office/drawing/2014/main" id="{DAD4ED72-11C7-4451-AAD6-3B14E2E8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5488" y="6372225"/>
            <a:ext cx="104775" cy="104775"/>
          </a:xfrm>
          <a:custGeom xmlns:a="http://schemas.openxmlformats.org/drawingml/2006/main">
            <a:pathLst>
              <a:path w="104775" h="104775">
                <a:moveTo>
                  <a:pt x="52388" y="104775"/>
                </a:moveTo>
                <a:lnTo>
                  <a:pt x="0" y="0"/>
                </a:lnTo>
                <a:lnTo>
                  <a:pt x="104775" y="0"/>
                </a:lnTo>
                <a:close/>
              </a:path>
            </a:pathLst>
          </a:custGeom>
          <a:solidFill xmlns:a="http://schemas.openxmlformats.org/drawingml/2006/main">
            <a:srgbClr val="2386D8"/>
          </a:solidFill>
          <a:ln xmlns:a="http://schemas.openxmlformats.org/drawingml/2006/main" w="4763">
            <a:solidFill>
              <a:srgbClr val="2386D8"/>
            </a:solidFill>
            <a:prstDash val="solid"/>
          </a:ln>
        </p:spPr>
      </p:sp>
      <p:sp>
        <p:nvSpPr>
          <p:cNvPr id="374" name="svg_path_374">
            <a:extLst xmlns:a="http://schemas.openxmlformats.org/drawingml/2006/main">
              <a:ext uri="{FF2B5EF4-FFF2-40B4-BE49-F238E27FC236}">
                <a16:creationId xmlns:a16="http://schemas.microsoft.com/office/drawing/2014/main" id="{9381C023-9174-4008-A4B7-D189D750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0" y="4905375"/>
            <a:ext cx="95250" cy="1571625"/>
          </a:xfrm>
          <a:custGeom xmlns:a="http://schemas.openxmlformats.org/drawingml/2006/main">
            <a:pathLst>
              <a:path w="95250" h="1571625">
                <a:moveTo>
                  <a:pt x="95250" y="0"/>
                </a:moveTo>
                <a:lnTo>
                  <a:pt x="95250" y="1428750"/>
                </a:lnTo>
                <a:lnTo>
                  <a:pt x="0" y="1428750"/>
                </a:lnTo>
                <a:lnTo>
                  <a:pt x="0" y="15716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386D8"/>
            </a:solidFill>
            <a:prstDash val="dash"/>
          </a:ln>
        </p:spPr>
      </p:sp>
      <p:sp>
        <p:nvSpPr>
          <p:cNvPr id="375" name="svg_arrowhead_375">
            <a:extLst xmlns:a="http://schemas.openxmlformats.org/drawingml/2006/main">
              <a:ext uri="{FF2B5EF4-FFF2-40B4-BE49-F238E27FC236}">
                <a16:creationId xmlns:a16="http://schemas.microsoft.com/office/drawing/2014/main" id="{04896273-D54C-407C-BE63-9D65B576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36113" y="6372225"/>
            <a:ext cx="104775" cy="104775"/>
          </a:xfrm>
          <a:custGeom xmlns:a="http://schemas.openxmlformats.org/drawingml/2006/main">
            <a:pathLst>
              <a:path w="104775" h="104775">
                <a:moveTo>
                  <a:pt x="52388" y="104775"/>
                </a:moveTo>
                <a:lnTo>
                  <a:pt x="0" y="0"/>
                </a:lnTo>
                <a:lnTo>
                  <a:pt x="104775" y="0"/>
                </a:lnTo>
                <a:close/>
              </a:path>
            </a:pathLst>
          </a:custGeom>
          <a:solidFill xmlns:a="http://schemas.openxmlformats.org/drawingml/2006/main">
            <a:srgbClr val="2386D8"/>
          </a:solidFill>
          <a:ln xmlns:a="http://schemas.openxmlformats.org/drawingml/2006/main" w="4763">
            <a:solidFill>
              <a:srgbClr val="2386D8"/>
            </a:solidFill>
            <a:prstDash val="solid"/>
          </a:ln>
        </p:spPr>
      </p:sp>
      <p:sp>
        <p:nvSpPr>
          <p:cNvPr id="376" name="svg_rect_376">
            <a:extLst xmlns:a="http://schemas.openxmlformats.org/drawingml/2006/main">
              <a:ext uri="{FF2B5EF4-FFF2-40B4-BE49-F238E27FC236}">
                <a16:creationId xmlns:a16="http://schemas.microsoft.com/office/drawing/2014/main" id="{E2BCD6A1-C69A-4364-9382-FA45B726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2687300"/>
            <a:ext cx="6477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6E5"/>
            </a:solidFill>
            <a:prstDash val="solid"/>
          </a:ln>
        </p:spPr>
      </p:sp>
      <p:sp>
        <p:nvSpPr>
          <p:cNvPr id="377" name="svg_path_377">
            <a:extLst xmlns:a="http://schemas.openxmlformats.org/drawingml/2006/main">
              <a:ext uri="{FF2B5EF4-FFF2-40B4-BE49-F238E27FC236}">
                <a16:creationId xmlns:a16="http://schemas.microsoft.com/office/drawing/2014/main" id="{0227E017-4DEB-4DFB-AC87-59D015C6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2887325"/>
            <a:ext cx="476250" cy="9525"/>
          </a:xfrm>
          <a:custGeom xmlns:a="http://schemas.openxmlformats.org/drawingml/2006/main"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86D8"/>
            </a:solidFill>
            <a:prstDash val="solid"/>
          </a:ln>
        </p:spPr>
      </p:sp>
      <p:sp>
        <p:nvSpPr>
          <p:cNvPr id="378" name="svg_arrowhead_378">
            <a:extLst xmlns:a="http://schemas.openxmlformats.org/drawingml/2006/main">
              <a:ext uri="{FF2B5EF4-FFF2-40B4-BE49-F238E27FC236}">
                <a16:creationId xmlns:a16="http://schemas.microsoft.com/office/drawing/2014/main" id="{9FC42D91-6236-4D4F-BCCA-4EC04078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12834938"/>
            <a:ext cx="104775" cy="104775"/>
          </a:xfrm>
          <a:custGeom xmlns:a="http://schemas.openxmlformats.org/drawingml/2006/main"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386D8"/>
          </a:solidFill>
          <a:ln xmlns:a="http://schemas.openxmlformats.org/drawingml/2006/main" w="4763">
            <a:solidFill>
              <a:srgbClr val="2386D8"/>
            </a:solidFill>
            <a:prstDash val="solid"/>
          </a:ln>
        </p:spPr>
      </p:sp>
      <p:sp>
        <p:nvSpPr>
          <p:cNvPr id="379" name="svg_text_379">
            <a:extLst xmlns:a="http://schemas.openxmlformats.org/drawingml/2006/main">
              <a:ext uri="{FF2B5EF4-FFF2-40B4-BE49-F238E27FC236}">
                <a16:creationId xmlns:a16="http://schemas.microsoft.com/office/drawing/2014/main" id="{3FEA0B4E-0D64-4DE6-A8FB-10E58207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512" y="12790932"/>
            <a:ext cx="171297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forward data flow</a:t>
            </a:r>
          </a:p>
        </p:txBody>
      </p:sp>
      <p:sp>
        <p:nvSpPr>
          <p:cNvPr id="380" name="svg_path_380">
            <a:extLst xmlns:a="http://schemas.openxmlformats.org/drawingml/2006/main">
              <a:ext uri="{FF2B5EF4-FFF2-40B4-BE49-F238E27FC236}">
                <a16:creationId xmlns:a16="http://schemas.microsoft.com/office/drawing/2014/main" id="{143C9860-3A6E-4A51-9E3A-14ADA2D9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12887325"/>
            <a:ext cx="476250" cy="9525"/>
          </a:xfrm>
          <a:custGeom xmlns:a="http://schemas.openxmlformats.org/drawingml/2006/main"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D6285"/>
            </a:solidFill>
            <a:prstDash val="dash"/>
          </a:ln>
        </p:spPr>
      </p:sp>
      <p:sp>
        <p:nvSpPr>
          <p:cNvPr id="381" name="svg_arrowhead_381">
            <a:extLst xmlns:a="http://schemas.openxmlformats.org/drawingml/2006/main">
              <a:ext uri="{FF2B5EF4-FFF2-40B4-BE49-F238E27FC236}">
                <a16:creationId xmlns:a16="http://schemas.microsoft.com/office/drawing/2014/main" id="{EBA1C35B-6491-4384-BDEA-FDF3C1E5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4475" y="12834938"/>
            <a:ext cx="104775" cy="104775"/>
          </a:xfrm>
          <a:custGeom xmlns:a="http://schemas.openxmlformats.org/drawingml/2006/main"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D6285"/>
          </a:solidFill>
          <a:ln xmlns:a="http://schemas.openxmlformats.org/drawingml/2006/main" w="4763">
            <a:solidFill>
              <a:srgbClr val="3D6285"/>
            </a:solidFill>
            <a:prstDash val="solid"/>
          </a:ln>
        </p:spPr>
      </p:sp>
      <p:sp>
        <p:nvSpPr>
          <p:cNvPr id="382" name="svg_text_382">
            <a:extLst xmlns:a="http://schemas.openxmlformats.org/drawingml/2006/main">
              <a:ext uri="{FF2B5EF4-FFF2-40B4-BE49-F238E27FC236}">
                <a16:creationId xmlns:a16="http://schemas.microsoft.com/office/drawing/2014/main" id="{4E3031E4-7400-421C-92B5-0F55C5C9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9660" y="12790932"/>
            <a:ext cx="334518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training supervision / optimization</a:t>
            </a:r>
          </a:p>
        </p:txBody>
      </p:sp>
    </p:spTree>
    <p:extLst>
      <p:ext uri="{BB962C8B-B14F-4D97-AF65-F5344CB8AC3E}">
        <p14:creationId xmlns:p14="http://schemas.microsoft.com/office/powerpoint/2010/main" val="16875209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2026-09-08T08:24:45.2650000Z</dcterms:created>
  <dcterms:modified xsi:type="dcterms:W3CDTF">2026-09-08T08:24:45.2650000Z</dcterms:modified>
</coreProperties>
</file>