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cc956a9d7d4dcd" /><Relationship Type="http://schemas.openxmlformats.org/officeDocument/2006/relationships/extended-properties" Target="/docProps/app.xml" Id="Ra38dbcfc32f6430c" /><Relationship Type="http://schemas.openxmlformats.org/officeDocument/2006/relationships/officeDocument" Target="/ppt/presentation.xml" Id="Rf6ef121380d44419" /></Relationships>
</file>

<file path=ppt/presentation.xml><?xml version="1.0" encoding="utf-8"?>
<p:presentation xmlns:p="http://schemas.openxmlformats.org/presentationml/2006/main">
  <p:sldMasterIdLst>
    <p:sldMasterId xmlns:r="http://schemas.openxmlformats.org/officeDocument/2006/relationships" id="2147483648" r:id="R64fbea3a42324665"/>
  </p:sldMasterIdLst>
  <p:notesMasterIdLst>
    <p:notesMasterId xmlns:r="http://schemas.openxmlformats.org/officeDocument/2006/relationships" r:id="R4811516c675e45b0"/>
  </p:notesMasterIdLst>
  <p:sldIdLst>
    <p:sldId xmlns:r="http://schemas.openxmlformats.org/officeDocument/2006/relationships" id="256" r:id="R2061b86cc7e540bc"/>
  </p:sldIdLst>
  <p:sldSz cx="22860000" cy="1333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3602d09bed4d83" /><Relationship Type="http://schemas.openxmlformats.org/officeDocument/2006/relationships/slideMaster" Target="/ppt/slideMasters/slideMaster1.xml" Id="R64fbea3a42324665" /><Relationship Type="http://schemas.openxmlformats.org/officeDocument/2006/relationships/notesMaster" Target="/ppt/notesMasters/notesMaster1.xml" Id="R4811516c675e45b0" /><Relationship Type="http://schemas.openxmlformats.org/officeDocument/2006/relationships/presProps" Target="/ppt/presProps.xml" Id="R20a8a4e1859c4643" /><Relationship Type="http://schemas.openxmlformats.org/officeDocument/2006/relationships/tableStyles" Target="/ppt/tableStyles.xml" Id="R24b9b4244f534705" /><Relationship Type="http://schemas.openxmlformats.org/officeDocument/2006/relationships/slide" Target="/ppt/slides/slide1.xml" Id="R2061b86cc7e540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2616d37e7744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5d5aebe56f4186" /><Relationship Type="http://schemas.openxmlformats.org/officeDocument/2006/relationships/notesMaster" Target="/ppt/notesMasters/notesMaster1.xml" Id="Re0b4b7a827e447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Large-text revision copied from the editable PPT design. Native PowerPoint shapes were retained, typography was enlarged, module fills and outlines were strengthened, and text boxes were constrained to their parent boxes.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dd9001618b4d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8d21e805444060" /><Relationship Type="http://schemas.openxmlformats.org/officeDocument/2006/relationships/slideLayout" Target="/ppt/slideLayouts/slideLayout1.xml" Id="R1f38d8b0959441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38d8b0959441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e0702a1d94482e" /><Relationship Type="http://schemas.openxmlformats.org/officeDocument/2006/relationships/notesSlide" Target="/ppt/notesSlides/notesSlide1.xml" Id="R00f214415fd645f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3" name="svg_rect_001">
            <a:extLst xmlns:a="http://schemas.openxmlformats.org/drawingml/2006/main">
              <a:ext uri="{FF2B5EF4-FFF2-40B4-BE49-F238E27FC236}">
                <a16:creationId xmlns:a16="http://schemas.microsoft.com/office/drawing/2014/main" id="{9F2EA118-4BD6-4F74-917E-F033BE1CDC77}"/>
              </a:ext>
            </a:extLst>
          </p:cNvPr>
          <p:cNvSpPr>
            <a:spLocks xmlns:a="http://schemas.openxmlformats.org/drawingml/2006/main" noGrp="1"/>
          </p:cNvSpPr>
          <p:nvPr/>
        </p:nvSpPr>
        <p:spPr>
          <a:xfrm xmlns:a="http://schemas.openxmlformats.org/drawingml/2006/main">
            <a:off x="0" y="0"/>
            <a:ext cx="22860000" cy="13335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vg_rect_002">
            <a:extLst xmlns:a="http://schemas.openxmlformats.org/drawingml/2006/main">
              <a:ext uri="{FF2B5EF4-FFF2-40B4-BE49-F238E27FC236}">
                <a16:creationId xmlns:a16="http://schemas.microsoft.com/office/drawing/2014/main" id="{3076817D-0315-418C-831D-891E9B3B9341}"/>
              </a:ext>
            </a:extLst>
          </p:cNvPr>
          <p:cNvSpPr>
            <a:spLocks xmlns:a="http://schemas.openxmlformats.org/drawingml/2006/main" noGrp="1"/>
          </p:cNvSpPr>
          <p:nvPr/>
        </p:nvSpPr>
        <p:spPr>
          <a:xfrm xmlns:a="http://schemas.openxmlformats.org/drawingml/2006/main">
            <a:off x="190500" y="190500"/>
            <a:ext cx="2247900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24765">
            <a:solidFill>
              <a:srgbClr val="7DB5E8"/>
            </a:solidFill>
            <a:prstDash val="dash"/>
          </a:ln>
        </p:spPr>
      </p:sp>
      <p:sp>
        <p:nvSpPr>
          <p:cNvPr id="3" name="svg_circle_003">
            <a:extLst xmlns:a="http://schemas.openxmlformats.org/drawingml/2006/main">
              <a:ext uri="{FF2B5EF4-FFF2-40B4-BE49-F238E27FC236}">
                <a16:creationId xmlns:a16="http://schemas.microsoft.com/office/drawing/2014/main" id="{91CD8045-7CB5-4006-B8C3-0FA1227A360D}"/>
              </a:ext>
            </a:extLst>
          </p:cNvPr>
          <p:cNvSpPr>
            <a:spLocks xmlns:a="http://schemas.openxmlformats.org/drawingml/2006/main" noGrp="1"/>
          </p:cNvSpPr>
          <p:nvPr/>
        </p:nvSpPr>
        <p:spPr>
          <a:xfrm xmlns:a="http://schemas.openxmlformats.org/drawingml/2006/main">
            <a:off x="257175" y="257175"/>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4" name="svg_text_004">
            <a:extLst xmlns:a="http://schemas.openxmlformats.org/drawingml/2006/main">
              <a:ext uri="{FF2B5EF4-FFF2-40B4-BE49-F238E27FC236}">
                <a16:creationId xmlns:a16="http://schemas.microsoft.com/office/drawing/2014/main" id="{CD052C6A-76FD-46E3-BF65-0ECDCF5B8C87}"/>
              </a:ext>
            </a:extLst>
          </p:cNvPr>
          <p:cNvSpPr>
            <a:spLocks xmlns:a="http://schemas.openxmlformats.org/drawingml/2006/main" noGrp="1"/>
          </p:cNvSpPr>
          <p:nvPr/>
        </p:nvSpPr>
        <p:spPr>
          <a:xfrm xmlns:a="http://schemas.openxmlformats.org/drawingml/2006/main">
            <a:off x="285750" y="2857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1</a:t>
            </a:r>
          </a:p>
        </p:txBody>
      </p:sp>
      <p:sp>
        <p:nvSpPr>
          <p:cNvPr id="5" name="svg_text_005">
            <a:extLst xmlns:a="http://schemas.openxmlformats.org/drawingml/2006/main">
              <a:ext uri="{FF2B5EF4-FFF2-40B4-BE49-F238E27FC236}">
                <a16:creationId xmlns:a16="http://schemas.microsoft.com/office/drawing/2014/main" id="{97BBDF8C-0BFB-4304-B577-BB4336182D81}"/>
              </a:ext>
            </a:extLst>
          </p:cNvPr>
          <p:cNvSpPr>
            <a:spLocks xmlns:a="http://schemas.openxmlformats.org/drawingml/2006/main" noGrp="1"/>
          </p:cNvSpPr>
          <p:nvPr/>
        </p:nvSpPr>
        <p:spPr>
          <a:xfrm xmlns:a="http://schemas.openxmlformats.org/drawingml/2006/main">
            <a:off x="904875" y="285064"/>
            <a:ext cx="7244334" cy="4398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2340" b="1" i="0">
                <a:solidFill>
                  <a:srgbClr val="0F1720"/>
                </a:solidFill>
                <a:latin typeface="Arial"/>
                <a:ea typeface="Arial"/>
                <a:cs typeface="Arial"/>
              </a:defRPr>
            </a:pPr>
            <a:r>
              <a:rPr sz="2340" b="1" i="0">
                <a:solidFill>
                  <a:srgbClr val="0F1720"/>
                </a:solidFill>
                <a:latin typeface="Arial"/>
                <a:ea typeface="Arial"/>
                <a:cs typeface="Arial"/>
              </a:rPr>
              <a:t>OFFLINE ENCODER ARCHITECTURE SEARCH</a:t>
            </a:r>
          </a:p>
        </p:txBody>
      </p:sp>
      <p:sp>
        <p:nvSpPr>
          <p:cNvPr id="6" name="svg_rect_006">
            <a:extLst xmlns:a="http://schemas.openxmlformats.org/drawingml/2006/main">
              <a:ext uri="{FF2B5EF4-FFF2-40B4-BE49-F238E27FC236}">
                <a16:creationId xmlns:a16="http://schemas.microsoft.com/office/drawing/2014/main" id="{5E5E3BFC-2215-4DC5-AFEC-D04E8B8E035F}"/>
              </a:ext>
            </a:extLst>
          </p:cNvPr>
          <p:cNvSpPr>
            <a:spLocks xmlns:a="http://schemas.openxmlformats.org/drawingml/2006/main" noGrp="1"/>
          </p:cNvSpPr>
          <p:nvPr/>
        </p:nvSpPr>
        <p:spPr>
          <a:xfrm xmlns:a="http://schemas.openxmlformats.org/drawingml/2006/main">
            <a:off x="20634960" y="316230"/>
            <a:ext cx="1783080" cy="396240"/>
          </a:xfrm>
          <a:prstGeom xmlns:a="http://schemas.openxmlformats.org/drawingml/2006/main" prst="roundRect">
            <a:avLst>
              <a:gd name="adj" fmla="val 21635"/>
            </a:avLst>
          </a:prstGeom>
          <a:solidFill xmlns:a="http://schemas.openxmlformats.org/drawingml/2006/main">
            <a:srgbClr val="E4F2FF"/>
          </a:solidFill>
          <a:ln xmlns:a="http://schemas.openxmlformats.org/drawingml/2006/main" w="18574">
            <a:solidFill>
              <a:srgbClr val="78AFE0"/>
            </a:solidFill>
            <a:prstDash val="solid"/>
          </a:ln>
        </p:spPr>
      </p:sp>
      <p:sp>
        <p:nvSpPr>
          <p:cNvPr id="7" name="svg_text_007">
            <a:extLst xmlns:a="http://schemas.openxmlformats.org/drawingml/2006/main">
              <a:ext uri="{FF2B5EF4-FFF2-40B4-BE49-F238E27FC236}">
                <a16:creationId xmlns:a16="http://schemas.microsoft.com/office/drawing/2014/main" id="{6CCA8A47-5AFC-4A66-B349-79D2E18560C3}"/>
              </a:ext>
            </a:extLst>
          </p:cNvPr>
          <p:cNvSpPr>
            <a:spLocks xmlns:a="http://schemas.openxmlformats.org/drawingml/2006/main" noGrp="1"/>
          </p:cNvSpPr>
          <p:nvPr/>
        </p:nvSpPr>
        <p:spPr>
          <a:xfrm xmlns:a="http://schemas.openxmlformats.org/drawingml/2006/main">
            <a:off x="20697368" y="368964"/>
            <a:ext cx="165826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588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Encoder Search Only</a:t>
            </a:r>
          </a:p>
        </p:txBody>
      </p:sp>
      <p:sp>
        <p:nvSpPr>
          <p:cNvPr id="8" name="svg_rect_008">
            <a:extLst xmlns:a="http://schemas.openxmlformats.org/drawingml/2006/main">
              <a:ext uri="{FF2B5EF4-FFF2-40B4-BE49-F238E27FC236}">
                <a16:creationId xmlns:a16="http://schemas.microsoft.com/office/drawing/2014/main" id="{5DEC1018-F2F5-4815-97F1-211C5AB28014}"/>
              </a:ext>
            </a:extLst>
          </p:cNvPr>
          <p:cNvSpPr>
            <a:spLocks xmlns:a="http://schemas.openxmlformats.org/drawingml/2006/main" noGrp="1"/>
          </p:cNvSpPr>
          <p:nvPr/>
        </p:nvSpPr>
        <p:spPr>
          <a:xfrm xmlns:a="http://schemas.openxmlformats.org/drawingml/2006/main">
            <a:off x="609600" y="983933"/>
            <a:ext cx="2971800" cy="842010"/>
          </a:xfrm>
          <a:prstGeom xmlns:a="http://schemas.openxmlformats.org/drawingml/2006/main" prst="roundRect">
            <a:avLst>
              <a:gd name="adj" fmla="val 9050"/>
            </a:avLst>
          </a:prstGeom>
          <a:solidFill xmlns:a="http://schemas.openxmlformats.org/drawingml/2006/main">
            <a:srgbClr val="EDF6FF"/>
          </a:solidFill>
          <a:ln xmlns:a="http://schemas.openxmlformats.org/drawingml/2006/main" w="24765">
            <a:solidFill>
              <a:srgbClr val="408FD2"/>
            </a:solidFill>
            <a:prstDash val="solid"/>
          </a:ln>
        </p:spPr>
      </p:sp>
      <p:sp>
        <p:nvSpPr>
          <p:cNvPr id="9" name="svg_text_009">
            <a:extLst xmlns:a="http://schemas.openxmlformats.org/drawingml/2006/main">
              <a:ext uri="{FF2B5EF4-FFF2-40B4-BE49-F238E27FC236}">
                <a16:creationId xmlns:a16="http://schemas.microsoft.com/office/drawing/2014/main" id="{534E621B-F347-4492-9125-C8E34AD1D08B}"/>
              </a:ext>
            </a:extLst>
          </p:cNvPr>
          <p:cNvSpPr>
            <a:spLocks xmlns:a="http://schemas.openxmlformats.org/drawingml/2006/main" noGrp="1"/>
          </p:cNvSpPr>
          <p:nvPr/>
        </p:nvSpPr>
        <p:spPr>
          <a:xfrm xmlns:a="http://schemas.openxmlformats.org/drawingml/2006/main">
            <a:off x="704850" y="1102389"/>
            <a:ext cx="278130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Candidate Encoder Space</a:t>
            </a:r>
          </a:p>
        </p:txBody>
      </p:sp>
      <p:sp>
        <p:nvSpPr>
          <p:cNvPr id="10" name="svg_text_010">
            <a:extLst xmlns:a="http://schemas.openxmlformats.org/drawingml/2006/main">
              <a:ext uri="{FF2B5EF4-FFF2-40B4-BE49-F238E27FC236}">
                <a16:creationId xmlns:a16="http://schemas.microsoft.com/office/drawing/2014/main" id="{F172FC5D-FAFD-439D-80C9-4A7FD834E307}"/>
              </a:ext>
            </a:extLst>
          </p:cNvPr>
          <p:cNvSpPr>
            <a:spLocks xmlns:a="http://schemas.openxmlformats.org/drawingml/2006/main" noGrp="1"/>
          </p:cNvSpPr>
          <p:nvPr/>
        </p:nvSpPr>
        <p:spPr>
          <a:xfrm xmlns:a="http://schemas.openxmlformats.org/drawingml/2006/main">
            <a:off x="704850" y="1390021"/>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candidate blocks, widths and depths</a:t>
            </a:r>
          </a:p>
        </p:txBody>
      </p:sp>
      <p:sp>
        <p:nvSpPr>
          <p:cNvPr id="11" name="svg_path_011">
            <a:extLst xmlns:a="http://schemas.openxmlformats.org/drawingml/2006/main">
              <a:ext uri="{FF2B5EF4-FFF2-40B4-BE49-F238E27FC236}">
                <a16:creationId xmlns:a16="http://schemas.microsoft.com/office/drawing/2014/main" id="{2E703A7E-5437-4746-91C1-CF42957C586A}"/>
              </a:ext>
            </a:extLst>
          </p:cNvPr>
          <p:cNvSpPr>
            <a:spLocks xmlns:a="http://schemas.openxmlformats.org/drawingml/2006/main" noGrp="1"/>
          </p:cNvSpPr>
          <p:nvPr/>
        </p:nvSpPr>
        <p:spPr>
          <a:xfrm xmlns:a="http://schemas.openxmlformats.org/drawingml/2006/main">
            <a:off x="3524250"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12" name="svg_arrowhead_012">
            <a:extLst xmlns:a="http://schemas.openxmlformats.org/drawingml/2006/main">
              <a:ext uri="{FF2B5EF4-FFF2-40B4-BE49-F238E27FC236}">
                <a16:creationId xmlns:a16="http://schemas.microsoft.com/office/drawing/2014/main" id="{2DC4ED67-85F8-4C13-A87D-15B93ABB78BA}"/>
              </a:ext>
            </a:extLst>
          </p:cNvPr>
          <p:cNvSpPr>
            <a:spLocks xmlns:a="http://schemas.openxmlformats.org/drawingml/2006/main" noGrp="1"/>
          </p:cNvSpPr>
          <p:nvPr/>
        </p:nvSpPr>
        <p:spPr>
          <a:xfrm xmlns:a="http://schemas.openxmlformats.org/drawingml/2006/main">
            <a:off x="4152900"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3" name="svg_rect_013">
            <a:extLst xmlns:a="http://schemas.openxmlformats.org/drawingml/2006/main">
              <a:ext uri="{FF2B5EF4-FFF2-40B4-BE49-F238E27FC236}">
                <a16:creationId xmlns:a16="http://schemas.microsoft.com/office/drawing/2014/main" id="{F963DD27-229F-45FE-BE10-296F5EAB4D99}"/>
              </a:ext>
            </a:extLst>
          </p:cNvPr>
          <p:cNvSpPr>
            <a:spLocks xmlns:a="http://schemas.openxmlformats.org/drawingml/2006/main" noGrp="1"/>
          </p:cNvSpPr>
          <p:nvPr/>
        </p:nvSpPr>
        <p:spPr>
          <a:xfrm xmlns:a="http://schemas.openxmlformats.org/drawingml/2006/main">
            <a:off x="4216718" y="884872"/>
            <a:ext cx="361569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14" name="svg_text_014">
            <a:extLst xmlns:a="http://schemas.openxmlformats.org/drawingml/2006/main">
              <a:ext uri="{FF2B5EF4-FFF2-40B4-BE49-F238E27FC236}">
                <a16:creationId xmlns:a16="http://schemas.microsoft.com/office/drawing/2014/main" id="{19612693-57B6-4631-9DE2-88167781F10E}"/>
              </a:ext>
            </a:extLst>
          </p:cNvPr>
          <p:cNvSpPr>
            <a:spLocks xmlns:a="http://schemas.openxmlformats.org/drawingml/2006/main" noGrp="1"/>
          </p:cNvSpPr>
          <p:nvPr/>
        </p:nvSpPr>
        <p:spPr>
          <a:xfrm xmlns:a="http://schemas.openxmlformats.org/drawingml/2006/main">
            <a:off x="4311968" y="1016664"/>
            <a:ext cx="34251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Teacher-Guided Proxy Training</a:t>
            </a:r>
          </a:p>
        </p:txBody>
      </p:sp>
      <p:sp>
        <p:nvSpPr>
          <p:cNvPr id="15" name="svg_text_015">
            <a:extLst xmlns:a="http://schemas.openxmlformats.org/drawingml/2006/main">
              <a:ext uri="{FF2B5EF4-FFF2-40B4-BE49-F238E27FC236}">
                <a16:creationId xmlns:a16="http://schemas.microsoft.com/office/drawing/2014/main" id="{7780C78C-F2C1-408C-BF9B-D8663D34A434}"/>
              </a:ext>
            </a:extLst>
          </p:cNvPr>
          <p:cNvSpPr>
            <a:spLocks xmlns:a="http://schemas.openxmlformats.org/drawingml/2006/main" noGrp="1"/>
          </p:cNvSpPr>
          <p:nvPr/>
        </p:nvSpPr>
        <p:spPr>
          <a:xfrm xmlns:a="http://schemas.openxmlformats.org/drawingml/2006/main">
            <a:off x="4311968" y="12947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Teacher → distillation → Student</a:t>
            </a:r>
          </a:p>
        </p:txBody>
      </p:sp>
      <p:sp>
        <p:nvSpPr>
          <p:cNvPr id="16" name="svg_text_016">
            <a:extLst xmlns:a="http://schemas.openxmlformats.org/drawingml/2006/main">
              <a:ext uri="{FF2B5EF4-FFF2-40B4-BE49-F238E27FC236}">
                <a16:creationId xmlns:a16="http://schemas.microsoft.com/office/drawing/2014/main" id="{454FFA4C-7719-4072-A57D-B0E716E88C3C}"/>
              </a:ext>
            </a:extLst>
          </p:cNvPr>
          <p:cNvSpPr>
            <a:spLocks xmlns:a="http://schemas.openxmlformats.org/drawingml/2006/main" noGrp="1"/>
          </p:cNvSpPr>
          <p:nvPr/>
        </p:nvSpPr>
        <p:spPr>
          <a:xfrm xmlns:a="http://schemas.openxmlformats.org/drawingml/2006/main">
            <a:off x="4311968" y="15233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short proxy training for every candidate</a:t>
            </a:r>
          </a:p>
        </p:txBody>
      </p:sp>
      <p:sp>
        <p:nvSpPr>
          <p:cNvPr id="17" name="svg_path_017">
            <a:extLst xmlns:a="http://schemas.openxmlformats.org/drawingml/2006/main">
              <a:ext uri="{FF2B5EF4-FFF2-40B4-BE49-F238E27FC236}">
                <a16:creationId xmlns:a16="http://schemas.microsoft.com/office/drawing/2014/main" id="{CD021694-CB56-4EF7-B2F9-09534C1CB8BA}"/>
              </a:ext>
            </a:extLst>
          </p:cNvPr>
          <p:cNvSpPr>
            <a:spLocks xmlns:a="http://schemas.openxmlformats.org/drawingml/2006/main" noGrp="1"/>
          </p:cNvSpPr>
          <p:nvPr/>
        </p:nvSpPr>
        <p:spPr>
          <a:xfrm xmlns:a="http://schemas.openxmlformats.org/drawingml/2006/main">
            <a:off x="7762875"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18" name="svg_arrowhead_018">
            <a:extLst xmlns:a="http://schemas.openxmlformats.org/drawingml/2006/main">
              <a:ext uri="{FF2B5EF4-FFF2-40B4-BE49-F238E27FC236}">
                <a16:creationId xmlns:a16="http://schemas.microsoft.com/office/drawing/2014/main" id="{AB7773FD-94BD-4D72-8CEF-0D40A362C7BE}"/>
              </a:ext>
            </a:extLst>
          </p:cNvPr>
          <p:cNvSpPr>
            <a:spLocks xmlns:a="http://schemas.openxmlformats.org/drawingml/2006/main" noGrp="1"/>
          </p:cNvSpPr>
          <p:nvPr/>
        </p:nvSpPr>
        <p:spPr>
          <a:xfrm xmlns:a="http://schemas.openxmlformats.org/drawingml/2006/main">
            <a:off x="8391525"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9" name="svg_rect_019">
            <a:extLst xmlns:a="http://schemas.openxmlformats.org/drawingml/2006/main">
              <a:ext uri="{FF2B5EF4-FFF2-40B4-BE49-F238E27FC236}">
                <a16:creationId xmlns:a16="http://schemas.microsoft.com/office/drawing/2014/main" id="{E46EF0C1-7EEA-456A-981B-80770663591D}"/>
              </a:ext>
            </a:extLst>
          </p:cNvPr>
          <p:cNvSpPr>
            <a:spLocks xmlns:a="http://schemas.openxmlformats.org/drawingml/2006/main" noGrp="1"/>
          </p:cNvSpPr>
          <p:nvPr/>
        </p:nvSpPr>
        <p:spPr>
          <a:xfrm xmlns:a="http://schemas.openxmlformats.org/drawingml/2006/main">
            <a:off x="8455343" y="884872"/>
            <a:ext cx="361569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20" name="svg_text_020">
            <a:extLst xmlns:a="http://schemas.openxmlformats.org/drawingml/2006/main">
              <a:ext uri="{FF2B5EF4-FFF2-40B4-BE49-F238E27FC236}">
                <a16:creationId xmlns:a16="http://schemas.microsoft.com/office/drawing/2014/main" id="{281CB7CD-0A9C-4EC1-BCFD-3EB1B8F9D42C}"/>
              </a:ext>
            </a:extLst>
          </p:cNvPr>
          <p:cNvSpPr>
            <a:spLocks xmlns:a="http://schemas.openxmlformats.org/drawingml/2006/main" noGrp="1"/>
          </p:cNvSpPr>
          <p:nvPr/>
        </p:nvSpPr>
        <p:spPr>
          <a:xfrm xmlns:a="http://schemas.openxmlformats.org/drawingml/2006/main">
            <a:off x="8550593" y="1016664"/>
            <a:ext cx="34251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Resource and Quality Profiling</a:t>
            </a:r>
          </a:p>
        </p:txBody>
      </p:sp>
      <p:sp>
        <p:nvSpPr>
          <p:cNvPr id="21" name="svg_text_021">
            <a:extLst xmlns:a="http://schemas.openxmlformats.org/drawingml/2006/main">
              <a:ext uri="{FF2B5EF4-FFF2-40B4-BE49-F238E27FC236}">
                <a16:creationId xmlns:a16="http://schemas.microsoft.com/office/drawing/2014/main" id="{8E2E0973-FF12-4A2E-8E8E-868A7610D700}"/>
              </a:ext>
            </a:extLst>
          </p:cNvPr>
          <p:cNvSpPr>
            <a:spLocks xmlns:a="http://schemas.openxmlformats.org/drawingml/2006/main" noGrp="1"/>
          </p:cNvSpPr>
          <p:nvPr/>
        </p:nvSpPr>
        <p:spPr>
          <a:xfrm xmlns:a="http://schemas.openxmlformats.org/drawingml/2006/main">
            <a:off x="8550593" y="12947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quality ↑ · latency ↓ · model size ↓</a:t>
            </a:r>
          </a:p>
        </p:txBody>
      </p:sp>
      <p:sp>
        <p:nvSpPr>
          <p:cNvPr id="22" name="svg_text_022">
            <a:extLst xmlns:a="http://schemas.openxmlformats.org/drawingml/2006/main">
              <a:ext uri="{FF2B5EF4-FFF2-40B4-BE49-F238E27FC236}">
                <a16:creationId xmlns:a16="http://schemas.microsoft.com/office/drawing/2014/main" id="{416F3AE2-73D2-4106-A8CF-8FDAC36C7B51}"/>
              </a:ext>
            </a:extLst>
          </p:cNvPr>
          <p:cNvSpPr>
            <a:spLocks xmlns:a="http://schemas.openxmlformats.org/drawingml/2006/main" noGrp="1"/>
          </p:cNvSpPr>
          <p:nvPr/>
        </p:nvSpPr>
        <p:spPr>
          <a:xfrm xmlns:a="http://schemas.openxmlformats.org/drawingml/2006/main">
            <a:off x="8550593" y="15233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one point per candidate encoder</a:t>
            </a:r>
          </a:p>
        </p:txBody>
      </p:sp>
      <p:sp>
        <p:nvSpPr>
          <p:cNvPr id="23" name="svg_path_023">
            <a:extLst xmlns:a="http://schemas.openxmlformats.org/drawingml/2006/main">
              <a:ext uri="{FF2B5EF4-FFF2-40B4-BE49-F238E27FC236}">
                <a16:creationId xmlns:a16="http://schemas.microsoft.com/office/drawing/2014/main" id="{712D43EA-21C0-4379-85E2-25D6DE8D4670}"/>
              </a:ext>
            </a:extLst>
          </p:cNvPr>
          <p:cNvSpPr>
            <a:spLocks xmlns:a="http://schemas.openxmlformats.org/drawingml/2006/main" noGrp="1"/>
          </p:cNvSpPr>
          <p:nvPr/>
        </p:nvSpPr>
        <p:spPr>
          <a:xfrm xmlns:a="http://schemas.openxmlformats.org/drawingml/2006/main">
            <a:off x="12001500"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24" name="svg_arrowhead_024">
            <a:extLst xmlns:a="http://schemas.openxmlformats.org/drawingml/2006/main">
              <a:ext uri="{FF2B5EF4-FFF2-40B4-BE49-F238E27FC236}">
                <a16:creationId xmlns:a16="http://schemas.microsoft.com/office/drawing/2014/main" id="{9BA3D71E-5F26-4DFF-8A37-8DC625EB9A63}"/>
              </a:ext>
            </a:extLst>
          </p:cNvPr>
          <p:cNvSpPr>
            <a:spLocks xmlns:a="http://schemas.openxmlformats.org/drawingml/2006/main" noGrp="1"/>
          </p:cNvSpPr>
          <p:nvPr/>
        </p:nvSpPr>
        <p:spPr>
          <a:xfrm xmlns:a="http://schemas.openxmlformats.org/drawingml/2006/main">
            <a:off x="12630150"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5" name="svg_rect_025">
            <a:extLst xmlns:a="http://schemas.openxmlformats.org/drawingml/2006/main">
              <a:ext uri="{FF2B5EF4-FFF2-40B4-BE49-F238E27FC236}">
                <a16:creationId xmlns:a16="http://schemas.microsoft.com/office/drawing/2014/main" id="{DC2675BE-B05F-428F-AE6A-7330B018C22A}"/>
              </a:ext>
            </a:extLst>
          </p:cNvPr>
          <p:cNvSpPr>
            <a:spLocks xmlns:a="http://schemas.openxmlformats.org/drawingml/2006/main" noGrp="1"/>
          </p:cNvSpPr>
          <p:nvPr/>
        </p:nvSpPr>
        <p:spPr>
          <a:xfrm xmlns:a="http://schemas.openxmlformats.org/drawingml/2006/main">
            <a:off x="12708255" y="983933"/>
            <a:ext cx="2872740" cy="842010"/>
          </a:xfrm>
          <a:prstGeom xmlns:a="http://schemas.openxmlformats.org/drawingml/2006/main" prst="roundRect">
            <a:avLst>
              <a:gd name="adj" fmla="val 9050"/>
            </a:avLst>
          </a:prstGeom>
          <a:solidFill xmlns:a="http://schemas.openxmlformats.org/drawingml/2006/main">
            <a:srgbClr val="EDF6FF"/>
          </a:solidFill>
          <a:ln xmlns:a="http://schemas.openxmlformats.org/drawingml/2006/main" w="24765">
            <a:solidFill>
              <a:srgbClr val="408FD2"/>
            </a:solidFill>
            <a:prstDash val="solid"/>
          </a:ln>
        </p:spPr>
      </p:sp>
      <p:sp>
        <p:nvSpPr>
          <p:cNvPr id="26" name="svg_text_026">
            <a:extLst xmlns:a="http://schemas.openxmlformats.org/drawingml/2006/main">
              <a:ext uri="{FF2B5EF4-FFF2-40B4-BE49-F238E27FC236}">
                <a16:creationId xmlns:a16="http://schemas.microsoft.com/office/drawing/2014/main" id="{56820E43-87DE-4A3D-8956-A931177F0C18}"/>
              </a:ext>
            </a:extLst>
          </p:cNvPr>
          <p:cNvSpPr>
            <a:spLocks xmlns:a="http://schemas.openxmlformats.org/drawingml/2006/main" noGrp="1"/>
          </p:cNvSpPr>
          <p:nvPr/>
        </p:nvSpPr>
        <p:spPr>
          <a:xfrm xmlns:a="http://schemas.openxmlformats.org/drawingml/2006/main">
            <a:off x="12803505" y="1102389"/>
            <a:ext cx="26822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Pareto Selection</a:t>
            </a:r>
          </a:p>
        </p:txBody>
      </p:sp>
      <p:sp>
        <p:nvSpPr>
          <p:cNvPr id="27" name="svg_text_027">
            <a:extLst xmlns:a="http://schemas.openxmlformats.org/drawingml/2006/main">
              <a:ext uri="{FF2B5EF4-FFF2-40B4-BE49-F238E27FC236}">
                <a16:creationId xmlns:a16="http://schemas.microsoft.com/office/drawing/2014/main" id="{BA4C39B7-2F6A-4DDA-AD57-339899270539}"/>
              </a:ext>
            </a:extLst>
          </p:cNvPr>
          <p:cNvSpPr>
            <a:spLocks xmlns:a="http://schemas.openxmlformats.org/drawingml/2006/main" noGrp="1"/>
          </p:cNvSpPr>
          <p:nvPr/>
        </p:nvSpPr>
        <p:spPr>
          <a:xfrm xmlns:a="http://schemas.openxmlformats.org/drawingml/2006/main">
            <a:off x="12803505" y="1390021"/>
            <a:ext cx="2682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quality versus resource cost</a:t>
            </a:r>
          </a:p>
        </p:txBody>
      </p:sp>
      <p:sp>
        <p:nvSpPr>
          <p:cNvPr id="28" name="svg_path_028">
            <a:extLst xmlns:a="http://schemas.openxmlformats.org/drawingml/2006/main">
              <a:ext uri="{FF2B5EF4-FFF2-40B4-BE49-F238E27FC236}">
                <a16:creationId xmlns:a16="http://schemas.microsoft.com/office/drawing/2014/main" id="{364F038F-6C85-4B4E-B460-881E2D41A65A}"/>
              </a:ext>
            </a:extLst>
          </p:cNvPr>
          <p:cNvSpPr>
            <a:spLocks xmlns:a="http://schemas.openxmlformats.org/drawingml/2006/main" noGrp="1"/>
          </p:cNvSpPr>
          <p:nvPr/>
        </p:nvSpPr>
        <p:spPr>
          <a:xfrm xmlns:a="http://schemas.openxmlformats.org/drawingml/2006/main">
            <a:off x="15525750" y="1400175"/>
            <a:ext cx="762000" cy="9525"/>
          </a:xfrm>
          <a:custGeom xmlns:a="http://schemas.openxmlformats.org/drawingml/2006/main">
            <a:pathLst>
              <a:path w="762000" h="9525">
                <a:moveTo>
                  <a:pt x="0" y="0"/>
                </a:moveTo>
                <a:lnTo>
                  <a:pt x="762000" y="0"/>
                </a:lnTo>
              </a:path>
            </a:pathLst>
          </a:custGeom>
          <a:noFill xmlns:a="http://schemas.openxmlformats.org/drawingml/2006/main"/>
          <a:ln xmlns:a="http://schemas.openxmlformats.org/drawingml/2006/main" w="30956">
            <a:solidFill>
              <a:srgbClr val="2386D8"/>
            </a:solidFill>
            <a:prstDash val="solid"/>
          </a:ln>
        </p:spPr>
      </p:sp>
      <p:sp>
        <p:nvSpPr>
          <p:cNvPr id="29" name="svg_arrowhead_029">
            <a:extLst xmlns:a="http://schemas.openxmlformats.org/drawingml/2006/main">
              <a:ext uri="{FF2B5EF4-FFF2-40B4-BE49-F238E27FC236}">
                <a16:creationId xmlns:a16="http://schemas.microsoft.com/office/drawing/2014/main" id="{3987B834-ED93-4064-80CA-03B249A405D7}"/>
              </a:ext>
            </a:extLst>
          </p:cNvPr>
          <p:cNvSpPr>
            <a:spLocks xmlns:a="http://schemas.openxmlformats.org/drawingml/2006/main" noGrp="1"/>
          </p:cNvSpPr>
          <p:nvPr/>
        </p:nvSpPr>
        <p:spPr>
          <a:xfrm xmlns:a="http://schemas.openxmlformats.org/drawingml/2006/main">
            <a:off x="16154400" y="13335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0" name="svg_rect_030">
            <a:extLst xmlns:a="http://schemas.openxmlformats.org/drawingml/2006/main">
              <a:ext uri="{FF2B5EF4-FFF2-40B4-BE49-F238E27FC236}">
                <a16:creationId xmlns:a16="http://schemas.microsoft.com/office/drawing/2014/main" id="{E89BDB28-F9D6-4E81-AAE7-31782D4DBADA}"/>
              </a:ext>
            </a:extLst>
          </p:cNvPr>
          <p:cNvSpPr>
            <a:spLocks xmlns:a="http://schemas.openxmlformats.org/drawingml/2006/main" noGrp="1"/>
          </p:cNvSpPr>
          <p:nvPr/>
        </p:nvSpPr>
        <p:spPr>
          <a:xfrm xmlns:a="http://schemas.openxmlformats.org/drawingml/2006/main">
            <a:off x="16218218" y="884872"/>
            <a:ext cx="361569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31" name="svg_text_031">
            <a:extLst xmlns:a="http://schemas.openxmlformats.org/drawingml/2006/main">
              <a:ext uri="{FF2B5EF4-FFF2-40B4-BE49-F238E27FC236}">
                <a16:creationId xmlns:a16="http://schemas.microsoft.com/office/drawing/2014/main" id="{CE3AD93D-9DBE-49AC-AA7D-3C5E86F18CB2}"/>
              </a:ext>
            </a:extLst>
          </p:cNvPr>
          <p:cNvSpPr>
            <a:spLocks xmlns:a="http://schemas.openxmlformats.org/drawingml/2006/main" noGrp="1"/>
          </p:cNvSpPr>
          <p:nvPr/>
        </p:nvSpPr>
        <p:spPr>
          <a:xfrm xmlns:a="http://schemas.openxmlformats.org/drawingml/2006/main">
            <a:off x="16313468" y="1016664"/>
            <a:ext cx="34251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NAS-Selected Encoder</a:t>
            </a:r>
          </a:p>
        </p:txBody>
      </p:sp>
      <p:sp>
        <p:nvSpPr>
          <p:cNvPr id="32" name="svg_text_032">
            <a:extLst xmlns:a="http://schemas.openxmlformats.org/drawingml/2006/main">
              <a:ext uri="{FF2B5EF4-FFF2-40B4-BE49-F238E27FC236}">
                <a16:creationId xmlns:a16="http://schemas.microsoft.com/office/drawing/2014/main" id="{81037E52-2629-4C37-B326-B89C7D3CCFC0}"/>
              </a:ext>
            </a:extLst>
          </p:cNvPr>
          <p:cNvSpPr>
            <a:spLocks xmlns:a="http://schemas.openxmlformats.org/drawingml/2006/main" noGrp="1"/>
          </p:cNvSpPr>
          <p:nvPr/>
        </p:nvSpPr>
        <p:spPr>
          <a:xfrm xmlns:a="http://schemas.openxmlformats.org/drawingml/2006/main">
            <a:off x="16313468" y="12947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selected architecture only</a:t>
            </a:r>
          </a:p>
        </p:txBody>
      </p:sp>
      <p:sp>
        <p:nvSpPr>
          <p:cNvPr id="33" name="svg_text_033">
            <a:extLst xmlns:a="http://schemas.openxmlformats.org/drawingml/2006/main">
              <a:ext uri="{FF2B5EF4-FFF2-40B4-BE49-F238E27FC236}">
                <a16:creationId xmlns:a16="http://schemas.microsoft.com/office/drawing/2014/main" id="{35051859-F68F-4DCC-88B6-4049C538FAEA}"/>
              </a:ext>
            </a:extLst>
          </p:cNvPr>
          <p:cNvSpPr>
            <a:spLocks xmlns:a="http://schemas.openxmlformats.org/drawingml/2006/main" noGrp="1"/>
          </p:cNvSpPr>
          <p:nvPr/>
        </p:nvSpPr>
        <p:spPr>
          <a:xfrm xmlns:a="http://schemas.openxmlformats.org/drawingml/2006/main">
            <a:off x="16313468" y="1523371"/>
            <a:ext cx="34251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used for full codec training</a:t>
            </a:r>
          </a:p>
        </p:txBody>
      </p:sp>
      <p:sp>
        <p:nvSpPr>
          <p:cNvPr id="34" name="svg_path_034">
            <a:extLst xmlns:a="http://schemas.openxmlformats.org/drawingml/2006/main">
              <a:ext uri="{FF2B5EF4-FFF2-40B4-BE49-F238E27FC236}">
                <a16:creationId xmlns:a16="http://schemas.microsoft.com/office/drawing/2014/main" id="{A0EFF1E5-3435-498F-A342-D13844892866}"/>
              </a:ext>
            </a:extLst>
          </p:cNvPr>
          <p:cNvSpPr>
            <a:spLocks xmlns:a="http://schemas.openxmlformats.org/drawingml/2006/main" noGrp="1"/>
          </p:cNvSpPr>
          <p:nvPr/>
        </p:nvSpPr>
        <p:spPr>
          <a:xfrm xmlns:a="http://schemas.openxmlformats.org/drawingml/2006/main">
            <a:off x="2762250" y="1905000"/>
            <a:ext cx="15259050" cy="1857375"/>
          </a:xfrm>
          <a:custGeom xmlns:a="http://schemas.openxmlformats.org/drawingml/2006/main">
            <a:pathLst>
              <a:path w="15259050" h="1857375">
                <a:moveTo>
                  <a:pt x="15259050" y="0"/>
                </a:moveTo>
                <a:lnTo>
                  <a:pt x="15259050" y="361950"/>
                </a:lnTo>
                <a:lnTo>
                  <a:pt x="0" y="361950"/>
                </a:lnTo>
                <a:lnTo>
                  <a:pt x="0" y="1857375"/>
                </a:lnTo>
              </a:path>
            </a:pathLst>
          </a:custGeom>
          <a:noFill xmlns:a="http://schemas.openxmlformats.org/drawingml/2006/main"/>
          <a:ln xmlns:a="http://schemas.openxmlformats.org/drawingml/2006/main" w="24765">
            <a:solidFill>
              <a:srgbClr val="2386D8"/>
            </a:solidFill>
            <a:prstDash val="dash"/>
          </a:ln>
        </p:spPr>
      </p:sp>
      <p:sp>
        <p:nvSpPr>
          <p:cNvPr id="35" name="svg_arrowhead_035">
            <a:extLst xmlns:a="http://schemas.openxmlformats.org/drawingml/2006/main">
              <a:ext uri="{FF2B5EF4-FFF2-40B4-BE49-F238E27FC236}">
                <a16:creationId xmlns:a16="http://schemas.microsoft.com/office/drawing/2014/main" id="{5980B8DA-6546-4192-9726-664DE3A9930C}"/>
              </a:ext>
            </a:extLst>
          </p:cNvPr>
          <p:cNvSpPr>
            <a:spLocks xmlns:a="http://schemas.openxmlformats.org/drawingml/2006/main" noGrp="1"/>
          </p:cNvSpPr>
          <p:nvPr/>
        </p:nvSpPr>
        <p:spPr>
          <a:xfrm xmlns:a="http://schemas.openxmlformats.org/drawingml/2006/main">
            <a:off x="2695575" y="3629025"/>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6" name="svg_rect_036">
            <a:extLst xmlns:a="http://schemas.openxmlformats.org/drawingml/2006/main">
              <a:ext uri="{FF2B5EF4-FFF2-40B4-BE49-F238E27FC236}">
                <a16:creationId xmlns:a16="http://schemas.microsoft.com/office/drawing/2014/main" id="{6EC3BB2B-4FCA-4BE6-A943-173B4DACA960}"/>
              </a:ext>
            </a:extLst>
          </p:cNvPr>
          <p:cNvSpPr>
            <a:spLocks xmlns:a="http://schemas.openxmlformats.org/drawingml/2006/main" noGrp="1"/>
          </p:cNvSpPr>
          <p:nvPr/>
        </p:nvSpPr>
        <p:spPr>
          <a:xfrm xmlns:a="http://schemas.openxmlformats.org/drawingml/2006/main">
            <a:off x="190500" y="2619375"/>
            <a:ext cx="11144250"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24765">
            <a:solidFill>
              <a:srgbClr val="7DB5E8"/>
            </a:solidFill>
            <a:prstDash val="dash"/>
          </a:ln>
        </p:spPr>
      </p:sp>
      <p:sp>
        <p:nvSpPr>
          <p:cNvPr id="37" name="svg_circle_037">
            <a:extLst xmlns:a="http://schemas.openxmlformats.org/drawingml/2006/main">
              <a:ext uri="{FF2B5EF4-FFF2-40B4-BE49-F238E27FC236}">
                <a16:creationId xmlns:a16="http://schemas.microsoft.com/office/drawing/2014/main" id="{8EB0A16B-EC79-41CC-A068-5066DA3C2BD3}"/>
              </a:ext>
            </a:extLst>
          </p:cNvPr>
          <p:cNvSpPr>
            <a:spLocks xmlns:a="http://schemas.openxmlformats.org/drawingml/2006/main" noGrp="1"/>
          </p:cNvSpPr>
          <p:nvPr/>
        </p:nvSpPr>
        <p:spPr>
          <a:xfrm xmlns:a="http://schemas.openxmlformats.org/drawingml/2006/main">
            <a:off x="257175" y="2686050"/>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38" name="svg_text_038">
            <a:extLst xmlns:a="http://schemas.openxmlformats.org/drawingml/2006/main">
              <a:ext uri="{FF2B5EF4-FFF2-40B4-BE49-F238E27FC236}">
                <a16:creationId xmlns:a16="http://schemas.microsoft.com/office/drawing/2014/main" id="{EC179BEC-CD11-46B5-9C20-6EE50F287B22}"/>
              </a:ext>
            </a:extLst>
          </p:cNvPr>
          <p:cNvSpPr>
            <a:spLocks xmlns:a="http://schemas.openxmlformats.org/drawingml/2006/main" noGrp="1"/>
          </p:cNvSpPr>
          <p:nvPr/>
        </p:nvSpPr>
        <p:spPr>
          <a:xfrm xmlns:a="http://schemas.openxmlformats.org/drawingml/2006/main">
            <a:off x="285750" y="27146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2</a:t>
            </a:r>
          </a:p>
        </p:txBody>
      </p:sp>
      <p:sp>
        <p:nvSpPr>
          <p:cNvPr id="39" name="svg_text_039">
            <a:extLst xmlns:a="http://schemas.openxmlformats.org/drawingml/2006/main">
              <a:ext uri="{FF2B5EF4-FFF2-40B4-BE49-F238E27FC236}">
                <a16:creationId xmlns:a16="http://schemas.microsoft.com/office/drawing/2014/main" id="{A4B33121-132B-493C-98A1-C01B9A1696BC}"/>
              </a:ext>
            </a:extLst>
          </p:cNvPr>
          <p:cNvSpPr>
            <a:spLocks xmlns:a="http://schemas.openxmlformats.org/drawingml/2006/main" noGrp="1"/>
          </p:cNvSpPr>
          <p:nvPr/>
        </p:nvSpPr>
        <p:spPr>
          <a:xfrm xmlns:a="http://schemas.openxmlformats.org/drawingml/2006/main">
            <a:off x="904875" y="2713939"/>
            <a:ext cx="7244334" cy="4398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2340" b="1" i="0">
                <a:solidFill>
                  <a:srgbClr val="0F1720"/>
                </a:solidFill>
                <a:latin typeface="Arial"/>
                <a:ea typeface="Arial"/>
                <a:cs typeface="Arial"/>
              </a:defRPr>
            </a:pPr>
            <a:r>
              <a:rPr sz="2340" b="1" i="0">
                <a:solidFill>
                  <a:srgbClr val="0F1720"/>
                </a:solidFill>
                <a:latin typeface="Arial"/>
                <a:ea typeface="Arial"/>
                <a:cs typeface="Arial"/>
              </a:rPr>
              <a:t>SPEECH ENCODING AND THREE-LAYER RVQ</a:t>
            </a:r>
          </a:p>
        </p:txBody>
      </p:sp>
      <p:sp>
        <p:nvSpPr>
          <p:cNvPr id="40" name="svg_rect_040">
            <a:extLst xmlns:a="http://schemas.openxmlformats.org/drawingml/2006/main">
              <a:ext uri="{FF2B5EF4-FFF2-40B4-BE49-F238E27FC236}">
                <a16:creationId xmlns:a16="http://schemas.microsoft.com/office/drawing/2014/main" id="{59A110C7-5174-4ED0-A88D-64D028310840}"/>
              </a:ext>
            </a:extLst>
          </p:cNvPr>
          <p:cNvSpPr>
            <a:spLocks xmlns:a="http://schemas.openxmlformats.org/drawingml/2006/main" noGrp="1"/>
          </p:cNvSpPr>
          <p:nvPr/>
        </p:nvSpPr>
        <p:spPr>
          <a:xfrm xmlns:a="http://schemas.openxmlformats.org/drawingml/2006/main">
            <a:off x="404813" y="3837623"/>
            <a:ext cx="123825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41" name="svg_text_041">
            <a:extLst xmlns:a="http://schemas.openxmlformats.org/drawingml/2006/main">
              <a:ext uri="{FF2B5EF4-FFF2-40B4-BE49-F238E27FC236}">
                <a16:creationId xmlns:a16="http://schemas.microsoft.com/office/drawing/2014/main" id="{9B14E784-B00B-488A-88D8-B93A97C1432C}"/>
              </a:ext>
            </a:extLst>
          </p:cNvPr>
          <p:cNvSpPr>
            <a:spLocks xmlns:a="http://schemas.openxmlformats.org/drawingml/2006/main" noGrp="1"/>
          </p:cNvSpPr>
          <p:nvPr/>
        </p:nvSpPr>
        <p:spPr>
          <a:xfrm xmlns:a="http://schemas.openxmlformats.org/drawingml/2006/main">
            <a:off x="448151" y="4036089"/>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16 kHz</a:t>
            </a:r>
          </a:p>
        </p:txBody>
      </p:sp>
      <p:sp>
        <p:nvSpPr>
          <p:cNvPr id="42" name="svg_text_042">
            <a:extLst xmlns:a="http://schemas.openxmlformats.org/drawingml/2006/main">
              <a:ext uri="{FF2B5EF4-FFF2-40B4-BE49-F238E27FC236}">
                <a16:creationId xmlns:a16="http://schemas.microsoft.com/office/drawing/2014/main" id="{300F8658-C0C5-4806-9572-253780F9662A}"/>
              </a:ext>
            </a:extLst>
          </p:cNvPr>
          <p:cNvSpPr>
            <a:spLocks xmlns:a="http://schemas.openxmlformats.org/drawingml/2006/main" noGrp="1"/>
          </p:cNvSpPr>
          <p:nvPr/>
        </p:nvSpPr>
        <p:spPr>
          <a:xfrm xmlns:a="http://schemas.openxmlformats.org/drawingml/2006/main">
            <a:off x="448151" y="42932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583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Input Speech</a:t>
            </a:r>
          </a:p>
        </p:txBody>
      </p:sp>
      <p:sp>
        <p:nvSpPr>
          <p:cNvPr id="43" name="svg_path_043">
            <a:extLst xmlns:a="http://schemas.openxmlformats.org/drawingml/2006/main">
              <a:ext uri="{FF2B5EF4-FFF2-40B4-BE49-F238E27FC236}">
                <a16:creationId xmlns:a16="http://schemas.microsoft.com/office/drawing/2014/main" id="{9CFA1ADC-C7F1-4730-8DED-6B0A81A7C98D}"/>
              </a:ext>
            </a:extLst>
          </p:cNvPr>
          <p:cNvSpPr>
            <a:spLocks xmlns:a="http://schemas.openxmlformats.org/drawingml/2006/main" noGrp="1"/>
          </p:cNvSpPr>
          <p:nvPr/>
        </p:nvSpPr>
        <p:spPr>
          <a:xfrm xmlns:a="http://schemas.openxmlformats.org/drawingml/2006/main">
            <a:off x="590550" y="4438650"/>
            <a:ext cx="866775" cy="428625"/>
          </a:xfrm>
          <a:custGeom xmlns:a="http://schemas.openxmlformats.org/drawingml/2006/main">
            <a:pathLst>
              <a:path w="866775" h="428625">
                <a:moveTo>
                  <a:pt x="0" y="257175"/>
                </a:moveTo>
                <a:lnTo>
                  <a:pt x="76200" y="85725"/>
                </a:lnTo>
                <a:lnTo>
                  <a:pt x="152400" y="381000"/>
                </a:lnTo>
                <a:lnTo>
                  <a:pt x="238125" y="0"/>
                </a:lnTo>
                <a:lnTo>
                  <a:pt x="323850" y="428625"/>
                </a:lnTo>
                <a:lnTo>
                  <a:pt x="409575" y="133350"/>
                </a:lnTo>
                <a:lnTo>
                  <a:pt x="495300" y="352425"/>
                </a:lnTo>
                <a:lnTo>
                  <a:pt x="581025" y="38100"/>
                </a:lnTo>
                <a:lnTo>
                  <a:pt x="666750" y="400050"/>
                </a:lnTo>
                <a:lnTo>
                  <a:pt x="771525" y="190500"/>
                </a:lnTo>
                <a:lnTo>
                  <a:pt x="866775" y="285750"/>
                </a:lnTo>
              </a:path>
            </a:pathLst>
          </a:custGeom>
          <a:noFill xmlns:a="http://schemas.openxmlformats.org/drawingml/2006/main"/>
          <a:ln xmlns:a="http://schemas.openxmlformats.org/drawingml/2006/main" w="49530">
            <a:solidFill>
              <a:srgbClr val="13AD95"/>
            </a:solidFill>
            <a:prstDash val="solid"/>
          </a:ln>
        </p:spPr>
      </p:sp>
      <p:sp>
        <p:nvSpPr>
          <p:cNvPr id="44" name="svg_path_044">
            <a:extLst xmlns:a="http://schemas.openxmlformats.org/drawingml/2006/main">
              <a:ext uri="{FF2B5EF4-FFF2-40B4-BE49-F238E27FC236}">
                <a16:creationId xmlns:a16="http://schemas.microsoft.com/office/drawing/2014/main" id="{B0D1B351-0320-4410-B1B0-B57183789615}"/>
              </a:ext>
            </a:extLst>
          </p:cNvPr>
          <p:cNvSpPr>
            <a:spLocks xmlns:a="http://schemas.openxmlformats.org/drawingml/2006/main" noGrp="1"/>
          </p:cNvSpPr>
          <p:nvPr/>
        </p:nvSpPr>
        <p:spPr>
          <a:xfrm xmlns:a="http://schemas.openxmlformats.org/drawingml/2006/main">
            <a:off x="1619250" y="435292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45" name="svg_arrowhead_045">
            <a:extLst xmlns:a="http://schemas.openxmlformats.org/drawingml/2006/main">
              <a:ext uri="{FF2B5EF4-FFF2-40B4-BE49-F238E27FC236}">
                <a16:creationId xmlns:a16="http://schemas.microsoft.com/office/drawing/2014/main" id="{52B619D7-C7F8-4765-97C2-F966FC9595C9}"/>
              </a:ext>
            </a:extLst>
          </p:cNvPr>
          <p:cNvSpPr>
            <a:spLocks xmlns:a="http://schemas.openxmlformats.org/drawingml/2006/main" noGrp="1"/>
          </p:cNvSpPr>
          <p:nvPr/>
        </p:nvSpPr>
        <p:spPr>
          <a:xfrm xmlns:a="http://schemas.openxmlformats.org/drawingml/2006/main">
            <a:off x="1819275"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46" name="svg_rect_046">
            <a:extLst xmlns:a="http://schemas.openxmlformats.org/drawingml/2006/main">
              <a:ext uri="{FF2B5EF4-FFF2-40B4-BE49-F238E27FC236}">
                <a16:creationId xmlns:a16="http://schemas.microsoft.com/office/drawing/2014/main" id="{AF645515-B625-45FB-97D2-AB9066B2E008}"/>
              </a:ext>
            </a:extLst>
          </p:cNvPr>
          <p:cNvSpPr>
            <a:spLocks xmlns:a="http://schemas.openxmlformats.org/drawingml/2006/main" noGrp="1"/>
          </p:cNvSpPr>
          <p:nvPr/>
        </p:nvSpPr>
        <p:spPr>
          <a:xfrm xmlns:a="http://schemas.openxmlformats.org/drawingml/2006/main">
            <a:off x="1920240" y="3738563"/>
            <a:ext cx="1684020" cy="1238250"/>
          </a:xfrm>
          <a:prstGeom xmlns:a="http://schemas.openxmlformats.org/drawingml/2006/main" prst="roundRect">
            <a:avLst>
              <a:gd name="adj" fmla="val 6154"/>
            </a:avLst>
          </a:prstGeom>
          <a:solidFill xmlns:a="http://schemas.openxmlformats.org/drawingml/2006/main">
            <a:srgbClr val="EDF6FF"/>
          </a:solidFill>
          <a:ln xmlns:a="http://schemas.openxmlformats.org/drawingml/2006/main" w="24765">
            <a:solidFill>
              <a:srgbClr val="408FD2"/>
            </a:solidFill>
            <a:prstDash val="solid"/>
          </a:ln>
        </p:spPr>
      </p:sp>
      <p:sp>
        <p:nvSpPr>
          <p:cNvPr id="47" name="svg_text_047">
            <a:extLst xmlns:a="http://schemas.openxmlformats.org/drawingml/2006/main">
              <a:ext uri="{FF2B5EF4-FFF2-40B4-BE49-F238E27FC236}">
                <a16:creationId xmlns:a16="http://schemas.microsoft.com/office/drawing/2014/main" id="{80311FA4-9929-430E-8FA5-CE6A439B7E01}"/>
              </a:ext>
            </a:extLst>
          </p:cNvPr>
          <p:cNvSpPr>
            <a:spLocks xmlns:a="http://schemas.openxmlformats.org/drawingml/2006/main" noGrp="1"/>
          </p:cNvSpPr>
          <p:nvPr/>
        </p:nvSpPr>
        <p:spPr>
          <a:xfrm xmlns:a="http://schemas.openxmlformats.org/drawingml/2006/main">
            <a:off x="1979181" y="3969414"/>
            <a:ext cx="1566139"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NAS-Selected</a:t>
            </a:r>
          </a:p>
        </p:txBody>
      </p:sp>
      <p:sp>
        <p:nvSpPr>
          <p:cNvPr id="48" name="svg_text_048">
            <a:extLst xmlns:a="http://schemas.openxmlformats.org/drawingml/2006/main">
              <a:ext uri="{FF2B5EF4-FFF2-40B4-BE49-F238E27FC236}">
                <a16:creationId xmlns:a16="http://schemas.microsoft.com/office/drawing/2014/main" id="{440B789B-56F2-451D-BBEB-883D4A22B276}"/>
              </a:ext>
            </a:extLst>
          </p:cNvPr>
          <p:cNvSpPr>
            <a:spLocks xmlns:a="http://schemas.openxmlformats.org/drawingml/2006/main" noGrp="1"/>
          </p:cNvSpPr>
          <p:nvPr/>
        </p:nvSpPr>
        <p:spPr>
          <a:xfrm xmlns:a="http://schemas.openxmlformats.org/drawingml/2006/main">
            <a:off x="1979181" y="4226589"/>
            <a:ext cx="1566139"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SEANet Encoder</a:t>
            </a:r>
          </a:p>
        </p:txBody>
      </p:sp>
      <p:sp>
        <p:nvSpPr>
          <p:cNvPr id="49" name="svg_text_049">
            <a:extLst xmlns:a="http://schemas.openxmlformats.org/drawingml/2006/main">
              <a:ext uri="{FF2B5EF4-FFF2-40B4-BE49-F238E27FC236}">
                <a16:creationId xmlns:a16="http://schemas.microsoft.com/office/drawing/2014/main" id="{98F72A30-C033-4DFC-BEA1-4B1E2C608CF6}"/>
              </a:ext>
            </a:extLst>
          </p:cNvPr>
          <p:cNvSpPr>
            <a:spLocks xmlns:a="http://schemas.openxmlformats.org/drawingml/2006/main" noGrp="1"/>
          </p:cNvSpPr>
          <p:nvPr/>
        </p:nvSpPr>
        <p:spPr>
          <a:xfrm xmlns:a="http://schemas.openxmlformats.org/drawingml/2006/main">
            <a:off x="1979181" y="4523746"/>
            <a:ext cx="156613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383"/>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architecture from Panel 1</a:t>
            </a:r>
          </a:p>
        </p:txBody>
      </p:sp>
      <p:sp>
        <p:nvSpPr>
          <p:cNvPr id="50" name="svg_path_050">
            <a:extLst xmlns:a="http://schemas.openxmlformats.org/drawingml/2006/main">
              <a:ext uri="{FF2B5EF4-FFF2-40B4-BE49-F238E27FC236}">
                <a16:creationId xmlns:a16="http://schemas.microsoft.com/office/drawing/2014/main" id="{42589311-2B5E-4B5A-98A8-F95A2F827D45}"/>
              </a:ext>
            </a:extLst>
          </p:cNvPr>
          <p:cNvSpPr>
            <a:spLocks xmlns:a="http://schemas.openxmlformats.org/drawingml/2006/main" noGrp="1"/>
          </p:cNvSpPr>
          <p:nvPr/>
        </p:nvSpPr>
        <p:spPr>
          <a:xfrm xmlns:a="http://schemas.openxmlformats.org/drawingml/2006/main">
            <a:off x="3571875" y="435292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51" name="svg_arrowhead_051">
            <a:extLst xmlns:a="http://schemas.openxmlformats.org/drawingml/2006/main">
              <a:ext uri="{FF2B5EF4-FFF2-40B4-BE49-F238E27FC236}">
                <a16:creationId xmlns:a16="http://schemas.microsoft.com/office/drawing/2014/main" id="{6D98892D-B471-4829-A12C-99CD246BE77A}"/>
              </a:ext>
            </a:extLst>
          </p:cNvPr>
          <p:cNvSpPr>
            <a:spLocks xmlns:a="http://schemas.openxmlformats.org/drawingml/2006/main" noGrp="1"/>
          </p:cNvSpPr>
          <p:nvPr/>
        </p:nvSpPr>
        <p:spPr>
          <a:xfrm xmlns:a="http://schemas.openxmlformats.org/drawingml/2006/main">
            <a:off x="3771900"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52" name="svg_rect_052">
            <a:extLst xmlns:a="http://schemas.openxmlformats.org/drawingml/2006/main">
              <a:ext uri="{FF2B5EF4-FFF2-40B4-BE49-F238E27FC236}">
                <a16:creationId xmlns:a16="http://schemas.microsoft.com/office/drawing/2014/main" id="{512F1EDE-7B7D-4142-9567-9A323B433CE5}"/>
              </a:ext>
            </a:extLst>
          </p:cNvPr>
          <p:cNvSpPr>
            <a:spLocks xmlns:a="http://schemas.openxmlformats.org/drawingml/2006/main" noGrp="1"/>
          </p:cNvSpPr>
          <p:nvPr/>
        </p:nvSpPr>
        <p:spPr>
          <a:xfrm xmlns:a="http://schemas.openxmlformats.org/drawingml/2006/main">
            <a:off x="3877628" y="3837623"/>
            <a:ext cx="1436370" cy="104013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53" name="svg_text_053">
            <a:extLst xmlns:a="http://schemas.openxmlformats.org/drawingml/2006/main">
              <a:ext uri="{FF2B5EF4-FFF2-40B4-BE49-F238E27FC236}">
                <a16:creationId xmlns:a16="http://schemas.microsoft.com/office/drawing/2014/main" id="{07BFCE54-F363-4509-8442-B3D7966D4AF5}"/>
              </a:ext>
            </a:extLst>
          </p:cNvPr>
          <p:cNvSpPr>
            <a:spLocks xmlns:a="http://schemas.openxmlformats.org/drawingml/2006/main" noGrp="1"/>
          </p:cNvSpPr>
          <p:nvPr/>
        </p:nvSpPr>
        <p:spPr>
          <a:xfrm xmlns:a="http://schemas.openxmlformats.org/drawingml/2006/main">
            <a:off x="3927900" y="4036089"/>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Continuous</a:t>
            </a:r>
          </a:p>
        </p:txBody>
      </p:sp>
      <p:sp>
        <p:nvSpPr>
          <p:cNvPr id="54" name="svg_text_054">
            <a:extLst xmlns:a="http://schemas.openxmlformats.org/drawingml/2006/main">
              <a:ext uri="{FF2B5EF4-FFF2-40B4-BE49-F238E27FC236}">
                <a16:creationId xmlns:a16="http://schemas.microsoft.com/office/drawing/2014/main" id="{A5B7FB42-8CC6-4379-AD13-DC2A72BE46D3}"/>
              </a:ext>
            </a:extLst>
          </p:cNvPr>
          <p:cNvSpPr>
            <a:spLocks xmlns:a="http://schemas.openxmlformats.org/drawingml/2006/main" noGrp="1"/>
          </p:cNvSpPr>
          <p:nvPr/>
        </p:nvSpPr>
        <p:spPr>
          <a:xfrm xmlns:a="http://schemas.openxmlformats.org/drawingml/2006/main">
            <a:off x="3927900" y="4274214"/>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Latent z</a:t>
            </a:r>
          </a:p>
        </p:txBody>
      </p:sp>
      <p:sp>
        <p:nvSpPr>
          <p:cNvPr id="55" name="svg_text_055">
            <a:extLst xmlns:a="http://schemas.openxmlformats.org/drawingml/2006/main">
              <a:ext uri="{FF2B5EF4-FFF2-40B4-BE49-F238E27FC236}">
                <a16:creationId xmlns:a16="http://schemas.microsoft.com/office/drawing/2014/main" id="{ABFAEBB6-291E-4FB5-859D-83C27B2DCE06}"/>
              </a:ext>
            </a:extLst>
          </p:cNvPr>
          <p:cNvSpPr>
            <a:spLocks xmlns:a="http://schemas.openxmlformats.org/drawingml/2006/main" noGrp="1"/>
          </p:cNvSpPr>
          <p:nvPr/>
        </p:nvSpPr>
        <p:spPr>
          <a:xfrm xmlns:a="http://schemas.openxmlformats.org/drawingml/2006/main">
            <a:off x="3927900" y="4542796"/>
            <a:ext cx="133582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50 Hz, d = 1024</a:t>
            </a:r>
          </a:p>
        </p:txBody>
      </p:sp>
      <p:sp>
        <p:nvSpPr>
          <p:cNvPr id="56" name="svg_path_056">
            <a:extLst xmlns:a="http://schemas.openxmlformats.org/drawingml/2006/main">
              <a:ext uri="{FF2B5EF4-FFF2-40B4-BE49-F238E27FC236}">
                <a16:creationId xmlns:a16="http://schemas.microsoft.com/office/drawing/2014/main" id="{44F73D47-D49A-466D-A9BC-7F0C7C23DF9D}"/>
              </a:ext>
            </a:extLst>
          </p:cNvPr>
          <p:cNvSpPr>
            <a:spLocks xmlns:a="http://schemas.openxmlformats.org/drawingml/2006/main" noGrp="1"/>
          </p:cNvSpPr>
          <p:nvPr/>
        </p:nvSpPr>
        <p:spPr>
          <a:xfrm xmlns:a="http://schemas.openxmlformats.org/drawingml/2006/main">
            <a:off x="5286375" y="4352925"/>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57" name="svg_arrowhead_057">
            <a:extLst xmlns:a="http://schemas.openxmlformats.org/drawingml/2006/main">
              <a:ext uri="{FF2B5EF4-FFF2-40B4-BE49-F238E27FC236}">
                <a16:creationId xmlns:a16="http://schemas.microsoft.com/office/drawing/2014/main" id="{B611FDEB-8437-424C-A3B7-F47E78AFC304}"/>
              </a:ext>
            </a:extLst>
          </p:cNvPr>
          <p:cNvSpPr>
            <a:spLocks xmlns:a="http://schemas.openxmlformats.org/drawingml/2006/main" noGrp="1"/>
          </p:cNvSpPr>
          <p:nvPr/>
        </p:nvSpPr>
        <p:spPr>
          <a:xfrm xmlns:a="http://schemas.openxmlformats.org/drawingml/2006/main">
            <a:off x="5486400"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58" name="svg_rect_058">
            <a:extLst xmlns:a="http://schemas.openxmlformats.org/drawingml/2006/main">
              <a:ext uri="{FF2B5EF4-FFF2-40B4-BE49-F238E27FC236}">
                <a16:creationId xmlns:a16="http://schemas.microsoft.com/office/drawing/2014/main" id="{45415168-4AB5-4874-88BB-EFFC1F08411F}"/>
              </a:ext>
            </a:extLst>
          </p:cNvPr>
          <p:cNvSpPr>
            <a:spLocks xmlns:a="http://schemas.openxmlformats.org/drawingml/2006/main" noGrp="1"/>
          </p:cNvSpPr>
          <p:nvPr/>
        </p:nvSpPr>
        <p:spPr>
          <a:xfrm xmlns:a="http://schemas.openxmlformats.org/drawingml/2006/main">
            <a:off x="5619750" y="3733800"/>
            <a:ext cx="1571625" cy="1238250"/>
          </a:xfrm>
          <a:prstGeom xmlns:a="http://schemas.openxmlformats.org/drawingml/2006/main" prst="roundRect">
            <a:avLst>
              <a:gd name="adj" fmla="val 6154"/>
            </a:avLst>
          </a:prstGeom>
          <a:solidFill xmlns:a="http://schemas.openxmlformats.org/drawingml/2006/main">
            <a:srgbClr val="FFF1E2"/>
          </a:solidFill>
          <a:ln xmlns:a="http://schemas.openxmlformats.org/drawingml/2006/main" w="24765">
            <a:solidFill>
              <a:srgbClr val="EF8D32"/>
            </a:solidFill>
            <a:prstDash val="solid"/>
          </a:ln>
        </p:spPr>
      </p:sp>
      <p:sp>
        <p:nvSpPr>
          <p:cNvPr id="59" name="svg_text_059">
            <a:extLst xmlns:a="http://schemas.openxmlformats.org/drawingml/2006/main">
              <a:ext uri="{FF2B5EF4-FFF2-40B4-BE49-F238E27FC236}">
                <a16:creationId xmlns:a16="http://schemas.microsoft.com/office/drawing/2014/main" id="{D17DC44A-6D08-4706-B8C4-915B9E1196B1}"/>
              </a:ext>
            </a:extLst>
          </p:cNvPr>
          <p:cNvSpPr>
            <a:spLocks xmlns:a="http://schemas.openxmlformats.org/drawingml/2006/main" noGrp="1"/>
          </p:cNvSpPr>
          <p:nvPr/>
        </p:nvSpPr>
        <p:spPr>
          <a:xfrm xmlns:a="http://schemas.openxmlformats.org/drawingml/2006/main">
            <a:off x="5674757" y="3893214"/>
            <a:ext cx="1461611"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8841"/>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Q1 / Codebook C1</a:t>
            </a:r>
          </a:p>
        </p:txBody>
      </p:sp>
      <p:sp>
        <p:nvSpPr>
          <p:cNvPr id="60" name="svg_text_060">
            <a:extLst xmlns:a="http://schemas.openxmlformats.org/drawingml/2006/main">
              <a:ext uri="{FF2B5EF4-FFF2-40B4-BE49-F238E27FC236}">
                <a16:creationId xmlns:a16="http://schemas.microsoft.com/office/drawing/2014/main" id="{4F661882-C1C2-4B4E-BDB2-41D678D4B092}"/>
              </a:ext>
            </a:extLst>
          </p:cNvPr>
          <p:cNvSpPr>
            <a:spLocks xmlns:a="http://schemas.openxmlformats.org/drawingml/2006/main" noGrp="1"/>
          </p:cNvSpPr>
          <p:nvPr/>
        </p:nvSpPr>
        <p:spPr>
          <a:xfrm xmlns:a="http://schemas.openxmlformats.org/drawingml/2006/main">
            <a:off x="5674757" y="41808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Coarse Content</a:t>
            </a:r>
          </a:p>
        </p:txBody>
      </p:sp>
      <p:sp>
        <p:nvSpPr>
          <p:cNvPr id="61" name="svg_text_061">
            <a:extLst xmlns:a="http://schemas.openxmlformats.org/drawingml/2006/main">
              <a:ext uri="{FF2B5EF4-FFF2-40B4-BE49-F238E27FC236}">
                <a16:creationId xmlns:a16="http://schemas.microsoft.com/office/drawing/2014/main" id="{6709CEBF-9042-4F46-84EA-DA97C1787DF3}"/>
              </a:ext>
            </a:extLst>
          </p:cNvPr>
          <p:cNvSpPr>
            <a:spLocks xmlns:a="http://schemas.openxmlformats.org/drawingml/2006/main" noGrp="1"/>
          </p:cNvSpPr>
          <p:nvPr/>
        </p:nvSpPr>
        <p:spPr>
          <a:xfrm xmlns:a="http://schemas.openxmlformats.org/drawingml/2006/main">
            <a:off x="5674757" y="44094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1,024 entries</a:t>
            </a:r>
          </a:p>
        </p:txBody>
      </p:sp>
      <p:sp>
        <p:nvSpPr>
          <p:cNvPr id="62" name="svg_text_062">
            <a:extLst xmlns:a="http://schemas.openxmlformats.org/drawingml/2006/main">
              <a:ext uri="{FF2B5EF4-FFF2-40B4-BE49-F238E27FC236}">
                <a16:creationId xmlns:a16="http://schemas.microsoft.com/office/drawing/2014/main" id="{CAE53BA7-9533-4433-9993-50DB61A05F90}"/>
              </a:ext>
            </a:extLst>
          </p:cNvPr>
          <p:cNvSpPr>
            <a:spLocks xmlns:a="http://schemas.openxmlformats.org/drawingml/2006/main" noGrp="1"/>
          </p:cNvSpPr>
          <p:nvPr/>
        </p:nvSpPr>
        <p:spPr>
          <a:xfrm xmlns:a="http://schemas.openxmlformats.org/drawingml/2006/main">
            <a:off x="5674757" y="4631788"/>
            <a:ext cx="146161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index i₁ → q₁</a:t>
            </a:r>
          </a:p>
        </p:txBody>
      </p:sp>
      <p:sp>
        <p:nvSpPr>
          <p:cNvPr id="63" name="svg_path_063">
            <a:extLst xmlns:a="http://schemas.openxmlformats.org/drawingml/2006/main">
              <a:ext uri="{FF2B5EF4-FFF2-40B4-BE49-F238E27FC236}">
                <a16:creationId xmlns:a16="http://schemas.microsoft.com/office/drawing/2014/main" id="{BBD91215-4A41-4BD6-88C6-53EB65746977}"/>
              </a:ext>
            </a:extLst>
          </p:cNvPr>
          <p:cNvSpPr>
            <a:spLocks xmlns:a="http://schemas.openxmlformats.org/drawingml/2006/main" noGrp="1"/>
          </p:cNvSpPr>
          <p:nvPr/>
        </p:nvSpPr>
        <p:spPr>
          <a:xfrm xmlns:a="http://schemas.openxmlformats.org/drawingml/2006/main">
            <a:off x="7191375" y="43529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64" name="svg_arrowhead_064">
            <a:extLst xmlns:a="http://schemas.openxmlformats.org/drawingml/2006/main">
              <a:ext uri="{FF2B5EF4-FFF2-40B4-BE49-F238E27FC236}">
                <a16:creationId xmlns:a16="http://schemas.microsoft.com/office/drawing/2014/main" id="{0174192B-EB7C-42ED-8267-9A0283DADA5F}"/>
              </a:ext>
            </a:extLst>
          </p:cNvPr>
          <p:cNvSpPr>
            <a:spLocks xmlns:a="http://schemas.openxmlformats.org/drawingml/2006/main" noGrp="1"/>
          </p:cNvSpPr>
          <p:nvPr/>
        </p:nvSpPr>
        <p:spPr>
          <a:xfrm xmlns:a="http://schemas.openxmlformats.org/drawingml/2006/main">
            <a:off x="7343775"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65" name="svg_text_065">
            <a:extLst xmlns:a="http://schemas.openxmlformats.org/drawingml/2006/main">
              <a:ext uri="{FF2B5EF4-FFF2-40B4-BE49-F238E27FC236}">
                <a16:creationId xmlns:a16="http://schemas.microsoft.com/office/drawing/2014/main" id="{8671FE4A-F06B-4914-83F7-E785FBA3A18E}"/>
              </a:ext>
            </a:extLst>
          </p:cNvPr>
          <p:cNvSpPr>
            <a:spLocks xmlns:a="http://schemas.openxmlformats.org/drawingml/2006/main" noGrp="1"/>
          </p:cNvSpPr>
          <p:nvPr/>
        </p:nvSpPr>
        <p:spPr>
          <a:xfrm xmlns:a="http://schemas.openxmlformats.org/drawingml/2006/main">
            <a:off x="7144245" y="4028446"/>
            <a:ext cx="38000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r₁</a:t>
            </a:r>
          </a:p>
        </p:txBody>
      </p:sp>
      <p:sp>
        <p:nvSpPr>
          <p:cNvPr id="66" name="svg_rect_066">
            <a:extLst xmlns:a="http://schemas.openxmlformats.org/drawingml/2006/main">
              <a:ext uri="{FF2B5EF4-FFF2-40B4-BE49-F238E27FC236}">
                <a16:creationId xmlns:a16="http://schemas.microsoft.com/office/drawing/2014/main" id="{352AFE3D-D215-48EB-99B2-51565EECB869}"/>
              </a:ext>
            </a:extLst>
          </p:cNvPr>
          <p:cNvSpPr>
            <a:spLocks xmlns:a="http://schemas.openxmlformats.org/drawingml/2006/main" noGrp="1"/>
          </p:cNvSpPr>
          <p:nvPr/>
        </p:nvSpPr>
        <p:spPr>
          <a:xfrm xmlns:a="http://schemas.openxmlformats.org/drawingml/2006/main">
            <a:off x="7477125" y="3733800"/>
            <a:ext cx="1571625" cy="1238250"/>
          </a:xfrm>
          <a:prstGeom xmlns:a="http://schemas.openxmlformats.org/drawingml/2006/main" prst="roundRect">
            <a:avLst>
              <a:gd name="adj" fmla="val 6154"/>
            </a:avLst>
          </a:prstGeom>
          <a:solidFill xmlns:a="http://schemas.openxmlformats.org/drawingml/2006/main">
            <a:srgbClr val="E7F7EE"/>
          </a:solidFill>
          <a:ln xmlns:a="http://schemas.openxmlformats.org/drawingml/2006/main" w="24765">
            <a:solidFill>
              <a:srgbClr val="4CA873"/>
            </a:solidFill>
            <a:prstDash val="solid"/>
          </a:ln>
        </p:spPr>
      </p:sp>
      <p:sp>
        <p:nvSpPr>
          <p:cNvPr id="67" name="svg_text_067">
            <a:extLst xmlns:a="http://schemas.openxmlformats.org/drawingml/2006/main">
              <a:ext uri="{FF2B5EF4-FFF2-40B4-BE49-F238E27FC236}">
                <a16:creationId xmlns:a16="http://schemas.microsoft.com/office/drawing/2014/main" id="{C4CF0AA1-B4DA-4DFB-9608-F12629E83D55}"/>
              </a:ext>
            </a:extLst>
          </p:cNvPr>
          <p:cNvSpPr>
            <a:spLocks xmlns:a="http://schemas.openxmlformats.org/drawingml/2006/main" noGrp="1"/>
          </p:cNvSpPr>
          <p:nvPr/>
        </p:nvSpPr>
        <p:spPr>
          <a:xfrm xmlns:a="http://schemas.openxmlformats.org/drawingml/2006/main">
            <a:off x="7532132" y="3893214"/>
            <a:ext cx="1461611"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8841"/>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Q2 / Codebook C2</a:t>
            </a:r>
          </a:p>
        </p:txBody>
      </p:sp>
      <p:sp>
        <p:nvSpPr>
          <p:cNvPr id="68" name="svg_text_068">
            <a:extLst xmlns:a="http://schemas.openxmlformats.org/drawingml/2006/main">
              <a:ext uri="{FF2B5EF4-FFF2-40B4-BE49-F238E27FC236}">
                <a16:creationId xmlns:a16="http://schemas.microsoft.com/office/drawing/2014/main" id="{7BE54BB7-A2C6-4D19-887B-48845CF65548}"/>
              </a:ext>
            </a:extLst>
          </p:cNvPr>
          <p:cNvSpPr>
            <a:spLocks xmlns:a="http://schemas.openxmlformats.org/drawingml/2006/main" noGrp="1"/>
          </p:cNvSpPr>
          <p:nvPr/>
        </p:nvSpPr>
        <p:spPr>
          <a:xfrm xmlns:a="http://schemas.openxmlformats.org/drawingml/2006/main">
            <a:off x="7532132" y="41808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Acoustic Refinement</a:t>
            </a:r>
          </a:p>
        </p:txBody>
      </p:sp>
      <p:sp>
        <p:nvSpPr>
          <p:cNvPr id="69" name="svg_text_069">
            <a:extLst xmlns:a="http://schemas.openxmlformats.org/drawingml/2006/main">
              <a:ext uri="{FF2B5EF4-FFF2-40B4-BE49-F238E27FC236}">
                <a16:creationId xmlns:a16="http://schemas.microsoft.com/office/drawing/2014/main" id="{90D7DE4D-00D5-4A98-813E-985734FC1A94}"/>
              </a:ext>
            </a:extLst>
          </p:cNvPr>
          <p:cNvSpPr>
            <a:spLocks xmlns:a="http://schemas.openxmlformats.org/drawingml/2006/main" noGrp="1"/>
          </p:cNvSpPr>
          <p:nvPr/>
        </p:nvSpPr>
        <p:spPr>
          <a:xfrm xmlns:a="http://schemas.openxmlformats.org/drawingml/2006/main">
            <a:off x="7532132" y="4409446"/>
            <a:ext cx="146161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1,024 entries</a:t>
            </a:r>
          </a:p>
        </p:txBody>
      </p:sp>
      <p:sp>
        <p:nvSpPr>
          <p:cNvPr id="70" name="svg_text_070">
            <a:extLst xmlns:a="http://schemas.openxmlformats.org/drawingml/2006/main">
              <a:ext uri="{FF2B5EF4-FFF2-40B4-BE49-F238E27FC236}">
                <a16:creationId xmlns:a16="http://schemas.microsoft.com/office/drawing/2014/main" id="{A7A49A5C-5737-4147-9C87-E7514D5962DA}"/>
              </a:ext>
            </a:extLst>
          </p:cNvPr>
          <p:cNvSpPr>
            <a:spLocks xmlns:a="http://schemas.openxmlformats.org/drawingml/2006/main" noGrp="1"/>
          </p:cNvSpPr>
          <p:nvPr/>
        </p:nvSpPr>
        <p:spPr>
          <a:xfrm xmlns:a="http://schemas.openxmlformats.org/drawingml/2006/main">
            <a:off x="7532132" y="4631788"/>
            <a:ext cx="146161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index i₂ → q₂</a:t>
            </a:r>
          </a:p>
        </p:txBody>
      </p:sp>
      <p:sp>
        <p:nvSpPr>
          <p:cNvPr id="71" name="svg_path_071">
            <a:extLst xmlns:a="http://schemas.openxmlformats.org/drawingml/2006/main">
              <a:ext uri="{FF2B5EF4-FFF2-40B4-BE49-F238E27FC236}">
                <a16:creationId xmlns:a16="http://schemas.microsoft.com/office/drawing/2014/main" id="{F58ACD72-FCE6-48E5-81DB-8CF41F436904}"/>
              </a:ext>
            </a:extLst>
          </p:cNvPr>
          <p:cNvSpPr>
            <a:spLocks xmlns:a="http://schemas.openxmlformats.org/drawingml/2006/main" noGrp="1"/>
          </p:cNvSpPr>
          <p:nvPr/>
        </p:nvSpPr>
        <p:spPr>
          <a:xfrm xmlns:a="http://schemas.openxmlformats.org/drawingml/2006/main">
            <a:off x="9048750" y="435292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72" name="svg_arrowhead_072">
            <a:extLst xmlns:a="http://schemas.openxmlformats.org/drawingml/2006/main">
              <a:ext uri="{FF2B5EF4-FFF2-40B4-BE49-F238E27FC236}">
                <a16:creationId xmlns:a16="http://schemas.microsoft.com/office/drawing/2014/main" id="{1923777B-FEDF-4245-8E83-7763CDB69BD8}"/>
              </a:ext>
            </a:extLst>
          </p:cNvPr>
          <p:cNvSpPr>
            <a:spLocks xmlns:a="http://schemas.openxmlformats.org/drawingml/2006/main" noGrp="1"/>
          </p:cNvSpPr>
          <p:nvPr/>
        </p:nvSpPr>
        <p:spPr>
          <a:xfrm xmlns:a="http://schemas.openxmlformats.org/drawingml/2006/main">
            <a:off x="9201150" y="42862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73" name="svg_text_073">
            <a:extLst xmlns:a="http://schemas.openxmlformats.org/drawingml/2006/main">
              <a:ext uri="{FF2B5EF4-FFF2-40B4-BE49-F238E27FC236}">
                <a16:creationId xmlns:a16="http://schemas.microsoft.com/office/drawing/2014/main" id="{7A656819-A35E-4F54-B091-B630373853A5}"/>
              </a:ext>
            </a:extLst>
          </p:cNvPr>
          <p:cNvSpPr>
            <a:spLocks xmlns:a="http://schemas.openxmlformats.org/drawingml/2006/main" noGrp="1"/>
          </p:cNvSpPr>
          <p:nvPr/>
        </p:nvSpPr>
        <p:spPr>
          <a:xfrm xmlns:a="http://schemas.openxmlformats.org/drawingml/2006/main">
            <a:off x="9001620" y="4028446"/>
            <a:ext cx="38000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r₂</a:t>
            </a:r>
          </a:p>
        </p:txBody>
      </p:sp>
      <p:sp>
        <p:nvSpPr>
          <p:cNvPr id="74" name="svg_rect_074">
            <a:extLst xmlns:a="http://schemas.openxmlformats.org/drawingml/2006/main">
              <a:ext uri="{FF2B5EF4-FFF2-40B4-BE49-F238E27FC236}">
                <a16:creationId xmlns:a16="http://schemas.microsoft.com/office/drawing/2014/main" id="{CFCD6C1F-2259-45CA-ADC0-ECD3E8DEFA3C}"/>
              </a:ext>
            </a:extLst>
          </p:cNvPr>
          <p:cNvSpPr>
            <a:spLocks xmlns:a="http://schemas.openxmlformats.org/drawingml/2006/main" noGrp="1"/>
          </p:cNvSpPr>
          <p:nvPr/>
        </p:nvSpPr>
        <p:spPr>
          <a:xfrm xmlns:a="http://schemas.openxmlformats.org/drawingml/2006/main">
            <a:off x="9334500" y="3733800"/>
            <a:ext cx="1714500" cy="1238250"/>
          </a:xfrm>
          <a:prstGeom xmlns:a="http://schemas.openxmlformats.org/drawingml/2006/main" prst="roundRect">
            <a:avLst>
              <a:gd name="adj" fmla="val 6154"/>
            </a:avLst>
          </a:prstGeom>
          <a:solidFill xmlns:a="http://schemas.openxmlformats.org/drawingml/2006/main">
            <a:srgbClr val="ECEAFF"/>
          </a:solidFill>
          <a:ln xmlns:a="http://schemas.openxmlformats.org/drawingml/2006/main" w="24765">
            <a:solidFill>
              <a:srgbClr val="7374D8"/>
            </a:solidFill>
            <a:prstDash val="solid"/>
          </a:ln>
        </p:spPr>
      </p:sp>
      <p:sp>
        <p:nvSpPr>
          <p:cNvPr id="75" name="svg_text_075">
            <a:extLst xmlns:a="http://schemas.openxmlformats.org/drawingml/2006/main">
              <a:ext uri="{FF2B5EF4-FFF2-40B4-BE49-F238E27FC236}">
                <a16:creationId xmlns:a16="http://schemas.microsoft.com/office/drawing/2014/main" id="{773DB784-BBDC-47C2-BABF-5FBA8BADFCBA}"/>
              </a:ext>
            </a:extLst>
          </p:cNvPr>
          <p:cNvSpPr>
            <a:spLocks xmlns:a="http://schemas.openxmlformats.org/drawingml/2006/main" noGrp="1"/>
          </p:cNvSpPr>
          <p:nvPr/>
        </p:nvSpPr>
        <p:spPr>
          <a:xfrm xmlns:a="http://schemas.openxmlformats.org/drawingml/2006/main">
            <a:off x="9394508" y="3893214"/>
            <a:ext cx="1594485"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7129"/>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Q3 / Codebook C3</a:t>
            </a:r>
          </a:p>
        </p:txBody>
      </p:sp>
      <p:sp>
        <p:nvSpPr>
          <p:cNvPr id="76" name="svg_text_076">
            <a:extLst xmlns:a="http://schemas.openxmlformats.org/drawingml/2006/main">
              <a:ext uri="{FF2B5EF4-FFF2-40B4-BE49-F238E27FC236}">
                <a16:creationId xmlns:a16="http://schemas.microsoft.com/office/drawing/2014/main" id="{1E9113E3-F601-4372-80B7-5A2ECE8A77AE}"/>
              </a:ext>
            </a:extLst>
          </p:cNvPr>
          <p:cNvSpPr>
            <a:spLocks xmlns:a="http://schemas.openxmlformats.org/drawingml/2006/main" noGrp="1"/>
          </p:cNvSpPr>
          <p:nvPr/>
        </p:nvSpPr>
        <p:spPr>
          <a:xfrm xmlns:a="http://schemas.openxmlformats.org/drawingml/2006/main">
            <a:off x="9394508" y="4180846"/>
            <a:ext cx="159448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364"/>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Fine Acoustic Refinement</a:t>
            </a:r>
          </a:p>
        </p:txBody>
      </p:sp>
      <p:sp>
        <p:nvSpPr>
          <p:cNvPr id="77" name="svg_text_077">
            <a:extLst xmlns:a="http://schemas.openxmlformats.org/drawingml/2006/main">
              <a:ext uri="{FF2B5EF4-FFF2-40B4-BE49-F238E27FC236}">
                <a16:creationId xmlns:a16="http://schemas.microsoft.com/office/drawing/2014/main" id="{9BA84D61-C89C-4551-80AA-7B463CA0D2E4}"/>
              </a:ext>
            </a:extLst>
          </p:cNvPr>
          <p:cNvSpPr>
            <a:spLocks xmlns:a="http://schemas.openxmlformats.org/drawingml/2006/main" noGrp="1"/>
          </p:cNvSpPr>
          <p:nvPr/>
        </p:nvSpPr>
        <p:spPr>
          <a:xfrm xmlns:a="http://schemas.openxmlformats.org/drawingml/2006/main">
            <a:off x="9394508" y="4409446"/>
            <a:ext cx="159448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1,024 entries</a:t>
            </a:r>
          </a:p>
        </p:txBody>
      </p:sp>
      <p:sp>
        <p:nvSpPr>
          <p:cNvPr id="78" name="svg_text_078">
            <a:extLst xmlns:a="http://schemas.openxmlformats.org/drawingml/2006/main">
              <a:ext uri="{FF2B5EF4-FFF2-40B4-BE49-F238E27FC236}">
                <a16:creationId xmlns:a16="http://schemas.microsoft.com/office/drawing/2014/main" id="{5C416DEB-5195-429E-BC54-FA9846201147}"/>
              </a:ext>
            </a:extLst>
          </p:cNvPr>
          <p:cNvSpPr>
            <a:spLocks xmlns:a="http://schemas.openxmlformats.org/drawingml/2006/main" noGrp="1"/>
          </p:cNvSpPr>
          <p:nvPr/>
        </p:nvSpPr>
        <p:spPr>
          <a:xfrm xmlns:a="http://schemas.openxmlformats.org/drawingml/2006/main">
            <a:off x="9394508" y="4631788"/>
            <a:ext cx="1594485"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index i₃ → q₃</a:t>
            </a:r>
          </a:p>
        </p:txBody>
      </p:sp>
      <p:sp>
        <p:nvSpPr>
          <p:cNvPr id="79" name="svg_rect_079">
            <a:extLst xmlns:a="http://schemas.openxmlformats.org/drawingml/2006/main">
              <a:ext uri="{FF2B5EF4-FFF2-40B4-BE49-F238E27FC236}">
                <a16:creationId xmlns:a16="http://schemas.microsoft.com/office/drawing/2014/main" id="{88E9FEEE-7468-4B30-B0D5-CD83EE4FC9C7}"/>
              </a:ext>
            </a:extLst>
          </p:cNvPr>
          <p:cNvSpPr>
            <a:spLocks xmlns:a="http://schemas.openxmlformats.org/drawingml/2006/main" noGrp="1"/>
          </p:cNvSpPr>
          <p:nvPr/>
        </p:nvSpPr>
        <p:spPr>
          <a:xfrm xmlns:a="http://schemas.openxmlformats.org/drawingml/2006/main">
            <a:off x="5715000" y="5191125"/>
            <a:ext cx="333375" cy="2095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80" name="svg_rect_080">
            <a:extLst xmlns:a="http://schemas.openxmlformats.org/drawingml/2006/main">
              <a:ext uri="{FF2B5EF4-FFF2-40B4-BE49-F238E27FC236}">
                <a16:creationId xmlns:a16="http://schemas.microsoft.com/office/drawing/2014/main" id="{F44F88E9-C765-49E3-A9E4-D7387145B5A5}"/>
              </a:ext>
            </a:extLst>
          </p:cNvPr>
          <p:cNvSpPr>
            <a:spLocks xmlns:a="http://schemas.openxmlformats.org/drawingml/2006/main" noGrp="1"/>
          </p:cNvSpPr>
          <p:nvPr/>
        </p:nvSpPr>
        <p:spPr>
          <a:xfrm xmlns:a="http://schemas.openxmlformats.org/drawingml/2006/main">
            <a:off x="6115050" y="5191125"/>
            <a:ext cx="333375" cy="2095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81" name="svg_rect_081">
            <a:extLst xmlns:a="http://schemas.openxmlformats.org/drawingml/2006/main">
              <a:ext uri="{FF2B5EF4-FFF2-40B4-BE49-F238E27FC236}">
                <a16:creationId xmlns:a16="http://schemas.microsoft.com/office/drawing/2014/main" id="{0CF9CAC6-980A-409B-B8F0-CBF39E880563}"/>
              </a:ext>
            </a:extLst>
          </p:cNvPr>
          <p:cNvSpPr>
            <a:spLocks xmlns:a="http://schemas.openxmlformats.org/drawingml/2006/main" noGrp="1"/>
          </p:cNvSpPr>
          <p:nvPr/>
        </p:nvSpPr>
        <p:spPr>
          <a:xfrm xmlns:a="http://schemas.openxmlformats.org/drawingml/2006/main">
            <a:off x="6515100" y="5191125"/>
            <a:ext cx="333375" cy="2095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82" name="svg_text_082">
            <a:extLst xmlns:a="http://schemas.openxmlformats.org/drawingml/2006/main">
              <a:ext uri="{FF2B5EF4-FFF2-40B4-BE49-F238E27FC236}">
                <a16:creationId xmlns:a16="http://schemas.microsoft.com/office/drawing/2014/main" id="{86CDA4B2-B590-46B1-917A-C1CAA9AF943C}"/>
              </a:ext>
            </a:extLst>
          </p:cNvPr>
          <p:cNvSpPr>
            <a:spLocks xmlns:a="http://schemas.openxmlformats.org/drawingml/2006/main" noGrp="1"/>
          </p:cNvSpPr>
          <p:nvPr/>
        </p:nvSpPr>
        <p:spPr>
          <a:xfrm xmlns:a="http://schemas.openxmlformats.org/drawingml/2006/main">
            <a:off x="6788525" y="5155663"/>
            <a:ext cx="42470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a:t>
            </a:r>
          </a:p>
        </p:txBody>
      </p:sp>
      <p:sp>
        <p:nvSpPr>
          <p:cNvPr id="83" name="svg_rect_083">
            <a:extLst xmlns:a="http://schemas.openxmlformats.org/drawingml/2006/main">
              <a:ext uri="{FF2B5EF4-FFF2-40B4-BE49-F238E27FC236}">
                <a16:creationId xmlns:a16="http://schemas.microsoft.com/office/drawing/2014/main" id="{EE7F5AD1-207B-471B-9028-11677B4F54C7}"/>
              </a:ext>
            </a:extLst>
          </p:cNvPr>
          <p:cNvSpPr>
            <a:spLocks xmlns:a="http://schemas.openxmlformats.org/drawingml/2006/main" noGrp="1"/>
          </p:cNvSpPr>
          <p:nvPr/>
        </p:nvSpPr>
        <p:spPr>
          <a:xfrm xmlns:a="http://schemas.openxmlformats.org/drawingml/2006/main">
            <a:off x="7572375" y="5191125"/>
            <a:ext cx="333375" cy="2095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84" name="svg_rect_084">
            <a:extLst xmlns:a="http://schemas.openxmlformats.org/drawingml/2006/main">
              <a:ext uri="{FF2B5EF4-FFF2-40B4-BE49-F238E27FC236}">
                <a16:creationId xmlns:a16="http://schemas.microsoft.com/office/drawing/2014/main" id="{19F5F7D1-5E3E-4BF0-861D-3B02EA239DB5}"/>
              </a:ext>
            </a:extLst>
          </p:cNvPr>
          <p:cNvSpPr>
            <a:spLocks xmlns:a="http://schemas.openxmlformats.org/drawingml/2006/main" noGrp="1"/>
          </p:cNvSpPr>
          <p:nvPr/>
        </p:nvSpPr>
        <p:spPr>
          <a:xfrm xmlns:a="http://schemas.openxmlformats.org/drawingml/2006/main">
            <a:off x="7972425" y="5191125"/>
            <a:ext cx="333375" cy="2095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85" name="svg_rect_085">
            <a:extLst xmlns:a="http://schemas.openxmlformats.org/drawingml/2006/main">
              <a:ext uri="{FF2B5EF4-FFF2-40B4-BE49-F238E27FC236}">
                <a16:creationId xmlns:a16="http://schemas.microsoft.com/office/drawing/2014/main" id="{F74769DD-CA31-46BD-B8A7-111CD3E4823B}"/>
              </a:ext>
            </a:extLst>
          </p:cNvPr>
          <p:cNvSpPr>
            <a:spLocks xmlns:a="http://schemas.openxmlformats.org/drawingml/2006/main" noGrp="1"/>
          </p:cNvSpPr>
          <p:nvPr/>
        </p:nvSpPr>
        <p:spPr>
          <a:xfrm xmlns:a="http://schemas.openxmlformats.org/drawingml/2006/main">
            <a:off x="8372475" y="5191125"/>
            <a:ext cx="333375" cy="2095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86" name="svg_text_086">
            <a:extLst xmlns:a="http://schemas.openxmlformats.org/drawingml/2006/main">
              <a:ext uri="{FF2B5EF4-FFF2-40B4-BE49-F238E27FC236}">
                <a16:creationId xmlns:a16="http://schemas.microsoft.com/office/drawing/2014/main" id="{08D280BD-00B4-4F67-9CD3-FB38FC546C4A}"/>
              </a:ext>
            </a:extLst>
          </p:cNvPr>
          <p:cNvSpPr>
            <a:spLocks xmlns:a="http://schemas.openxmlformats.org/drawingml/2006/main" noGrp="1"/>
          </p:cNvSpPr>
          <p:nvPr/>
        </p:nvSpPr>
        <p:spPr>
          <a:xfrm xmlns:a="http://schemas.openxmlformats.org/drawingml/2006/main">
            <a:off x="8645900" y="5155663"/>
            <a:ext cx="42470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i₂</a:t>
            </a:r>
          </a:p>
        </p:txBody>
      </p:sp>
      <p:sp>
        <p:nvSpPr>
          <p:cNvPr id="87" name="svg_rect_087">
            <a:extLst xmlns:a="http://schemas.openxmlformats.org/drawingml/2006/main">
              <a:ext uri="{FF2B5EF4-FFF2-40B4-BE49-F238E27FC236}">
                <a16:creationId xmlns:a16="http://schemas.microsoft.com/office/drawing/2014/main" id="{D1A1F474-CE10-415C-839E-EDD2636A047F}"/>
              </a:ext>
            </a:extLst>
          </p:cNvPr>
          <p:cNvSpPr>
            <a:spLocks xmlns:a="http://schemas.openxmlformats.org/drawingml/2006/main" noGrp="1"/>
          </p:cNvSpPr>
          <p:nvPr/>
        </p:nvSpPr>
        <p:spPr>
          <a:xfrm xmlns:a="http://schemas.openxmlformats.org/drawingml/2006/main">
            <a:off x="9477375" y="5191125"/>
            <a:ext cx="333375" cy="2095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88" name="svg_rect_088">
            <a:extLst xmlns:a="http://schemas.openxmlformats.org/drawingml/2006/main">
              <a:ext uri="{FF2B5EF4-FFF2-40B4-BE49-F238E27FC236}">
                <a16:creationId xmlns:a16="http://schemas.microsoft.com/office/drawing/2014/main" id="{02EF16BD-73D7-4D63-B8C8-6E6ED51B95DC}"/>
              </a:ext>
            </a:extLst>
          </p:cNvPr>
          <p:cNvSpPr>
            <a:spLocks xmlns:a="http://schemas.openxmlformats.org/drawingml/2006/main" noGrp="1"/>
          </p:cNvSpPr>
          <p:nvPr/>
        </p:nvSpPr>
        <p:spPr>
          <a:xfrm xmlns:a="http://schemas.openxmlformats.org/drawingml/2006/main">
            <a:off x="9877425" y="5191125"/>
            <a:ext cx="333375" cy="2095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89" name="svg_rect_089">
            <a:extLst xmlns:a="http://schemas.openxmlformats.org/drawingml/2006/main">
              <a:ext uri="{FF2B5EF4-FFF2-40B4-BE49-F238E27FC236}">
                <a16:creationId xmlns:a16="http://schemas.microsoft.com/office/drawing/2014/main" id="{DA68B273-3EFB-4A94-81CC-29CE64D643F3}"/>
              </a:ext>
            </a:extLst>
          </p:cNvPr>
          <p:cNvSpPr>
            <a:spLocks xmlns:a="http://schemas.openxmlformats.org/drawingml/2006/main" noGrp="1"/>
          </p:cNvSpPr>
          <p:nvPr/>
        </p:nvSpPr>
        <p:spPr>
          <a:xfrm xmlns:a="http://schemas.openxmlformats.org/drawingml/2006/main">
            <a:off x="10277475" y="5191125"/>
            <a:ext cx="333375" cy="2095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90" name="svg_text_090">
            <a:extLst xmlns:a="http://schemas.openxmlformats.org/drawingml/2006/main">
              <a:ext uri="{FF2B5EF4-FFF2-40B4-BE49-F238E27FC236}">
                <a16:creationId xmlns:a16="http://schemas.microsoft.com/office/drawing/2014/main" id="{99BA0C3B-4606-4F13-A021-4B16EA1C9753}"/>
              </a:ext>
            </a:extLst>
          </p:cNvPr>
          <p:cNvSpPr>
            <a:spLocks xmlns:a="http://schemas.openxmlformats.org/drawingml/2006/main" noGrp="1"/>
          </p:cNvSpPr>
          <p:nvPr/>
        </p:nvSpPr>
        <p:spPr>
          <a:xfrm xmlns:a="http://schemas.openxmlformats.org/drawingml/2006/main">
            <a:off x="10550900" y="5155663"/>
            <a:ext cx="424701"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i₃</a:t>
            </a:r>
          </a:p>
        </p:txBody>
      </p:sp>
      <p:sp>
        <p:nvSpPr>
          <p:cNvPr id="91" name="svg_path_091">
            <a:extLst xmlns:a="http://schemas.openxmlformats.org/drawingml/2006/main">
              <a:ext uri="{FF2B5EF4-FFF2-40B4-BE49-F238E27FC236}">
                <a16:creationId xmlns:a16="http://schemas.microsoft.com/office/drawing/2014/main" id="{88BCE4A8-5713-40C1-B221-7337F4CA9448}"/>
              </a:ext>
            </a:extLst>
          </p:cNvPr>
          <p:cNvSpPr>
            <a:spLocks xmlns:a="http://schemas.openxmlformats.org/drawingml/2006/main" noGrp="1"/>
          </p:cNvSpPr>
          <p:nvPr/>
        </p:nvSpPr>
        <p:spPr>
          <a:xfrm xmlns:a="http://schemas.openxmlformats.org/drawingml/2006/main">
            <a:off x="5619750" y="5619750"/>
            <a:ext cx="5429250" cy="190500"/>
          </a:xfrm>
          <a:custGeom xmlns:a="http://schemas.openxmlformats.org/drawingml/2006/main">
            <a:pathLst>
              <a:path w="5429250" h="190500">
                <a:moveTo>
                  <a:pt x="0" y="0"/>
                </a:moveTo>
                <a:lnTo>
                  <a:pt x="0" y="190500"/>
                </a:lnTo>
                <a:lnTo>
                  <a:pt x="5429250" y="190500"/>
                </a:lnTo>
                <a:lnTo>
                  <a:pt x="5429250" y="0"/>
                </a:lnTo>
              </a:path>
            </a:pathLst>
          </a:custGeom>
          <a:noFill xmlns:a="http://schemas.openxmlformats.org/drawingml/2006/main"/>
          <a:ln xmlns:a="http://schemas.openxmlformats.org/drawingml/2006/main" w="19812">
            <a:solidFill>
              <a:srgbClr val="506070"/>
            </a:solidFill>
            <a:prstDash val="solid"/>
          </a:ln>
        </p:spPr>
      </p:sp>
      <p:sp>
        <p:nvSpPr>
          <p:cNvPr id="92" name="svg_text_092">
            <a:extLst xmlns:a="http://schemas.openxmlformats.org/drawingml/2006/main">
              <a:ext uri="{FF2B5EF4-FFF2-40B4-BE49-F238E27FC236}">
                <a16:creationId xmlns:a16="http://schemas.microsoft.com/office/drawing/2014/main" id="{F181353B-0A56-455B-9F18-99803168B275}"/>
              </a:ext>
            </a:extLst>
          </p:cNvPr>
          <p:cNvSpPr>
            <a:spLocks xmlns:a="http://schemas.openxmlformats.org/drawingml/2006/main" noGrp="1"/>
          </p:cNvSpPr>
          <p:nvPr/>
        </p:nvSpPr>
        <p:spPr>
          <a:xfrm xmlns:a="http://schemas.openxmlformats.org/drawingml/2006/main">
            <a:off x="6039863" y="5912514"/>
            <a:ext cx="458902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Quantized Latent zq = q₁ + q₂ + q₃</a:t>
            </a:r>
          </a:p>
        </p:txBody>
      </p:sp>
      <p:sp>
        <p:nvSpPr>
          <p:cNvPr id="93" name="svg_rect_093">
            <a:extLst xmlns:a="http://schemas.openxmlformats.org/drawingml/2006/main">
              <a:ext uri="{FF2B5EF4-FFF2-40B4-BE49-F238E27FC236}">
                <a16:creationId xmlns:a16="http://schemas.microsoft.com/office/drawing/2014/main" id="{2E099718-A3DF-4BB4-BE59-7F7E345F6533}"/>
              </a:ext>
            </a:extLst>
          </p:cNvPr>
          <p:cNvSpPr>
            <a:spLocks xmlns:a="http://schemas.openxmlformats.org/drawingml/2006/main" noGrp="1"/>
          </p:cNvSpPr>
          <p:nvPr/>
        </p:nvSpPr>
        <p:spPr>
          <a:xfrm xmlns:a="http://schemas.openxmlformats.org/drawingml/2006/main">
            <a:off x="11525250" y="2619375"/>
            <a:ext cx="4953000"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24765">
            <a:solidFill>
              <a:srgbClr val="7DB5E8"/>
            </a:solidFill>
            <a:prstDash val="dash"/>
          </a:ln>
        </p:spPr>
      </p:sp>
      <p:sp>
        <p:nvSpPr>
          <p:cNvPr id="94" name="svg_circle_094">
            <a:extLst xmlns:a="http://schemas.openxmlformats.org/drawingml/2006/main">
              <a:ext uri="{FF2B5EF4-FFF2-40B4-BE49-F238E27FC236}">
                <a16:creationId xmlns:a16="http://schemas.microsoft.com/office/drawing/2014/main" id="{D889DF92-DBC2-4EEF-BA81-9417F9EF3085}"/>
              </a:ext>
            </a:extLst>
          </p:cNvPr>
          <p:cNvSpPr>
            <a:spLocks xmlns:a="http://schemas.openxmlformats.org/drawingml/2006/main" noGrp="1"/>
          </p:cNvSpPr>
          <p:nvPr/>
        </p:nvSpPr>
        <p:spPr>
          <a:xfrm xmlns:a="http://schemas.openxmlformats.org/drawingml/2006/main">
            <a:off x="11591925" y="2686050"/>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95" name="svg_text_095">
            <a:extLst xmlns:a="http://schemas.openxmlformats.org/drawingml/2006/main">
              <a:ext uri="{FF2B5EF4-FFF2-40B4-BE49-F238E27FC236}">
                <a16:creationId xmlns:a16="http://schemas.microsoft.com/office/drawing/2014/main" id="{B6BD972D-00E7-41EC-A693-B4C984E97FFB}"/>
              </a:ext>
            </a:extLst>
          </p:cNvPr>
          <p:cNvSpPr>
            <a:spLocks xmlns:a="http://schemas.openxmlformats.org/drawingml/2006/main" noGrp="1"/>
          </p:cNvSpPr>
          <p:nvPr/>
        </p:nvSpPr>
        <p:spPr>
          <a:xfrm xmlns:a="http://schemas.openxmlformats.org/drawingml/2006/main">
            <a:off x="11620500" y="27146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3</a:t>
            </a:r>
          </a:p>
        </p:txBody>
      </p:sp>
      <p:sp>
        <p:nvSpPr>
          <p:cNvPr id="96" name="svg_text_096">
            <a:extLst xmlns:a="http://schemas.openxmlformats.org/drawingml/2006/main">
              <a:ext uri="{FF2B5EF4-FFF2-40B4-BE49-F238E27FC236}">
                <a16:creationId xmlns:a16="http://schemas.microsoft.com/office/drawing/2014/main" id="{EC9B7602-6DCD-418A-8910-815CA2BC8716}"/>
              </a:ext>
            </a:extLst>
          </p:cNvPr>
          <p:cNvSpPr>
            <a:spLocks xmlns:a="http://schemas.openxmlformats.org/drawingml/2006/main" noGrp="1"/>
          </p:cNvSpPr>
          <p:nvPr/>
        </p:nvSpPr>
        <p:spPr>
          <a:xfrm xmlns:a="http://schemas.openxmlformats.org/drawingml/2006/main">
            <a:off x="12239625" y="2713939"/>
            <a:ext cx="5627675" cy="4398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2340" b="1" i="0">
                <a:solidFill>
                  <a:srgbClr val="0F1720"/>
                </a:solidFill>
                <a:latin typeface="Arial"/>
                <a:ea typeface="Arial"/>
                <a:cs typeface="Arial"/>
              </a:defRPr>
            </a:pPr>
            <a:r>
              <a:rPr sz="2340" b="1" i="0">
                <a:solidFill>
                  <a:srgbClr val="0F1720"/>
                </a:solidFill>
                <a:latin typeface="Arial"/>
                <a:ea typeface="Arial"/>
                <a:cs typeface="Arial"/>
              </a:rPr>
              <a:t>DISCRETE INDEX TRANSMISSION</a:t>
            </a:r>
          </a:p>
        </p:txBody>
      </p:sp>
      <p:sp>
        <p:nvSpPr>
          <p:cNvPr id="97" name="svg_rect_097">
            <a:extLst xmlns:a="http://schemas.openxmlformats.org/drawingml/2006/main">
              <a:ext uri="{FF2B5EF4-FFF2-40B4-BE49-F238E27FC236}">
                <a16:creationId xmlns:a16="http://schemas.microsoft.com/office/drawing/2014/main" id="{DA859C6C-0F7C-4F8A-BACA-A552396A0EDB}"/>
              </a:ext>
            </a:extLst>
          </p:cNvPr>
          <p:cNvSpPr>
            <a:spLocks xmlns:a="http://schemas.openxmlformats.org/drawingml/2006/main" noGrp="1"/>
          </p:cNvSpPr>
          <p:nvPr/>
        </p:nvSpPr>
        <p:spPr>
          <a:xfrm xmlns:a="http://schemas.openxmlformats.org/drawingml/2006/main">
            <a:off x="11771948" y="3681413"/>
            <a:ext cx="1040130" cy="1733550"/>
          </a:xfrm>
          <a:prstGeom xmlns:a="http://schemas.openxmlformats.org/drawingml/2006/main" prst="roundRect">
            <a:avLst>
              <a:gd name="adj" fmla="val 7326"/>
            </a:avLst>
          </a:prstGeom>
          <a:solidFill xmlns:a="http://schemas.openxmlformats.org/drawingml/2006/main">
            <a:srgbClr val="EDF6FF"/>
          </a:solidFill>
          <a:ln xmlns:a="http://schemas.openxmlformats.org/drawingml/2006/main" w="24765">
            <a:solidFill>
              <a:srgbClr val="408FD2"/>
            </a:solidFill>
            <a:prstDash val="solid"/>
          </a:ln>
        </p:spPr>
      </p:sp>
      <p:sp>
        <p:nvSpPr>
          <p:cNvPr id="98" name="svg_text_098">
            <a:extLst xmlns:a="http://schemas.openxmlformats.org/drawingml/2006/main">
              <a:ext uri="{FF2B5EF4-FFF2-40B4-BE49-F238E27FC236}">
                <a16:creationId xmlns:a16="http://schemas.microsoft.com/office/drawing/2014/main" id="{7BBD4D97-2082-479D-96C6-70AD148C02A7}"/>
              </a:ext>
            </a:extLst>
          </p:cNvPr>
          <p:cNvSpPr>
            <a:spLocks xmlns:a="http://schemas.openxmlformats.org/drawingml/2006/main" noGrp="1"/>
          </p:cNvSpPr>
          <p:nvPr/>
        </p:nvSpPr>
        <p:spPr>
          <a:xfrm xmlns:a="http://schemas.openxmlformats.org/drawingml/2006/main">
            <a:off x="11810048" y="3818896"/>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i₁</a:t>
            </a:r>
          </a:p>
        </p:txBody>
      </p:sp>
      <p:sp>
        <p:nvSpPr>
          <p:cNvPr id="99" name="svg_rect_099">
            <a:extLst xmlns:a="http://schemas.openxmlformats.org/drawingml/2006/main">
              <a:ext uri="{FF2B5EF4-FFF2-40B4-BE49-F238E27FC236}">
                <a16:creationId xmlns:a16="http://schemas.microsoft.com/office/drawing/2014/main" id="{67038E54-6B81-4F62-B1A2-DDC506F2E4CC}"/>
              </a:ext>
            </a:extLst>
          </p:cNvPr>
          <p:cNvSpPr>
            <a:spLocks xmlns:a="http://schemas.openxmlformats.org/drawingml/2006/main" noGrp="1"/>
          </p:cNvSpPr>
          <p:nvPr/>
        </p:nvSpPr>
        <p:spPr>
          <a:xfrm xmlns:a="http://schemas.openxmlformats.org/drawingml/2006/main">
            <a:off x="11953875" y="4095750"/>
            <a:ext cx="666750" cy="15240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100" name="svg_text_100">
            <a:extLst xmlns:a="http://schemas.openxmlformats.org/drawingml/2006/main">
              <a:ext uri="{FF2B5EF4-FFF2-40B4-BE49-F238E27FC236}">
                <a16:creationId xmlns:a16="http://schemas.microsoft.com/office/drawing/2014/main" id="{B4B26DAE-B1CA-4CF5-9B3E-4F44964F7E48}"/>
              </a:ext>
            </a:extLst>
          </p:cNvPr>
          <p:cNvSpPr>
            <a:spLocks xmlns:a="http://schemas.openxmlformats.org/drawingml/2006/main" noGrp="1"/>
          </p:cNvSpPr>
          <p:nvPr/>
        </p:nvSpPr>
        <p:spPr>
          <a:xfrm xmlns:a="http://schemas.openxmlformats.org/drawingml/2006/main">
            <a:off x="11810048" y="4314196"/>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i₂</a:t>
            </a:r>
          </a:p>
        </p:txBody>
      </p:sp>
      <p:sp>
        <p:nvSpPr>
          <p:cNvPr id="101" name="svg_rect_101">
            <a:extLst xmlns:a="http://schemas.openxmlformats.org/drawingml/2006/main">
              <a:ext uri="{FF2B5EF4-FFF2-40B4-BE49-F238E27FC236}">
                <a16:creationId xmlns:a16="http://schemas.microsoft.com/office/drawing/2014/main" id="{D42D2098-9EEB-4DC6-8A47-4F76132882FC}"/>
              </a:ext>
            </a:extLst>
          </p:cNvPr>
          <p:cNvSpPr>
            <a:spLocks xmlns:a="http://schemas.openxmlformats.org/drawingml/2006/main" noGrp="1"/>
          </p:cNvSpPr>
          <p:nvPr/>
        </p:nvSpPr>
        <p:spPr>
          <a:xfrm xmlns:a="http://schemas.openxmlformats.org/drawingml/2006/main">
            <a:off x="11953875" y="4591050"/>
            <a:ext cx="666750" cy="15240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102" name="svg_text_102">
            <a:extLst xmlns:a="http://schemas.openxmlformats.org/drawingml/2006/main">
              <a:ext uri="{FF2B5EF4-FFF2-40B4-BE49-F238E27FC236}">
                <a16:creationId xmlns:a16="http://schemas.microsoft.com/office/drawing/2014/main" id="{AAE69667-D358-471D-BF0F-EC491D310441}"/>
              </a:ext>
            </a:extLst>
          </p:cNvPr>
          <p:cNvSpPr>
            <a:spLocks xmlns:a="http://schemas.openxmlformats.org/drawingml/2006/main" noGrp="1"/>
          </p:cNvSpPr>
          <p:nvPr/>
        </p:nvSpPr>
        <p:spPr>
          <a:xfrm xmlns:a="http://schemas.openxmlformats.org/drawingml/2006/main">
            <a:off x="11810048" y="4809496"/>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i₃</a:t>
            </a:r>
          </a:p>
        </p:txBody>
      </p:sp>
      <p:sp>
        <p:nvSpPr>
          <p:cNvPr id="103" name="svg_rect_103">
            <a:extLst xmlns:a="http://schemas.openxmlformats.org/drawingml/2006/main">
              <a:ext uri="{FF2B5EF4-FFF2-40B4-BE49-F238E27FC236}">
                <a16:creationId xmlns:a16="http://schemas.microsoft.com/office/drawing/2014/main" id="{BEF1B53A-AB46-4E57-ADAD-CD9ED97D8DFC}"/>
              </a:ext>
            </a:extLst>
          </p:cNvPr>
          <p:cNvSpPr>
            <a:spLocks xmlns:a="http://schemas.openxmlformats.org/drawingml/2006/main" noGrp="1"/>
          </p:cNvSpPr>
          <p:nvPr/>
        </p:nvSpPr>
        <p:spPr>
          <a:xfrm xmlns:a="http://schemas.openxmlformats.org/drawingml/2006/main">
            <a:off x="11953875" y="5086350"/>
            <a:ext cx="666750" cy="15240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104" name="svg_path_104">
            <a:extLst xmlns:a="http://schemas.openxmlformats.org/drawingml/2006/main">
              <a:ext uri="{FF2B5EF4-FFF2-40B4-BE49-F238E27FC236}">
                <a16:creationId xmlns:a16="http://schemas.microsoft.com/office/drawing/2014/main" id="{2B3D1629-86F6-447F-80A3-1A77A0F0293E}"/>
              </a:ext>
            </a:extLst>
          </p:cNvPr>
          <p:cNvSpPr>
            <a:spLocks xmlns:a="http://schemas.openxmlformats.org/drawingml/2006/main" noGrp="1"/>
          </p:cNvSpPr>
          <p:nvPr/>
        </p:nvSpPr>
        <p:spPr>
          <a:xfrm xmlns:a="http://schemas.openxmlformats.org/drawingml/2006/main">
            <a:off x="12792075" y="4476750"/>
            <a:ext cx="257175" cy="9525"/>
          </a:xfrm>
          <a:custGeom xmlns:a="http://schemas.openxmlformats.org/drawingml/2006/main">
            <a:pathLst>
              <a:path w="257175" h="9525">
                <a:moveTo>
                  <a:pt x="0" y="0"/>
                </a:moveTo>
                <a:lnTo>
                  <a:pt x="257175" y="0"/>
                </a:lnTo>
              </a:path>
            </a:pathLst>
          </a:custGeom>
          <a:noFill xmlns:a="http://schemas.openxmlformats.org/drawingml/2006/main"/>
          <a:ln xmlns:a="http://schemas.openxmlformats.org/drawingml/2006/main" w="30956">
            <a:solidFill>
              <a:srgbClr val="2386D8"/>
            </a:solidFill>
            <a:prstDash val="solid"/>
          </a:ln>
        </p:spPr>
      </p:sp>
      <p:sp>
        <p:nvSpPr>
          <p:cNvPr id="105" name="svg_arrowhead_105">
            <a:extLst xmlns:a="http://schemas.openxmlformats.org/drawingml/2006/main">
              <a:ext uri="{FF2B5EF4-FFF2-40B4-BE49-F238E27FC236}">
                <a16:creationId xmlns:a16="http://schemas.microsoft.com/office/drawing/2014/main" id="{9D2FB2D4-6707-43A5-93D9-15A41155FF6F}"/>
              </a:ext>
            </a:extLst>
          </p:cNvPr>
          <p:cNvSpPr>
            <a:spLocks xmlns:a="http://schemas.openxmlformats.org/drawingml/2006/main" noGrp="1"/>
          </p:cNvSpPr>
          <p:nvPr/>
        </p:nvSpPr>
        <p:spPr>
          <a:xfrm xmlns:a="http://schemas.openxmlformats.org/drawingml/2006/main">
            <a:off x="12915900" y="4410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06" name="svg_rect_106">
            <a:extLst xmlns:a="http://schemas.openxmlformats.org/drawingml/2006/main">
              <a:ext uri="{FF2B5EF4-FFF2-40B4-BE49-F238E27FC236}">
                <a16:creationId xmlns:a16="http://schemas.microsoft.com/office/drawing/2014/main" id="{CAA6C676-9A4D-4CC0-B3E9-AC93D89C5025}"/>
              </a:ext>
            </a:extLst>
          </p:cNvPr>
          <p:cNvSpPr>
            <a:spLocks xmlns:a="http://schemas.openxmlformats.org/drawingml/2006/main" noGrp="1"/>
          </p:cNvSpPr>
          <p:nvPr/>
        </p:nvSpPr>
        <p:spPr>
          <a:xfrm xmlns:a="http://schemas.openxmlformats.org/drawingml/2006/main">
            <a:off x="13025438" y="3882390"/>
            <a:ext cx="1238250" cy="1188720"/>
          </a:xfrm>
          <a:prstGeom xmlns:a="http://schemas.openxmlformats.org/drawingml/2006/main" prst="roundRect">
            <a:avLst>
              <a:gd name="adj" fmla="val 6410"/>
            </a:avLst>
          </a:prstGeom>
          <a:solidFill xmlns:a="http://schemas.openxmlformats.org/drawingml/2006/main">
            <a:srgbClr val="EDF6FF"/>
          </a:solidFill>
          <a:ln xmlns:a="http://schemas.openxmlformats.org/drawingml/2006/main" w="24765">
            <a:solidFill>
              <a:srgbClr val="408FD2"/>
            </a:solidFill>
            <a:prstDash val="solid"/>
          </a:ln>
        </p:spPr>
      </p:sp>
      <p:sp>
        <p:nvSpPr>
          <p:cNvPr id="107" name="svg_text_107">
            <a:extLst xmlns:a="http://schemas.openxmlformats.org/drawingml/2006/main">
              <a:ext uri="{FF2B5EF4-FFF2-40B4-BE49-F238E27FC236}">
                <a16:creationId xmlns:a16="http://schemas.microsoft.com/office/drawing/2014/main" id="{D28828B6-EAF5-48C8-8D3B-DCEB44F6D601}"/>
              </a:ext>
            </a:extLst>
          </p:cNvPr>
          <p:cNvSpPr>
            <a:spLocks xmlns:a="http://schemas.openxmlformats.org/drawingml/2006/main" noGrp="1"/>
          </p:cNvSpPr>
          <p:nvPr/>
        </p:nvSpPr>
        <p:spPr>
          <a:xfrm xmlns:a="http://schemas.openxmlformats.org/drawingml/2006/main">
            <a:off x="13068776" y="40075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906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Index Packing</a:t>
            </a:r>
          </a:p>
        </p:txBody>
      </p:sp>
      <p:sp>
        <p:nvSpPr>
          <p:cNvPr id="108" name="svg_text_108">
            <a:extLst xmlns:a="http://schemas.openxmlformats.org/drawingml/2006/main">
              <a:ext uri="{FF2B5EF4-FFF2-40B4-BE49-F238E27FC236}">
                <a16:creationId xmlns:a16="http://schemas.microsoft.com/office/drawing/2014/main" id="{AB20A9C8-E9C3-4E09-B396-E3B07F506D6B}"/>
              </a:ext>
            </a:extLst>
          </p:cNvPr>
          <p:cNvSpPr>
            <a:spLocks xmlns:a="http://schemas.openxmlformats.org/drawingml/2006/main" noGrp="1"/>
          </p:cNvSpPr>
          <p:nvPr/>
        </p:nvSpPr>
        <p:spPr>
          <a:xfrm xmlns:a="http://schemas.openxmlformats.org/drawingml/2006/main">
            <a:off x="13068776" y="4276096"/>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and</a:t>
            </a:r>
          </a:p>
        </p:txBody>
      </p:sp>
      <p:sp>
        <p:nvSpPr>
          <p:cNvPr id="109" name="svg_text_109">
            <a:extLst xmlns:a="http://schemas.openxmlformats.org/drawingml/2006/main">
              <a:ext uri="{FF2B5EF4-FFF2-40B4-BE49-F238E27FC236}">
                <a16:creationId xmlns:a16="http://schemas.microsoft.com/office/drawing/2014/main" id="{913015E0-97C9-4920-BA2F-3FF9A9E4750B}"/>
              </a:ext>
            </a:extLst>
          </p:cNvPr>
          <p:cNvSpPr>
            <a:spLocks xmlns:a="http://schemas.openxmlformats.org/drawingml/2006/main" noGrp="1"/>
          </p:cNvSpPr>
          <p:nvPr/>
        </p:nvSpPr>
        <p:spPr>
          <a:xfrm xmlns:a="http://schemas.openxmlformats.org/drawingml/2006/main">
            <a:off x="13068776" y="44647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4019"/>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Packetization</a:t>
            </a:r>
          </a:p>
        </p:txBody>
      </p:sp>
      <p:sp>
        <p:nvSpPr>
          <p:cNvPr id="110" name="svg_text_110">
            <a:extLst xmlns:a="http://schemas.openxmlformats.org/drawingml/2006/main">
              <a:ext uri="{FF2B5EF4-FFF2-40B4-BE49-F238E27FC236}">
                <a16:creationId xmlns:a16="http://schemas.microsoft.com/office/drawing/2014/main" id="{0AD2A3A6-2B0D-4024-B7A6-07D937F99559}"/>
              </a:ext>
            </a:extLst>
          </p:cNvPr>
          <p:cNvSpPr>
            <a:spLocks xmlns:a="http://schemas.openxmlformats.org/drawingml/2006/main" noGrp="1"/>
          </p:cNvSpPr>
          <p:nvPr/>
        </p:nvSpPr>
        <p:spPr>
          <a:xfrm xmlns:a="http://schemas.openxmlformats.org/drawingml/2006/main">
            <a:off x="13068776" y="4761871"/>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9618"/>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3 × 10 bits × 50 Hz</a:t>
            </a:r>
          </a:p>
        </p:txBody>
      </p:sp>
      <p:sp>
        <p:nvSpPr>
          <p:cNvPr id="111" name="svg_path_111">
            <a:extLst xmlns:a="http://schemas.openxmlformats.org/drawingml/2006/main">
              <a:ext uri="{FF2B5EF4-FFF2-40B4-BE49-F238E27FC236}">
                <a16:creationId xmlns:a16="http://schemas.microsoft.com/office/drawing/2014/main" id="{46CC7A65-F819-4D4A-87B4-6C2393530582}"/>
              </a:ext>
            </a:extLst>
          </p:cNvPr>
          <p:cNvSpPr>
            <a:spLocks xmlns:a="http://schemas.openxmlformats.org/drawingml/2006/main" noGrp="1"/>
          </p:cNvSpPr>
          <p:nvPr/>
        </p:nvSpPr>
        <p:spPr>
          <a:xfrm xmlns:a="http://schemas.openxmlformats.org/drawingml/2006/main">
            <a:off x="14239875" y="4476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112" name="svg_arrowhead_112">
            <a:extLst xmlns:a="http://schemas.openxmlformats.org/drawingml/2006/main">
              <a:ext uri="{FF2B5EF4-FFF2-40B4-BE49-F238E27FC236}">
                <a16:creationId xmlns:a16="http://schemas.microsoft.com/office/drawing/2014/main" id="{48E7C493-0E2F-465F-A5CC-5BC84DE99394}"/>
              </a:ext>
            </a:extLst>
          </p:cNvPr>
          <p:cNvSpPr>
            <a:spLocks xmlns:a="http://schemas.openxmlformats.org/drawingml/2006/main" noGrp="1"/>
          </p:cNvSpPr>
          <p:nvPr/>
        </p:nvSpPr>
        <p:spPr>
          <a:xfrm xmlns:a="http://schemas.openxmlformats.org/drawingml/2006/main">
            <a:off x="14344650" y="4410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13" name="svg_rect_113">
            <a:extLst xmlns:a="http://schemas.openxmlformats.org/drawingml/2006/main">
              <a:ext uri="{FF2B5EF4-FFF2-40B4-BE49-F238E27FC236}">
                <a16:creationId xmlns:a16="http://schemas.microsoft.com/office/drawing/2014/main" id="{089A3CCC-54AA-4E13-90E0-5EF7F9D12880}"/>
              </a:ext>
            </a:extLst>
          </p:cNvPr>
          <p:cNvSpPr>
            <a:spLocks xmlns:a="http://schemas.openxmlformats.org/drawingml/2006/main" noGrp="1"/>
          </p:cNvSpPr>
          <p:nvPr/>
        </p:nvSpPr>
        <p:spPr>
          <a:xfrm xmlns:a="http://schemas.openxmlformats.org/drawingml/2006/main">
            <a:off x="14460855" y="3882390"/>
            <a:ext cx="891540" cy="1188720"/>
          </a:xfrm>
          <a:prstGeom xmlns:a="http://schemas.openxmlformats.org/drawingml/2006/main" prst="roundRect">
            <a:avLst>
              <a:gd name="adj" fmla="val 8547"/>
            </a:avLst>
          </a:prstGeom>
          <a:solidFill xmlns:a="http://schemas.openxmlformats.org/drawingml/2006/main">
            <a:srgbClr val="EDF6FF"/>
          </a:solidFill>
          <a:ln xmlns:a="http://schemas.openxmlformats.org/drawingml/2006/main" w="24765">
            <a:solidFill>
              <a:srgbClr val="408FD2"/>
            </a:solidFill>
            <a:prstDash val="solid"/>
          </a:ln>
        </p:spPr>
      </p:sp>
      <p:sp>
        <p:nvSpPr>
          <p:cNvPr id="114" name="svg_text_114">
            <a:extLst xmlns:a="http://schemas.openxmlformats.org/drawingml/2006/main">
              <a:ext uri="{FF2B5EF4-FFF2-40B4-BE49-F238E27FC236}">
                <a16:creationId xmlns:a16="http://schemas.microsoft.com/office/drawing/2014/main" id="{6BC61BDA-8C4A-41F8-9719-A62291CB3517}"/>
              </a:ext>
            </a:extLst>
          </p:cNvPr>
          <p:cNvSpPr>
            <a:spLocks xmlns:a="http://schemas.openxmlformats.org/drawingml/2006/main" noGrp="1"/>
          </p:cNvSpPr>
          <p:nvPr/>
        </p:nvSpPr>
        <p:spPr>
          <a:xfrm xmlns:a="http://schemas.openxmlformats.org/drawingml/2006/main">
            <a:off x="14498955" y="4102764"/>
            <a:ext cx="8153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Discrete</a:t>
            </a:r>
          </a:p>
        </p:txBody>
      </p:sp>
      <p:sp>
        <p:nvSpPr>
          <p:cNvPr id="115" name="svg_text_115">
            <a:extLst xmlns:a="http://schemas.openxmlformats.org/drawingml/2006/main">
              <a:ext uri="{FF2B5EF4-FFF2-40B4-BE49-F238E27FC236}">
                <a16:creationId xmlns:a16="http://schemas.microsoft.com/office/drawing/2014/main" id="{F0D1B325-B61B-42D6-ACB1-72C854209D25}"/>
              </a:ext>
            </a:extLst>
          </p:cNvPr>
          <p:cNvSpPr>
            <a:spLocks xmlns:a="http://schemas.openxmlformats.org/drawingml/2006/main" noGrp="1"/>
          </p:cNvSpPr>
          <p:nvPr/>
        </p:nvSpPr>
        <p:spPr>
          <a:xfrm xmlns:a="http://schemas.openxmlformats.org/drawingml/2006/main">
            <a:off x="14498955" y="4350414"/>
            <a:ext cx="8153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564"/>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Bitstream</a:t>
            </a:r>
          </a:p>
        </p:txBody>
      </p:sp>
      <p:sp>
        <p:nvSpPr>
          <p:cNvPr id="116" name="svg_path_116">
            <a:extLst xmlns:a="http://schemas.openxmlformats.org/drawingml/2006/main">
              <a:ext uri="{FF2B5EF4-FFF2-40B4-BE49-F238E27FC236}">
                <a16:creationId xmlns:a16="http://schemas.microsoft.com/office/drawing/2014/main" id="{D46EE5B5-BDE3-4F18-A2F3-8D7E9EF0FBB4}"/>
              </a:ext>
            </a:extLst>
          </p:cNvPr>
          <p:cNvSpPr>
            <a:spLocks xmlns:a="http://schemas.openxmlformats.org/drawingml/2006/main" noGrp="1"/>
          </p:cNvSpPr>
          <p:nvPr/>
        </p:nvSpPr>
        <p:spPr>
          <a:xfrm xmlns:a="http://schemas.openxmlformats.org/drawingml/2006/main">
            <a:off x="15335250" y="4476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117" name="svg_arrowhead_117">
            <a:extLst xmlns:a="http://schemas.openxmlformats.org/drawingml/2006/main">
              <a:ext uri="{FF2B5EF4-FFF2-40B4-BE49-F238E27FC236}">
                <a16:creationId xmlns:a16="http://schemas.microsoft.com/office/drawing/2014/main" id="{87EA6545-4421-4F8D-A9A9-07BBB07FC956}"/>
              </a:ext>
            </a:extLst>
          </p:cNvPr>
          <p:cNvSpPr>
            <a:spLocks xmlns:a="http://schemas.openxmlformats.org/drawingml/2006/main" noGrp="1"/>
          </p:cNvSpPr>
          <p:nvPr/>
        </p:nvSpPr>
        <p:spPr>
          <a:xfrm xmlns:a="http://schemas.openxmlformats.org/drawingml/2006/main">
            <a:off x="15440025" y="4410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18" name="svg_rect_118">
            <a:extLst xmlns:a="http://schemas.openxmlformats.org/drawingml/2006/main">
              <a:ext uri="{FF2B5EF4-FFF2-40B4-BE49-F238E27FC236}">
                <a16:creationId xmlns:a16="http://schemas.microsoft.com/office/drawing/2014/main" id="{FA59377B-85EB-42C5-A8E2-85BB72A77649}"/>
              </a:ext>
            </a:extLst>
          </p:cNvPr>
          <p:cNvSpPr>
            <a:spLocks xmlns:a="http://schemas.openxmlformats.org/drawingml/2006/main" noGrp="1"/>
          </p:cNvSpPr>
          <p:nvPr/>
        </p:nvSpPr>
        <p:spPr>
          <a:xfrm xmlns:a="http://schemas.openxmlformats.org/drawingml/2006/main">
            <a:off x="15560040" y="3882390"/>
            <a:ext cx="693420" cy="11887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119" name="svg_text_119">
            <a:extLst xmlns:a="http://schemas.openxmlformats.org/drawingml/2006/main">
              <a:ext uri="{FF2B5EF4-FFF2-40B4-BE49-F238E27FC236}">
                <a16:creationId xmlns:a16="http://schemas.microsoft.com/office/drawing/2014/main" id="{8CEB15BB-8889-4510-B6F4-03E122357BC7}"/>
              </a:ext>
            </a:extLst>
          </p:cNvPr>
          <p:cNvSpPr>
            <a:spLocks xmlns:a="http://schemas.openxmlformats.org/drawingml/2006/main" noGrp="1"/>
          </p:cNvSpPr>
          <p:nvPr/>
        </p:nvSpPr>
        <p:spPr>
          <a:xfrm xmlns:a="http://schemas.openxmlformats.org/drawingml/2006/main">
            <a:off x="15598140" y="4159914"/>
            <a:ext cx="61722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482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Comm.</a:t>
            </a:r>
          </a:p>
        </p:txBody>
      </p:sp>
      <p:sp>
        <p:nvSpPr>
          <p:cNvPr id="120" name="svg_text_120">
            <a:extLst xmlns:a="http://schemas.openxmlformats.org/drawingml/2006/main">
              <a:ext uri="{FF2B5EF4-FFF2-40B4-BE49-F238E27FC236}">
                <a16:creationId xmlns:a16="http://schemas.microsoft.com/office/drawing/2014/main" id="{CE9D99C8-80BA-4E44-A0ED-5CEE89FA8406}"/>
              </a:ext>
            </a:extLst>
          </p:cNvPr>
          <p:cNvSpPr>
            <a:spLocks xmlns:a="http://schemas.openxmlformats.org/drawingml/2006/main" noGrp="1"/>
          </p:cNvSpPr>
          <p:nvPr/>
        </p:nvSpPr>
        <p:spPr>
          <a:xfrm xmlns:a="http://schemas.openxmlformats.org/drawingml/2006/main">
            <a:off x="15598140" y="4407564"/>
            <a:ext cx="61722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222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Channel</a:t>
            </a:r>
          </a:p>
        </p:txBody>
      </p:sp>
      <p:sp>
        <p:nvSpPr>
          <p:cNvPr id="121" name="svg_text_121">
            <a:extLst xmlns:a="http://schemas.openxmlformats.org/drawingml/2006/main">
              <a:ext uri="{FF2B5EF4-FFF2-40B4-BE49-F238E27FC236}">
                <a16:creationId xmlns:a16="http://schemas.microsoft.com/office/drawing/2014/main" id="{2D9D9952-0B74-42B5-AC69-B5C176FC6D99}"/>
              </a:ext>
            </a:extLst>
          </p:cNvPr>
          <p:cNvSpPr>
            <a:spLocks xmlns:a="http://schemas.openxmlformats.org/drawingml/2006/main" noGrp="1"/>
          </p:cNvSpPr>
          <p:nvPr/>
        </p:nvSpPr>
        <p:spPr>
          <a:xfrm xmlns:a="http://schemas.openxmlformats.org/drawingml/2006/main">
            <a:off x="11772203" y="5321964"/>
            <a:ext cx="445909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Nominal Index Payload: 1.5 kbit/s</a:t>
            </a:r>
          </a:p>
        </p:txBody>
      </p:sp>
      <p:sp>
        <p:nvSpPr>
          <p:cNvPr id="122" name="svg_rect_122">
            <a:extLst xmlns:a="http://schemas.openxmlformats.org/drawingml/2006/main">
              <a:ext uri="{FF2B5EF4-FFF2-40B4-BE49-F238E27FC236}">
                <a16:creationId xmlns:a16="http://schemas.microsoft.com/office/drawing/2014/main" id="{D13C3CAC-AA0A-4CB9-94B7-0F92044510F8}"/>
              </a:ext>
            </a:extLst>
          </p:cNvPr>
          <p:cNvSpPr>
            <a:spLocks xmlns:a="http://schemas.openxmlformats.org/drawingml/2006/main" noGrp="1"/>
          </p:cNvSpPr>
          <p:nvPr/>
        </p:nvSpPr>
        <p:spPr>
          <a:xfrm xmlns:a="http://schemas.openxmlformats.org/drawingml/2006/main">
            <a:off x="12416790" y="5726049"/>
            <a:ext cx="3169920" cy="416052"/>
          </a:xfrm>
          <a:prstGeom xmlns:a="http://schemas.openxmlformats.org/drawingml/2006/main" prst="roundRect">
            <a:avLst>
              <a:gd name="adj" fmla="val 20604"/>
            </a:avLst>
          </a:prstGeom>
          <a:solidFill xmlns:a="http://schemas.openxmlformats.org/drawingml/2006/main">
            <a:srgbClr val="E4F2FF"/>
          </a:solidFill>
          <a:ln xmlns:a="http://schemas.openxmlformats.org/drawingml/2006/main" w="18574">
            <a:solidFill>
              <a:srgbClr val="78AFE0"/>
            </a:solidFill>
            <a:prstDash val="solid"/>
          </a:ln>
        </p:spPr>
      </p:sp>
      <p:sp>
        <p:nvSpPr>
          <p:cNvPr id="123" name="svg_text_123">
            <a:extLst xmlns:a="http://schemas.openxmlformats.org/drawingml/2006/main">
              <a:ext uri="{FF2B5EF4-FFF2-40B4-BE49-F238E27FC236}">
                <a16:creationId xmlns:a16="http://schemas.microsoft.com/office/drawing/2014/main" id="{E7B2221C-663B-4618-AF25-4C0C43F5DC02}"/>
              </a:ext>
            </a:extLst>
          </p:cNvPr>
          <p:cNvSpPr>
            <a:spLocks xmlns:a="http://schemas.openxmlformats.org/drawingml/2006/main" noGrp="1"/>
          </p:cNvSpPr>
          <p:nvPr/>
        </p:nvSpPr>
        <p:spPr>
          <a:xfrm xmlns:a="http://schemas.openxmlformats.org/drawingml/2006/main">
            <a:off x="12512040" y="5798214"/>
            <a:ext cx="297942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70243"/>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ONLY DISCRETE INDICES ARE TRANSMITTED</a:t>
            </a:r>
          </a:p>
        </p:txBody>
      </p:sp>
      <p:sp>
        <p:nvSpPr>
          <p:cNvPr id="124" name="svg_rect_124">
            <a:extLst xmlns:a="http://schemas.openxmlformats.org/drawingml/2006/main">
              <a:ext uri="{FF2B5EF4-FFF2-40B4-BE49-F238E27FC236}">
                <a16:creationId xmlns:a16="http://schemas.microsoft.com/office/drawing/2014/main" id="{0B62224B-D5CB-4785-B561-58E0B0BDD52A}"/>
              </a:ext>
            </a:extLst>
          </p:cNvPr>
          <p:cNvSpPr>
            <a:spLocks xmlns:a="http://schemas.openxmlformats.org/drawingml/2006/main" noGrp="1"/>
          </p:cNvSpPr>
          <p:nvPr/>
        </p:nvSpPr>
        <p:spPr>
          <a:xfrm xmlns:a="http://schemas.openxmlformats.org/drawingml/2006/main">
            <a:off x="16668750" y="2619375"/>
            <a:ext cx="6000750" cy="3667125"/>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24765">
            <a:solidFill>
              <a:srgbClr val="7DB5E8"/>
            </a:solidFill>
            <a:prstDash val="dash"/>
          </a:ln>
        </p:spPr>
      </p:sp>
      <p:sp>
        <p:nvSpPr>
          <p:cNvPr id="125" name="svg_circle_125">
            <a:extLst xmlns:a="http://schemas.openxmlformats.org/drawingml/2006/main">
              <a:ext uri="{FF2B5EF4-FFF2-40B4-BE49-F238E27FC236}">
                <a16:creationId xmlns:a16="http://schemas.microsoft.com/office/drawing/2014/main" id="{2A7FB451-B436-4227-9D4E-47372E5CDAB4}"/>
              </a:ext>
            </a:extLst>
          </p:cNvPr>
          <p:cNvSpPr>
            <a:spLocks xmlns:a="http://schemas.openxmlformats.org/drawingml/2006/main" noGrp="1"/>
          </p:cNvSpPr>
          <p:nvPr/>
        </p:nvSpPr>
        <p:spPr>
          <a:xfrm xmlns:a="http://schemas.openxmlformats.org/drawingml/2006/main">
            <a:off x="16735425" y="2686050"/>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126" name="svg_text_126">
            <a:extLst xmlns:a="http://schemas.openxmlformats.org/drawingml/2006/main">
              <a:ext uri="{FF2B5EF4-FFF2-40B4-BE49-F238E27FC236}">
                <a16:creationId xmlns:a16="http://schemas.microsoft.com/office/drawing/2014/main" id="{EC90FA4C-F597-4AA5-BA40-63F85C77FE21}"/>
              </a:ext>
            </a:extLst>
          </p:cNvPr>
          <p:cNvSpPr>
            <a:spLocks xmlns:a="http://schemas.openxmlformats.org/drawingml/2006/main" noGrp="1"/>
          </p:cNvSpPr>
          <p:nvPr/>
        </p:nvSpPr>
        <p:spPr>
          <a:xfrm xmlns:a="http://schemas.openxmlformats.org/drawingml/2006/main">
            <a:off x="16764000" y="27146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4</a:t>
            </a:r>
          </a:p>
        </p:txBody>
      </p:sp>
      <p:sp>
        <p:nvSpPr>
          <p:cNvPr id="127" name="svg_text_127">
            <a:extLst xmlns:a="http://schemas.openxmlformats.org/drawingml/2006/main">
              <a:ext uri="{FF2B5EF4-FFF2-40B4-BE49-F238E27FC236}">
                <a16:creationId xmlns:a16="http://schemas.microsoft.com/office/drawing/2014/main" id="{EBEBFA62-1276-4E65-A2CC-6C29D8F8E23A}"/>
              </a:ext>
            </a:extLst>
          </p:cNvPr>
          <p:cNvSpPr>
            <a:spLocks xmlns:a="http://schemas.openxmlformats.org/drawingml/2006/main" noGrp="1"/>
          </p:cNvSpPr>
          <p:nvPr/>
        </p:nvSpPr>
        <p:spPr>
          <a:xfrm xmlns:a="http://schemas.openxmlformats.org/drawingml/2006/main">
            <a:off x="17383125" y="2646822"/>
            <a:ext cx="4959248"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SHARED-CODEBOOK RECONSTRUCTION</a:t>
            </a:r>
          </a:p>
        </p:txBody>
      </p:sp>
      <p:sp>
        <p:nvSpPr>
          <p:cNvPr id="128" name="svg_text_128">
            <a:extLst xmlns:a="http://schemas.openxmlformats.org/drawingml/2006/main">
              <a:ext uri="{FF2B5EF4-FFF2-40B4-BE49-F238E27FC236}">
                <a16:creationId xmlns:a16="http://schemas.microsoft.com/office/drawing/2014/main" id="{DC0DBB18-DFFF-4773-AC1E-BE7980B2582C}"/>
              </a:ext>
            </a:extLst>
          </p:cNvPr>
          <p:cNvSpPr>
            <a:spLocks xmlns:a="http://schemas.openxmlformats.org/drawingml/2006/main" noGrp="1"/>
          </p:cNvSpPr>
          <p:nvPr/>
        </p:nvSpPr>
        <p:spPr>
          <a:xfrm xmlns:a="http://schemas.openxmlformats.org/drawingml/2006/main">
            <a:off x="17383125" y="2894472"/>
            <a:ext cx="2086569"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AND DECODING</a:t>
            </a:r>
          </a:p>
        </p:txBody>
      </p:sp>
      <p:sp>
        <p:nvSpPr>
          <p:cNvPr id="129" name="svg_rect_129">
            <a:extLst xmlns:a="http://schemas.openxmlformats.org/drawingml/2006/main">
              <a:ext uri="{FF2B5EF4-FFF2-40B4-BE49-F238E27FC236}">
                <a16:creationId xmlns:a16="http://schemas.microsoft.com/office/drawing/2014/main" id="{E42CF48B-4F0B-44A6-BD51-75B0C840FBB2}"/>
              </a:ext>
            </a:extLst>
          </p:cNvPr>
          <p:cNvSpPr>
            <a:spLocks xmlns:a="http://schemas.openxmlformats.org/drawingml/2006/main" noGrp="1"/>
          </p:cNvSpPr>
          <p:nvPr/>
        </p:nvSpPr>
        <p:spPr>
          <a:xfrm xmlns:a="http://schemas.openxmlformats.org/drawingml/2006/main">
            <a:off x="16892588" y="3929063"/>
            <a:ext cx="742950" cy="1238250"/>
          </a:xfrm>
          <a:prstGeom xmlns:a="http://schemas.openxmlformats.org/drawingml/2006/main" prst="roundRect">
            <a:avLst>
              <a:gd name="adj" fmla="val 10256"/>
            </a:avLst>
          </a:prstGeom>
          <a:solidFill xmlns:a="http://schemas.openxmlformats.org/drawingml/2006/main">
            <a:srgbClr val="EDF6FF"/>
          </a:solidFill>
          <a:ln xmlns:a="http://schemas.openxmlformats.org/drawingml/2006/main" w="24765">
            <a:solidFill>
              <a:srgbClr val="408FD2"/>
            </a:solidFill>
            <a:prstDash val="solid"/>
          </a:ln>
        </p:spPr>
      </p:sp>
      <p:sp>
        <p:nvSpPr>
          <p:cNvPr id="130" name="svg_text_130">
            <a:extLst xmlns:a="http://schemas.openxmlformats.org/drawingml/2006/main">
              <a:ext uri="{FF2B5EF4-FFF2-40B4-BE49-F238E27FC236}">
                <a16:creationId xmlns:a16="http://schemas.microsoft.com/office/drawing/2014/main" id="{B64D10CC-D989-4DFD-9475-546AA869474D}"/>
              </a:ext>
            </a:extLst>
          </p:cNvPr>
          <p:cNvSpPr>
            <a:spLocks xmlns:a="http://schemas.openxmlformats.org/drawingml/2006/main" noGrp="1"/>
          </p:cNvSpPr>
          <p:nvPr/>
        </p:nvSpPr>
        <p:spPr>
          <a:xfrm xmlns:a="http://schemas.openxmlformats.org/drawingml/2006/main">
            <a:off x="16756456" y="3647446"/>
            <a:ext cx="100568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Received</a:t>
            </a:r>
          </a:p>
        </p:txBody>
      </p:sp>
      <p:sp>
        <p:nvSpPr>
          <p:cNvPr id="131" name="svg_rect_131">
            <a:extLst xmlns:a="http://schemas.openxmlformats.org/drawingml/2006/main">
              <a:ext uri="{FF2B5EF4-FFF2-40B4-BE49-F238E27FC236}">
                <a16:creationId xmlns:a16="http://schemas.microsoft.com/office/drawing/2014/main" id="{A8F82BB4-925F-43AB-B105-9B1BF2BD28AD}"/>
              </a:ext>
            </a:extLst>
          </p:cNvPr>
          <p:cNvSpPr>
            <a:spLocks xmlns:a="http://schemas.openxmlformats.org/drawingml/2006/main" noGrp="1"/>
          </p:cNvSpPr>
          <p:nvPr/>
        </p:nvSpPr>
        <p:spPr>
          <a:xfrm xmlns:a="http://schemas.openxmlformats.org/drawingml/2006/main">
            <a:off x="17049750" y="4143375"/>
            <a:ext cx="428625" cy="142875"/>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132" name="svg_rect_132">
            <a:extLst xmlns:a="http://schemas.openxmlformats.org/drawingml/2006/main">
              <a:ext uri="{FF2B5EF4-FFF2-40B4-BE49-F238E27FC236}">
                <a16:creationId xmlns:a16="http://schemas.microsoft.com/office/drawing/2014/main" id="{9211F587-E184-43C6-97C7-28EC342758ED}"/>
              </a:ext>
            </a:extLst>
          </p:cNvPr>
          <p:cNvSpPr>
            <a:spLocks xmlns:a="http://schemas.openxmlformats.org/drawingml/2006/main" noGrp="1"/>
          </p:cNvSpPr>
          <p:nvPr/>
        </p:nvSpPr>
        <p:spPr>
          <a:xfrm xmlns:a="http://schemas.openxmlformats.org/drawingml/2006/main">
            <a:off x="17049750" y="4457700"/>
            <a:ext cx="428625" cy="142875"/>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133" name="svg_rect_133">
            <a:extLst xmlns:a="http://schemas.openxmlformats.org/drawingml/2006/main">
              <a:ext uri="{FF2B5EF4-FFF2-40B4-BE49-F238E27FC236}">
                <a16:creationId xmlns:a16="http://schemas.microsoft.com/office/drawing/2014/main" id="{BEFBDB19-C219-465D-9855-A3E2D5FA1B03}"/>
              </a:ext>
            </a:extLst>
          </p:cNvPr>
          <p:cNvSpPr>
            <a:spLocks xmlns:a="http://schemas.openxmlformats.org/drawingml/2006/main" noGrp="1"/>
          </p:cNvSpPr>
          <p:nvPr/>
        </p:nvSpPr>
        <p:spPr>
          <a:xfrm xmlns:a="http://schemas.openxmlformats.org/drawingml/2006/main">
            <a:off x="17049750" y="4772025"/>
            <a:ext cx="428625" cy="142875"/>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134" name="svg_path_134">
            <a:extLst xmlns:a="http://schemas.openxmlformats.org/drawingml/2006/main">
              <a:ext uri="{FF2B5EF4-FFF2-40B4-BE49-F238E27FC236}">
                <a16:creationId xmlns:a16="http://schemas.microsoft.com/office/drawing/2014/main" id="{1D9DAA23-DE1C-4991-ACDA-B34E477DAF6B}"/>
              </a:ext>
            </a:extLst>
          </p:cNvPr>
          <p:cNvSpPr>
            <a:spLocks xmlns:a="http://schemas.openxmlformats.org/drawingml/2006/main" noGrp="1"/>
          </p:cNvSpPr>
          <p:nvPr/>
        </p:nvSpPr>
        <p:spPr>
          <a:xfrm xmlns:a="http://schemas.openxmlformats.org/drawingml/2006/main">
            <a:off x="17621250" y="42386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135" name="svg_arrowhead_135">
            <a:extLst xmlns:a="http://schemas.openxmlformats.org/drawingml/2006/main">
              <a:ext uri="{FF2B5EF4-FFF2-40B4-BE49-F238E27FC236}">
                <a16:creationId xmlns:a16="http://schemas.microsoft.com/office/drawing/2014/main" id="{75188360-09D2-4F7F-9812-D6CCB52BDF09}"/>
              </a:ext>
            </a:extLst>
          </p:cNvPr>
          <p:cNvSpPr>
            <a:spLocks xmlns:a="http://schemas.openxmlformats.org/drawingml/2006/main" noGrp="1"/>
          </p:cNvSpPr>
          <p:nvPr/>
        </p:nvSpPr>
        <p:spPr>
          <a:xfrm xmlns:a="http://schemas.openxmlformats.org/drawingml/2006/main">
            <a:off x="17726025" y="41719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36" name="svg_path_136">
            <a:extLst xmlns:a="http://schemas.openxmlformats.org/drawingml/2006/main">
              <a:ext uri="{FF2B5EF4-FFF2-40B4-BE49-F238E27FC236}">
                <a16:creationId xmlns:a16="http://schemas.microsoft.com/office/drawing/2014/main" id="{2C5CF23D-7493-4A36-BDCA-0E9FA0D39690}"/>
              </a:ext>
            </a:extLst>
          </p:cNvPr>
          <p:cNvSpPr>
            <a:spLocks xmlns:a="http://schemas.openxmlformats.org/drawingml/2006/main" noGrp="1"/>
          </p:cNvSpPr>
          <p:nvPr/>
        </p:nvSpPr>
        <p:spPr>
          <a:xfrm xmlns:a="http://schemas.openxmlformats.org/drawingml/2006/main">
            <a:off x="17621250" y="45434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137" name="svg_arrowhead_137">
            <a:extLst xmlns:a="http://schemas.openxmlformats.org/drawingml/2006/main">
              <a:ext uri="{FF2B5EF4-FFF2-40B4-BE49-F238E27FC236}">
                <a16:creationId xmlns:a16="http://schemas.microsoft.com/office/drawing/2014/main" id="{5FFFA4A6-27EA-4582-A1EE-90361D6B5E6E}"/>
              </a:ext>
            </a:extLst>
          </p:cNvPr>
          <p:cNvSpPr>
            <a:spLocks xmlns:a="http://schemas.openxmlformats.org/drawingml/2006/main" noGrp="1"/>
          </p:cNvSpPr>
          <p:nvPr/>
        </p:nvSpPr>
        <p:spPr>
          <a:xfrm xmlns:a="http://schemas.openxmlformats.org/drawingml/2006/main">
            <a:off x="17726025" y="44767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38" name="svg_path_138">
            <a:extLst xmlns:a="http://schemas.openxmlformats.org/drawingml/2006/main">
              <a:ext uri="{FF2B5EF4-FFF2-40B4-BE49-F238E27FC236}">
                <a16:creationId xmlns:a16="http://schemas.microsoft.com/office/drawing/2014/main" id="{A6F9D4D8-CE2A-4BC3-B030-09B1D387310A}"/>
              </a:ext>
            </a:extLst>
          </p:cNvPr>
          <p:cNvSpPr>
            <a:spLocks xmlns:a="http://schemas.openxmlformats.org/drawingml/2006/main" noGrp="1"/>
          </p:cNvSpPr>
          <p:nvPr/>
        </p:nvSpPr>
        <p:spPr>
          <a:xfrm xmlns:a="http://schemas.openxmlformats.org/drawingml/2006/main">
            <a:off x="17621250" y="4857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139" name="svg_arrowhead_139">
            <a:extLst xmlns:a="http://schemas.openxmlformats.org/drawingml/2006/main">
              <a:ext uri="{FF2B5EF4-FFF2-40B4-BE49-F238E27FC236}">
                <a16:creationId xmlns:a16="http://schemas.microsoft.com/office/drawing/2014/main" id="{0226697A-2969-4E33-8838-1107CDA6BB8F}"/>
              </a:ext>
            </a:extLst>
          </p:cNvPr>
          <p:cNvSpPr>
            <a:spLocks xmlns:a="http://schemas.openxmlformats.org/drawingml/2006/main" noGrp="1"/>
          </p:cNvSpPr>
          <p:nvPr/>
        </p:nvSpPr>
        <p:spPr>
          <a:xfrm xmlns:a="http://schemas.openxmlformats.org/drawingml/2006/main">
            <a:off x="17726025" y="4791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40" name="svg_rect_140">
            <a:extLst xmlns:a="http://schemas.openxmlformats.org/drawingml/2006/main">
              <a:ext uri="{FF2B5EF4-FFF2-40B4-BE49-F238E27FC236}">
                <a16:creationId xmlns:a16="http://schemas.microsoft.com/office/drawing/2014/main" id="{DBBDB4AB-A4F9-4E52-87DD-E7022026F31C}"/>
              </a:ext>
            </a:extLst>
          </p:cNvPr>
          <p:cNvSpPr>
            <a:spLocks xmlns:a="http://schemas.openxmlformats.org/drawingml/2006/main" noGrp="1"/>
          </p:cNvSpPr>
          <p:nvPr/>
        </p:nvSpPr>
        <p:spPr>
          <a:xfrm xmlns:a="http://schemas.openxmlformats.org/drawingml/2006/main">
            <a:off x="17859375" y="3857625"/>
            <a:ext cx="1285875" cy="666750"/>
          </a:xfrm>
          <a:prstGeom xmlns:a="http://schemas.openxmlformats.org/drawingml/2006/main" prst="roundRect">
            <a:avLst>
              <a:gd name="adj" fmla="val 10000"/>
            </a:avLst>
          </a:prstGeom>
          <a:solidFill xmlns:a="http://schemas.openxmlformats.org/drawingml/2006/main">
            <a:srgbClr val="FFF1E2"/>
          </a:solidFill>
          <a:ln xmlns:a="http://schemas.openxmlformats.org/drawingml/2006/main" w="12383">
            <a:solidFill>
              <a:srgbClr val="EF8D32"/>
            </a:solidFill>
            <a:prstDash val="solid"/>
          </a:ln>
        </p:spPr>
      </p:sp>
      <p:sp>
        <p:nvSpPr>
          <p:cNvPr id="141" name="svg_text_141">
            <a:extLst xmlns:a="http://schemas.openxmlformats.org/drawingml/2006/main">
              <a:ext uri="{FF2B5EF4-FFF2-40B4-BE49-F238E27FC236}">
                <a16:creationId xmlns:a16="http://schemas.microsoft.com/office/drawing/2014/main" id="{D7265C5D-A878-4A4D-A553-CAE9413ACBEF}"/>
              </a:ext>
            </a:extLst>
          </p:cNvPr>
          <p:cNvSpPr>
            <a:spLocks xmlns:a="http://schemas.openxmlformats.org/drawingml/2006/main" noGrp="1"/>
          </p:cNvSpPr>
          <p:nvPr/>
        </p:nvSpPr>
        <p:spPr>
          <a:xfrm xmlns:a="http://schemas.openxmlformats.org/drawingml/2006/main">
            <a:off x="17904381" y="3905159"/>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Pre-Shared</a:t>
            </a:r>
          </a:p>
        </p:txBody>
      </p:sp>
      <p:sp>
        <p:nvSpPr>
          <p:cNvPr id="142" name="svg_text_142">
            <a:extLst xmlns:a="http://schemas.openxmlformats.org/drawingml/2006/main">
              <a:ext uri="{FF2B5EF4-FFF2-40B4-BE49-F238E27FC236}">
                <a16:creationId xmlns:a16="http://schemas.microsoft.com/office/drawing/2014/main" id="{4154720F-B48D-4168-98AE-ADB7D8FAF8A5}"/>
              </a:ext>
            </a:extLst>
          </p:cNvPr>
          <p:cNvSpPr>
            <a:spLocks xmlns:a="http://schemas.openxmlformats.org/drawingml/2006/main" noGrp="1"/>
          </p:cNvSpPr>
          <p:nvPr/>
        </p:nvSpPr>
        <p:spPr>
          <a:xfrm xmlns:a="http://schemas.openxmlformats.org/drawingml/2006/main">
            <a:off x="17904381" y="4067084"/>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 C1</a:t>
            </a:r>
          </a:p>
        </p:txBody>
      </p:sp>
      <p:sp>
        <p:nvSpPr>
          <p:cNvPr id="143" name="svg_text_143">
            <a:extLst xmlns:a="http://schemas.openxmlformats.org/drawingml/2006/main">
              <a:ext uri="{FF2B5EF4-FFF2-40B4-BE49-F238E27FC236}">
                <a16:creationId xmlns:a16="http://schemas.microsoft.com/office/drawing/2014/main" id="{E7074557-916B-4F97-8373-DD38F2D8EE98}"/>
              </a:ext>
            </a:extLst>
          </p:cNvPr>
          <p:cNvSpPr>
            <a:spLocks xmlns:a="http://schemas.openxmlformats.org/drawingml/2006/main" noGrp="1"/>
          </p:cNvSpPr>
          <p:nvPr/>
        </p:nvSpPr>
        <p:spPr>
          <a:xfrm xmlns:a="http://schemas.openxmlformats.org/drawingml/2006/main">
            <a:off x="17904381" y="4220204"/>
            <a:ext cx="119586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 → q₁</a:t>
            </a:r>
          </a:p>
        </p:txBody>
      </p:sp>
      <p:sp>
        <p:nvSpPr>
          <p:cNvPr id="144" name="svg_rect_144">
            <a:extLst xmlns:a="http://schemas.openxmlformats.org/drawingml/2006/main">
              <a:ext uri="{FF2B5EF4-FFF2-40B4-BE49-F238E27FC236}">
                <a16:creationId xmlns:a16="http://schemas.microsoft.com/office/drawing/2014/main" id="{E4F131A3-401B-4082-8AE2-C1E40C4E41F9}"/>
              </a:ext>
            </a:extLst>
          </p:cNvPr>
          <p:cNvSpPr>
            <a:spLocks xmlns:a="http://schemas.openxmlformats.org/drawingml/2006/main" noGrp="1"/>
          </p:cNvSpPr>
          <p:nvPr/>
        </p:nvSpPr>
        <p:spPr>
          <a:xfrm xmlns:a="http://schemas.openxmlformats.org/drawingml/2006/main">
            <a:off x="17859375" y="4572000"/>
            <a:ext cx="1285875" cy="666750"/>
          </a:xfrm>
          <a:prstGeom xmlns:a="http://schemas.openxmlformats.org/drawingml/2006/main" prst="roundRect">
            <a:avLst>
              <a:gd name="adj" fmla="val 10000"/>
            </a:avLst>
          </a:prstGeom>
          <a:solidFill xmlns:a="http://schemas.openxmlformats.org/drawingml/2006/main">
            <a:srgbClr val="E7F7EE"/>
          </a:solidFill>
          <a:ln xmlns:a="http://schemas.openxmlformats.org/drawingml/2006/main" w="12383">
            <a:solidFill>
              <a:srgbClr val="4CA873"/>
            </a:solidFill>
            <a:prstDash val="solid"/>
          </a:ln>
        </p:spPr>
      </p:sp>
      <p:sp>
        <p:nvSpPr>
          <p:cNvPr id="145" name="svg_text_145">
            <a:extLst xmlns:a="http://schemas.openxmlformats.org/drawingml/2006/main">
              <a:ext uri="{FF2B5EF4-FFF2-40B4-BE49-F238E27FC236}">
                <a16:creationId xmlns:a16="http://schemas.microsoft.com/office/drawing/2014/main" id="{CB64CB08-DE6F-4F78-8433-59CADC64DFDF}"/>
              </a:ext>
            </a:extLst>
          </p:cNvPr>
          <p:cNvSpPr>
            <a:spLocks xmlns:a="http://schemas.openxmlformats.org/drawingml/2006/main" noGrp="1"/>
          </p:cNvSpPr>
          <p:nvPr/>
        </p:nvSpPr>
        <p:spPr>
          <a:xfrm xmlns:a="http://schemas.openxmlformats.org/drawingml/2006/main">
            <a:off x="17904381" y="4619534"/>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Pre-Shared</a:t>
            </a:r>
          </a:p>
        </p:txBody>
      </p:sp>
      <p:sp>
        <p:nvSpPr>
          <p:cNvPr id="146" name="svg_text_146">
            <a:extLst xmlns:a="http://schemas.openxmlformats.org/drawingml/2006/main">
              <a:ext uri="{FF2B5EF4-FFF2-40B4-BE49-F238E27FC236}">
                <a16:creationId xmlns:a16="http://schemas.microsoft.com/office/drawing/2014/main" id="{8D279A69-65E3-4F07-97DD-3CFF178923A0}"/>
              </a:ext>
            </a:extLst>
          </p:cNvPr>
          <p:cNvSpPr>
            <a:spLocks xmlns:a="http://schemas.openxmlformats.org/drawingml/2006/main" noGrp="1"/>
          </p:cNvSpPr>
          <p:nvPr/>
        </p:nvSpPr>
        <p:spPr>
          <a:xfrm xmlns:a="http://schemas.openxmlformats.org/drawingml/2006/main">
            <a:off x="17904381" y="4781459"/>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 C2</a:t>
            </a:r>
          </a:p>
        </p:txBody>
      </p:sp>
      <p:sp>
        <p:nvSpPr>
          <p:cNvPr id="147" name="svg_text_147">
            <a:extLst xmlns:a="http://schemas.openxmlformats.org/drawingml/2006/main">
              <a:ext uri="{FF2B5EF4-FFF2-40B4-BE49-F238E27FC236}">
                <a16:creationId xmlns:a16="http://schemas.microsoft.com/office/drawing/2014/main" id="{B5A7CBB6-F6EB-4434-A5BD-D01CDE1358A0}"/>
              </a:ext>
            </a:extLst>
          </p:cNvPr>
          <p:cNvSpPr>
            <a:spLocks xmlns:a="http://schemas.openxmlformats.org/drawingml/2006/main" noGrp="1"/>
          </p:cNvSpPr>
          <p:nvPr/>
        </p:nvSpPr>
        <p:spPr>
          <a:xfrm xmlns:a="http://schemas.openxmlformats.org/drawingml/2006/main">
            <a:off x="17904381" y="4934579"/>
            <a:ext cx="119586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i₂ → q₂</a:t>
            </a:r>
          </a:p>
        </p:txBody>
      </p:sp>
      <p:sp>
        <p:nvSpPr>
          <p:cNvPr id="148" name="svg_rect_148">
            <a:extLst xmlns:a="http://schemas.openxmlformats.org/drawingml/2006/main">
              <a:ext uri="{FF2B5EF4-FFF2-40B4-BE49-F238E27FC236}">
                <a16:creationId xmlns:a16="http://schemas.microsoft.com/office/drawing/2014/main" id="{8137B1A4-F9D9-4E28-912C-71D803083EA5}"/>
              </a:ext>
            </a:extLst>
          </p:cNvPr>
          <p:cNvSpPr>
            <a:spLocks xmlns:a="http://schemas.openxmlformats.org/drawingml/2006/main" noGrp="1"/>
          </p:cNvSpPr>
          <p:nvPr/>
        </p:nvSpPr>
        <p:spPr>
          <a:xfrm xmlns:a="http://schemas.openxmlformats.org/drawingml/2006/main">
            <a:off x="17859375" y="5286375"/>
            <a:ext cx="1285875" cy="666750"/>
          </a:xfrm>
          <a:prstGeom xmlns:a="http://schemas.openxmlformats.org/drawingml/2006/main" prst="roundRect">
            <a:avLst>
              <a:gd name="adj" fmla="val 10000"/>
            </a:avLst>
          </a:prstGeom>
          <a:solidFill xmlns:a="http://schemas.openxmlformats.org/drawingml/2006/main">
            <a:srgbClr val="ECEAFF"/>
          </a:solidFill>
          <a:ln xmlns:a="http://schemas.openxmlformats.org/drawingml/2006/main" w="12383">
            <a:solidFill>
              <a:srgbClr val="7374D8"/>
            </a:solidFill>
            <a:prstDash val="solid"/>
          </a:ln>
        </p:spPr>
      </p:sp>
      <p:sp>
        <p:nvSpPr>
          <p:cNvPr id="149" name="svg_text_149">
            <a:extLst xmlns:a="http://schemas.openxmlformats.org/drawingml/2006/main">
              <a:ext uri="{FF2B5EF4-FFF2-40B4-BE49-F238E27FC236}">
                <a16:creationId xmlns:a16="http://schemas.microsoft.com/office/drawing/2014/main" id="{6ACBE438-E1BC-46E9-8DC5-D1E431426FD4}"/>
              </a:ext>
            </a:extLst>
          </p:cNvPr>
          <p:cNvSpPr>
            <a:spLocks xmlns:a="http://schemas.openxmlformats.org/drawingml/2006/main" noGrp="1"/>
          </p:cNvSpPr>
          <p:nvPr/>
        </p:nvSpPr>
        <p:spPr>
          <a:xfrm xmlns:a="http://schemas.openxmlformats.org/drawingml/2006/main">
            <a:off x="17904381" y="5333909"/>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Pre-Shared</a:t>
            </a:r>
          </a:p>
        </p:txBody>
      </p:sp>
      <p:sp>
        <p:nvSpPr>
          <p:cNvPr id="150" name="svg_text_150">
            <a:extLst xmlns:a="http://schemas.openxmlformats.org/drawingml/2006/main">
              <a:ext uri="{FF2B5EF4-FFF2-40B4-BE49-F238E27FC236}">
                <a16:creationId xmlns:a16="http://schemas.microsoft.com/office/drawing/2014/main" id="{A5595639-BFF0-4879-9DBA-526387F07B9C}"/>
              </a:ext>
            </a:extLst>
          </p:cNvPr>
          <p:cNvSpPr>
            <a:spLocks xmlns:a="http://schemas.openxmlformats.org/drawingml/2006/main" noGrp="1"/>
          </p:cNvSpPr>
          <p:nvPr/>
        </p:nvSpPr>
        <p:spPr>
          <a:xfrm xmlns:a="http://schemas.openxmlformats.org/drawingml/2006/main">
            <a:off x="17904381" y="5495834"/>
            <a:ext cx="119586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 C3</a:t>
            </a:r>
          </a:p>
        </p:txBody>
      </p:sp>
      <p:sp>
        <p:nvSpPr>
          <p:cNvPr id="151" name="svg_text_151">
            <a:extLst xmlns:a="http://schemas.openxmlformats.org/drawingml/2006/main">
              <a:ext uri="{FF2B5EF4-FFF2-40B4-BE49-F238E27FC236}">
                <a16:creationId xmlns:a16="http://schemas.microsoft.com/office/drawing/2014/main" id="{E554F1A2-E155-4091-B9FA-099236623D73}"/>
              </a:ext>
            </a:extLst>
          </p:cNvPr>
          <p:cNvSpPr>
            <a:spLocks xmlns:a="http://schemas.openxmlformats.org/drawingml/2006/main" noGrp="1"/>
          </p:cNvSpPr>
          <p:nvPr/>
        </p:nvSpPr>
        <p:spPr>
          <a:xfrm xmlns:a="http://schemas.openxmlformats.org/drawingml/2006/main">
            <a:off x="17904381" y="5648954"/>
            <a:ext cx="119586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i₃ → q₃</a:t>
            </a:r>
          </a:p>
        </p:txBody>
      </p:sp>
      <p:sp>
        <p:nvSpPr>
          <p:cNvPr id="152" name="svg_path_152">
            <a:extLst xmlns:a="http://schemas.openxmlformats.org/drawingml/2006/main">
              <a:ext uri="{FF2B5EF4-FFF2-40B4-BE49-F238E27FC236}">
                <a16:creationId xmlns:a16="http://schemas.microsoft.com/office/drawing/2014/main" id="{D8A7B7AD-4F3F-4FDD-9D3E-BA240BC0250D}"/>
              </a:ext>
            </a:extLst>
          </p:cNvPr>
          <p:cNvSpPr>
            <a:spLocks xmlns:a="http://schemas.openxmlformats.org/drawingml/2006/main" noGrp="1"/>
          </p:cNvSpPr>
          <p:nvPr/>
        </p:nvSpPr>
        <p:spPr>
          <a:xfrm xmlns:a="http://schemas.openxmlformats.org/drawingml/2006/main">
            <a:off x="19145250" y="4191000"/>
            <a:ext cx="285750" cy="619125"/>
          </a:xfrm>
          <a:custGeom xmlns:a="http://schemas.openxmlformats.org/drawingml/2006/main">
            <a:pathLst>
              <a:path w="285750" h="619125">
                <a:moveTo>
                  <a:pt x="0" y="0"/>
                </a:moveTo>
                <a:lnTo>
                  <a:pt x="285750" y="0"/>
                </a:lnTo>
                <a:lnTo>
                  <a:pt x="285750" y="619125"/>
                </a:lnTo>
              </a:path>
            </a:pathLst>
          </a:custGeom>
          <a:noFill xmlns:a="http://schemas.openxmlformats.org/drawingml/2006/main"/>
          <a:ln xmlns:a="http://schemas.openxmlformats.org/drawingml/2006/main" w="24765">
            <a:solidFill>
              <a:srgbClr val="2386D8"/>
            </a:solidFill>
            <a:prstDash val="solid"/>
          </a:ln>
        </p:spPr>
      </p:sp>
      <p:sp>
        <p:nvSpPr>
          <p:cNvPr id="153" name="svg_arrowhead_153">
            <a:extLst xmlns:a="http://schemas.openxmlformats.org/drawingml/2006/main">
              <a:ext uri="{FF2B5EF4-FFF2-40B4-BE49-F238E27FC236}">
                <a16:creationId xmlns:a16="http://schemas.microsoft.com/office/drawing/2014/main" id="{20CB940D-F331-4862-9A1E-EFC9DDFD989E}"/>
              </a:ext>
            </a:extLst>
          </p:cNvPr>
          <p:cNvSpPr>
            <a:spLocks xmlns:a="http://schemas.openxmlformats.org/drawingml/2006/main" noGrp="1"/>
          </p:cNvSpPr>
          <p:nvPr/>
        </p:nvSpPr>
        <p:spPr>
          <a:xfrm xmlns:a="http://schemas.openxmlformats.org/drawingml/2006/main">
            <a:off x="19364325" y="4676775"/>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54" name="svg_path_154">
            <a:extLst xmlns:a="http://schemas.openxmlformats.org/drawingml/2006/main">
              <a:ext uri="{FF2B5EF4-FFF2-40B4-BE49-F238E27FC236}">
                <a16:creationId xmlns:a16="http://schemas.microsoft.com/office/drawing/2014/main" id="{53290CB1-1973-4ECA-ABE0-E74417F30A5D}"/>
              </a:ext>
            </a:extLst>
          </p:cNvPr>
          <p:cNvSpPr>
            <a:spLocks xmlns:a="http://schemas.openxmlformats.org/drawingml/2006/main" noGrp="1"/>
          </p:cNvSpPr>
          <p:nvPr/>
        </p:nvSpPr>
        <p:spPr>
          <a:xfrm xmlns:a="http://schemas.openxmlformats.org/drawingml/2006/main">
            <a:off x="19145250" y="49053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4765">
            <a:solidFill>
              <a:srgbClr val="2386D8"/>
            </a:solidFill>
            <a:prstDash val="solid"/>
          </a:ln>
        </p:spPr>
      </p:sp>
      <p:sp>
        <p:nvSpPr>
          <p:cNvPr id="155" name="svg_arrowhead_155">
            <a:extLst xmlns:a="http://schemas.openxmlformats.org/drawingml/2006/main">
              <a:ext uri="{FF2B5EF4-FFF2-40B4-BE49-F238E27FC236}">
                <a16:creationId xmlns:a16="http://schemas.microsoft.com/office/drawing/2014/main" id="{39111F2E-85CC-4D51-AB99-F54AC9408493}"/>
              </a:ext>
            </a:extLst>
          </p:cNvPr>
          <p:cNvSpPr>
            <a:spLocks xmlns:a="http://schemas.openxmlformats.org/drawingml/2006/main" noGrp="1"/>
          </p:cNvSpPr>
          <p:nvPr/>
        </p:nvSpPr>
        <p:spPr>
          <a:xfrm xmlns:a="http://schemas.openxmlformats.org/drawingml/2006/main">
            <a:off x="19297650"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56" name="svg_path_156">
            <a:extLst xmlns:a="http://schemas.openxmlformats.org/drawingml/2006/main">
              <a:ext uri="{FF2B5EF4-FFF2-40B4-BE49-F238E27FC236}">
                <a16:creationId xmlns:a16="http://schemas.microsoft.com/office/drawing/2014/main" id="{239059C3-592B-47D0-B898-191CCDEECBE4}"/>
              </a:ext>
            </a:extLst>
          </p:cNvPr>
          <p:cNvSpPr>
            <a:spLocks xmlns:a="http://schemas.openxmlformats.org/drawingml/2006/main" noGrp="1"/>
          </p:cNvSpPr>
          <p:nvPr/>
        </p:nvSpPr>
        <p:spPr>
          <a:xfrm xmlns:a="http://schemas.openxmlformats.org/drawingml/2006/main">
            <a:off x="19145250" y="5000625"/>
            <a:ext cx="285750" cy="619125"/>
          </a:xfrm>
          <a:custGeom xmlns:a="http://schemas.openxmlformats.org/drawingml/2006/main">
            <a:pathLst>
              <a:path w="285750" h="619125">
                <a:moveTo>
                  <a:pt x="0" y="619125"/>
                </a:moveTo>
                <a:lnTo>
                  <a:pt x="285750" y="619125"/>
                </a:lnTo>
                <a:lnTo>
                  <a:pt x="285750" y="0"/>
                </a:lnTo>
              </a:path>
            </a:pathLst>
          </a:custGeom>
          <a:noFill xmlns:a="http://schemas.openxmlformats.org/drawingml/2006/main"/>
          <a:ln xmlns:a="http://schemas.openxmlformats.org/drawingml/2006/main" w="24765">
            <a:solidFill>
              <a:srgbClr val="2386D8"/>
            </a:solidFill>
            <a:prstDash val="solid"/>
          </a:ln>
        </p:spPr>
      </p:sp>
      <p:sp>
        <p:nvSpPr>
          <p:cNvPr id="157" name="svg_arrowhead_157">
            <a:extLst xmlns:a="http://schemas.openxmlformats.org/drawingml/2006/main">
              <a:ext uri="{FF2B5EF4-FFF2-40B4-BE49-F238E27FC236}">
                <a16:creationId xmlns:a16="http://schemas.microsoft.com/office/drawing/2014/main" id="{522F58D8-881C-46B8-81DA-2FC594F11CFF}"/>
              </a:ext>
            </a:extLst>
          </p:cNvPr>
          <p:cNvSpPr>
            <a:spLocks xmlns:a="http://schemas.openxmlformats.org/drawingml/2006/main" noGrp="1"/>
          </p:cNvSpPr>
          <p:nvPr/>
        </p:nvSpPr>
        <p:spPr>
          <a:xfrm xmlns:a="http://schemas.openxmlformats.org/drawingml/2006/main">
            <a:off x="19364325" y="5000625"/>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58" name="svg_circle_158">
            <a:extLst xmlns:a="http://schemas.openxmlformats.org/drawingml/2006/main">
              <a:ext uri="{FF2B5EF4-FFF2-40B4-BE49-F238E27FC236}">
                <a16:creationId xmlns:a16="http://schemas.microsoft.com/office/drawing/2014/main" id="{C6ED1BA2-9BD7-4D18-9862-897A8994E0BB}"/>
              </a:ext>
            </a:extLst>
          </p:cNvPr>
          <p:cNvSpPr>
            <a:spLocks xmlns:a="http://schemas.openxmlformats.org/drawingml/2006/main" noGrp="1"/>
          </p:cNvSpPr>
          <p:nvPr/>
        </p:nvSpPr>
        <p:spPr>
          <a:xfrm xmlns:a="http://schemas.openxmlformats.org/drawingml/2006/main">
            <a:off x="19335750" y="4667250"/>
            <a:ext cx="476250" cy="476250"/>
          </a:xfrm>
          <a:prstGeom xmlns:a="http://schemas.openxmlformats.org/drawingml/2006/main" prst="ellipse">
            <a:avLst/>
          </a:prstGeom>
          <a:solidFill xmlns:a="http://schemas.openxmlformats.org/drawingml/2006/main">
            <a:srgbClr val="FFFFFF"/>
          </a:solidFill>
          <a:ln xmlns:a="http://schemas.openxmlformats.org/drawingml/2006/main" w="24765">
            <a:solidFill>
              <a:srgbClr val="5668D2"/>
            </a:solidFill>
            <a:prstDash val="solid"/>
          </a:ln>
        </p:spPr>
      </p:sp>
      <p:sp>
        <p:nvSpPr>
          <p:cNvPr id="159" name="svg_text_159">
            <a:extLst xmlns:a="http://schemas.openxmlformats.org/drawingml/2006/main">
              <a:ext uri="{FF2B5EF4-FFF2-40B4-BE49-F238E27FC236}">
                <a16:creationId xmlns:a16="http://schemas.microsoft.com/office/drawing/2014/main" id="{0A3B7042-8818-4F42-93C6-B734C8EA046B}"/>
              </a:ext>
            </a:extLst>
          </p:cNvPr>
          <p:cNvSpPr>
            <a:spLocks xmlns:a="http://schemas.openxmlformats.org/drawingml/2006/main" noGrp="1"/>
          </p:cNvSpPr>
          <p:nvPr/>
        </p:nvSpPr>
        <p:spPr>
          <a:xfrm xmlns:a="http://schemas.openxmlformats.org/drawingml/2006/main">
            <a:off x="19364325" y="46958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604" b="0" i="0">
                <a:solidFill>
                  <a:srgbClr val="000000"/>
                </a:solidFill>
                <a:latin typeface="Arial"/>
                <a:ea typeface="Arial"/>
                <a:cs typeface="Arial"/>
              </a:defRPr>
            </a:pPr>
            <a:r>
              <a:rPr sz="2604" b="0" i="0">
                <a:solidFill>
                  <a:srgbClr val="000000"/>
                </a:solidFill>
                <a:latin typeface="Arial"/>
                <a:ea typeface="Arial"/>
                <a:cs typeface="Arial"/>
              </a:rPr>
              <a:t>+</a:t>
            </a:r>
          </a:p>
        </p:txBody>
      </p:sp>
      <p:sp>
        <p:nvSpPr>
          <p:cNvPr id="160" name="svg_text_160">
            <a:extLst xmlns:a="http://schemas.openxmlformats.org/drawingml/2006/main">
              <a:ext uri="{FF2B5EF4-FFF2-40B4-BE49-F238E27FC236}">
                <a16:creationId xmlns:a16="http://schemas.microsoft.com/office/drawing/2014/main" id="{EF8D8639-B562-476D-84EF-1AFBD1684CB7}"/>
              </a:ext>
            </a:extLst>
          </p:cNvPr>
          <p:cNvSpPr>
            <a:spLocks xmlns:a="http://schemas.openxmlformats.org/drawingml/2006/main" noGrp="1"/>
          </p:cNvSpPr>
          <p:nvPr/>
        </p:nvSpPr>
        <p:spPr>
          <a:xfrm xmlns:a="http://schemas.openxmlformats.org/drawingml/2006/main">
            <a:off x="18728398" y="3441163"/>
            <a:ext cx="169095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q₁ + q₂ + q₃</a:t>
            </a:r>
          </a:p>
        </p:txBody>
      </p:sp>
      <p:sp>
        <p:nvSpPr>
          <p:cNvPr id="161" name="svg_path_161">
            <a:extLst xmlns:a="http://schemas.openxmlformats.org/drawingml/2006/main">
              <a:ext uri="{FF2B5EF4-FFF2-40B4-BE49-F238E27FC236}">
                <a16:creationId xmlns:a16="http://schemas.microsoft.com/office/drawing/2014/main" id="{ECADA9B8-99DA-4B3C-82A0-FE911EEF801B}"/>
              </a:ext>
            </a:extLst>
          </p:cNvPr>
          <p:cNvSpPr>
            <a:spLocks xmlns:a="http://schemas.openxmlformats.org/drawingml/2006/main" noGrp="1"/>
          </p:cNvSpPr>
          <p:nvPr/>
        </p:nvSpPr>
        <p:spPr>
          <a:xfrm xmlns:a="http://schemas.openxmlformats.org/drawingml/2006/main">
            <a:off x="19812000" y="49053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162" name="svg_arrowhead_162">
            <a:extLst xmlns:a="http://schemas.openxmlformats.org/drawingml/2006/main">
              <a:ext uri="{FF2B5EF4-FFF2-40B4-BE49-F238E27FC236}">
                <a16:creationId xmlns:a16="http://schemas.microsoft.com/office/drawing/2014/main" id="{F0FB2B1A-A071-4D06-842A-3E0409ABCE51}"/>
              </a:ext>
            </a:extLst>
          </p:cNvPr>
          <p:cNvSpPr>
            <a:spLocks xmlns:a="http://schemas.openxmlformats.org/drawingml/2006/main" noGrp="1"/>
          </p:cNvSpPr>
          <p:nvPr/>
        </p:nvSpPr>
        <p:spPr>
          <a:xfrm xmlns:a="http://schemas.openxmlformats.org/drawingml/2006/main">
            <a:off x="19964400"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63" name="svg_rect_163">
            <a:extLst xmlns:a="http://schemas.openxmlformats.org/drawingml/2006/main">
              <a:ext uri="{FF2B5EF4-FFF2-40B4-BE49-F238E27FC236}">
                <a16:creationId xmlns:a16="http://schemas.microsoft.com/office/drawing/2014/main" id="{DE67DAAB-B419-467D-8B6B-36A603AF8080}"/>
              </a:ext>
            </a:extLst>
          </p:cNvPr>
          <p:cNvSpPr>
            <a:spLocks xmlns:a="http://schemas.openxmlformats.org/drawingml/2006/main" noGrp="1"/>
          </p:cNvSpPr>
          <p:nvPr/>
        </p:nvSpPr>
        <p:spPr>
          <a:xfrm xmlns:a="http://schemas.openxmlformats.org/drawingml/2006/main">
            <a:off x="20079653" y="4360545"/>
            <a:ext cx="941070" cy="1089660"/>
          </a:xfrm>
          <a:prstGeom xmlns:a="http://schemas.openxmlformats.org/drawingml/2006/main" prst="roundRect">
            <a:avLst>
              <a:gd name="adj" fmla="val 8097"/>
            </a:avLst>
          </a:prstGeom>
          <a:solidFill xmlns:a="http://schemas.openxmlformats.org/drawingml/2006/main">
            <a:srgbClr val="EDF6FF"/>
          </a:solidFill>
          <a:ln xmlns:a="http://schemas.openxmlformats.org/drawingml/2006/main" w="24765">
            <a:solidFill>
              <a:srgbClr val="408FD2"/>
            </a:solidFill>
            <a:prstDash val="solid"/>
          </a:ln>
        </p:spPr>
      </p:sp>
      <p:sp>
        <p:nvSpPr>
          <p:cNvPr id="164" name="svg_text_164">
            <a:extLst xmlns:a="http://schemas.openxmlformats.org/drawingml/2006/main">
              <a:ext uri="{FF2B5EF4-FFF2-40B4-BE49-F238E27FC236}">
                <a16:creationId xmlns:a16="http://schemas.microsoft.com/office/drawing/2014/main" id="{4CD184A0-F2F0-40E3-9BE1-0BB5E775F92B}"/>
              </a:ext>
            </a:extLst>
          </p:cNvPr>
          <p:cNvSpPr>
            <a:spLocks xmlns:a="http://schemas.openxmlformats.org/drawingml/2006/main" noGrp="1"/>
          </p:cNvSpPr>
          <p:nvPr/>
        </p:nvSpPr>
        <p:spPr>
          <a:xfrm xmlns:a="http://schemas.openxmlformats.org/drawingml/2006/main">
            <a:off x="20117753" y="4464714"/>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881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Recovered</a:t>
            </a:r>
          </a:p>
        </p:txBody>
      </p:sp>
      <p:sp>
        <p:nvSpPr>
          <p:cNvPr id="165" name="svg_text_165">
            <a:extLst xmlns:a="http://schemas.openxmlformats.org/drawingml/2006/main">
              <a:ext uri="{FF2B5EF4-FFF2-40B4-BE49-F238E27FC236}">
                <a16:creationId xmlns:a16="http://schemas.microsoft.com/office/drawing/2014/main" id="{54C42CC4-6A0B-4BF6-877A-26943F2A9088}"/>
              </a:ext>
            </a:extLst>
          </p:cNvPr>
          <p:cNvSpPr>
            <a:spLocks xmlns:a="http://schemas.openxmlformats.org/drawingml/2006/main" noGrp="1"/>
          </p:cNvSpPr>
          <p:nvPr/>
        </p:nvSpPr>
        <p:spPr>
          <a:xfrm xmlns:a="http://schemas.openxmlformats.org/drawingml/2006/main">
            <a:off x="20117753" y="4702839"/>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Latent zq</a:t>
            </a:r>
          </a:p>
        </p:txBody>
      </p:sp>
      <p:sp>
        <p:nvSpPr>
          <p:cNvPr id="166" name="svg_text_166">
            <a:extLst xmlns:a="http://schemas.openxmlformats.org/drawingml/2006/main">
              <a:ext uri="{FF2B5EF4-FFF2-40B4-BE49-F238E27FC236}">
                <a16:creationId xmlns:a16="http://schemas.microsoft.com/office/drawing/2014/main" id="{1C273C57-655F-4721-9489-C9B23AE36F4D}"/>
              </a:ext>
            </a:extLst>
          </p:cNvPr>
          <p:cNvSpPr>
            <a:spLocks xmlns:a="http://schemas.openxmlformats.org/drawingml/2006/main" noGrp="1"/>
          </p:cNvSpPr>
          <p:nvPr/>
        </p:nvSpPr>
        <p:spPr>
          <a:xfrm xmlns:a="http://schemas.openxmlformats.org/drawingml/2006/main">
            <a:off x="20117753" y="5000534"/>
            <a:ext cx="8648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using shared</a:t>
            </a:r>
          </a:p>
        </p:txBody>
      </p:sp>
      <p:sp>
        <p:nvSpPr>
          <p:cNvPr id="167" name="svg_text_167">
            <a:extLst xmlns:a="http://schemas.openxmlformats.org/drawingml/2006/main">
              <a:ext uri="{FF2B5EF4-FFF2-40B4-BE49-F238E27FC236}">
                <a16:creationId xmlns:a16="http://schemas.microsoft.com/office/drawing/2014/main" id="{C798FF3D-5C46-40ED-8477-FC8015E3E3FB}"/>
              </a:ext>
            </a:extLst>
          </p:cNvPr>
          <p:cNvSpPr>
            <a:spLocks xmlns:a="http://schemas.openxmlformats.org/drawingml/2006/main" noGrp="1"/>
          </p:cNvSpPr>
          <p:nvPr/>
        </p:nvSpPr>
        <p:spPr>
          <a:xfrm xmlns:a="http://schemas.openxmlformats.org/drawingml/2006/main">
            <a:off x="20117753" y="5162459"/>
            <a:ext cx="8648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codebooks</a:t>
            </a:r>
          </a:p>
        </p:txBody>
      </p:sp>
      <p:sp>
        <p:nvSpPr>
          <p:cNvPr id="168" name="svg_path_168">
            <a:extLst xmlns:a="http://schemas.openxmlformats.org/drawingml/2006/main">
              <a:ext uri="{FF2B5EF4-FFF2-40B4-BE49-F238E27FC236}">
                <a16:creationId xmlns:a16="http://schemas.microsoft.com/office/drawing/2014/main" id="{121F05A9-16BC-4037-A320-3A23AF9F61E8}"/>
              </a:ext>
            </a:extLst>
          </p:cNvPr>
          <p:cNvSpPr>
            <a:spLocks xmlns:a="http://schemas.openxmlformats.org/drawingml/2006/main" noGrp="1"/>
          </p:cNvSpPr>
          <p:nvPr/>
        </p:nvSpPr>
        <p:spPr>
          <a:xfrm xmlns:a="http://schemas.openxmlformats.org/drawingml/2006/main">
            <a:off x="21002625" y="4905375"/>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30956">
            <a:solidFill>
              <a:srgbClr val="2386D8"/>
            </a:solidFill>
            <a:prstDash val="solid"/>
          </a:ln>
        </p:spPr>
      </p:sp>
      <p:sp>
        <p:nvSpPr>
          <p:cNvPr id="169" name="svg_arrowhead_169">
            <a:extLst xmlns:a="http://schemas.openxmlformats.org/drawingml/2006/main">
              <a:ext uri="{FF2B5EF4-FFF2-40B4-BE49-F238E27FC236}">
                <a16:creationId xmlns:a16="http://schemas.microsoft.com/office/drawing/2014/main" id="{545B9A9B-310C-4F81-AF4F-C16D1C44F21C}"/>
              </a:ext>
            </a:extLst>
          </p:cNvPr>
          <p:cNvSpPr>
            <a:spLocks xmlns:a="http://schemas.openxmlformats.org/drawingml/2006/main" noGrp="1"/>
          </p:cNvSpPr>
          <p:nvPr/>
        </p:nvSpPr>
        <p:spPr>
          <a:xfrm xmlns:a="http://schemas.openxmlformats.org/drawingml/2006/main">
            <a:off x="21155025"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70" name="svg_rect_170">
            <a:extLst xmlns:a="http://schemas.openxmlformats.org/drawingml/2006/main">
              <a:ext uri="{FF2B5EF4-FFF2-40B4-BE49-F238E27FC236}">
                <a16:creationId xmlns:a16="http://schemas.microsoft.com/office/drawing/2014/main" id="{B23D797F-DDCA-498A-B438-D1DD40712341}"/>
              </a:ext>
            </a:extLst>
          </p:cNvPr>
          <p:cNvSpPr>
            <a:spLocks xmlns:a="http://schemas.openxmlformats.org/drawingml/2006/main" noGrp="1"/>
          </p:cNvSpPr>
          <p:nvPr/>
        </p:nvSpPr>
        <p:spPr>
          <a:xfrm xmlns:a="http://schemas.openxmlformats.org/drawingml/2006/main">
            <a:off x="21270278" y="4360545"/>
            <a:ext cx="941070" cy="1089660"/>
          </a:xfrm>
          <a:prstGeom xmlns:a="http://schemas.openxmlformats.org/drawingml/2006/main" prst="roundRect">
            <a:avLst>
              <a:gd name="adj" fmla="val 8097"/>
            </a:avLst>
          </a:prstGeom>
          <a:solidFill xmlns:a="http://schemas.openxmlformats.org/drawingml/2006/main">
            <a:srgbClr val="EDF6FF"/>
          </a:solidFill>
          <a:ln xmlns:a="http://schemas.openxmlformats.org/drawingml/2006/main" w="24765">
            <a:solidFill>
              <a:srgbClr val="408FD2"/>
            </a:solidFill>
            <a:prstDash val="solid"/>
          </a:ln>
        </p:spPr>
      </p:sp>
      <p:sp>
        <p:nvSpPr>
          <p:cNvPr id="171" name="svg_text_171">
            <a:extLst xmlns:a="http://schemas.openxmlformats.org/drawingml/2006/main">
              <a:ext uri="{FF2B5EF4-FFF2-40B4-BE49-F238E27FC236}">
                <a16:creationId xmlns:a16="http://schemas.microsoft.com/office/drawing/2014/main" id="{B3F9CB29-C0D3-49AD-A8C1-6AE1B327D819}"/>
              </a:ext>
            </a:extLst>
          </p:cNvPr>
          <p:cNvSpPr>
            <a:spLocks xmlns:a="http://schemas.openxmlformats.org/drawingml/2006/main" noGrp="1"/>
          </p:cNvSpPr>
          <p:nvPr/>
        </p:nvSpPr>
        <p:spPr>
          <a:xfrm xmlns:a="http://schemas.openxmlformats.org/drawingml/2006/main">
            <a:off x="21308378" y="4521864"/>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SEANet</a:t>
            </a:r>
          </a:p>
        </p:txBody>
      </p:sp>
      <p:sp>
        <p:nvSpPr>
          <p:cNvPr id="172" name="svg_text_172">
            <a:extLst xmlns:a="http://schemas.openxmlformats.org/drawingml/2006/main">
              <a:ext uri="{FF2B5EF4-FFF2-40B4-BE49-F238E27FC236}">
                <a16:creationId xmlns:a16="http://schemas.microsoft.com/office/drawing/2014/main" id="{2C00EE79-CF2D-4E9B-9BA4-EE4B5BDE49F1}"/>
              </a:ext>
            </a:extLst>
          </p:cNvPr>
          <p:cNvSpPr>
            <a:spLocks xmlns:a="http://schemas.openxmlformats.org/drawingml/2006/main" noGrp="1"/>
          </p:cNvSpPr>
          <p:nvPr/>
        </p:nvSpPr>
        <p:spPr>
          <a:xfrm xmlns:a="http://schemas.openxmlformats.org/drawingml/2006/main">
            <a:off x="21308378" y="4769514"/>
            <a:ext cx="86487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Decoder</a:t>
            </a:r>
          </a:p>
        </p:txBody>
      </p:sp>
      <p:sp>
        <p:nvSpPr>
          <p:cNvPr id="173" name="svg_path_173">
            <a:extLst xmlns:a="http://schemas.openxmlformats.org/drawingml/2006/main">
              <a:ext uri="{FF2B5EF4-FFF2-40B4-BE49-F238E27FC236}">
                <a16:creationId xmlns:a16="http://schemas.microsoft.com/office/drawing/2014/main" id="{358A8731-4BEB-4172-859B-277BC735DEB8}"/>
              </a:ext>
            </a:extLst>
          </p:cNvPr>
          <p:cNvSpPr>
            <a:spLocks xmlns:a="http://schemas.openxmlformats.org/drawingml/2006/main" noGrp="1"/>
          </p:cNvSpPr>
          <p:nvPr/>
        </p:nvSpPr>
        <p:spPr>
          <a:xfrm xmlns:a="http://schemas.openxmlformats.org/drawingml/2006/main">
            <a:off x="22193250" y="49053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30956">
            <a:solidFill>
              <a:srgbClr val="2386D8"/>
            </a:solidFill>
            <a:prstDash val="solid"/>
          </a:ln>
        </p:spPr>
      </p:sp>
      <p:sp>
        <p:nvSpPr>
          <p:cNvPr id="174" name="svg_arrowhead_174">
            <a:extLst xmlns:a="http://schemas.openxmlformats.org/drawingml/2006/main">
              <a:ext uri="{FF2B5EF4-FFF2-40B4-BE49-F238E27FC236}">
                <a16:creationId xmlns:a16="http://schemas.microsoft.com/office/drawing/2014/main" id="{61FE662C-A0C5-444B-B196-BD12328B2E4E}"/>
              </a:ext>
            </a:extLst>
          </p:cNvPr>
          <p:cNvSpPr>
            <a:spLocks xmlns:a="http://schemas.openxmlformats.org/drawingml/2006/main" noGrp="1"/>
          </p:cNvSpPr>
          <p:nvPr/>
        </p:nvSpPr>
        <p:spPr>
          <a:xfrm xmlns:a="http://schemas.openxmlformats.org/drawingml/2006/main">
            <a:off x="22250400" y="48387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75" name="svg_text_175">
            <a:extLst xmlns:a="http://schemas.openxmlformats.org/drawingml/2006/main">
              <a:ext uri="{FF2B5EF4-FFF2-40B4-BE49-F238E27FC236}">
                <a16:creationId xmlns:a16="http://schemas.microsoft.com/office/drawing/2014/main" id="{583CDA1D-842B-4F22-BDBF-3B182D40A089}"/>
              </a:ext>
            </a:extLst>
          </p:cNvPr>
          <p:cNvSpPr>
            <a:spLocks xmlns:a="http://schemas.openxmlformats.org/drawingml/2006/main" noGrp="1"/>
          </p:cNvSpPr>
          <p:nvPr/>
        </p:nvSpPr>
        <p:spPr>
          <a:xfrm xmlns:a="http://schemas.openxmlformats.org/drawingml/2006/main">
            <a:off x="20972507" y="5552446"/>
            <a:ext cx="152708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Reconstructed</a:t>
            </a:r>
          </a:p>
        </p:txBody>
      </p:sp>
      <p:sp>
        <p:nvSpPr>
          <p:cNvPr id="176" name="svg_text_176">
            <a:extLst xmlns:a="http://schemas.openxmlformats.org/drawingml/2006/main">
              <a:ext uri="{FF2B5EF4-FFF2-40B4-BE49-F238E27FC236}">
                <a16:creationId xmlns:a16="http://schemas.microsoft.com/office/drawing/2014/main" id="{EE7CB9F8-FCDE-4D8C-BF03-7E3747518EDF}"/>
              </a:ext>
            </a:extLst>
          </p:cNvPr>
          <p:cNvSpPr>
            <a:spLocks xmlns:a="http://schemas.openxmlformats.org/drawingml/2006/main" noGrp="1"/>
          </p:cNvSpPr>
          <p:nvPr/>
        </p:nvSpPr>
        <p:spPr>
          <a:xfrm xmlns:a="http://schemas.openxmlformats.org/drawingml/2006/main">
            <a:off x="20868227" y="5742946"/>
            <a:ext cx="173564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Speech output →</a:t>
            </a:r>
          </a:p>
        </p:txBody>
      </p:sp>
      <p:sp>
        <p:nvSpPr>
          <p:cNvPr id="177" name="svg_rect_177">
            <a:extLst xmlns:a="http://schemas.openxmlformats.org/drawingml/2006/main">
              <a:ext uri="{FF2B5EF4-FFF2-40B4-BE49-F238E27FC236}">
                <a16:creationId xmlns:a16="http://schemas.microsoft.com/office/drawing/2014/main" id="{128EA847-ADC9-4685-A2CB-EA502CEFB5C1}"/>
              </a:ext>
            </a:extLst>
          </p:cNvPr>
          <p:cNvSpPr>
            <a:spLocks xmlns:a="http://schemas.openxmlformats.org/drawingml/2006/main" noGrp="1"/>
          </p:cNvSpPr>
          <p:nvPr/>
        </p:nvSpPr>
        <p:spPr>
          <a:xfrm xmlns:a="http://schemas.openxmlformats.org/drawingml/2006/main">
            <a:off x="17733645" y="5976366"/>
            <a:ext cx="4061460" cy="277368"/>
          </a:xfrm>
          <a:prstGeom xmlns:a="http://schemas.openxmlformats.org/drawingml/2006/main" prst="roundRect">
            <a:avLst>
              <a:gd name="adj" fmla="val 30907"/>
            </a:avLst>
          </a:prstGeom>
          <a:solidFill xmlns:a="http://schemas.openxmlformats.org/drawingml/2006/main">
            <a:srgbClr val="E4F2FF"/>
          </a:solidFill>
          <a:ln xmlns:a="http://schemas.openxmlformats.org/drawingml/2006/main" w="18574">
            <a:solidFill>
              <a:srgbClr val="78AFE0"/>
            </a:solidFill>
            <a:prstDash val="solid"/>
          </a:ln>
        </p:spPr>
      </p:sp>
      <p:sp>
        <p:nvSpPr>
          <p:cNvPr id="178" name="svg_text_178">
            <a:extLst xmlns:a="http://schemas.openxmlformats.org/drawingml/2006/main">
              <a:ext uri="{FF2B5EF4-FFF2-40B4-BE49-F238E27FC236}">
                <a16:creationId xmlns:a16="http://schemas.microsoft.com/office/drawing/2014/main" id="{64DB5115-91BC-4E47-B685-9B05156EA55A}"/>
              </a:ext>
            </a:extLst>
          </p:cNvPr>
          <p:cNvSpPr>
            <a:spLocks xmlns:a="http://schemas.openxmlformats.org/drawingml/2006/main" noGrp="1"/>
          </p:cNvSpPr>
          <p:nvPr/>
        </p:nvSpPr>
        <p:spPr>
          <a:xfrm xmlns:a="http://schemas.openxmlformats.org/drawingml/2006/main">
            <a:off x="17828895" y="6004941"/>
            <a:ext cx="3870960" cy="220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Codebooks and decoder are pre-deployed; never transmitted</a:t>
            </a:r>
          </a:p>
        </p:txBody>
      </p:sp>
      <p:sp>
        <p:nvSpPr>
          <p:cNvPr id="179" name="svg_rect_179">
            <a:extLst xmlns:a="http://schemas.openxmlformats.org/drawingml/2006/main">
              <a:ext uri="{FF2B5EF4-FFF2-40B4-BE49-F238E27FC236}">
                <a16:creationId xmlns:a16="http://schemas.microsoft.com/office/drawing/2014/main" id="{731CDDED-A27C-4E69-B11F-BEF03B77236D}"/>
              </a:ext>
            </a:extLst>
          </p:cNvPr>
          <p:cNvSpPr>
            <a:spLocks xmlns:a="http://schemas.openxmlformats.org/drawingml/2006/main" noGrp="1"/>
          </p:cNvSpPr>
          <p:nvPr/>
        </p:nvSpPr>
        <p:spPr>
          <a:xfrm xmlns:a="http://schemas.openxmlformats.org/drawingml/2006/main">
            <a:off x="190500" y="6477000"/>
            <a:ext cx="16287750" cy="6667500"/>
          </a:xfrm>
          <a:prstGeom xmlns:a="http://schemas.openxmlformats.org/drawingml/2006/main" prst="roundRect">
            <a:avLst>
              <a:gd name="adj" fmla="val 1714"/>
            </a:avLst>
          </a:prstGeom>
          <a:solidFill xmlns:a="http://schemas.openxmlformats.org/drawingml/2006/main">
            <a:srgbClr val="FFFFFF"/>
          </a:solidFill>
          <a:ln xmlns:a="http://schemas.openxmlformats.org/drawingml/2006/main" w="24765">
            <a:solidFill>
              <a:srgbClr val="7DB5E8"/>
            </a:solidFill>
            <a:prstDash val="dash"/>
          </a:ln>
        </p:spPr>
      </p:sp>
      <p:sp>
        <p:nvSpPr>
          <p:cNvPr id="180" name="svg_circle_180">
            <a:extLst xmlns:a="http://schemas.openxmlformats.org/drawingml/2006/main">
              <a:ext uri="{FF2B5EF4-FFF2-40B4-BE49-F238E27FC236}">
                <a16:creationId xmlns:a16="http://schemas.microsoft.com/office/drawing/2014/main" id="{2CA712DD-1F2A-4789-BBDF-3B635105EB46}"/>
              </a:ext>
            </a:extLst>
          </p:cNvPr>
          <p:cNvSpPr>
            <a:spLocks xmlns:a="http://schemas.openxmlformats.org/drawingml/2006/main" noGrp="1"/>
          </p:cNvSpPr>
          <p:nvPr/>
        </p:nvSpPr>
        <p:spPr>
          <a:xfrm xmlns:a="http://schemas.openxmlformats.org/drawingml/2006/main">
            <a:off x="257175" y="6543675"/>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181" name="svg_text_181">
            <a:extLst xmlns:a="http://schemas.openxmlformats.org/drawingml/2006/main">
              <a:ext uri="{FF2B5EF4-FFF2-40B4-BE49-F238E27FC236}">
                <a16:creationId xmlns:a16="http://schemas.microsoft.com/office/drawing/2014/main" id="{6D6FA479-1DA2-4DE9-B130-0FDF9D88EDF2}"/>
              </a:ext>
            </a:extLst>
          </p:cNvPr>
          <p:cNvSpPr>
            <a:spLocks xmlns:a="http://schemas.openxmlformats.org/drawingml/2006/main" noGrp="1"/>
          </p:cNvSpPr>
          <p:nvPr/>
        </p:nvSpPr>
        <p:spPr>
          <a:xfrm xmlns:a="http://schemas.openxmlformats.org/drawingml/2006/main">
            <a:off x="285750" y="65722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5</a:t>
            </a:r>
          </a:p>
        </p:txBody>
      </p:sp>
      <p:sp>
        <p:nvSpPr>
          <p:cNvPr id="182" name="svg_text_182">
            <a:extLst xmlns:a="http://schemas.openxmlformats.org/drawingml/2006/main">
              <a:ext uri="{FF2B5EF4-FFF2-40B4-BE49-F238E27FC236}">
                <a16:creationId xmlns:a16="http://schemas.microsoft.com/office/drawing/2014/main" id="{757D7543-FA52-4FD6-93ED-28B1E72404FF}"/>
              </a:ext>
            </a:extLst>
          </p:cNvPr>
          <p:cNvSpPr>
            <a:spLocks xmlns:a="http://schemas.openxmlformats.org/drawingml/2006/main" noGrp="1"/>
          </p:cNvSpPr>
          <p:nvPr/>
        </p:nvSpPr>
        <p:spPr>
          <a:xfrm xmlns:a="http://schemas.openxmlformats.org/drawingml/2006/main">
            <a:off x="904875" y="6571564"/>
            <a:ext cx="9048750" cy="4398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9248"/>
          </a:bodyPr>
          <a:lstStyle xmlns:a="http://schemas.openxmlformats.org/drawingml/2006/main"/>
          <a:p xmlns:a="http://schemas.openxmlformats.org/drawingml/2006/main">
            <a:pPr algn="l">
              <a:defRPr sz="2340" b="1" i="0">
                <a:solidFill>
                  <a:srgbClr val="0F1720"/>
                </a:solidFill>
                <a:latin typeface="Arial"/>
                <a:ea typeface="Arial"/>
                <a:cs typeface="Arial"/>
              </a:defRPr>
            </a:pPr>
            <a:r>
              <a:rPr sz="2340" b="1" i="0">
                <a:solidFill>
                  <a:srgbClr val="0F1720"/>
                </a:solidFill>
                <a:latin typeface="Arial"/>
                <a:ea typeface="Arial"/>
                <a:cs typeface="Arial"/>
              </a:rPr>
              <a:t>ADVERSARIAL TRAINING AND CHANNEL-AWARE FINE-TUNING</a:t>
            </a:r>
          </a:p>
        </p:txBody>
      </p:sp>
      <p:sp>
        <p:nvSpPr>
          <p:cNvPr id="183" name="svg_rect_183">
            <a:extLst xmlns:a="http://schemas.openxmlformats.org/drawingml/2006/main">
              <a:ext uri="{FF2B5EF4-FFF2-40B4-BE49-F238E27FC236}">
                <a16:creationId xmlns:a16="http://schemas.microsoft.com/office/drawing/2014/main" id="{325FA407-FE03-4A92-B7C6-3A2A11704E37}"/>
              </a:ext>
            </a:extLst>
          </p:cNvPr>
          <p:cNvSpPr>
            <a:spLocks xmlns:a="http://schemas.openxmlformats.org/drawingml/2006/main" noGrp="1"/>
          </p:cNvSpPr>
          <p:nvPr/>
        </p:nvSpPr>
        <p:spPr>
          <a:xfrm xmlns:a="http://schemas.openxmlformats.org/drawingml/2006/main">
            <a:off x="14347508" y="6602730"/>
            <a:ext cx="1832610" cy="396240"/>
          </a:xfrm>
          <a:prstGeom xmlns:a="http://schemas.openxmlformats.org/drawingml/2006/main" prst="roundRect">
            <a:avLst>
              <a:gd name="adj" fmla="val 21635"/>
            </a:avLst>
          </a:prstGeom>
          <a:solidFill xmlns:a="http://schemas.openxmlformats.org/drawingml/2006/main">
            <a:srgbClr val="E4F2FF"/>
          </a:solidFill>
          <a:ln xmlns:a="http://schemas.openxmlformats.org/drawingml/2006/main" w="18574">
            <a:solidFill>
              <a:srgbClr val="78AFE0"/>
            </a:solidFill>
            <a:prstDash val="solid"/>
          </a:ln>
        </p:spPr>
      </p:sp>
      <p:sp>
        <p:nvSpPr>
          <p:cNvPr id="184" name="svg_text_184">
            <a:extLst xmlns:a="http://schemas.openxmlformats.org/drawingml/2006/main">
              <a:ext uri="{FF2B5EF4-FFF2-40B4-BE49-F238E27FC236}">
                <a16:creationId xmlns:a16="http://schemas.microsoft.com/office/drawing/2014/main" id="{22CFE748-1986-42B3-AE98-5F59AEB304A8}"/>
              </a:ext>
            </a:extLst>
          </p:cNvPr>
          <p:cNvSpPr>
            <a:spLocks xmlns:a="http://schemas.openxmlformats.org/drawingml/2006/main" noGrp="1"/>
          </p:cNvSpPr>
          <p:nvPr/>
        </p:nvSpPr>
        <p:spPr>
          <a:xfrm xmlns:a="http://schemas.openxmlformats.org/drawingml/2006/main">
            <a:off x="14411649" y="6655464"/>
            <a:ext cx="1704327"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TRAINING ONLY</a:t>
            </a:r>
          </a:p>
        </p:txBody>
      </p:sp>
      <p:sp>
        <p:nvSpPr>
          <p:cNvPr id="185" name="svg_rect_185">
            <a:extLst xmlns:a="http://schemas.openxmlformats.org/drawingml/2006/main">
              <a:ext uri="{FF2B5EF4-FFF2-40B4-BE49-F238E27FC236}">
                <a16:creationId xmlns:a16="http://schemas.microsoft.com/office/drawing/2014/main" id="{D3D341B1-3B30-46AC-A92A-5238DACAB136}"/>
              </a:ext>
            </a:extLst>
          </p:cNvPr>
          <p:cNvSpPr>
            <a:spLocks xmlns:a="http://schemas.openxmlformats.org/drawingml/2006/main" noGrp="1"/>
          </p:cNvSpPr>
          <p:nvPr/>
        </p:nvSpPr>
        <p:spPr>
          <a:xfrm xmlns:a="http://schemas.openxmlformats.org/drawingml/2006/main">
            <a:off x="333375" y="7143750"/>
            <a:ext cx="9048750" cy="5810250"/>
          </a:xfrm>
          <a:prstGeom xmlns:a="http://schemas.openxmlformats.org/drawingml/2006/main" prst="roundRect">
            <a:avLst>
              <a:gd name="adj" fmla="val 1639"/>
            </a:avLst>
          </a:prstGeom>
          <a:solidFill xmlns:a="http://schemas.openxmlformats.org/drawingml/2006/main">
            <a:srgbClr val="F7FBFF"/>
          </a:solidFill>
          <a:ln xmlns:a="http://schemas.openxmlformats.org/drawingml/2006/main" w="19812">
            <a:solidFill>
              <a:srgbClr val="A8CBEA"/>
            </a:solidFill>
            <a:prstDash val="dash"/>
          </a:ln>
        </p:spPr>
      </p:sp>
      <p:sp>
        <p:nvSpPr>
          <p:cNvPr id="186" name="svg_rect_186">
            <a:extLst xmlns:a="http://schemas.openxmlformats.org/drawingml/2006/main">
              <a:ext uri="{FF2B5EF4-FFF2-40B4-BE49-F238E27FC236}">
                <a16:creationId xmlns:a16="http://schemas.microsoft.com/office/drawing/2014/main" id="{13BF215A-FB16-4965-BF68-0DE48F12602A}"/>
              </a:ext>
            </a:extLst>
          </p:cNvPr>
          <p:cNvSpPr>
            <a:spLocks xmlns:a="http://schemas.openxmlformats.org/drawingml/2006/main" noGrp="1"/>
          </p:cNvSpPr>
          <p:nvPr/>
        </p:nvSpPr>
        <p:spPr>
          <a:xfrm xmlns:a="http://schemas.openxmlformats.org/drawingml/2006/main">
            <a:off x="476250" y="7286625"/>
            <a:ext cx="476250" cy="285750"/>
          </a:xfrm>
          <a:prstGeom xmlns:a="http://schemas.openxmlformats.org/drawingml/2006/main" prst="roundRect">
            <a:avLst>
              <a:gd name="adj" fmla="val 50000"/>
            </a:avLst>
          </a:prstGeom>
          <a:solidFill xmlns:a="http://schemas.openxmlformats.org/drawingml/2006/main">
            <a:srgbClr val="1467B8"/>
          </a:solidFill>
          <a:ln xmlns:a="http://schemas.openxmlformats.org/drawingml/2006/main" w="0">
            <a:noFill/>
            <a:prstDash val="solid"/>
          </a:ln>
        </p:spPr>
      </p:sp>
      <p:sp>
        <p:nvSpPr>
          <p:cNvPr id="187" name="svg_text_187">
            <a:extLst xmlns:a="http://schemas.openxmlformats.org/drawingml/2006/main">
              <a:ext uri="{FF2B5EF4-FFF2-40B4-BE49-F238E27FC236}">
                <a16:creationId xmlns:a16="http://schemas.microsoft.com/office/drawing/2014/main" id="{E0493F07-6211-41B2-9A01-C9E59EB9FABD}"/>
              </a:ext>
            </a:extLst>
          </p:cNvPr>
          <p:cNvSpPr>
            <a:spLocks xmlns:a="http://schemas.openxmlformats.org/drawingml/2006/main" noGrp="1"/>
          </p:cNvSpPr>
          <p:nvPr/>
        </p:nvSpPr>
        <p:spPr>
          <a:xfrm xmlns:a="http://schemas.openxmlformats.org/drawingml/2006/main">
            <a:off x="514350" y="73152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28" b="1" i="0">
                <a:solidFill>
                  <a:srgbClr val="FFFFFF"/>
                </a:solidFill>
                <a:latin typeface="Arial"/>
                <a:ea typeface="Arial"/>
                <a:cs typeface="Arial"/>
              </a:defRPr>
            </a:pPr>
            <a:r>
              <a:rPr sz="1428" b="1" i="0">
                <a:solidFill>
                  <a:srgbClr val="FFFFFF"/>
                </a:solidFill>
                <a:latin typeface="Arial"/>
                <a:ea typeface="Arial"/>
                <a:cs typeface="Arial"/>
              </a:rPr>
              <a:t>5A</a:t>
            </a:r>
          </a:p>
        </p:txBody>
      </p:sp>
      <p:sp>
        <p:nvSpPr>
          <p:cNvPr id="188" name="svg_text_188">
            <a:extLst xmlns:a="http://schemas.openxmlformats.org/drawingml/2006/main">
              <a:ext uri="{FF2B5EF4-FFF2-40B4-BE49-F238E27FC236}">
                <a16:creationId xmlns:a16="http://schemas.microsoft.com/office/drawing/2014/main" id="{BC451266-54C9-4EFE-B623-3EE7B55796F7}"/>
              </a:ext>
            </a:extLst>
          </p:cNvPr>
          <p:cNvSpPr>
            <a:spLocks xmlns:a="http://schemas.openxmlformats.org/drawingml/2006/main" noGrp="1"/>
          </p:cNvSpPr>
          <p:nvPr/>
        </p:nvSpPr>
        <p:spPr>
          <a:xfrm xmlns:a="http://schemas.openxmlformats.org/drawingml/2006/main">
            <a:off x="1095375" y="7274559"/>
            <a:ext cx="4183951" cy="3493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58" b="1" i="0">
                <a:solidFill>
                  <a:srgbClr val="17202A"/>
                </a:solidFill>
                <a:latin typeface="Arial"/>
                <a:ea typeface="Arial"/>
                <a:cs typeface="Arial"/>
              </a:defRPr>
            </a:pPr>
            <a:r>
              <a:rPr sz="1858" b="1" i="0">
                <a:solidFill>
                  <a:srgbClr val="17202A"/>
                </a:solidFill>
                <a:latin typeface="Arial"/>
                <a:ea typeface="Arial"/>
                <a:cs typeface="Arial"/>
              </a:rPr>
              <a:t>SCIT-Speech-Base Training</a:t>
            </a:r>
          </a:p>
        </p:txBody>
      </p:sp>
      <p:sp>
        <p:nvSpPr>
          <p:cNvPr id="189" name="svg_rect_189">
            <a:extLst xmlns:a="http://schemas.openxmlformats.org/drawingml/2006/main">
              <a:ext uri="{FF2B5EF4-FFF2-40B4-BE49-F238E27FC236}">
                <a16:creationId xmlns:a16="http://schemas.microsoft.com/office/drawing/2014/main" id="{E502227B-4B94-4424-B3F9-6582C0EEB879}"/>
              </a:ext>
            </a:extLst>
          </p:cNvPr>
          <p:cNvSpPr>
            <a:spLocks xmlns:a="http://schemas.openxmlformats.org/drawingml/2006/main" noGrp="1"/>
          </p:cNvSpPr>
          <p:nvPr/>
        </p:nvSpPr>
        <p:spPr>
          <a:xfrm xmlns:a="http://schemas.openxmlformats.org/drawingml/2006/main">
            <a:off x="639128" y="8559165"/>
            <a:ext cx="143637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190" name="svg_text_190">
            <a:extLst xmlns:a="http://schemas.openxmlformats.org/drawingml/2006/main">
              <a:ext uri="{FF2B5EF4-FFF2-40B4-BE49-F238E27FC236}">
                <a16:creationId xmlns:a16="http://schemas.microsoft.com/office/drawing/2014/main" id="{EDC5E2E4-F04D-4049-9FC1-96B49253BB4F}"/>
              </a:ext>
            </a:extLst>
          </p:cNvPr>
          <p:cNvSpPr>
            <a:spLocks xmlns:a="http://schemas.openxmlformats.org/drawingml/2006/main" noGrp="1"/>
          </p:cNvSpPr>
          <p:nvPr/>
        </p:nvSpPr>
        <p:spPr>
          <a:xfrm xmlns:a="http://schemas.openxmlformats.org/drawingml/2006/main">
            <a:off x="689400" y="8636664"/>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Real Speech x</a:t>
            </a:r>
          </a:p>
        </p:txBody>
      </p:sp>
      <p:sp>
        <p:nvSpPr>
          <p:cNvPr id="191" name="svg_text_191">
            <a:extLst xmlns:a="http://schemas.openxmlformats.org/drawingml/2006/main">
              <a:ext uri="{FF2B5EF4-FFF2-40B4-BE49-F238E27FC236}">
                <a16:creationId xmlns:a16="http://schemas.microsoft.com/office/drawing/2014/main" id="{F61A5032-B470-4DF1-B6F5-7C7DB39BE782}"/>
              </a:ext>
            </a:extLst>
          </p:cNvPr>
          <p:cNvSpPr>
            <a:spLocks xmlns:a="http://schemas.openxmlformats.org/drawingml/2006/main" noGrp="1"/>
          </p:cNvSpPr>
          <p:nvPr/>
        </p:nvSpPr>
        <p:spPr>
          <a:xfrm xmlns:a="http://schemas.openxmlformats.org/drawingml/2006/main">
            <a:off x="689400" y="8905246"/>
            <a:ext cx="133582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training reference</a:t>
            </a:r>
          </a:p>
        </p:txBody>
      </p:sp>
      <p:sp>
        <p:nvSpPr>
          <p:cNvPr id="192" name="svg_rect_192">
            <a:extLst xmlns:a="http://schemas.openxmlformats.org/drawingml/2006/main">
              <a:ext uri="{FF2B5EF4-FFF2-40B4-BE49-F238E27FC236}">
                <a16:creationId xmlns:a16="http://schemas.microsoft.com/office/drawing/2014/main" id="{6859B9B5-4C8B-430C-A45C-EC6559B51AA8}"/>
              </a:ext>
            </a:extLst>
          </p:cNvPr>
          <p:cNvSpPr>
            <a:spLocks xmlns:a="http://schemas.openxmlformats.org/drawingml/2006/main" noGrp="1"/>
          </p:cNvSpPr>
          <p:nvPr/>
        </p:nvSpPr>
        <p:spPr>
          <a:xfrm xmlns:a="http://schemas.openxmlformats.org/drawingml/2006/main">
            <a:off x="2717483" y="8555355"/>
            <a:ext cx="2327910" cy="891540"/>
          </a:xfrm>
          <a:prstGeom xmlns:a="http://schemas.openxmlformats.org/drawingml/2006/main" prst="roundRect">
            <a:avLst>
              <a:gd name="adj" fmla="val 8547"/>
            </a:avLst>
          </a:prstGeom>
          <a:solidFill xmlns:a="http://schemas.openxmlformats.org/drawingml/2006/main">
            <a:srgbClr val="EDF6FF"/>
          </a:solidFill>
          <a:ln xmlns:a="http://schemas.openxmlformats.org/drawingml/2006/main" w="24765">
            <a:solidFill>
              <a:srgbClr val="408FD2"/>
            </a:solidFill>
            <a:prstDash val="solid"/>
          </a:ln>
        </p:spPr>
      </p:sp>
      <p:sp>
        <p:nvSpPr>
          <p:cNvPr id="193" name="svg_text_193">
            <a:extLst xmlns:a="http://schemas.openxmlformats.org/drawingml/2006/main">
              <a:ext uri="{FF2B5EF4-FFF2-40B4-BE49-F238E27FC236}">
                <a16:creationId xmlns:a16="http://schemas.microsoft.com/office/drawing/2014/main" id="{218845BE-C61E-42FC-B43C-8A02DFF3BA28}"/>
              </a:ext>
            </a:extLst>
          </p:cNvPr>
          <p:cNvSpPr>
            <a:spLocks xmlns:a="http://schemas.openxmlformats.org/drawingml/2006/main" noGrp="1"/>
          </p:cNvSpPr>
          <p:nvPr/>
        </p:nvSpPr>
        <p:spPr>
          <a:xfrm xmlns:a="http://schemas.openxmlformats.org/drawingml/2006/main">
            <a:off x="2798959" y="8655714"/>
            <a:ext cx="216495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75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SCIT-Speech Generator G</a:t>
            </a:r>
          </a:p>
        </p:txBody>
      </p:sp>
      <p:sp>
        <p:nvSpPr>
          <p:cNvPr id="194" name="svg_text_194">
            <a:extLst xmlns:a="http://schemas.openxmlformats.org/drawingml/2006/main">
              <a:ext uri="{FF2B5EF4-FFF2-40B4-BE49-F238E27FC236}">
                <a16:creationId xmlns:a16="http://schemas.microsoft.com/office/drawing/2014/main" id="{9FA3A9B6-7D9A-4E7B-A145-4998C3884215}"/>
              </a:ext>
            </a:extLst>
          </p:cNvPr>
          <p:cNvSpPr>
            <a:spLocks xmlns:a="http://schemas.openxmlformats.org/drawingml/2006/main" noGrp="1"/>
          </p:cNvSpPr>
          <p:nvPr/>
        </p:nvSpPr>
        <p:spPr>
          <a:xfrm xmlns:a="http://schemas.openxmlformats.org/drawingml/2006/main">
            <a:off x="2798959" y="8933821"/>
            <a:ext cx="216495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Encoder + RVQ + Decoder</a:t>
            </a:r>
          </a:p>
        </p:txBody>
      </p:sp>
      <p:sp>
        <p:nvSpPr>
          <p:cNvPr id="195" name="svg_text_195">
            <a:extLst xmlns:a="http://schemas.openxmlformats.org/drawingml/2006/main">
              <a:ext uri="{FF2B5EF4-FFF2-40B4-BE49-F238E27FC236}">
                <a16:creationId xmlns:a16="http://schemas.microsoft.com/office/drawing/2014/main" id="{B9723FA6-FD82-412C-BB38-CE1B46D8C829}"/>
              </a:ext>
            </a:extLst>
          </p:cNvPr>
          <p:cNvSpPr>
            <a:spLocks xmlns:a="http://schemas.openxmlformats.org/drawingml/2006/main" noGrp="1"/>
          </p:cNvSpPr>
          <p:nvPr/>
        </p:nvSpPr>
        <p:spPr>
          <a:xfrm xmlns:a="http://schemas.openxmlformats.org/drawingml/2006/main">
            <a:off x="2798959" y="9152896"/>
            <a:ext cx="216495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5925"/>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produces reconstructed speech x̂</a:t>
            </a:r>
          </a:p>
        </p:txBody>
      </p:sp>
      <p:sp>
        <p:nvSpPr>
          <p:cNvPr id="196" name="svg_path_196">
            <a:extLst xmlns:a="http://schemas.openxmlformats.org/drawingml/2006/main">
              <a:ext uri="{FF2B5EF4-FFF2-40B4-BE49-F238E27FC236}">
                <a16:creationId xmlns:a16="http://schemas.microsoft.com/office/drawing/2014/main" id="{2D262D1A-AD5A-43D9-A7FD-94880DDF76EB}"/>
              </a:ext>
            </a:extLst>
          </p:cNvPr>
          <p:cNvSpPr>
            <a:spLocks xmlns:a="http://schemas.openxmlformats.org/drawingml/2006/main" noGrp="1"/>
          </p:cNvSpPr>
          <p:nvPr/>
        </p:nvSpPr>
        <p:spPr>
          <a:xfrm xmlns:a="http://schemas.openxmlformats.org/drawingml/2006/main">
            <a:off x="2047875" y="8905875"/>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30956">
            <a:solidFill>
              <a:srgbClr val="2386D8"/>
            </a:solidFill>
            <a:prstDash val="solid"/>
          </a:ln>
        </p:spPr>
      </p:sp>
      <p:sp>
        <p:nvSpPr>
          <p:cNvPr id="197" name="svg_arrowhead_197">
            <a:extLst xmlns:a="http://schemas.openxmlformats.org/drawingml/2006/main">
              <a:ext uri="{FF2B5EF4-FFF2-40B4-BE49-F238E27FC236}">
                <a16:creationId xmlns:a16="http://schemas.microsoft.com/office/drawing/2014/main" id="{BAE3DA1D-4E26-44E3-9BA0-ED02AA2EB1C8}"/>
              </a:ext>
            </a:extLst>
          </p:cNvPr>
          <p:cNvSpPr>
            <a:spLocks xmlns:a="http://schemas.openxmlformats.org/drawingml/2006/main" noGrp="1"/>
          </p:cNvSpPr>
          <p:nvPr/>
        </p:nvSpPr>
        <p:spPr>
          <a:xfrm xmlns:a="http://schemas.openxmlformats.org/drawingml/2006/main">
            <a:off x="2628900" y="88392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198" name="svg_rect_198">
            <a:extLst xmlns:a="http://schemas.openxmlformats.org/drawingml/2006/main">
              <a:ext uri="{FF2B5EF4-FFF2-40B4-BE49-F238E27FC236}">
                <a16:creationId xmlns:a16="http://schemas.microsoft.com/office/drawing/2014/main" id="{1C7FD0CB-898A-4B2F-866A-0FE5CE03A492}"/>
              </a:ext>
            </a:extLst>
          </p:cNvPr>
          <p:cNvSpPr>
            <a:spLocks xmlns:a="http://schemas.openxmlformats.org/drawingml/2006/main" noGrp="1"/>
          </p:cNvSpPr>
          <p:nvPr/>
        </p:nvSpPr>
        <p:spPr>
          <a:xfrm xmlns:a="http://schemas.openxmlformats.org/drawingml/2006/main">
            <a:off x="2345055" y="7605141"/>
            <a:ext cx="1882140" cy="772668"/>
          </a:xfrm>
          <a:prstGeom xmlns:a="http://schemas.openxmlformats.org/drawingml/2006/main" prst="roundRect">
            <a:avLst>
              <a:gd name="adj" fmla="val 9862"/>
            </a:avLst>
          </a:prstGeom>
          <a:solidFill xmlns:a="http://schemas.openxmlformats.org/drawingml/2006/main">
            <a:srgbClr val="EDF6FF"/>
          </a:solidFill>
          <a:ln xmlns:a="http://schemas.openxmlformats.org/drawingml/2006/main" w="22289">
            <a:solidFill>
              <a:srgbClr val="527CA3"/>
            </a:solidFill>
            <a:prstDash val="dash"/>
          </a:ln>
        </p:spPr>
      </p:sp>
      <p:sp>
        <p:nvSpPr>
          <p:cNvPr id="199" name="svg_text_199">
            <a:extLst xmlns:a="http://schemas.openxmlformats.org/drawingml/2006/main">
              <a:ext uri="{FF2B5EF4-FFF2-40B4-BE49-F238E27FC236}">
                <a16:creationId xmlns:a16="http://schemas.microsoft.com/office/drawing/2014/main" id="{A07FBF5B-AAC3-4783-8BEE-5B068607DEE3}"/>
              </a:ext>
            </a:extLst>
          </p:cNvPr>
          <p:cNvSpPr>
            <a:spLocks xmlns:a="http://schemas.openxmlformats.org/drawingml/2006/main" noGrp="1"/>
          </p:cNvSpPr>
          <p:nvPr/>
        </p:nvSpPr>
        <p:spPr>
          <a:xfrm xmlns:a="http://schemas.openxmlformats.org/drawingml/2006/main">
            <a:off x="2410930" y="7665114"/>
            <a:ext cx="17503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Frozen HuBERT</a:t>
            </a:r>
          </a:p>
        </p:txBody>
      </p:sp>
      <p:sp>
        <p:nvSpPr>
          <p:cNvPr id="200" name="svg_text_200">
            <a:extLst xmlns:a="http://schemas.openxmlformats.org/drawingml/2006/main">
              <a:ext uri="{FF2B5EF4-FFF2-40B4-BE49-F238E27FC236}">
                <a16:creationId xmlns:a16="http://schemas.microsoft.com/office/drawing/2014/main" id="{DE147DB4-CD29-4330-AA6F-CABD0636A957}"/>
              </a:ext>
            </a:extLst>
          </p:cNvPr>
          <p:cNvSpPr>
            <a:spLocks xmlns:a="http://schemas.openxmlformats.org/drawingml/2006/main" noGrp="1"/>
          </p:cNvSpPr>
          <p:nvPr/>
        </p:nvSpPr>
        <p:spPr>
          <a:xfrm xmlns:a="http://schemas.openxmlformats.org/drawingml/2006/main">
            <a:off x="2410930" y="7884189"/>
            <a:ext cx="175039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Teacher</a:t>
            </a:r>
          </a:p>
        </p:txBody>
      </p:sp>
      <p:sp>
        <p:nvSpPr>
          <p:cNvPr id="201" name="svg_text_201">
            <a:extLst xmlns:a="http://schemas.openxmlformats.org/drawingml/2006/main">
              <a:ext uri="{FF2B5EF4-FFF2-40B4-BE49-F238E27FC236}">
                <a16:creationId xmlns:a16="http://schemas.microsoft.com/office/drawing/2014/main" id="{5B83CB62-BCEC-4087-B462-B4576CFB8003}"/>
              </a:ext>
            </a:extLst>
          </p:cNvPr>
          <p:cNvSpPr>
            <a:spLocks xmlns:a="http://schemas.openxmlformats.org/drawingml/2006/main" noGrp="1"/>
          </p:cNvSpPr>
          <p:nvPr/>
        </p:nvSpPr>
        <p:spPr>
          <a:xfrm xmlns:a="http://schemas.openxmlformats.org/drawingml/2006/main">
            <a:off x="2410930" y="8120634"/>
            <a:ext cx="175039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teacher feature</a:t>
            </a:r>
          </a:p>
        </p:txBody>
      </p:sp>
      <p:sp>
        <p:nvSpPr>
          <p:cNvPr id="202" name="svg_path_202">
            <a:extLst xmlns:a="http://schemas.openxmlformats.org/drawingml/2006/main">
              <a:ext uri="{FF2B5EF4-FFF2-40B4-BE49-F238E27FC236}">
                <a16:creationId xmlns:a16="http://schemas.microsoft.com/office/drawing/2014/main" id="{C9FCBF25-3513-43BF-A627-55CD90D83623}"/>
              </a:ext>
            </a:extLst>
          </p:cNvPr>
          <p:cNvSpPr>
            <a:spLocks xmlns:a="http://schemas.openxmlformats.org/drawingml/2006/main" noGrp="1"/>
          </p:cNvSpPr>
          <p:nvPr/>
        </p:nvSpPr>
        <p:spPr>
          <a:xfrm xmlns:a="http://schemas.openxmlformats.org/drawingml/2006/main">
            <a:off x="1352550" y="7991475"/>
            <a:ext cx="1028700" cy="581025"/>
          </a:xfrm>
          <a:custGeom xmlns:a="http://schemas.openxmlformats.org/drawingml/2006/main">
            <a:pathLst>
              <a:path w="1028700" h="581025">
                <a:moveTo>
                  <a:pt x="0" y="581025"/>
                </a:moveTo>
                <a:lnTo>
                  <a:pt x="0" y="0"/>
                </a:lnTo>
                <a:lnTo>
                  <a:pt x="1028700" y="0"/>
                </a:lnTo>
              </a:path>
            </a:pathLst>
          </a:custGeom>
          <a:noFill xmlns:a="http://schemas.openxmlformats.org/drawingml/2006/main"/>
          <a:ln xmlns:a="http://schemas.openxmlformats.org/drawingml/2006/main" w="24765">
            <a:solidFill>
              <a:srgbClr val="3D6285"/>
            </a:solidFill>
            <a:prstDash val="dash"/>
          </a:ln>
        </p:spPr>
      </p:sp>
      <p:sp>
        <p:nvSpPr>
          <p:cNvPr id="203" name="svg_arrowhead_203">
            <a:extLst xmlns:a="http://schemas.openxmlformats.org/drawingml/2006/main">
              <a:ext uri="{FF2B5EF4-FFF2-40B4-BE49-F238E27FC236}">
                <a16:creationId xmlns:a16="http://schemas.microsoft.com/office/drawing/2014/main" id="{C87B3822-AC81-41EC-B6F8-0C76DE1CEF45}"/>
              </a:ext>
            </a:extLst>
          </p:cNvPr>
          <p:cNvSpPr>
            <a:spLocks xmlns:a="http://schemas.openxmlformats.org/drawingml/2006/main" noGrp="1"/>
          </p:cNvSpPr>
          <p:nvPr/>
        </p:nvSpPr>
        <p:spPr>
          <a:xfrm xmlns:a="http://schemas.openxmlformats.org/drawingml/2006/main">
            <a:off x="2247900" y="79248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04" name="svg_path_204">
            <a:extLst xmlns:a="http://schemas.openxmlformats.org/drawingml/2006/main">
              <a:ext uri="{FF2B5EF4-FFF2-40B4-BE49-F238E27FC236}">
                <a16:creationId xmlns:a16="http://schemas.microsoft.com/office/drawing/2014/main" id="{0CB4CC78-FD90-4803-9260-58EEFABB087A}"/>
              </a:ext>
            </a:extLst>
          </p:cNvPr>
          <p:cNvSpPr>
            <a:spLocks xmlns:a="http://schemas.openxmlformats.org/drawingml/2006/main" noGrp="1"/>
          </p:cNvSpPr>
          <p:nvPr/>
        </p:nvSpPr>
        <p:spPr>
          <a:xfrm xmlns:a="http://schemas.openxmlformats.org/drawingml/2006/main">
            <a:off x="4191000" y="7991475"/>
            <a:ext cx="476250" cy="581025"/>
          </a:xfrm>
          <a:custGeom xmlns:a="http://schemas.openxmlformats.org/drawingml/2006/main">
            <a:pathLst>
              <a:path w="476250" h="581025">
                <a:moveTo>
                  <a:pt x="0" y="0"/>
                </a:moveTo>
                <a:lnTo>
                  <a:pt x="476250" y="0"/>
                </a:lnTo>
                <a:lnTo>
                  <a:pt x="476250" y="581025"/>
                </a:lnTo>
              </a:path>
            </a:pathLst>
          </a:custGeom>
          <a:noFill xmlns:a="http://schemas.openxmlformats.org/drawingml/2006/main"/>
          <a:ln xmlns:a="http://schemas.openxmlformats.org/drawingml/2006/main" w="24765">
            <a:solidFill>
              <a:srgbClr val="3D6285"/>
            </a:solidFill>
            <a:prstDash val="dash"/>
          </a:ln>
        </p:spPr>
      </p:sp>
      <p:sp>
        <p:nvSpPr>
          <p:cNvPr id="205" name="svg_arrowhead_205">
            <a:extLst xmlns:a="http://schemas.openxmlformats.org/drawingml/2006/main">
              <a:ext uri="{FF2B5EF4-FFF2-40B4-BE49-F238E27FC236}">
                <a16:creationId xmlns:a16="http://schemas.microsoft.com/office/drawing/2014/main" id="{2CD5AB8F-093A-466A-8621-8AFA7B3988E1}"/>
              </a:ext>
            </a:extLst>
          </p:cNvPr>
          <p:cNvSpPr>
            <a:spLocks xmlns:a="http://schemas.openxmlformats.org/drawingml/2006/main" noGrp="1"/>
          </p:cNvSpPr>
          <p:nvPr/>
        </p:nvSpPr>
        <p:spPr>
          <a:xfrm xmlns:a="http://schemas.openxmlformats.org/drawingml/2006/main">
            <a:off x="4600575" y="84391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06" name="svg_text_206">
            <a:extLst xmlns:a="http://schemas.openxmlformats.org/drawingml/2006/main">
              <a:ext uri="{FF2B5EF4-FFF2-40B4-BE49-F238E27FC236}">
                <a16:creationId xmlns:a16="http://schemas.microsoft.com/office/drawing/2014/main" id="{16AABA27-D878-4B3B-8B0E-04283E4A8E62}"/>
              </a:ext>
            </a:extLst>
          </p:cNvPr>
          <p:cNvSpPr>
            <a:spLocks xmlns:a="http://schemas.openxmlformats.org/drawingml/2006/main" noGrp="1"/>
          </p:cNvSpPr>
          <p:nvPr/>
        </p:nvSpPr>
        <p:spPr>
          <a:xfrm xmlns:a="http://schemas.openxmlformats.org/drawingml/2006/main">
            <a:off x="4047150" y="7667534"/>
            <a:ext cx="209745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Semantic Distillation</a:t>
            </a:r>
          </a:p>
        </p:txBody>
      </p:sp>
      <p:sp>
        <p:nvSpPr>
          <p:cNvPr id="207" name="svg_text_207">
            <a:extLst xmlns:a="http://schemas.openxmlformats.org/drawingml/2006/main">
              <a:ext uri="{FF2B5EF4-FFF2-40B4-BE49-F238E27FC236}">
                <a16:creationId xmlns:a16="http://schemas.microsoft.com/office/drawing/2014/main" id="{B23E599C-8089-4DC5-A8FC-FC6249A03E7D}"/>
              </a:ext>
            </a:extLst>
          </p:cNvPr>
          <p:cNvSpPr>
            <a:spLocks xmlns:a="http://schemas.openxmlformats.org/drawingml/2006/main" noGrp="1"/>
          </p:cNvSpPr>
          <p:nvPr/>
        </p:nvSpPr>
        <p:spPr>
          <a:xfrm xmlns:a="http://schemas.openxmlformats.org/drawingml/2006/main">
            <a:off x="4780864" y="7838984"/>
            <a:ext cx="630022"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to Q1</a:t>
            </a:r>
          </a:p>
        </p:txBody>
      </p:sp>
      <p:sp>
        <p:nvSpPr>
          <p:cNvPr id="208" name="svg_rect_208">
            <a:extLst xmlns:a="http://schemas.openxmlformats.org/drawingml/2006/main">
              <a:ext uri="{FF2B5EF4-FFF2-40B4-BE49-F238E27FC236}">
                <a16:creationId xmlns:a16="http://schemas.microsoft.com/office/drawing/2014/main" id="{9E46A0A0-8962-4AFF-BA1F-AE16B842C806}"/>
              </a:ext>
            </a:extLst>
          </p:cNvPr>
          <p:cNvSpPr>
            <a:spLocks xmlns:a="http://schemas.openxmlformats.org/drawingml/2006/main" noGrp="1"/>
          </p:cNvSpPr>
          <p:nvPr/>
        </p:nvSpPr>
        <p:spPr>
          <a:xfrm xmlns:a="http://schemas.openxmlformats.org/drawingml/2006/main">
            <a:off x="5446395" y="8559165"/>
            <a:ext cx="158496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209" name="svg_text_209">
            <a:extLst xmlns:a="http://schemas.openxmlformats.org/drawingml/2006/main">
              <a:ext uri="{FF2B5EF4-FFF2-40B4-BE49-F238E27FC236}">
                <a16:creationId xmlns:a16="http://schemas.microsoft.com/office/drawing/2014/main" id="{1E8DACEC-9A8C-4D9F-8980-99EA593A1753}"/>
              </a:ext>
            </a:extLst>
          </p:cNvPr>
          <p:cNvSpPr>
            <a:spLocks xmlns:a="http://schemas.openxmlformats.org/drawingml/2006/main" noGrp="1"/>
          </p:cNvSpPr>
          <p:nvPr/>
        </p:nvSpPr>
        <p:spPr>
          <a:xfrm xmlns:a="http://schemas.openxmlformats.org/drawingml/2006/main">
            <a:off x="5501869" y="8636664"/>
            <a:ext cx="147401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Reconstructed</a:t>
            </a:r>
          </a:p>
        </p:txBody>
      </p:sp>
      <p:sp>
        <p:nvSpPr>
          <p:cNvPr id="210" name="svg_text_210">
            <a:extLst xmlns:a="http://schemas.openxmlformats.org/drawingml/2006/main">
              <a:ext uri="{FF2B5EF4-FFF2-40B4-BE49-F238E27FC236}">
                <a16:creationId xmlns:a16="http://schemas.microsoft.com/office/drawing/2014/main" id="{8E886F09-0AC2-46FA-BE13-D665E10636CB}"/>
              </a:ext>
            </a:extLst>
          </p:cNvPr>
          <p:cNvSpPr>
            <a:spLocks xmlns:a="http://schemas.openxmlformats.org/drawingml/2006/main" noGrp="1"/>
          </p:cNvSpPr>
          <p:nvPr/>
        </p:nvSpPr>
        <p:spPr>
          <a:xfrm xmlns:a="http://schemas.openxmlformats.org/drawingml/2006/main">
            <a:off x="5501869" y="8865264"/>
            <a:ext cx="147401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Speech x̂</a:t>
            </a:r>
          </a:p>
        </p:txBody>
      </p:sp>
      <p:sp>
        <p:nvSpPr>
          <p:cNvPr id="211" name="svg_path_211">
            <a:extLst xmlns:a="http://schemas.openxmlformats.org/drawingml/2006/main">
              <a:ext uri="{FF2B5EF4-FFF2-40B4-BE49-F238E27FC236}">
                <a16:creationId xmlns:a16="http://schemas.microsoft.com/office/drawing/2014/main" id="{3152E060-F203-45A3-8AFC-BA59B5D49AF3}"/>
              </a:ext>
            </a:extLst>
          </p:cNvPr>
          <p:cNvSpPr>
            <a:spLocks xmlns:a="http://schemas.openxmlformats.org/drawingml/2006/main" noGrp="1"/>
          </p:cNvSpPr>
          <p:nvPr/>
        </p:nvSpPr>
        <p:spPr>
          <a:xfrm xmlns:a="http://schemas.openxmlformats.org/drawingml/2006/main">
            <a:off x="5000625" y="890587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30956">
            <a:solidFill>
              <a:srgbClr val="2386D8"/>
            </a:solidFill>
            <a:prstDash val="solid"/>
          </a:ln>
        </p:spPr>
      </p:sp>
      <p:sp>
        <p:nvSpPr>
          <p:cNvPr id="212" name="svg_arrowhead_212">
            <a:extLst xmlns:a="http://schemas.openxmlformats.org/drawingml/2006/main">
              <a:ext uri="{FF2B5EF4-FFF2-40B4-BE49-F238E27FC236}">
                <a16:creationId xmlns:a16="http://schemas.microsoft.com/office/drawing/2014/main" id="{430484B7-F7DD-4DAD-9A1C-79757DBDB8E7}"/>
              </a:ext>
            </a:extLst>
          </p:cNvPr>
          <p:cNvSpPr>
            <a:spLocks xmlns:a="http://schemas.openxmlformats.org/drawingml/2006/main" noGrp="1"/>
          </p:cNvSpPr>
          <p:nvPr/>
        </p:nvSpPr>
        <p:spPr>
          <a:xfrm xmlns:a="http://schemas.openxmlformats.org/drawingml/2006/main">
            <a:off x="5343525" y="883920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13" name="svg_rect_213">
            <a:extLst xmlns:a="http://schemas.openxmlformats.org/drawingml/2006/main">
              <a:ext uri="{FF2B5EF4-FFF2-40B4-BE49-F238E27FC236}">
                <a16:creationId xmlns:a16="http://schemas.microsoft.com/office/drawing/2014/main" id="{01FB323C-CB22-495E-A924-2CFEA4F2B233}"/>
              </a:ext>
            </a:extLst>
          </p:cNvPr>
          <p:cNvSpPr>
            <a:spLocks xmlns:a="http://schemas.openxmlformats.org/drawingml/2006/main" noGrp="1"/>
          </p:cNvSpPr>
          <p:nvPr/>
        </p:nvSpPr>
        <p:spPr>
          <a:xfrm xmlns:a="http://schemas.openxmlformats.org/drawingml/2006/main">
            <a:off x="5445443" y="9882188"/>
            <a:ext cx="1634490" cy="1238250"/>
          </a:xfrm>
          <a:prstGeom xmlns:a="http://schemas.openxmlformats.org/drawingml/2006/main" prst="roundRect">
            <a:avLst>
              <a:gd name="adj" fmla="val 6154"/>
            </a:avLst>
          </a:prstGeom>
          <a:solidFill xmlns:a="http://schemas.openxmlformats.org/drawingml/2006/main">
            <a:srgbClr val="EDF6FF"/>
          </a:solidFill>
          <a:ln xmlns:a="http://schemas.openxmlformats.org/drawingml/2006/main" w="24765">
            <a:solidFill>
              <a:srgbClr val="408FD2"/>
            </a:solidFill>
            <a:prstDash val="solid"/>
          </a:ln>
        </p:spPr>
      </p:sp>
      <p:sp>
        <p:nvSpPr>
          <p:cNvPr id="214" name="svg_text_214">
            <a:extLst xmlns:a="http://schemas.openxmlformats.org/drawingml/2006/main">
              <a:ext uri="{FF2B5EF4-FFF2-40B4-BE49-F238E27FC236}">
                <a16:creationId xmlns:a16="http://schemas.microsoft.com/office/drawing/2014/main" id="{217A7606-5BC4-4B9D-AA0D-B00CA24EDA6C}"/>
              </a:ext>
            </a:extLst>
          </p:cNvPr>
          <p:cNvSpPr>
            <a:spLocks xmlns:a="http://schemas.openxmlformats.org/drawingml/2006/main" noGrp="1"/>
          </p:cNvSpPr>
          <p:nvPr/>
        </p:nvSpPr>
        <p:spPr>
          <a:xfrm xmlns:a="http://schemas.openxmlformats.org/drawingml/2006/main">
            <a:off x="5502650" y="9989214"/>
            <a:ext cx="152007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Multi-Scale GAN</a:t>
            </a:r>
          </a:p>
        </p:txBody>
      </p:sp>
      <p:sp>
        <p:nvSpPr>
          <p:cNvPr id="215" name="svg_text_215">
            <a:extLst xmlns:a="http://schemas.openxmlformats.org/drawingml/2006/main">
              <a:ext uri="{FF2B5EF4-FFF2-40B4-BE49-F238E27FC236}">
                <a16:creationId xmlns:a16="http://schemas.microsoft.com/office/drawing/2014/main" id="{DA550DF7-E762-4CEF-9C54-1217F9A22815}"/>
              </a:ext>
            </a:extLst>
          </p:cNvPr>
          <p:cNvSpPr>
            <a:spLocks xmlns:a="http://schemas.openxmlformats.org/drawingml/2006/main" noGrp="1"/>
          </p:cNvSpPr>
          <p:nvPr/>
        </p:nvSpPr>
        <p:spPr>
          <a:xfrm xmlns:a="http://schemas.openxmlformats.org/drawingml/2006/main">
            <a:off x="5502650" y="10227339"/>
            <a:ext cx="152007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Discriminators</a:t>
            </a:r>
          </a:p>
        </p:txBody>
      </p:sp>
      <p:sp>
        <p:nvSpPr>
          <p:cNvPr id="216" name="svg_text_216">
            <a:extLst xmlns:a="http://schemas.openxmlformats.org/drawingml/2006/main">
              <a:ext uri="{FF2B5EF4-FFF2-40B4-BE49-F238E27FC236}">
                <a16:creationId xmlns:a16="http://schemas.microsoft.com/office/drawing/2014/main" id="{2B9132DD-2F2C-4BB4-A982-FEFEB7806E09}"/>
              </a:ext>
            </a:extLst>
          </p:cNvPr>
          <p:cNvSpPr>
            <a:spLocks xmlns:a="http://schemas.openxmlformats.org/drawingml/2006/main" noGrp="1"/>
          </p:cNvSpPr>
          <p:nvPr/>
        </p:nvSpPr>
        <p:spPr>
          <a:xfrm xmlns:a="http://schemas.openxmlformats.org/drawingml/2006/main">
            <a:off x="5502650" y="10524496"/>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waveform · periodic</a:t>
            </a:r>
          </a:p>
        </p:txBody>
      </p:sp>
      <p:sp>
        <p:nvSpPr>
          <p:cNvPr id="217" name="svg_text_217">
            <a:extLst xmlns:a="http://schemas.openxmlformats.org/drawingml/2006/main">
              <a:ext uri="{FF2B5EF4-FFF2-40B4-BE49-F238E27FC236}">
                <a16:creationId xmlns:a16="http://schemas.microsoft.com/office/drawing/2014/main" id="{76706B37-C9A6-4F89-9BE8-78895B9B524A}"/>
              </a:ext>
            </a:extLst>
          </p:cNvPr>
          <p:cNvSpPr>
            <a:spLocks xmlns:a="http://schemas.openxmlformats.org/drawingml/2006/main" noGrp="1"/>
          </p:cNvSpPr>
          <p:nvPr/>
        </p:nvSpPr>
        <p:spPr>
          <a:xfrm xmlns:a="http://schemas.openxmlformats.org/drawingml/2006/main">
            <a:off x="5502650" y="10743571"/>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time-frequency</a:t>
            </a:r>
          </a:p>
        </p:txBody>
      </p:sp>
      <p:sp>
        <p:nvSpPr>
          <p:cNvPr id="218" name="svg_path_218">
            <a:extLst xmlns:a="http://schemas.openxmlformats.org/drawingml/2006/main">
              <a:ext uri="{FF2B5EF4-FFF2-40B4-BE49-F238E27FC236}">
                <a16:creationId xmlns:a16="http://schemas.microsoft.com/office/drawing/2014/main" id="{0BD0E9C5-D7E8-4EA5-B6F0-12DEBA4FD6A7}"/>
              </a:ext>
            </a:extLst>
          </p:cNvPr>
          <p:cNvSpPr>
            <a:spLocks xmlns:a="http://schemas.openxmlformats.org/drawingml/2006/main" noGrp="1"/>
          </p:cNvSpPr>
          <p:nvPr/>
        </p:nvSpPr>
        <p:spPr>
          <a:xfrm xmlns:a="http://schemas.openxmlformats.org/drawingml/2006/main">
            <a:off x="1352550" y="9239250"/>
            <a:ext cx="4124325" cy="1238250"/>
          </a:xfrm>
          <a:custGeom xmlns:a="http://schemas.openxmlformats.org/drawingml/2006/main">
            <a:pathLst>
              <a:path w="4124325" h="1238250">
                <a:moveTo>
                  <a:pt x="0" y="0"/>
                </a:moveTo>
                <a:lnTo>
                  <a:pt x="0" y="1238250"/>
                </a:lnTo>
                <a:lnTo>
                  <a:pt x="4124325" y="1238250"/>
                </a:lnTo>
              </a:path>
            </a:pathLst>
          </a:custGeom>
          <a:noFill xmlns:a="http://schemas.openxmlformats.org/drawingml/2006/main"/>
          <a:ln xmlns:a="http://schemas.openxmlformats.org/drawingml/2006/main" w="24765">
            <a:solidFill>
              <a:srgbClr val="2386D8"/>
            </a:solidFill>
            <a:prstDash val="solid"/>
          </a:ln>
        </p:spPr>
      </p:sp>
      <p:sp>
        <p:nvSpPr>
          <p:cNvPr id="219" name="svg_arrowhead_219">
            <a:extLst xmlns:a="http://schemas.openxmlformats.org/drawingml/2006/main">
              <a:ext uri="{FF2B5EF4-FFF2-40B4-BE49-F238E27FC236}">
                <a16:creationId xmlns:a16="http://schemas.microsoft.com/office/drawing/2014/main" id="{1E014C73-23F0-4904-9996-C19A409DDA46}"/>
              </a:ext>
            </a:extLst>
          </p:cNvPr>
          <p:cNvSpPr>
            <a:spLocks xmlns:a="http://schemas.openxmlformats.org/drawingml/2006/main" noGrp="1"/>
          </p:cNvSpPr>
          <p:nvPr/>
        </p:nvSpPr>
        <p:spPr>
          <a:xfrm xmlns:a="http://schemas.openxmlformats.org/drawingml/2006/main">
            <a:off x="5343525" y="104108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20" name="svg_text_220">
            <a:extLst xmlns:a="http://schemas.openxmlformats.org/drawingml/2006/main">
              <a:ext uri="{FF2B5EF4-FFF2-40B4-BE49-F238E27FC236}">
                <a16:creationId xmlns:a16="http://schemas.microsoft.com/office/drawing/2014/main" id="{56261C6F-794B-4664-92B6-914D6E941DEE}"/>
              </a:ext>
            </a:extLst>
          </p:cNvPr>
          <p:cNvSpPr>
            <a:spLocks xmlns:a="http://schemas.openxmlformats.org/drawingml/2006/main" noGrp="1"/>
          </p:cNvSpPr>
          <p:nvPr/>
        </p:nvSpPr>
        <p:spPr>
          <a:xfrm xmlns:a="http://schemas.openxmlformats.org/drawingml/2006/main">
            <a:off x="2601811" y="10191121"/>
            <a:ext cx="79712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Real x</a:t>
            </a:r>
          </a:p>
        </p:txBody>
      </p:sp>
      <p:sp>
        <p:nvSpPr>
          <p:cNvPr id="221" name="svg_path_221">
            <a:extLst xmlns:a="http://schemas.openxmlformats.org/drawingml/2006/main">
              <a:ext uri="{FF2B5EF4-FFF2-40B4-BE49-F238E27FC236}">
                <a16:creationId xmlns:a16="http://schemas.microsoft.com/office/drawing/2014/main" id="{0FA4D83D-07EE-404F-811A-0D2FA9BB1AEA}"/>
              </a:ext>
            </a:extLst>
          </p:cNvPr>
          <p:cNvSpPr>
            <a:spLocks xmlns:a="http://schemas.openxmlformats.org/drawingml/2006/main" noGrp="1"/>
          </p:cNvSpPr>
          <p:nvPr/>
        </p:nvSpPr>
        <p:spPr>
          <a:xfrm xmlns:a="http://schemas.openxmlformats.org/drawingml/2006/main">
            <a:off x="6238875" y="923925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24765">
            <a:solidFill>
              <a:srgbClr val="2386D8"/>
            </a:solidFill>
            <a:prstDash val="solid"/>
          </a:ln>
        </p:spPr>
      </p:sp>
      <p:sp>
        <p:nvSpPr>
          <p:cNvPr id="222" name="svg_arrowhead_222">
            <a:extLst xmlns:a="http://schemas.openxmlformats.org/drawingml/2006/main">
              <a:ext uri="{FF2B5EF4-FFF2-40B4-BE49-F238E27FC236}">
                <a16:creationId xmlns:a16="http://schemas.microsoft.com/office/drawing/2014/main" id="{27D32366-E530-4A27-B106-37E8DE9A4A25}"/>
              </a:ext>
            </a:extLst>
          </p:cNvPr>
          <p:cNvSpPr>
            <a:spLocks xmlns:a="http://schemas.openxmlformats.org/drawingml/2006/main" noGrp="1"/>
          </p:cNvSpPr>
          <p:nvPr/>
        </p:nvSpPr>
        <p:spPr>
          <a:xfrm xmlns:a="http://schemas.openxmlformats.org/drawingml/2006/main">
            <a:off x="6172200" y="9772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23" name="svg_text_223">
            <a:extLst xmlns:a="http://schemas.openxmlformats.org/drawingml/2006/main">
              <a:ext uri="{FF2B5EF4-FFF2-40B4-BE49-F238E27FC236}">
                <a16:creationId xmlns:a16="http://schemas.microsoft.com/office/drawing/2014/main" id="{E7B83054-C218-4037-BDF7-5BF828AF2925}"/>
              </a:ext>
            </a:extLst>
          </p:cNvPr>
          <p:cNvSpPr>
            <a:spLocks xmlns:a="http://schemas.openxmlformats.org/drawingml/2006/main" noGrp="1"/>
          </p:cNvSpPr>
          <p:nvPr/>
        </p:nvSpPr>
        <p:spPr>
          <a:xfrm xmlns:a="http://schemas.openxmlformats.org/drawingml/2006/main">
            <a:off x="6051347" y="9533896"/>
            <a:ext cx="142280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Generated x̂</a:t>
            </a:r>
          </a:p>
        </p:txBody>
      </p:sp>
      <p:sp>
        <p:nvSpPr>
          <p:cNvPr id="224" name="svg_rect_224">
            <a:extLst xmlns:a="http://schemas.openxmlformats.org/drawingml/2006/main">
              <a:ext uri="{FF2B5EF4-FFF2-40B4-BE49-F238E27FC236}">
                <a16:creationId xmlns:a16="http://schemas.microsoft.com/office/drawing/2014/main" id="{D8AEC753-1CA0-4A31-84B7-45CC6515EE69}"/>
              </a:ext>
            </a:extLst>
          </p:cNvPr>
          <p:cNvSpPr>
            <a:spLocks xmlns:a="http://schemas.openxmlformats.org/drawingml/2006/main" noGrp="1"/>
          </p:cNvSpPr>
          <p:nvPr/>
        </p:nvSpPr>
        <p:spPr>
          <a:xfrm xmlns:a="http://schemas.openxmlformats.org/drawingml/2006/main">
            <a:off x="7495223" y="9847326"/>
            <a:ext cx="1535430" cy="574548"/>
          </a:xfrm>
          <a:prstGeom xmlns:a="http://schemas.openxmlformats.org/drawingml/2006/main" prst="roundRect">
            <a:avLst>
              <a:gd name="adj" fmla="val 13263"/>
            </a:avLst>
          </a:prstGeom>
          <a:solidFill xmlns:a="http://schemas.openxmlformats.org/drawingml/2006/main">
            <a:srgbClr val="FFF3DC"/>
          </a:solidFill>
          <a:ln xmlns:a="http://schemas.openxmlformats.org/drawingml/2006/main" w="22289">
            <a:solidFill>
              <a:srgbClr val="D89A33"/>
            </a:solidFill>
            <a:prstDash val="solid"/>
          </a:ln>
        </p:spPr>
      </p:sp>
      <p:sp>
        <p:nvSpPr>
          <p:cNvPr id="225" name="svg_text_225">
            <a:extLst xmlns:a="http://schemas.openxmlformats.org/drawingml/2006/main">
              <a:ext uri="{FF2B5EF4-FFF2-40B4-BE49-F238E27FC236}">
                <a16:creationId xmlns:a16="http://schemas.microsoft.com/office/drawing/2014/main" id="{9CB695E3-2381-4992-9980-69C506228526}"/>
              </a:ext>
            </a:extLst>
          </p:cNvPr>
          <p:cNvSpPr>
            <a:spLocks xmlns:a="http://schemas.openxmlformats.org/drawingml/2006/main" noGrp="1"/>
          </p:cNvSpPr>
          <p:nvPr/>
        </p:nvSpPr>
        <p:spPr>
          <a:xfrm xmlns:a="http://schemas.openxmlformats.org/drawingml/2006/main">
            <a:off x="7548963" y="998921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75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Adversarial Loss</a:t>
            </a:r>
          </a:p>
        </p:txBody>
      </p:sp>
      <p:sp>
        <p:nvSpPr>
          <p:cNvPr id="226" name="svg_rect_226">
            <a:extLst xmlns:a="http://schemas.openxmlformats.org/drawingml/2006/main">
              <a:ext uri="{FF2B5EF4-FFF2-40B4-BE49-F238E27FC236}">
                <a16:creationId xmlns:a16="http://schemas.microsoft.com/office/drawing/2014/main" id="{49B460AB-B2DB-4B5E-85C6-D4FBD99E633F}"/>
              </a:ext>
            </a:extLst>
          </p:cNvPr>
          <p:cNvSpPr>
            <a:spLocks xmlns:a="http://schemas.openxmlformats.org/drawingml/2006/main" noGrp="1"/>
          </p:cNvSpPr>
          <p:nvPr/>
        </p:nvSpPr>
        <p:spPr>
          <a:xfrm xmlns:a="http://schemas.openxmlformats.org/drawingml/2006/main">
            <a:off x="7495223" y="10560939"/>
            <a:ext cx="1535430" cy="614172"/>
          </a:xfrm>
          <a:prstGeom xmlns:a="http://schemas.openxmlformats.org/drawingml/2006/main" prst="roundRect">
            <a:avLst>
              <a:gd name="adj" fmla="val 12407"/>
            </a:avLst>
          </a:prstGeom>
          <a:solidFill xmlns:a="http://schemas.openxmlformats.org/drawingml/2006/main">
            <a:srgbClr val="FFF3DC"/>
          </a:solidFill>
          <a:ln xmlns:a="http://schemas.openxmlformats.org/drawingml/2006/main" w="22289">
            <a:solidFill>
              <a:srgbClr val="D89A33"/>
            </a:solidFill>
            <a:prstDash val="solid"/>
          </a:ln>
        </p:spPr>
      </p:sp>
      <p:sp>
        <p:nvSpPr>
          <p:cNvPr id="227" name="svg_text_227">
            <a:extLst xmlns:a="http://schemas.openxmlformats.org/drawingml/2006/main">
              <a:ext uri="{FF2B5EF4-FFF2-40B4-BE49-F238E27FC236}">
                <a16:creationId xmlns:a16="http://schemas.microsoft.com/office/drawing/2014/main" id="{9DA80E9C-8D71-44B9-81D7-082E5721EACD}"/>
              </a:ext>
            </a:extLst>
          </p:cNvPr>
          <p:cNvSpPr>
            <a:spLocks xmlns:a="http://schemas.openxmlformats.org/drawingml/2006/main" noGrp="1"/>
          </p:cNvSpPr>
          <p:nvPr/>
        </p:nvSpPr>
        <p:spPr>
          <a:xfrm xmlns:a="http://schemas.openxmlformats.org/drawingml/2006/main">
            <a:off x="7548963" y="1063691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9225"/>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Feature-Matching</a:t>
            </a:r>
          </a:p>
        </p:txBody>
      </p:sp>
      <p:sp>
        <p:nvSpPr>
          <p:cNvPr id="228" name="svg_text_228">
            <a:extLst xmlns:a="http://schemas.openxmlformats.org/drawingml/2006/main">
              <a:ext uri="{FF2B5EF4-FFF2-40B4-BE49-F238E27FC236}">
                <a16:creationId xmlns:a16="http://schemas.microsoft.com/office/drawing/2014/main" id="{FAD66BEF-D1DA-4A7B-BB59-6A3DFDA662FF}"/>
              </a:ext>
            </a:extLst>
          </p:cNvPr>
          <p:cNvSpPr>
            <a:spLocks xmlns:a="http://schemas.openxmlformats.org/drawingml/2006/main" noGrp="1"/>
          </p:cNvSpPr>
          <p:nvPr/>
        </p:nvSpPr>
        <p:spPr>
          <a:xfrm xmlns:a="http://schemas.openxmlformats.org/drawingml/2006/main">
            <a:off x="7548963" y="1084646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Loss</a:t>
            </a:r>
          </a:p>
        </p:txBody>
      </p:sp>
      <p:sp>
        <p:nvSpPr>
          <p:cNvPr id="229" name="svg_path_229">
            <a:extLst xmlns:a="http://schemas.openxmlformats.org/drawingml/2006/main">
              <a:ext uri="{FF2B5EF4-FFF2-40B4-BE49-F238E27FC236}">
                <a16:creationId xmlns:a16="http://schemas.microsoft.com/office/drawing/2014/main" id="{EDBCBB93-65B0-4E71-A2C2-4CE609612F23}"/>
              </a:ext>
            </a:extLst>
          </p:cNvPr>
          <p:cNvSpPr>
            <a:spLocks xmlns:a="http://schemas.openxmlformats.org/drawingml/2006/main" noGrp="1"/>
          </p:cNvSpPr>
          <p:nvPr/>
        </p:nvSpPr>
        <p:spPr>
          <a:xfrm xmlns:a="http://schemas.openxmlformats.org/drawingml/2006/main">
            <a:off x="7048500" y="1019175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4765">
            <a:solidFill>
              <a:srgbClr val="2386D8"/>
            </a:solidFill>
            <a:prstDash val="solid"/>
          </a:ln>
        </p:spPr>
      </p:sp>
      <p:sp>
        <p:nvSpPr>
          <p:cNvPr id="230" name="svg_arrowhead_230">
            <a:extLst xmlns:a="http://schemas.openxmlformats.org/drawingml/2006/main">
              <a:ext uri="{FF2B5EF4-FFF2-40B4-BE49-F238E27FC236}">
                <a16:creationId xmlns:a16="http://schemas.microsoft.com/office/drawing/2014/main" id="{D547FA9A-1D2B-4652-9665-1C4784BC31A1}"/>
              </a:ext>
            </a:extLst>
          </p:cNvPr>
          <p:cNvSpPr>
            <a:spLocks xmlns:a="http://schemas.openxmlformats.org/drawingml/2006/main" noGrp="1"/>
          </p:cNvSpPr>
          <p:nvPr/>
        </p:nvSpPr>
        <p:spPr>
          <a:xfrm xmlns:a="http://schemas.openxmlformats.org/drawingml/2006/main">
            <a:off x="7391400" y="10125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31" name="svg_path_231">
            <a:extLst xmlns:a="http://schemas.openxmlformats.org/drawingml/2006/main">
              <a:ext uri="{FF2B5EF4-FFF2-40B4-BE49-F238E27FC236}">
                <a16:creationId xmlns:a16="http://schemas.microsoft.com/office/drawing/2014/main" id="{717075BE-81D5-4477-A703-21779D4E8B63}"/>
              </a:ext>
            </a:extLst>
          </p:cNvPr>
          <p:cNvSpPr>
            <a:spLocks xmlns:a="http://schemas.openxmlformats.org/drawingml/2006/main" noGrp="1"/>
          </p:cNvSpPr>
          <p:nvPr/>
        </p:nvSpPr>
        <p:spPr>
          <a:xfrm xmlns:a="http://schemas.openxmlformats.org/drawingml/2006/main">
            <a:off x="7048500" y="10839450"/>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4765">
            <a:solidFill>
              <a:srgbClr val="2386D8"/>
            </a:solidFill>
            <a:prstDash val="solid"/>
          </a:ln>
        </p:spPr>
      </p:sp>
      <p:sp>
        <p:nvSpPr>
          <p:cNvPr id="232" name="svg_arrowhead_232">
            <a:extLst xmlns:a="http://schemas.openxmlformats.org/drawingml/2006/main">
              <a:ext uri="{FF2B5EF4-FFF2-40B4-BE49-F238E27FC236}">
                <a16:creationId xmlns:a16="http://schemas.microsoft.com/office/drawing/2014/main" id="{56742BE0-0FF2-4D8A-91D2-E9807706B008}"/>
              </a:ext>
            </a:extLst>
          </p:cNvPr>
          <p:cNvSpPr>
            <a:spLocks xmlns:a="http://schemas.openxmlformats.org/drawingml/2006/main" noGrp="1"/>
          </p:cNvSpPr>
          <p:nvPr/>
        </p:nvSpPr>
        <p:spPr>
          <a:xfrm xmlns:a="http://schemas.openxmlformats.org/drawingml/2006/main">
            <a:off x="7391400" y="107727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33" name="svg_path_233">
            <a:extLst xmlns:a="http://schemas.openxmlformats.org/drawingml/2006/main">
              <a:ext uri="{FF2B5EF4-FFF2-40B4-BE49-F238E27FC236}">
                <a16:creationId xmlns:a16="http://schemas.microsoft.com/office/drawing/2014/main" id="{FF4B5D0A-CE29-4127-9FC6-9F667F4E18AD}"/>
              </a:ext>
            </a:extLst>
          </p:cNvPr>
          <p:cNvSpPr>
            <a:spLocks xmlns:a="http://schemas.openxmlformats.org/drawingml/2006/main" noGrp="1"/>
          </p:cNvSpPr>
          <p:nvPr/>
        </p:nvSpPr>
        <p:spPr>
          <a:xfrm xmlns:a="http://schemas.openxmlformats.org/drawingml/2006/main">
            <a:off x="4476750" y="9429750"/>
            <a:ext cx="3048000" cy="2095500"/>
          </a:xfrm>
          <a:custGeom xmlns:a="http://schemas.openxmlformats.org/drawingml/2006/main">
            <a:pathLst>
              <a:path w="3048000" h="2095500">
                <a:moveTo>
                  <a:pt x="3048000" y="714375"/>
                </a:moveTo>
                <a:lnTo>
                  <a:pt x="2809875" y="714375"/>
                </a:lnTo>
                <a:lnTo>
                  <a:pt x="2809875" y="2095500"/>
                </a:lnTo>
                <a:lnTo>
                  <a:pt x="0" y="2095500"/>
                </a:lnTo>
                <a:lnTo>
                  <a:pt x="0" y="0"/>
                </a:lnTo>
              </a:path>
            </a:pathLst>
          </a:custGeom>
          <a:noFill xmlns:a="http://schemas.openxmlformats.org/drawingml/2006/main"/>
          <a:ln xmlns:a="http://schemas.openxmlformats.org/drawingml/2006/main" w="24765">
            <a:solidFill>
              <a:srgbClr val="3D6285"/>
            </a:solidFill>
            <a:prstDash val="dash"/>
          </a:ln>
        </p:spPr>
      </p:sp>
      <p:sp>
        <p:nvSpPr>
          <p:cNvPr id="234" name="svg_arrowhead_234">
            <a:extLst xmlns:a="http://schemas.openxmlformats.org/drawingml/2006/main">
              <a:ext uri="{FF2B5EF4-FFF2-40B4-BE49-F238E27FC236}">
                <a16:creationId xmlns:a16="http://schemas.microsoft.com/office/drawing/2014/main" id="{E4D842A5-7BF1-493B-9AFD-92FF989E2D8F}"/>
              </a:ext>
            </a:extLst>
          </p:cNvPr>
          <p:cNvSpPr>
            <a:spLocks xmlns:a="http://schemas.openxmlformats.org/drawingml/2006/main" noGrp="1"/>
          </p:cNvSpPr>
          <p:nvPr/>
        </p:nvSpPr>
        <p:spPr>
          <a:xfrm xmlns:a="http://schemas.openxmlformats.org/drawingml/2006/main">
            <a:off x="441007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35" name="svg_path_235">
            <a:extLst xmlns:a="http://schemas.openxmlformats.org/drawingml/2006/main">
              <a:ext uri="{FF2B5EF4-FFF2-40B4-BE49-F238E27FC236}">
                <a16:creationId xmlns:a16="http://schemas.microsoft.com/office/drawing/2014/main" id="{24A94B13-CDA6-403C-8FCE-E1375060934A}"/>
              </a:ext>
            </a:extLst>
          </p:cNvPr>
          <p:cNvSpPr>
            <a:spLocks xmlns:a="http://schemas.openxmlformats.org/drawingml/2006/main" noGrp="1"/>
          </p:cNvSpPr>
          <p:nvPr/>
        </p:nvSpPr>
        <p:spPr>
          <a:xfrm xmlns:a="http://schemas.openxmlformats.org/drawingml/2006/main">
            <a:off x="4191000" y="9429750"/>
            <a:ext cx="3333750" cy="2333625"/>
          </a:xfrm>
          <a:custGeom xmlns:a="http://schemas.openxmlformats.org/drawingml/2006/main">
            <a:pathLst>
              <a:path w="3333750" h="2333625">
                <a:moveTo>
                  <a:pt x="3333750" y="1428750"/>
                </a:moveTo>
                <a:lnTo>
                  <a:pt x="2952750" y="1428750"/>
                </a:lnTo>
                <a:lnTo>
                  <a:pt x="2952750" y="2333625"/>
                </a:lnTo>
                <a:lnTo>
                  <a:pt x="0" y="2333625"/>
                </a:lnTo>
                <a:lnTo>
                  <a:pt x="0" y="0"/>
                </a:lnTo>
              </a:path>
            </a:pathLst>
          </a:custGeom>
          <a:noFill xmlns:a="http://schemas.openxmlformats.org/drawingml/2006/main"/>
          <a:ln xmlns:a="http://schemas.openxmlformats.org/drawingml/2006/main" w="24765">
            <a:solidFill>
              <a:srgbClr val="3D6285"/>
            </a:solidFill>
            <a:prstDash val="dash"/>
          </a:ln>
        </p:spPr>
      </p:sp>
      <p:sp>
        <p:nvSpPr>
          <p:cNvPr id="236" name="svg_arrowhead_236">
            <a:extLst xmlns:a="http://schemas.openxmlformats.org/drawingml/2006/main">
              <a:ext uri="{FF2B5EF4-FFF2-40B4-BE49-F238E27FC236}">
                <a16:creationId xmlns:a16="http://schemas.microsoft.com/office/drawing/2014/main" id="{6A0AD974-090A-4D1E-A2B8-23354D5E9AD6}"/>
              </a:ext>
            </a:extLst>
          </p:cNvPr>
          <p:cNvSpPr>
            <a:spLocks xmlns:a="http://schemas.openxmlformats.org/drawingml/2006/main" noGrp="1"/>
          </p:cNvSpPr>
          <p:nvPr/>
        </p:nvSpPr>
        <p:spPr>
          <a:xfrm xmlns:a="http://schemas.openxmlformats.org/drawingml/2006/main">
            <a:off x="412432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37" name="svg_rect_237">
            <a:extLst xmlns:a="http://schemas.openxmlformats.org/drawingml/2006/main">
              <a:ext uri="{FF2B5EF4-FFF2-40B4-BE49-F238E27FC236}">
                <a16:creationId xmlns:a16="http://schemas.microsoft.com/office/drawing/2014/main" id="{6BA1D0B0-ED14-48B9-BC55-5921BA27482B}"/>
              </a:ext>
            </a:extLst>
          </p:cNvPr>
          <p:cNvSpPr>
            <a:spLocks xmlns:a="http://schemas.openxmlformats.org/drawingml/2006/main" noGrp="1"/>
          </p:cNvSpPr>
          <p:nvPr/>
        </p:nvSpPr>
        <p:spPr>
          <a:xfrm xmlns:a="http://schemas.openxmlformats.org/drawingml/2006/main">
            <a:off x="2659380" y="11841480"/>
            <a:ext cx="2872740" cy="891540"/>
          </a:xfrm>
          <a:prstGeom xmlns:a="http://schemas.openxmlformats.org/drawingml/2006/main" prst="roundRect">
            <a:avLst>
              <a:gd name="adj" fmla="val 8547"/>
            </a:avLst>
          </a:prstGeom>
          <a:solidFill xmlns:a="http://schemas.openxmlformats.org/drawingml/2006/main">
            <a:srgbClr val="FFF3DC"/>
          </a:solidFill>
          <a:ln xmlns:a="http://schemas.openxmlformats.org/drawingml/2006/main" w="22289">
            <a:solidFill>
              <a:srgbClr val="D89A33"/>
            </a:solidFill>
            <a:prstDash val="solid"/>
          </a:ln>
        </p:spPr>
      </p:sp>
      <p:sp>
        <p:nvSpPr>
          <p:cNvPr id="238" name="svg_text_238">
            <a:extLst xmlns:a="http://schemas.openxmlformats.org/drawingml/2006/main">
              <a:ext uri="{FF2B5EF4-FFF2-40B4-BE49-F238E27FC236}">
                <a16:creationId xmlns:a16="http://schemas.microsoft.com/office/drawing/2014/main" id="{C0F482CA-45D3-49AF-AD1B-ACB8461ABC63}"/>
              </a:ext>
            </a:extLst>
          </p:cNvPr>
          <p:cNvSpPr>
            <a:spLocks xmlns:a="http://schemas.openxmlformats.org/drawingml/2006/main" noGrp="1"/>
          </p:cNvSpPr>
          <p:nvPr/>
        </p:nvSpPr>
        <p:spPr>
          <a:xfrm xmlns:a="http://schemas.openxmlformats.org/drawingml/2006/main">
            <a:off x="2754630" y="11922789"/>
            <a:ext cx="26822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Waveform + Mel</a:t>
            </a:r>
          </a:p>
        </p:txBody>
      </p:sp>
      <p:sp>
        <p:nvSpPr>
          <p:cNvPr id="239" name="svg_text_239">
            <a:extLst xmlns:a="http://schemas.openxmlformats.org/drawingml/2006/main">
              <a:ext uri="{FF2B5EF4-FFF2-40B4-BE49-F238E27FC236}">
                <a16:creationId xmlns:a16="http://schemas.microsoft.com/office/drawing/2014/main" id="{40E1D3A8-9A53-42CB-ABE1-EF7C7695F959}"/>
              </a:ext>
            </a:extLst>
          </p:cNvPr>
          <p:cNvSpPr>
            <a:spLocks xmlns:a="http://schemas.openxmlformats.org/drawingml/2006/main" noGrp="1"/>
          </p:cNvSpPr>
          <p:nvPr/>
        </p:nvSpPr>
        <p:spPr>
          <a:xfrm xmlns:a="http://schemas.openxmlformats.org/drawingml/2006/main">
            <a:off x="2754630" y="12151389"/>
            <a:ext cx="268224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Reconstruction Loss</a:t>
            </a:r>
          </a:p>
        </p:txBody>
      </p:sp>
      <p:sp>
        <p:nvSpPr>
          <p:cNvPr id="240" name="svg_text_240">
            <a:extLst xmlns:a="http://schemas.openxmlformats.org/drawingml/2006/main">
              <a:ext uri="{FF2B5EF4-FFF2-40B4-BE49-F238E27FC236}">
                <a16:creationId xmlns:a16="http://schemas.microsoft.com/office/drawing/2014/main" id="{060FF4A7-194E-4E71-B852-CB2728317CC1}"/>
              </a:ext>
            </a:extLst>
          </p:cNvPr>
          <p:cNvSpPr>
            <a:spLocks xmlns:a="http://schemas.openxmlformats.org/drawingml/2006/main" noGrp="1"/>
          </p:cNvSpPr>
          <p:nvPr/>
        </p:nvSpPr>
        <p:spPr>
          <a:xfrm xmlns:a="http://schemas.openxmlformats.org/drawingml/2006/main">
            <a:off x="2754630" y="12419971"/>
            <a:ext cx="26822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compares x and x̂ directly</a:t>
            </a:r>
          </a:p>
        </p:txBody>
      </p:sp>
      <p:sp>
        <p:nvSpPr>
          <p:cNvPr id="241" name="svg_path_241">
            <a:extLst xmlns:a="http://schemas.openxmlformats.org/drawingml/2006/main">
              <a:ext uri="{FF2B5EF4-FFF2-40B4-BE49-F238E27FC236}">
                <a16:creationId xmlns:a16="http://schemas.microsoft.com/office/drawing/2014/main" id="{8EAF76AF-42B3-459E-87C6-4E8CA9D08713}"/>
              </a:ext>
            </a:extLst>
          </p:cNvPr>
          <p:cNvSpPr>
            <a:spLocks xmlns:a="http://schemas.openxmlformats.org/drawingml/2006/main" noGrp="1"/>
          </p:cNvSpPr>
          <p:nvPr/>
        </p:nvSpPr>
        <p:spPr>
          <a:xfrm xmlns:a="http://schemas.openxmlformats.org/drawingml/2006/main">
            <a:off x="571500" y="9239250"/>
            <a:ext cx="3524250" cy="3571875"/>
          </a:xfrm>
          <a:custGeom xmlns:a="http://schemas.openxmlformats.org/drawingml/2006/main">
            <a:pathLst>
              <a:path w="3524250" h="3571875">
                <a:moveTo>
                  <a:pt x="781050" y="0"/>
                </a:moveTo>
                <a:lnTo>
                  <a:pt x="0" y="0"/>
                </a:lnTo>
                <a:lnTo>
                  <a:pt x="0" y="3571875"/>
                </a:lnTo>
                <a:lnTo>
                  <a:pt x="3524250" y="3571875"/>
                </a:lnTo>
                <a:lnTo>
                  <a:pt x="3524250" y="3476625"/>
                </a:lnTo>
              </a:path>
            </a:pathLst>
          </a:custGeom>
          <a:noFill xmlns:a="http://schemas.openxmlformats.org/drawingml/2006/main"/>
          <a:ln xmlns:a="http://schemas.openxmlformats.org/drawingml/2006/main" w="24765">
            <a:solidFill>
              <a:srgbClr val="3D6285"/>
            </a:solidFill>
            <a:prstDash val="dash"/>
          </a:ln>
        </p:spPr>
      </p:sp>
      <p:sp>
        <p:nvSpPr>
          <p:cNvPr id="242" name="svg_arrowhead_242">
            <a:extLst xmlns:a="http://schemas.openxmlformats.org/drawingml/2006/main">
              <a:ext uri="{FF2B5EF4-FFF2-40B4-BE49-F238E27FC236}">
                <a16:creationId xmlns:a16="http://schemas.microsoft.com/office/drawing/2014/main" id="{F90B087D-1E62-4EF1-BC10-2CA393868CDD}"/>
              </a:ext>
            </a:extLst>
          </p:cNvPr>
          <p:cNvSpPr>
            <a:spLocks xmlns:a="http://schemas.openxmlformats.org/drawingml/2006/main" noGrp="1"/>
          </p:cNvSpPr>
          <p:nvPr/>
        </p:nvSpPr>
        <p:spPr>
          <a:xfrm xmlns:a="http://schemas.openxmlformats.org/drawingml/2006/main">
            <a:off x="4029075" y="12715875"/>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43" name="svg_path_243">
            <a:extLst xmlns:a="http://schemas.openxmlformats.org/drawingml/2006/main">
              <a:ext uri="{FF2B5EF4-FFF2-40B4-BE49-F238E27FC236}">
                <a16:creationId xmlns:a16="http://schemas.microsoft.com/office/drawing/2014/main" id="{402A523E-2FE7-4233-8DB5-F6E63BF1FD81}"/>
              </a:ext>
            </a:extLst>
          </p:cNvPr>
          <p:cNvSpPr>
            <a:spLocks xmlns:a="http://schemas.openxmlformats.org/drawingml/2006/main" noGrp="1"/>
          </p:cNvSpPr>
          <p:nvPr/>
        </p:nvSpPr>
        <p:spPr>
          <a:xfrm xmlns:a="http://schemas.openxmlformats.org/drawingml/2006/main">
            <a:off x="5476875" y="9239250"/>
            <a:ext cx="762000" cy="3048000"/>
          </a:xfrm>
          <a:custGeom xmlns:a="http://schemas.openxmlformats.org/drawingml/2006/main">
            <a:pathLst>
              <a:path w="762000" h="3048000">
                <a:moveTo>
                  <a:pt x="762000" y="0"/>
                </a:moveTo>
                <a:lnTo>
                  <a:pt x="762000" y="2428875"/>
                </a:lnTo>
                <a:lnTo>
                  <a:pt x="0" y="2428875"/>
                </a:lnTo>
                <a:lnTo>
                  <a:pt x="0" y="3048000"/>
                </a:lnTo>
              </a:path>
            </a:pathLst>
          </a:custGeom>
          <a:noFill xmlns:a="http://schemas.openxmlformats.org/drawingml/2006/main"/>
          <a:ln xmlns:a="http://schemas.openxmlformats.org/drawingml/2006/main" w="24765">
            <a:solidFill>
              <a:srgbClr val="3D6285"/>
            </a:solidFill>
            <a:prstDash val="dash"/>
          </a:ln>
        </p:spPr>
      </p:sp>
      <p:sp>
        <p:nvSpPr>
          <p:cNvPr id="244" name="svg_arrowhead_244">
            <a:extLst xmlns:a="http://schemas.openxmlformats.org/drawingml/2006/main">
              <a:ext uri="{FF2B5EF4-FFF2-40B4-BE49-F238E27FC236}">
                <a16:creationId xmlns:a16="http://schemas.microsoft.com/office/drawing/2014/main" id="{01C818E7-4528-4364-A465-EDF2F3126C3E}"/>
              </a:ext>
            </a:extLst>
          </p:cNvPr>
          <p:cNvSpPr>
            <a:spLocks xmlns:a="http://schemas.openxmlformats.org/drawingml/2006/main" noGrp="1"/>
          </p:cNvSpPr>
          <p:nvPr/>
        </p:nvSpPr>
        <p:spPr>
          <a:xfrm xmlns:a="http://schemas.openxmlformats.org/drawingml/2006/main">
            <a:off x="5410200" y="1215390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45" name="svg_path_245">
            <a:extLst xmlns:a="http://schemas.openxmlformats.org/drawingml/2006/main">
              <a:ext uri="{FF2B5EF4-FFF2-40B4-BE49-F238E27FC236}">
                <a16:creationId xmlns:a16="http://schemas.microsoft.com/office/drawing/2014/main" id="{3EA02346-F70F-4103-A727-F87404927D07}"/>
              </a:ext>
            </a:extLst>
          </p:cNvPr>
          <p:cNvSpPr>
            <a:spLocks xmlns:a="http://schemas.openxmlformats.org/drawingml/2006/main" noGrp="1"/>
          </p:cNvSpPr>
          <p:nvPr/>
        </p:nvSpPr>
        <p:spPr>
          <a:xfrm xmlns:a="http://schemas.openxmlformats.org/drawingml/2006/main">
            <a:off x="3905250" y="9429750"/>
            <a:ext cx="190500" cy="2428875"/>
          </a:xfrm>
          <a:custGeom xmlns:a="http://schemas.openxmlformats.org/drawingml/2006/main">
            <a:pathLst>
              <a:path w="190500" h="2428875">
                <a:moveTo>
                  <a:pt x="190500" y="2428875"/>
                </a:moveTo>
                <a:lnTo>
                  <a:pt x="190500" y="1952625"/>
                </a:lnTo>
                <a:lnTo>
                  <a:pt x="0" y="1952625"/>
                </a:lnTo>
                <a:lnTo>
                  <a:pt x="0" y="0"/>
                </a:lnTo>
              </a:path>
            </a:pathLst>
          </a:custGeom>
          <a:noFill xmlns:a="http://schemas.openxmlformats.org/drawingml/2006/main"/>
          <a:ln xmlns:a="http://schemas.openxmlformats.org/drawingml/2006/main" w="24765">
            <a:solidFill>
              <a:srgbClr val="3D6285"/>
            </a:solidFill>
            <a:prstDash val="dash"/>
          </a:ln>
        </p:spPr>
      </p:sp>
      <p:sp>
        <p:nvSpPr>
          <p:cNvPr id="246" name="svg_arrowhead_246">
            <a:extLst xmlns:a="http://schemas.openxmlformats.org/drawingml/2006/main">
              <a:ext uri="{FF2B5EF4-FFF2-40B4-BE49-F238E27FC236}">
                <a16:creationId xmlns:a16="http://schemas.microsoft.com/office/drawing/2014/main" id="{17C88B47-0C67-4937-B205-0249DD87FB62}"/>
              </a:ext>
            </a:extLst>
          </p:cNvPr>
          <p:cNvSpPr>
            <a:spLocks xmlns:a="http://schemas.openxmlformats.org/drawingml/2006/main" noGrp="1"/>
          </p:cNvSpPr>
          <p:nvPr/>
        </p:nvSpPr>
        <p:spPr>
          <a:xfrm xmlns:a="http://schemas.openxmlformats.org/drawingml/2006/main">
            <a:off x="383857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47" name="svg_rect_247">
            <a:extLst xmlns:a="http://schemas.openxmlformats.org/drawingml/2006/main">
              <a:ext uri="{FF2B5EF4-FFF2-40B4-BE49-F238E27FC236}">
                <a16:creationId xmlns:a16="http://schemas.microsoft.com/office/drawing/2014/main" id="{1738EF74-D2D2-4736-A28C-25383464BED0}"/>
              </a:ext>
            </a:extLst>
          </p:cNvPr>
          <p:cNvSpPr>
            <a:spLocks xmlns:a="http://schemas.openxmlformats.org/drawingml/2006/main" noGrp="1"/>
          </p:cNvSpPr>
          <p:nvPr/>
        </p:nvSpPr>
        <p:spPr>
          <a:xfrm xmlns:a="http://schemas.openxmlformats.org/drawingml/2006/main">
            <a:off x="732472" y="11989118"/>
            <a:ext cx="1535430" cy="643890"/>
          </a:xfrm>
          <a:prstGeom xmlns:a="http://schemas.openxmlformats.org/drawingml/2006/main" prst="roundRect">
            <a:avLst>
              <a:gd name="adj" fmla="val 11834"/>
            </a:avLst>
          </a:prstGeom>
          <a:solidFill xmlns:a="http://schemas.openxmlformats.org/drawingml/2006/main">
            <a:srgbClr val="FFF3DC"/>
          </a:solidFill>
          <a:ln xmlns:a="http://schemas.openxmlformats.org/drawingml/2006/main" w="22289">
            <a:solidFill>
              <a:srgbClr val="D89A33"/>
            </a:solidFill>
            <a:prstDash val="solid"/>
          </a:ln>
        </p:spPr>
      </p:sp>
      <p:sp>
        <p:nvSpPr>
          <p:cNvPr id="248" name="svg_text_248">
            <a:extLst xmlns:a="http://schemas.openxmlformats.org/drawingml/2006/main">
              <a:ext uri="{FF2B5EF4-FFF2-40B4-BE49-F238E27FC236}">
                <a16:creationId xmlns:a16="http://schemas.microsoft.com/office/drawing/2014/main" id="{0513D118-6FE0-4B8B-817B-401E31F3F8F4}"/>
              </a:ext>
            </a:extLst>
          </p:cNvPr>
          <p:cNvSpPr>
            <a:spLocks xmlns:a="http://schemas.openxmlformats.org/drawingml/2006/main" noGrp="1"/>
          </p:cNvSpPr>
          <p:nvPr/>
        </p:nvSpPr>
        <p:spPr>
          <a:xfrm xmlns:a="http://schemas.openxmlformats.org/drawingml/2006/main">
            <a:off x="786213" y="12065664"/>
            <a:ext cx="142795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766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RVQ Commitment</a:t>
            </a:r>
          </a:p>
        </p:txBody>
      </p:sp>
      <p:sp>
        <p:nvSpPr>
          <p:cNvPr id="249" name="svg_text_249">
            <a:extLst xmlns:a="http://schemas.openxmlformats.org/drawingml/2006/main">
              <a:ext uri="{FF2B5EF4-FFF2-40B4-BE49-F238E27FC236}">
                <a16:creationId xmlns:a16="http://schemas.microsoft.com/office/drawing/2014/main" id="{81E08531-0276-4EF8-9BDE-651317E9D083}"/>
              </a:ext>
            </a:extLst>
          </p:cNvPr>
          <p:cNvSpPr>
            <a:spLocks xmlns:a="http://schemas.openxmlformats.org/drawingml/2006/main" noGrp="1"/>
          </p:cNvSpPr>
          <p:nvPr/>
        </p:nvSpPr>
        <p:spPr>
          <a:xfrm xmlns:a="http://schemas.openxmlformats.org/drawingml/2006/main">
            <a:off x="786213" y="12334246"/>
            <a:ext cx="142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updates RVQ only</a:t>
            </a:r>
          </a:p>
        </p:txBody>
      </p:sp>
      <p:sp>
        <p:nvSpPr>
          <p:cNvPr id="250" name="svg_path_250">
            <a:extLst xmlns:a="http://schemas.openxmlformats.org/drawingml/2006/main">
              <a:ext uri="{FF2B5EF4-FFF2-40B4-BE49-F238E27FC236}">
                <a16:creationId xmlns:a16="http://schemas.microsoft.com/office/drawing/2014/main" id="{4C42EA37-A289-4E05-A489-5B1001B44B3D}"/>
              </a:ext>
            </a:extLst>
          </p:cNvPr>
          <p:cNvSpPr>
            <a:spLocks xmlns:a="http://schemas.openxmlformats.org/drawingml/2006/main" noGrp="1"/>
          </p:cNvSpPr>
          <p:nvPr/>
        </p:nvSpPr>
        <p:spPr>
          <a:xfrm xmlns:a="http://schemas.openxmlformats.org/drawingml/2006/main">
            <a:off x="1495425" y="9429750"/>
            <a:ext cx="1838325" cy="2571750"/>
          </a:xfrm>
          <a:custGeom xmlns:a="http://schemas.openxmlformats.org/drawingml/2006/main">
            <a:pathLst>
              <a:path w="1838325" h="2571750">
                <a:moveTo>
                  <a:pt x="0" y="2571750"/>
                </a:moveTo>
                <a:lnTo>
                  <a:pt x="0" y="1762125"/>
                </a:lnTo>
                <a:lnTo>
                  <a:pt x="1838325" y="1762125"/>
                </a:lnTo>
                <a:lnTo>
                  <a:pt x="1838325" y="0"/>
                </a:lnTo>
              </a:path>
            </a:pathLst>
          </a:custGeom>
          <a:noFill xmlns:a="http://schemas.openxmlformats.org/drawingml/2006/main"/>
          <a:ln xmlns:a="http://schemas.openxmlformats.org/drawingml/2006/main" w="24765">
            <a:solidFill>
              <a:srgbClr val="3D6285"/>
            </a:solidFill>
            <a:prstDash val="dash"/>
          </a:ln>
        </p:spPr>
      </p:sp>
      <p:sp>
        <p:nvSpPr>
          <p:cNvPr id="251" name="svg_arrowhead_251">
            <a:extLst xmlns:a="http://schemas.openxmlformats.org/drawingml/2006/main">
              <a:ext uri="{FF2B5EF4-FFF2-40B4-BE49-F238E27FC236}">
                <a16:creationId xmlns:a16="http://schemas.microsoft.com/office/drawing/2014/main" id="{A232BB24-1A0E-4E09-836D-173C1BF0668B}"/>
              </a:ext>
            </a:extLst>
          </p:cNvPr>
          <p:cNvSpPr>
            <a:spLocks xmlns:a="http://schemas.openxmlformats.org/drawingml/2006/main" noGrp="1"/>
          </p:cNvSpPr>
          <p:nvPr/>
        </p:nvSpPr>
        <p:spPr>
          <a:xfrm xmlns:a="http://schemas.openxmlformats.org/drawingml/2006/main">
            <a:off x="3267075" y="942975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252" name="svg_rect_252">
            <a:extLst xmlns:a="http://schemas.openxmlformats.org/drawingml/2006/main">
              <a:ext uri="{FF2B5EF4-FFF2-40B4-BE49-F238E27FC236}">
                <a16:creationId xmlns:a16="http://schemas.microsoft.com/office/drawing/2014/main" id="{1D5479E1-94C3-4F38-8ED0-6A2A08F00331}"/>
              </a:ext>
            </a:extLst>
          </p:cNvPr>
          <p:cNvSpPr>
            <a:spLocks xmlns:a="http://schemas.openxmlformats.org/drawingml/2006/main" noGrp="1"/>
          </p:cNvSpPr>
          <p:nvPr/>
        </p:nvSpPr>
        <p:spPr>
          <a:xfrm xmlns:a="http://schemas.openxmlformats.org/drawingml/2006/main">
            <a:off x="9572625" y="7143750"/>
            <a:ext cx="6715125" cy="5810250"/>
          </a:xfrm>
          <a:prstGeom xmlns:a="http://schemas.openxmlformats.org/drawingml/2006/main" prst="roundRect">
            <a:avLst>
              <a:gd name="adj" fmla="val 1639"/>
            </a:avLst>
          </a:prstGeom>
          <a:solidFill xmlns:a="http://schemas.openxmlformats.org/drawingml/2006/main">
            <a:srgbClr val="F7FBFF"/>
          </a:solidFill>
          <a:ln xmlns:a="http://schemas.openxmlformats.org/drawingml/2006/main" w="19812">
            <a:solidFill>
              <a:srgbClr val="A8CBEA"/>
            </a:solidFill>
            <a:prstDash val="dash"/>
          </a:ln>
        </p:spPr>
      </p:sp>
      <p:sp>
        <p:nvSpPr>
          <p:cNvPr id="253" name="svg_rect_253">
            <a:extLst xmlns:a="http://schemas.openxmlformats.org/drawingml/2006/main">
              <a:ext uri="{FF2B5EF4-FFF2-40B4-BE49-F238E27FC236}">
                <a16:creationId xmlns:a16="http://schemas.microsoft.com/office/drawing/2014/main" id="{ADA6E4C4-D8DD-4023-BE35-243BC0D6DC0F}"/>
              </a:ext>
            </a:extLst>
          </p:cNvPr>
          <p:cNvSpPr>
            <a:spLocks xmlns:a="http://schemas.openxmlformats.org/drawingml/2006/main" noGrp="1"/>
          </p:cNvSpPr>
          <p:nvPr/>
        </p:nvSpPr>
        <p:spPr>
          <a:xfrm xmlns:a="http://schemas.openxmlformats.org/drawingml/2006/main">
            <a:off x="9715500" y="7286625"/>
            <a:ext cx="476250" cy="285750"/>
          </a:xfrm>
          <a:prstGeom xmlns:a="http://schemas.openxmlformats.org/drawingml/2006/main" prst="roundRect">
            <a:avLst>
              <a:gd name="adj" fmla="val 50000"/>
            </a:avLst>
          </a:prstGeom>
          <a:solidFill xmlns:a="http://schemas.openxmlformats.org/drawingml/2006/main">
            <a:srgbClr val="1467B8"/>
          </a:solidFill>
          <a:ln xmlns:a="http://schemas.openxmlformats.org/drawingml/2006/main" w="0">
            <a:noFill/>
            <a:prstDash val="solid"/>
          </a:ln>
        </p:spPr>
      </p:sp>
      <p:sp>
        <p:nvSpPr>
          <p:cNvPr id="254" name="svg_text_254">
            <a:extLst xmlns:a="http://schemas.openxmlformats.org/drawingml/2006/main">
              <a:ext uri="{FF2B5EF4-FFF2-40B4-BE49-F238E27FC236}">
                <a16:creationId xmlns:a16="http://schemas.microsoft.com/office/drawing/2014/main" id="{A2CD3F04-2A18-482A-8CA5-812CF1956BB3}"/>
              </a:ext>
            </a:extLst>
          </p:cNvPr>
          <p:cNvSpPr>
            <a:spLocks xmlns:a="http://schemas.openxmlformats.org/drawingml/2006/main" noGrp="1"/>
          </p:cNvSpPr>
          <p:nvPr/>
        </p:nvSpPr>
        <p:spPr>
          <a:xfrm xmlns:a="http://schemas.openxmlformats.org/drawingml/2006/main">
            <a:off x="9753600" y="73152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28" b="1" i="0">
                <a:solidFill>
                  <a:srgbClr val="FFFFFF"/>
                </a:solidFill>
                <a:latin typeface="Arial"/>
                <a:ea typeface="Arial"/>
                <a:cs typeface="Arial"/>
              </a:defRPr>
            </a:pPr>
            <a:r>
              <a:rPr sz="1428" b="1" i="0">
                <a:solidFill>
                  <a:srgbClr val="FFFFFF"/>
                </a:solidFill>
                <a:latin typeface="Arial"/>
                <a:ea typeface="Arial"/>
                <a:cs typeface="Arial"/>
              </a:rPr>
              <a:t>5B</a:t>
            </a:r>
          </a:p>
        </p:txBody>
      </p:sp>
      <p:sp>
        <p:nvSpPr>
          <p:cNvPr id="255" name="svg_text_255">
            <a:extLst xmlns:a="http://schemas.openxmlformats.org/drawingml/2006/main">
              <a:ext uri="{FF2B5EF4-FFF2-40B4-BE49-F238E27FC236}">
                <a16:creationId xmlns:a16="http://schemas.microsoft.com/office/drawing/2014/main" id="{C5115407-09C0-4658-A95D-31BCAE0FA817}"/>
              </a:ext>
            </a:extLst>
          </p:cNvPr>
          <p:cNvSpPr>
            <a:spLocks xmlns:a="http://schemas.openxmlformats.org/drawingml/2006/main" noGrp="1"/>
          </p:cNvSpPr>
          <p:nvPr/>
        </p:nvSpPr>
        <p:spPr>
          <a:xfrm xmlns:a="http://schemas.openxmlformats.org/drawingml/2006/main">
            <a:off x="10334625" y="7274559"/>
            <a:ext cx="4183951" cy="3493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58" b="1" i="0">
                <a:solidFill>
                  <a:srgbClr val="17202A"/>
                </a:solidFill>
                <a:latin typeface="Arial"/>
                <a:ea typeface="Arial"/>
                <a:cs typeface="Arial"/>
              </a:defRPr>
            </a:pPr>
            <a:r>
              <a:rPr sz="1858" b="1" i="0">
                <a:solidFill>
                  <a:srgbClr val="17202A"/>
                </a:solidFill>
                <a:latin typeface="Arial"/>
                <a:ea typeface="Arial"/>
                <a:cs typeface="Arial"/>
              </a:rPr>
              <a:t>Channel-Aware Fine-Tuning</a:t>
            </a:r>
          </a:p>
        </p:txBody>
      </p:sp>
      <p:sp>
        <p:nvSpPr>
          <p:cNvPr id="256" name="svg_rect_256">
            <a:extLst xmlns:a="http://schemas.openxmlformats.org/drawingml/2006/main">
              <a:ext uri="{FF2B5EF4-FFF2-40B4-BE49-F238E27FC236}">
                <a16:creationId xmlns:a16="http://schemas.microsoft.com/office/drawing/2014/main" id="{8EAFE544-DC4B-4627-B689-FAB56CBC95A4}"/>
              </a:ext>
            </a:extLst>
          </p:cNvPr>
          <p:cNvSpPr>
            <a:spLocks xmlns:a="http://schemas.openxmlformats.org/drawingml/2006/main" noGrp="1"/>
          </p:cNvSpPr>
          <p:nvPr/>
        </p:nvSpPr>
        <p:spPr>
          <a:xfrm xmlns:a="http://schemas.openxmlformats.org/drawingml/2006/main">
            <a:off x="9786938" y="9414510"/>
            <a:ext cx="1238250" cy="792480"/>
          </a:xfrm>
          <a:prstGeom xmlns:a="http://schemas.openxmlformats.org/drawingml/2006/main" prst="roundRect">
            <a:avLst>
              <a:gd name="adj" fmla="val 9615"/>
            </a:avLst>
          </a:prstGeom>
          <a:solidFill xmlns:a="http://schemas.openxmlformats.org/drawingml/2006/main">
            <a:srgbClr val="EDF6FF"/>
          </a:solidFill>
          <a:ln xmlns:a="http://schemas.openxmlformats.org/drawingml/2006/main" w="24765">
            <a:solidFill>
              <a:srgbClr val="408FD2"/>
            </a:solidFill>
            <a:prstDash val="solid"/>
          </a:ln>
        </p:spPr>
      </p:sp>
      <p:sp>
        <p:nvSpPr>
          <p:cNvPr id="257" name="svg_text_257">
            <a:extLst xmlns:a="http://schemas.openxmlformats.org/drawingml/2006/main">
              <a:ext uri="{FF2B5EF4-FFF2-40B4-BE49-F238E27FC236}">
                <a16:creationId xmlns:a16="http://schemas.microsoft.com/office/drawing/2014/main" id="{4607F24C-9638-43E7-80A8-35E02D26EE7A}"/>
              </a:ext>
            </a:extLst>
          </p:cNvPr>
          <p:cNvSpPr>
            <a:spLocks xmlns:a="http://schemas.openxmlformats.org/drawingml/2006/main" noGrp="1"/>
          </p:cNvSpPr>
          <p:nvPr/>
        </p:nvSpPr>
        <p:spPr>
          <a:xfrm xmlns:a="http://schemas.openxmlformats.org/drawingml/2006/main">
            <a:off x="9830276" y="95129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Base Model</a:t>
            </a:r>
          </a:p>
        </p:txBody>
      </p:sp>
      <p:sp>
        <p:nvSpPr>
          <p:cNvPr id="258" name="svg_text_258">
            <a:extLst xmlns:a="http://schemas.openxmlformats.org/drawingml/2006/main">
              <a:ext uri="{FF2B5EF4-FFF2-40B4-BE49-F238E27FC236}">
                <a16:creationId xmlns:a16="http://schemas.microsoft.com/office/drawing/2014/main" id="{74E3C06E-FA44-478A-B47C-78F2D214DCCD}"/>
              </a:ext>
            </a:extLst>
          </p:cNvPr>
          <p:cNvSpPr>
            <a:spLocks xmlns:a="http://schemas.openxmlformats.org/drawingml/2006/main" noGrp="1"/>
          </p:cNvSpPr>
          <p:nvPr/>
        </p:nvSpPr>
        <p:spPr>
          <a:xfrm xmlns:a="http://schemas.openxmlformats.org/drawingml/2006/main">
            <a:off x="9830276" y="9751089"/>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Checkpoint</a:t>
            </a:r>
          </a:p>
        </p:txBody>
      </p:sp>
      <p:sp>
        <p:nvSpPr>
          <p:cNvPr id="259" name="svg_path_259">
            <a:extLst xmlns:a="http://schemas.openxmlformats.org/drawingml/2006/main">
              <a:ext uri="{FF2B5EF4-FFF2-40B4-BE49-F238E27FC236}">
                <a16:creationId xmlns:a16="http://schemas.microsoft.com/office/drawing/2014/main" id="{C562D224-9F7E-4975-B6C2-F0EA6A2F3DE3}"/>
              </a:ext>
            </a:extLst>
          </p:cNvPr>
          <p:cNvSpPr>
            <a:spLocks xmlns:a="http://schemas.openxmlformats.org/drawingml/2006/main" noGrp="1"/>
          </p:cNvSpPr>
          <p:nvPr/>
        </p:nvSpPr>
        <p:spPr>
          <a:xfrm xmlns:a="http://schemas.openxmlformats.org/drawingml/2006/main">
            <a:off x="11001375" y="9810750"/>
            <a:ext cx="333375" cy="9525"/>
          </a:xfrm>
          <a:custGeom xmlns:a="http://schemas.openxmlformats.org/drawingml/2006/main">
            <a:pathLst>
              <a:path w="333375" h="9525">
                <a:moveTo>
                  <a:pt x="0" y="0"/>
                </a:moveTo>
                <a:lnTo>
                  <a:pt x="333375" y="0"/>
                </a:lnTo>
              </a:path>
            </a:pathLst>
          </a:custGeom>
          <a:noFill xmlns:a="http://schemas.openxmlformats.org/drawingml/2006/main"/>
          <a:ln xmlns:a="http://schemas.openxmlformats.org/drawingml/2006/main" w="30956">
            <a:solidFill>
              <a:srgbClr val="2386D8"/>
            </a:solidFill>
            <a:prstDash val="solid"/>
          </a:ln>
        </p:spPr>
      </p:sp>
      <p:sp>
        <p:nvSpPr>
          <p:cNvPr id="260" name="svg_arrowhead_260">
            <a:extLst xmlns:a="http://schemas.openxmlformats.org/drawingml/2006/main">
              <a:ext uri="{FF2B5EF4-FFF2-40B4-BE49-F238E27FC236}">
                <a16:creationId xmlns:a16="http://schemas.microsoft.com/office/drawing/2014/main" id="{8C418E37-D9D7-4826-8ED4-7BD02A685226}"/>
              </a:ext>
            </a:extLst>
          </p:cNvPr>
          <p:cNvSpPr>
            <a:spLocks xmlns:a="http://schemas.openxmlformats.org/drawingml/2006/main" noGrp="1"/>
          </p:cNvSpPr>
          <p:nvPr/>
        </p:nvSpPr>
        <p:spPr>
          <a:xfrm xmlns:a="http://schemas.openxmlformats.org/drawingml/2006/main">
            <a:off x="11201400" y="9744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61" name="svg_rect_261">
            <a:extLst xmlns:a="http://schemas.openxmlformats.org/drawingml/2006/main">
              <a:ext uri="{FF2B5EF4-FFF2-40B4-BE49-F238E27FC236}">
                <a16:creationId xmlns:a16="http://schemas.microsoft.com/office/drawing/2014/main" id="{A13CE078-9D94-4CEF-AB67-B32360B3DC04}"/>
              </a:ext>
            </a:extLst>
          </p:cNvPr>
          <p:cNvSpPr>
            <a:spLocks xmlns:a="http://schemas.openxmlformats.org/drawingml/2006/main" noGrp="1"/>
          </p:cNvSpPr>
          <p:nvPr/>
        </p:nvSpPr>
        <p:spPr>
          <a:xfrm xmlns:a="http://schemas.openxmlformats.org/drawingml/2006/main">
            <a:off x="11334750" y="7905750"/>
            <a:ext cx="3476625" cy="4429125"/>
          </a:xfrm>
          <a:prstGeom xmlns:a="http://schemas.openxmlformats.org/drawingml/2006/main" prst="roundRect">
            <a:avLst>
              <a:gd name="adj" fmla="val 2192"/>
            </a:avLst>
          </a:prstGeom>
          <a:solidFill xmlns:a="http://schemas.openxmlformats.org/drawingml/2006/main">
            <a:srgbClr val="EDF6FF"/>
          </a:solidFill>
          <a:ln xmlns:a="http://schemas.openxmlformats.org/drawingml/2006/main" w="22289">
            <a:solidFill>
              <a:srgbClr val="527CA3"/>
            </a:solidFill>
            <a:prstDash val="dash"/>
          </a:ln>
        </p:spPr>
      </p:sp>
      <p:sp>
        <p:nvSpPr>
          <p:cNvPr id="262" name="svg_text_262">
            <a:extLst xmlns:a="http://schemas.openxmlformats.org/drawingml/2006/main">
              <a:ext uri="{FF2B5EF4-FFF2-40B4-BE49-F238E27FC236}">
                <a16:creationId xmlns:a16="http://schemas.microsoft.com/office/drawing/2014/main" id="{D1366268-1CD9-4246-8372-32313F3C0C43}"/>
              </a:ext>
            </a:extLst>
          </p:cNvPr>
          <p:cNvSpPr>
            <a:spLocks xmlns:a="http://schemas.openxmlformats.org/drawingml/2006/main" noGrp="1"/>
          </p:cNvSpPr>
          <p:nvPr/>
        </p:nvSpPr>
        <p:spPr>
          <a:xfrm xmlns:a="http://schemas.openxmlformats.org/drawingml/2006/main">
            <a:off x="10968681" y="7988964"/>
            <a:ext cx="4199237"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CHANNEL-AWARE FINE-TUNING BLOCK</a:t>
            </a:r>
          </a:p>
        </p:txBody>
      </p:sp>
      <p:sp>
        <p:nvSpPr>
          <p:cNvPr id="263" name="svg_rect_263">
            <a:extLst xmlns:a="http://schemas.openxmlformats.org/drawingml/2006/main">
              <a:ext uri="{FF2B5EF4-FFF2-40B4-BE49-F238E27FC236}">
                <a16:creationId xmlns:a16="http://schemas.microsoft.com/office/drawing/2014/main" id="{517084C7-BD3C-4BC0-BD8E-4BD7CED6DBE6}"/>
              </a:ext>
            </a:extLst>
          </p:cNvPr>
          <p:cNvSpPr>
            <a:spLocks xmlns:a="http://schemas.openxmlformats.org/drawingml/2006/main" noGrp="1"/>
          </p:cNvSpPr>
          <p:nvPr/>
        </p:nvSpPr>
        <p:spPr>
          <a:xfrm xmlns:a="http://schemas.openxmlformats.org/drawingml/2006/main">
            <a:off x="11958638" y="8419148"/>
            <a:ext cx="2228850" cy="544830"/>
          </a:xfrm>
          <a:prstGeom xmlns:a="http://schemas.openxmlformats.org/drawingml/2006/main" prst="roundRect">
            <a:avLst>
              <a:gd name="adj" fmla="val 13986"/>
            </a:avLst>
          </a:prstGeom>
          <a:solidFill xmlns:a="http://schemas.openxmlformats.org/drawingml/2006/main">
            <a:srgbClr val="EDF6FF"/>
          </a:solidFill>
          <a:ln xmlns:a="http://schemas.openxmlformats.org/drawingml/2006/main" w="24765">
            <a:solidFill>
              <a:srgbClr val="408FD2"/>
            </a:solidFill>
            <a:prstDash val="solid"/>
          </a:ln>
        </p:spPr>
      </p:sp>
      <p:sp>
        <p:nvSpPr>
          <p:cNvPr id="264" name="svg_text_264">
            <a:extLst xmlns:a="http://schemas.openxmlformats.org/drawingml/2006/main">
              <a:ext uri="{FF2B5EF4-FFF2-40B4-BE49-F238E27FC236}">
                <a16:creationId xmlns:a16="http://schemas.microsoft.com/office/drawing/2014/main" id="{512399E9-EF9E-4BAE-8A62-7AA46B2B6028}"/>
              </a:ext>
            </a:extLst>
          </p:cNvPr>
          <p:cNvSpPr>
            <a:spLocks xmlns:a="http://schemas.openxmlformats.org/drawingml/2006/main" noGrp="1"/>
          </p:cNvSpPr>
          <p:nvPr/>
        </p:nvSpPr>
        <p:spPr>
          <a:xfrm xmlns:a="http://schemas.openxmlformats.org/drawingml/2006/main">
            <a:off x="12036647" y="8465214"/>
            <a:ext cx="2072831"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7539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Random RVQ-Depth Sampling</a:t>
            </a:r>
          </a:p>
        </p:txBody>
      </p:sp>
      <p:sp>
        <p:nvSpPr>
          <p:cNvPr id="265" name="svg_text_265">
            <a:extLst xmlns:a="http://schemas.openxmlformats.org/drawingml/2006/main">
              <a:ext uri="{FF2B5EF4-FFF2-40B4-BE49-F238E27FC236}">
                <a16:creationId xmlns:a16="http://schemas.microsoft.com/office/drawing/2014/main" id="{BDF20AC4-CE24-43D3-8CF0-36D02371F392}"/>
              </a:ext>
            </a:extLst>
          </p:cNvPr>
          <p:cNvSpPr>
            <a:spLocks xmlns:a="http://schemas.openxmlformats.org/drawingml/2006/main" noGrp="1"/>
          </p:cNvSpPr>
          <p:nvPr/>
        </p:nvSpPr>
        <p:spPr>
          <a:xfrm xmlns:a="http://schemas.openxmlformats.org/drawingml/2006/main">
            <a:off x="12036647" y="8706803"/>
            <a:ext cx="2072831"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training augmentation only</a:t>
            </a:r>
          </a:p>
        </p:txBody>
      </p:sp>
      <p:sp>
        <p:nvSpPr>
          <p:cNvPr id="266" name="svg_path_266">
            <a:extLst xmlns:a="http://schemas.openxmlformats.org/drawingml/2006/main">
              <a:ext uri="{FF2B5EF4-FFF2-40B4-BE49-F238E27FC236}">
                <a16:creationId xmlns:a16="http://schemas.microsoft.com/office/drawing/2014/main" id="{F23D98D1-6F5B-4B4D-8937-01A4D239B5AF}"/>
              </a:ext>
            </a:extLst>
          </p:cNvPr>
          <p:cNvSpPr>
            <a:spLocks xmlns:a="http://schemas.openxmlformats.org/drawingml/2006/main" noGrp="1"/>
          </p:cNvSpPr>
          <p:nvPr/>
        </p:nvSpPr>
        <p:spPr>
          <a:xfrm xmlns:a="http://schemas.openxmlformats.org/drawingml/2006/main">
            <a:off x="11906250" y="8953500"/>
            <a:ext cx="1162050" cy="285750"/>
          </a:xfrm>
          <a:custGeom xmlns:a="http://schemas.openxmlformats.org/drawingml/2006/main">
            <a:pathLst>
              <a:path w="1162050" h="285750">
                <a:moveTo>
                  <a:pt x="1162050" y="0"/>
                </a:moveTo>
                <a:lnTo>
                  <a:pt x="1162050" y="285750"/>
                </a:lnTo>
                <a:lnTo>
                  <a:pt x="0" y="285750"/>
                </a:lnTo>
              </a:path>
            </a:pathLst>
          </a:custGeom>
          <a:noFill xmlns:a="http://schemas.openxmlformats.org/drawingml/2006/main"/>
          <a:ln xmlns:a="http://schemas.openxmlformats.org/drawingml/2006/main" w="24765">
            <a:solidFill>
              <a:srgbClr val="2386D8"/>
            </a:solidFill>
            <a:prstDash val="solid"/>
          </a:ln>
        </p:spPr>
      </p:sp>
      <p:sp>
        <p:nvSpPr>
          <p:cNvPr id="267" name="svg_arrowhead_267">
            <a:extLst xmlns:a="http://schemas.openxmlformats.org/drawingml/2006/main">
              <a:ext uri="{FF2B5EF4-FFF2-40B4-BE49-F238E27FC236}">
                <a16:creationId xmlns:a16="http://schemas.microsoft.com/office/drawing/2014/main" id="{0DDEDC6C-15C9-4335-81F6-DBF09DDBB3DD}"/>
              </a:ext>
            </a:extLst>
          </p:cNvPr>
          <p:cNvSpPr>
            <a:spLocks xmlns:a="http://schemas.openxmlformats.org/drawingml/2006/main" noGrp="1"/>
          </p:cNvSpPr>
          <p:nvPr/>
        </p:nvSpPr>
        <p:spPr>
          <a:xfrm xmlns:a="http://schemas.openxmlformats.org/drawingml/2006/main">
            <a:off x="11906250" y="9172575"/>
            <a:ext cx="133350" cy="133350"/>
          </a:xfrm>
          <a:custGeom xmlns:a="http://schemas.openxmlformats.org/drawingml/2006/main">
            <a:pathLst>
              <a:path w="133350" h="133350">
                <a:moveTo>
                  <a:pt x="0" y="66675"/>
                </a:moveTo>
                <a:lnTo>
                  <a:pt x="133350" y="0"/>
                </a:lnTo>
                <a:lnTo>
                  <a:pt x="133350" y="13335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68" name="svg_rect_268">
            <a:extLst xmlns:a="http://schemas.openxmlformats.org/drawingml/2006/main">
              <a:ext uri="{FF2B5EF4-FFF2-40B4-BE49-F238E27FC236}">
                <a16:creationId xmlns:a16="http://schemas.microsoft.com/office/drawing/2014/main" id="{764CCE46-6A3C-4CE5-9CF4-687D41208FB6}"/>
              </a:ext>
            </a:extLst>
          </p:cNvPr>
          <p:cNvSpPr>
            <a:spLocks xmlns:a="http://schemas.openxmlformats.org/drawingml/2006/main" noGrp="1"/>
          </p:cNvSpPr>
          <p:nvPr/>
        </p:nvSpPr>
        <p:spPr>
          <a:xfrm xmlns:a="http://schemas.openxmlformats.org/drawingml/2006/main">
            <a:off x="11502390" y="9227820"/>
            <a:ext cx="118872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69" name="svg_text_269">
            <a:extLst xmlns:a="http://schemas.openxmlformats.org/drawingml/2006/main">
              <a:ext uri="{FF2B5EF4-FFF2-40B4-BE49-F238E27FC236}">
                <a16:creationId xmlns:a16="http://schemas.microsoft.com/office/drawing/2014/main" id="{E8B8024D-6B33-49E5-B375-564724AD7B62}"/>
              </a:ext>
            </a:extLst>
          </p:cNvPr>
          <p:cNvSpPr>
            <a:spLocks xmlns:a="http://schemas.openxmlformats.org/drawingml/2006/main" noGrp="1"/>
          </p:cNvSpPr>
          <p:nvPr/>
        </p:nvSpPr>
        <p:spPr>
          <a:xfrm xmlns:a="http://schemas.openxmlformats.org/drawingml/2006/main">
            <a:off x="11543995" y="9293889"/>
            <a:ext cx="110551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027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Clean Indices</a:t>
            </a:r>
          </a:p>
        </p:txBody>
      </p:sp>
      <p:sp>
        <p:nvSpPr>
          <p:cNvPr id="270" name="svg_text_270">
            <a:extLst xmlns:a="http://schemas.openxmlformats.org/drawingml/2006/main">
              <a:ext uri="{FF2B5EF4-FFF2-40B4-BE49-F238E27FC236}">
                <a16:creationId xmlns:a16="http://schemas.microsoft.com/office/drawing/2014/main" id="{1F92394B-C15C-43DB-9A84-6898206AA25D}"/>
              </a:ext>
            </a:extLst>
          </p:cNvPr>
          <p:cNvSpPr>
            <a:spLocks xmlns:a="http://schemas.openxmlformats.org/drawingml/2006/main" noGrp="1"/>
          </p:cNvSpPr>
          <p:nvPr/>
        </p:nvSpPr>
        <p:spPr>
          <a:xfrm xmlns:a="http://schemas.openxmlformats.org/drawingml/2006/main">
            <a:off x="11543995" y="9518009"/>
            <a:ext cx="1105510"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i₁,i₂,i₃</a:t>
            </a:r>
          </a:p>
        </p:txBody>
      </p:sp>
      <p:sp>
        <p:nvSpPr>
          <p:cNvPr id="271" name="svg_path_271">
            <a:extLst xmlns:a="http://schemas.openxmlformats.org/drawingml/2006/main">
              <a:ext uri="{FF2B5EF4-FFF2-40B4-BE49-F238E27FC236}">
                <a16:creationId xmlns:a16="http://schemas.microsoft.com/office/drawing/2014/main" id="{0409056A-93AD-4DAD-A93A-0599B9D226DD}"/>
              </a:ext>
            </a:extLst>
          </p:cNvPr>
          <p:cNvSpPr>
            <a:spLocks xmlns:a="http://schemas.openxmlformats.org/drawingml/2006/main" noGrp="1"/>
          </p:cNvSpPr>
          <p:nvPr/>
        </p:nvSpPr>
        <p:spPr>
          <a:xfrm xmlns:a="http://schemas.openxmlformats.org/drawingml/2006/main">
            <a:off x="12668250" y="9525000"/>
            <a:ext cx="285750" cy="9525"/>
          </a:xfrm>
          <a:custGeom xmlns:a="http://schemas.openxmlformats.org/drawingml/2006/main">
            <a:pathLst>
              <a:path w="285750" h="9525">
                <a:moveTo>
                  <a:pt x="0" y="0"/>
                </a:moveTo>
                <a:lnTo>
                  <a:pt x="285750" y="0"/>
                </a:lnTo>
              </a:path>
            </a:pathLst>
          </a:custGeom>
          <a:noFill xmlns:a="http://schemas.openxmlformats.org/drawingml/2006/main"/>
          <a:ln xmlns:a="http://schemas.openxmlformats.org/drawingml/2006/main" w="24765">
            <a:solidFill>
              <a:srgbClr val="2386D8"/>
            </a:solidFill>
            <a:prstDash val="solid"/>
          </a:ln>
        </p:spPr>
      </p:sp>
      <p:sp>
        <p:nvSpPr>
          <p:cNvPr id="272" name="svg_arrowhead_272">
            <a:extLst xmlns:a="http://schemas.openxmlformats.org/drawingml/2006/main">
              <a:ext uri="{FF2B5EF4-FFF2-40B4-BE49-F238E27FC236}">
                <a16:creationId xmlns:a16="http://schemas.microsoft.com/office/drawing/2014/main" id="{5340175F-3A58-4525-ADDE-2BB60CBF6C12}"/>
              </a:ext>
            </a:extLst>
          </p:cNvPr>
          <p:cNvSpPr>
            <a:spLocks xmlns:a="http://schemas.openxmlformats.org/drawingml/2006/main" noGrp="1"/>
          </p:cNvSpPr>
          <p:nvPr/>
        </p:nvSpPr>
        <p:spPr>
          <a:xfrm xmlns:a="http://schemas.openxmlformats.org/drawingml/2006/main">
            <a:off x="12820650" y="9458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73" name="svg_rect_273">
            <a:extLst xmlns:a="http://schemas.openxmlformats.org/drawingml/2006/main">
              <a:ext uri="{FF2B5EF4-FFF2-40B4-BE49-F238E27FC236}">
                <a16:creationId xmlns:a16="http://schemas.microsoft.com/office/drawing/2014/main" id="{3962E8B6-8C03-4546-B9C0-576CD1880CF8}"/>
              </a:ext>
            </a:extLst>
          </p:cNvPr>
          <p:cNvSpPr>
            <a:spLocks xmlns:a="http://schemas.openxmlformats.org/drawingml/2006/main" noGrp="1"/>
          </p:cNvSpPr>
          <p:nvPr/>
        </p:nvSpPr>
        <p:spPr>
          <a:xfrm xmlns:a="http://schemas.openxmlformats.org/drawingml/2006/main">
            <a:off x="12930188" y="9227820"/>
            <a:ext cx="123825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74" name="svg_text_274">
            <a:extLst xmlns:a="http://schemas.openxmlformats.org/drawingml/2006/main">
              <a:ext uri="{FF2B5EF4-FFF2-40B4-BE49-F238E27FC236}">
                <a16:creationId xmlns:a16="http://schemas.microsoft.com/office/drawing/2014/main" id="{F398E2AD-4449-4060-8009-54023022D372}"/>
              </a:ext>
            </a:extLst>
          </p:cNvPr>
          <p:cNvSpPr>
            <a:spLocks xmlns:a="http://schemas.openxmlformats.org/drawingml/2006/main" noGrp="1"/>
          </p:cNvSpPr>
          <p:nvPr/>
        </p:nvSpPr>
        <p:spPr>
          <a:xfrm xmlns:a="http://schemas.openxmlformats.org/drawingml/2006/main">
            <a:off x="12973526" y="92843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Decoder Dθ</a:t>
            </a:r>
          </a:p>
        </p:txBody>
      </p:sp>
      <p:sp>
        <p:nvSpPr>
          <p:cNvPr id="275" name="svg_text_275">
            <a:extLst xmlns:a="http://schemas.openxmlformats.org/drawingml/2006/main">
              <a:ext uri="{FF2B5EF4-FFF2-40B4-BE49-F238E27FC236}">
                <a16:creationId xmlns:a16="http://schemas.microsoft.com/office/drawing/2014/main" id="{E6FEEE53-856E-43C4-9BEF-776637A143FC}"/>
              </a:ext>
            </a:extLst>
          </p:cNvPr>
          <p:cNvSpPr>
            <a:spLocks xmlns:a="http://schemas.openxmlformats.org/drawingml/2006/main" noGrp="1"/>
          </p:cNvSpPr>
          <p:nvPr/>
        </p:nvSpPr>
        <p:spPr>
          <a:xfrm xmlns:a="http://schemas.openxmlformats.org/drawingml/2006/main">
            <a:off x="12973526" y="9553484"/>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clean pass</a:t>
            </a:r>
          </a:p>
        </p:txBody>
      </p:sp>
      <p:sp>
        <p:nvSpPr>
          <p:cNvPr id="276" name="svg_path_276">
            <a:extLst xmlns:a="http://schemas.openxmlformats.org/drawingml/2006/main">
              <a:ext uri="{FF2B5EF4-FFF2-40B4-BE49-F238E27FC236}">
                <a16:creationId xmlns:a16="http://schemas.microsoft.com/office/drawing/2014/main" id="{B894AC3D-B8AD-47C3-99C5-E5F66F25C25C}"/>
              </a:ext>
            </a:extLst>
          </p:cNvPr>
          <p:cNvSpPr>
            <a:spLocks xmlns:a="http://schemas.openxmlformats.org/drawingml/2006/main" noGrp="1"/>
          </p:cNvSpPr>
          <p:nvPr/>
        </p:nvSpPr>
        <p:spPr>
          <a:xfrm xmlns:a="http://schemas.openxmlformats.org/drawingml/2006/main">
            <a:off x="14144625" y="95250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24765">
            <a:solidFill>
              <a:srgbClr val="2386D8"/>
            </a:solidFill>
            <a:prstDash val="solid"/>
          </a:ln>
        </p:spPr>
      </p:sp>
      <p:sp>
        <p:nvSpPr>
          <p:cNvPr id="277" name="svg_arrowhead_277">
            <a:extLst xmlns:a="http://schemas.openxmlformats.org/drawingml/2006/main">
              <a:ext uri="{FF2B5EF4-FFF2-40B4-BE49-F238E27FC236}">
                <a16:creationId xmlns:a16="http://schemas.microsoft.com/office/drawing/2014/main" id="{443841C4-06C4-4208-8979-B1F15E63EB7C}"/>
              </a:ext>
            </a:extLst>
          </p:cNvPr>
          <p:cNvSpPr>
            <a:spLocks xmlns:a="http://schemas.openxmlformats.org/drawingml/2006/main" noGrp="1"/>
          </p:cNvSpPr>
          <p:nvPr/>
        </p:nvSpPr>
        <p:spPr>
          <a:xfrm xmlns:a="http://schemas.openxmlformats.org/drawingml/2006/main">
            <a:off x="14154150" y="9458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78" name="svg_rect_278">
            <a:extLst xmlns:a="http://schemas.openxmlformats.org/drawingml/2006/main">
              <a:ext uri="{FF2B5EF4-FFF2-40B4-BE49-F238E27FC236}">
                <a16:creationId xmlns:a16="http://schemas.microsoft.com/office/drawing/2014/main" id="{AFAB0BC9-8B19-4ADC-A959-542DC900DF85}"/>
              </a:ext>
            </a:extLst>
          </p:cNvPr>
          <p:cNvSpPr>
            <a:spLocks xmlns:a="http://schemas.openxmlformats.org/drawingml/2006/main" noGrp="1"/>
          </p:cNvSpPr>
          <p:nvPr/>
        </p:nvSpPr>
        <p:spPr>
          <a:xfrm xmlns:a="http://schemas.openxmlformats.org/drawingml/2006/main">
            <a:off x="14278928" y="9227820"/>
            <a:ext cx="445770" cy="594360"/>
          </a:xfrm>
          <a:prstGeom xmlns:a="http://schemas.openxmlformats.org/drawingml/2006/main" prst="roundRect">
            <a:avLst>
              <a:gd name="adj" fmla="val 17094"/>
            </a:avLst>
          </a:prstGeom>
          <a:solidFill xmlns:a="http://schemas.openxmlformats.org/drawingml/2006/main">
            <a:srgbClr val="EDF6FF"/>
          </a:solidFill>
          <a:ln xmlns:a="http://schemas.openxmlformats.org/drawingml/2006/main" w="24765">
            <a:solidFill>
              <a:srgbClr val="408FD2"/>
            </a:solidFill>
            <a:prstDash val="solid"/>
          </a:ln>
        </p:spPr>
      </p:sp>
      <p:sp>
        <p:nvSpPr>
          <p:cNvPr id="279" name="svg_text_279">
            <a:extLst xmlns:a="http://schemas.openxmlformats.org/drawingml/2006/main">
              <a:ext uri="{FF2B5EF4-FFF2-40B4-BE49-F238E27FC236}">
                <a16:creationId xmlns:a16="http://schemas.microsoft.com/office/drawing/2014/main" id="{D106664C-2F86-465A-AB8E-55A2BD8BC68C}"/>
              </a:ext>
            </a:extLst>
          </p:cNvPr>
          <p:cNvSpPr>
            <a:spLocks xmlns:a="http://schemas.openxmlformats.org/drawingml/2006/main" noGrp="1"/>
          </p:cNvSpPr>
          <p:nvPr/>
        </p:nvSpPr>
        <p:spPr>
          <a:xfrm xmlns:a="http://schemas.openxmlformats.org/drawingml/2006/main">
            <a:off x="14317028" y="9343934"/>
            <a:ext cx="3695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Clean</a:t>
            </a:r>
          </a:p>
        </p:txBody>
      </p:sp>
      <p:sp>
        <p:nvSpPr>
          <p:cNvPr id="280" name="svg_text_280">
            <a:extLst xmlns:a="http://schemas.openxmlformats.org/drawingml/2006/main">
              <a:ext uri="{FF2B5EF4-FFF2-40B4-BE49-F238E27FC236}">
                <a16:creationId xmlns:a16="http://schemas.microsoft.com/office/drawing/2014/main" id="{4A32921C-E275-4833-92BA-A19829F77896}"/>
              </a:ext>
            </a:extLst>
          </p:cNvPr>
          <p:cNvSpPr>
            <a:spLocks xmlns:a="http://schemas.openxmlformats.org/drawingml/2006/main" noGrp="1"/>
          </p:cNvSpPr>
          <p:nvPr/>
        </p:nvSpPr>
        <p:spPr>
          <a:xfrm xmlns:a="http://schemas.openxmlformats.org/drawingml/2006/main">
            <a:off x="14317028" y="9515384"/>
            <a:ext cx="36957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Mel</a:t>
            </a:r>
          </a:p>
        </p:txBody>
      </p:sp>
      <p:sp>
        <p:nvSpPr>
          <p:cNvPr id="281" name="svg_path_281">
            <a:extLst xmlns:a="http://schemas.openxmlformats.org/drawingml/2006/main">
              <a:ext uri="{FF2B5EF4-FFF2-40B4-BE49-F238E27FC236}">
                <a16:creationId xmlns:a16="http://schemas.microsoft.com/office/drawing/2014/main" id="{25ED35AE-71E1-4599-8E90-B3AE167F6CD0}"/>
              </a:ext>
            </a:extLst>
          </p:cNvPr>
          <p:cNvSpPr>
            <a:spLocks xmlns:a="http://schemas.openxmlformats.org/drawingml/2006/main" noGrp="1"/>
          </p:cNvSpPr>
          <p:nvPr/>
        </p:nvSpPr>
        <p:spPr>
          <a:xfrm xmlns:a="http://schemas.openxmlformats.org/drawingml/2006/main">
            <a:off x="12096750" y="9810750"/>
            <a:ext cx="9525" cy="476250"/>
          </a:xfrm>
          <a:custGeom xmlns:a="http://schemas.openxmlformats.org/drawingml/2006/main">
            <a:pathLst>
              <a:path w="9525" h="476250">
                <a:moveTo>
                  <a:pt x="0" y="0"/>
                </a:moveTo>
                <a:lnTo>
                  <a:pt x="0" y="476250"/>
                </a:lnTo>
              </a:path>
            </a:pathLst>
          </a:custGeom>
          <a:noFill xmlns:a="http://schemas.openxmlformats.org/drawingml/2006/main"/>
          <a:ln xmlns:a="http://schemas.openxmlformats.org/drawingml/2006/main" w="24765">
            <a:solidFill>
              <a:srgbClr val="2386D8"/>
            </a:solidFill>
            <a:prstDash val="solid"/>
          </a:ln>
        </p:spPr>
      </p:sp>
      <p:sp>
        <p:nvSpPr>
          <p:cNvPr id="282" name="svg_arrowhead_282">
            <a:extLst xmlns:a="http://schemas.openxmlformats.org/drawingml/2006/main">
              <a:ext uri="{FF2B5EF4-FFF2-40B4-BE49-F238E27FC236}">
                <a16:creationId xmlns:a16="http://schemas.microsoft.com/office/drawing/2014/main" id="{5CACCC05-02B7-45D6-83C4-D86BDBA8B5FD}"/>
              </a:ext>
            </a:extLst>
          </p:cNvPr>
          <p:cNvSpPr>
            <a:spLocks xmlns:a="http://schemas.openxmlformats.org/drawingml/2006/main" noGrp="1"/>
          </p:cNvSpPr>
          <p:nvPr/>
        </p:nvSpPr>
        <p:spPr>
          <a:xfrm xmlns:a="http://schemas.openxmlformats.org/drawingml/2006/main">
            <a:off x="12030075" y="10153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83" name="svg_rect_283">
            <a:extLst xmlns:a="http://schemas.openxmlformats.org/drawingml/2006/main">
              <a:ext uri="{FF2B5EF4-FFF2-40B4-BE49-F238E27FC236}">
                <a16:creationId xmlns:a16="http://schemas.microsoft.com/office/drawing/2014/main" id="{144424C0-830E-4B0F-B191-F68D4639814B}"/>
              </a:ext>
            </a:extLst>
          </p:cNvPr>
          <p:cNvSpPr>
            <a:spLocks xmlns:a="http://schemas.openxmlformats.org/drawingml/2006/main" noGrp="1"/>
          </p:cNvSpPr>
          <p:nvPr/>
        </p:nvSpPr>
        <p:spPr>
          <a:xfrm xmlns:a="http://schemas.openxmlformats.org/drawingml/2006/main">
            <a:off x="11497628" y="10275570"/>
            <a:ext cx="143637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84" name="svg_text_284">
            <a:extLst xmlns:a="http://schemas.openxmlformats.org/drawingml/2006/main">
              <a:ext uri="{FF2B5EF4-FFF2-40B4-BE49-F238E27FC236}">
                <a16:creationId xmlns:a16="http://schemas.microsoft.com/office/drawing/2014/main" id="{967152C1-8FA9-4B6F-9A66-2BC68710AF21}"/>
              </a:ext>
            </a:extLst>
          </p:cNvPr>
          <p:cNvSpPr>
            <a:spLocks xmlns:a="http://schemas.openxmlformats.org/drawingml/2006/main" noGrp="1"/>
          </p:cNvSpPr>
          <p:nvPr/>
        </p:nvSpPr>
        <p:spPr>
          <a:xfrm xmlns:a="http://schemas.openxmlformats.org/drawingml/2006/main">
            <a:off x="11547900" y="10417839"/>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79268"/>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Index Perturbation</a:t>
            </a:r>
          </a:p>
        </p:txBody>
      </p:sp>
      <p:sp>
        <p:nvSpPr>
          <p:cNvPr id="285" name="svg_path_285">
            <a:extLst xmlns:a="http://schemas.openxmlformats.org/drawingml/2006/main">
              <a:ext uri="{FF2B5EF4-FFF2-40B4-BE49-F238E27FC236}">
                <a16:creationId xmlns:a16="http://schemas.microsoft.com/office/drawing/2014/main" id="{A03CB859-C471-4884-BD47-DB81D4FFF390}"/>
              </a:ext>
            </a:extLst>
          </p:cNvPr>
          <p:cNvSpPr>
            <a:spLocks xmlns:a="http://schemas.openxmlformats.org/drawingml/2006/main" noGrp="1"/>
          </p:cNvSpPr>
          <p:nvPr/>
        </p:nvSpPr>
        <p:spPr>
          <a:xfrm xmlns:a="http://schemas.openxmlformats.org/drawingml/2006/main">
            <a:off x="12906375" y="105727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24765">
            <a:solidFill>
              <a:srgbClr val="2386D8"/>
            </a:solidFill>
            <a:prstDash val="solid"/>
          </a:ln>
        </p:spPr>
      </p:sp>
      <p:sp>
        <p:nvSpPr>
          <p:cNvPr id="286" name="svg_arrowhead_286">
            <a:extLst xmlns:a="http://schemas.openxmlformats.org/drawingml/2006/main">
              <a:ext uri="{FF2B5EF4-FFF2-40B4-BE49-F238E27FC236}">
                <a16:creationId xmlns:a16="http://schemas.microsoft.com/office/drawing/2014/main" id="{43A68C21-1D81-4A67-91BF-3EA19D11CDAF}"/>
              </a:ext>
            </a:extLst>
          </p:cNvPr>
          <p:cNvSpPr>
            <a:spLocks xmlns:a="http://schemas.openxmlformats.org/drawingml/2006/main" noGrp="1"/>
          </p:cNvSpPr>
          <p:nvPr/>
        </p:nvSpPr>
        <p:spPr>
          <a:xfrm xmlns:a="http://schemas.openxmlformats.org/drawingml/2006/main">
            <a:off x="13011150" y="105060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87" name="svg_rect_287">
            <a:extLst xmlns:a="http://schemas.openxmlformats.org/drawingml/2006/main">
              <a:ext uri="{FF2B5EF4-FFF2-40B4-BE49-F238E27FC236}">
                <a16:creationId xmlns:a16="http://schemas.microsoft.com/office/drawing/2014/main" id="{D6B4FC74-3A13-4D12-A72C-B0E2B42865FD}"/>
              </a:ext>
            </a:extLst>
          </p:cNvPr>
          <p:cNvSpPr>
            <a:spLocks xmlns:a="http://schemas.openxmlformats.org/drawingml/2006/main" noGrp="1"/>
          </p:cNvSpPr>
          <p:nvPr/>
        </p:nvSpPr>
        <p:spPr>
          <a:xfrm xmlns:a="http://schemas.openxmlformats.org/drawingml/2006/main">
            <a:off x="13119735" y="10275570"/>
            <a:ext cx="128778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88" name="svg_text_288">
            <a:extLst xmlns:a="http://schemas.openxmlformats.org/drawingml/2006/main">
              <a:ext uri="{FF2B5EF4-FFF2-40B4-BE49-F238E27FC236}">
                <a16:creationId xmlns:a16="http://schemas.microsoft.com/office/drawing/2014/main" id="{FB1228ED-7DAD-475E-8766-CB3F2F3E53D5}"/>
              </a:ext>
            </a:extLst>
          </p:cNvPr>
          <p:cNvSpPr>
            <a:spLocks xmlns:a="http://schemas.openxmlformats.org/drawingml/2006/main" noGrp="1"/>
          </p:cNvSpPr>
          <p:nvPr/>
        </p:nvSpPr>
        <p:spPr>
          <a:xfrm xmlns:a="http://schemas.openxmlformats.org/drawingml/2006/main">
            <a:off x="13164807" y="10322589"/>
            <a:ext cx="1197635"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Perturbed</a:t>
            </a:r>
          </a:p>
        </p:txBody>
      </p:sp>
      <p:sp>
        <p:nvSpPr>
          <p:cNvPr id="289" name="svg_text_289">
            <a:extLst xmlns:a="http://schemas.openxmlformats.org/drawingml/2006/main">
              <a:ext uri="{FF2B5EF4-FFF2-40B4-BE49-F238E27FC236}">
                <a16:creationId xmlns:a16="http://schemas.microsoft.com/office/drawing/2014/main" id="{BEA74B01-2639-4456-86CB-A0557ED091D6}"/>
              </a:ext>
            </a:extLst>
          </p:cNvPr>
          <p:cNvSpPr>
            <a:spLocks xmlns:a="http://schemas.openxmlformats.org/drawingml/2006/main" noGrp="1"/>
          </p:cNvSpPr>
          <p:nvPr/>
        </p:nvSpPr>
        <p:spPr>
          <a:xfrm xmlns:a="http://schemas.openxmlformats.org/drawingml/2006/main">
            <a:off x="13164807" y="10546813"/>
            <a:ext cx="1197635"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ĩ₁,ĩ₂,ĩ₃</a:t>
            </a:r>
          </a:p>
        </p:txBody>
      </p:sp>
      <p:sp>
        <p:nvSpPr>
          <p:cNvPr id="290" name="svg_path_290">
            <a:extLst xmlns:a="http://schemas.openxmlformats.org/drawingml/2006/main">
              <a:ext uri="{FF2B5EF4-FFF2-40B4-BE49-F238E27FC236}">
                <a16:creationId xmlns:a16="http://schemas.microsoft.com/office/drawing/2014/main" id="{7BBC3268-784A-49D7-8589-A5E5DB22F63A}"/>
              </a:ext>
            </a:extLst>
          </p:cNvPr>
          <p:cNvSpPr>
            <a:spLocks xmlns:a="http://schemas.openxmlformats.org/drawingml/2006/main" noGrp="1"/>
          </p:cNvSpPr>
          <p:nvPr/>
        </p:nvSpPr>
        <p:spPr>
          <a:xfrm xmlns:a="http://schemas.openxmlformats.org/drawingml/2006/main">
            <a:off x="13763625" y="10858500"/>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24765">
            <a:solidFill>
              <a:srgbClr val="2386D8"/>
            </a:solidFill>
            <a:prstDash val="solid"/>
          </a:ln>
        </p:spPr>
      </p:sp>
      <p:sp>
        <p:nvSpPr>
          <p:cNvPr id="291" name="svg_arrowhead_291">
            <a:extLst xmlns:a="http://schemas.openxmlformats.org/drawingml/2006/main">
              <a:ext uri="{FF2B5EF4-FFF2-40B4-BE49-F238E27FC236}">
                <a16:creationId xmlns:a16="http://schemas.microsoft.com/office/drawing/2014/main" id="{6F246288-CBA7-43ED-86F5-01E6E3147DAE}"/>
              </a:ext>
            </a:extLst>
          </p:cNvPr>
          <p:cNvSpPr>
            <a:spLocks xmlns:a="http://schemas.openxmlformats.org/drawingml/2006/main" noGrp="1"/>
          </p:cNvSpPr>
          <p:nvPr/>
        </p:nvSpPr>
        <p:spPr>
          <a:xfrm xmlns:a="http://schemas.openxmlformats.org/drawingml/2006/main">
            <a:off x="13696950" y="1101090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92" name="svg_rect_292">
            <a:extLst xmlns:a="http://schemas.openxmlformats.org/drawingml/2006/main">
              <a:ext uri="{FF2B5EF4-FFF2-40B4-BE49-F238E27FC236}">
                <a16:creationId xmlns:a16="http://schemas.microsoft.com/office/drawing/2014/main" id="{B7E197F8-0BB8-4D45-8786-CD47B3F45B38}"/>
              </a:ext>
            </a:extLst>
          </p:cNvPr>
          <p:cNvSpPr>
            <a:spLocks xmlns:a="http://schemas.openxmlformats.org/drawingml/2006/main" noGrp="1"/>
          </p:cNvSpPr>
          <p:nvPr/>
        </p:nvSpPr>
        <p:spPr>
          <a:xfrm xmlns:a="http://schemas.openxmlformats.org/drawingml/2006/main">
            <a:off x="13120688" y="11132820"/>
            <a:ext cx="1238250" cy="594360"/>
          </a:xfrm>
          <a:prstGeom xmlns:a="http://schemas.openxmlformats.org/drawingml/2006/main" prst="roundRect">
            <a:avLst>
              <a:gd name="adj" fmla="val 12821"/>
            </a:avLst>
          </a:prstGeom>
          <a:solidFill xmlns:a="http://schemas.openxmlformats.org/drawingml/2006/main">
            <a:srgbClr val="EDF6FF"/>
          </a:solidFill>
          <a:ln xmlns:a="http://schemas.openxmlformats.org/drawingml/2006/main" w="24765">
            <a:solidFill>
              <a:srgbClr val="408FD2"/>
            </a:solidFill>
            <a:prstDash val="solid"/>
          </a:ln>
        </p:spPr>
      </p:sp>
      <p:sp>
        <p:nvSpPr>
          <p:cNvPr id="293" name="svg_text_293">
            <a:extLst xmlns:a="http://schemas.openxmlformats.org/drawingml/2006/main">
              <a:ext uri="{FF2B5EF4-FFF2-40B4-BE49-F238E27FC236}">
                <a16:creationId xmlns:a16="http://schemas.microsoft.com/office/drawing/2014/main" id="{488C8E56-4FE8-473B-B258-B28C35A7D4DF}"/>
              </a:ext>
            </a:extLst>
          </p:cNvPr>
          <p:cNvSpPr>
            <a:spLocks xmlns:a="http://schemas.openxmlformats.org/drawingml/2006/main" noGrp="1"/>
          </p:cNvSpPr>
          <p:nvPr/>
        </p:nvSpPr>
        <p:spPr>
          <a:xfrm xmlns:a="http://schemas.openxmlformats.org/drawingml/2006/main">
            <a:off x="13164026" y="1118936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Decoder Dθ</a:t>
            </a:r>
          </a:p>
        </p:txBody>
      </p:sp>
      <p:sp>
        <p:nvSpPr>
          <p:cNvPr id="294" name="svg_text_294">
            <a:extLst xmlns:a="http://schemas.openxmlformats.org/drawingml/2006/main">
              <a:ext uri="{FF2B5EF4-FFF2-40B4-BE49-F238E27FC236}">
                <a16:creationId xmlns:a16="http://schemas.microsoft.com/office/drawing/2014/main" id="{4FC22CB0-9AEE-4340-A57E-87469ECAF9FB}"/>
              </a:ext>
            </a:extLst>
          </p:cNvPr>
          <p:cNvSpPr>
            <a:spLocks xmlns:a="http://schemas.openxmlformats.org/drawingml/2006/main" noGrp="1"/>
          </p:cNvSpPr>
          <p:nvPr/>
        </p:nvSpPr>
        <p:spPr>
          <a:xfrm xmlns:a="http://schemas.openxmlformats.org/drawingml/2006/main">
            <a:off x="13164026" y="11458484"/>
            <a:ext cx="115157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same weights</a:t>
            </a:r>
          </a:p>
        </p:txBody>
      </p:sp>
      <p:sp>
        <p:nvSpPr>
          <p:cNvPr id="295" name="svg_path_295">
            <a:extLst xmlns:a="http://schemas.openxmlformats.org/drawingml/2006/main">
              <a:ext uri="{FF2B5EF4-FFF2-40B4-BE49-F238E27FC236}">
                <a16:creationId xmlns:a16="http://schemas.microsoft.com/office/drawing/2014/main" id="{48B330AC-CF33-4EA4-A816-AACD36E6F380}"/>
              </a:ext>
            </a:extLst>
          </p:cNvPr>
          <p:cNvSpPr>
            <a:spLocks xmlns:a="http://schemas.openxmlformats.org/drawingml/2006/main" noGrp="1"/>
          </p:cNvSpPr>
          <p:nvPr/>
        </p:nvSpPr>
        <p:spPr>
          <a:xfrm xmlns:a="http://schemas.openxmlformats.org/drawingml/2006/main">
            <a:off x="14335125" y="11430000"/>
            <a:ext cx="95250" cy="9525"/>
          </a:xfrm>
          <a:custGeom xmlns:a="http://schemas.openxmlformats.org/drawingml/2006/main">
            <a:pathLst>
              <a:path w="95250" h="9525">
                <a:moveTo>
                  <a:pt x="0" y="0"/>
                </a:moveTo>
                <a:lnTo>
                  <a:pt x="95250" y="0"/>
                </a:lnTo>
              </a:path>
            </a:pathLst>
          </a:custGeom>
          <a:noFill xmlns:a="http://schemas.openxmlformats.org/drawingml/2006/main"/>
          <a:ln xmlns:a="http://schemas.openxmlformats.org/drawingml/2006/main" w="24765">
            <a:solidFill>
              <a:srgbClr val="2386D8"/>
            </a:solidFill>
            <a:prstDash val="solid"/>
          </a:ln>
        </p:spPr>
      </p:sp>
      <p:sp>
        <p:nvSpPr>
          <p:cNvPr id="296" name="svg_arrowhead_296">
            <a:extLst xmlns:a="http://schemas.openxmlformats.org/drawingml/2006/main">
              <a:ext uri="{FF2B5EF4-FFF2-40B4-BE49-F238E27FC236}">
                <a16:creationId xmlns:a16="http://schemas.microsoft.com/office/drawing/2014/main" id="{A229DB17-B0BE-4C2F-96E4-A5162C03EC57}"/>
              </a:ext>
            </a:extLst>
          </p:cNvPr>
          <p:cNvSpPr>
            <a:spLocks xmlns:a="http://schemas.openxmlformats.org/drawingml/2006/main" noGrp="1"/>
          </p:cNvSpPr>
          <p:nvPr/>
        </p:nvSpPr>
        <p:spPr>
          <a:xfrm xmlns:a="http://schemas.openxmlformats.org/drawingml/2006/main">
            <a:off x="14297025" y="11363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297" name="svg_rect_297">
            <a:extLst xmlns:a="http://schemas.openxmlformats.org/drawingml/2006/main">
              <a:ext uri="{FF2B5EF4-FFF2-40B4-BE49-F238E27FC236}">
                <a16:creationId xmlns:a16="http://schemas.microsoft.com/office/drawing/2014/main" id="{17031F64-A4A0-4B04-8F96-9C09748F58ED}"/>
              </a:ext>
            </a:extLst>
          </p:cNvPr>
          <p:cNvSpPr>
            <a:spLocks xmlns:a="http://schemas.openxmlformats.org/drawingml/2006/main" noGrp="1"/>
          </p:cNvSpPr>
          <p:nvPr/>
        </p:nvSpPr>
        <p:spPr>
          <a:xfrm xmlns:a="http://schemas.openxmlformats.org/drawingml/2006/main">
            <a:off x="14422755" y="11132820"/>
            <a:ext cx="396240" cy="594360"/>
          </a:xfrm>
          <a:prstGeom xmlns:a="http://schemas.openxmlformats.org/drawingml/2006/main" prst="roundRect">
            <a:avLst>
              <a:gd name="adj" fmla="val 19231"/>
            </a:avLst>
          </a:prstGeom>
          <a:solidFill xmlns:a="http://schemas.openxmlformats.org/drawingml/2006/main">
            <a:srgbClr val="EDF6FF"/>
          </a:solidFill>
          <a:ln xmlns:a="http://schemas.openxmlformats.org/drawingml/2006/main" w="24765">
            <a:solidFill>
              <a:srgbClr val="408FD2"/>
            </a:solidFill>
            <a:prstDash val="solid"/>
          </a:ln>
        </p:spPr>
      </p:sp>
      <p:sp>
        <p:nvSpPr>
          <p:cNvPr id="298" name="svg_text_298">
            <a:extLst xmlns:a="http://schemas.openxmlformats.org/drawingml/2006/main">
              <a:ext uri="{FF2B5EF4-FFF2-40B4-BE49-F238E27FC236}">
                <a16:creationId xmlns:a16="http://schemas.microsoft.com/office/drawing/2014/main" id="{B743C732-DBA7-463C-A34C-608A666D93D5}"/>
              </a:ext>
            </a:extLst>
          </p:cNvPr>
          <p:cNvSpPr>
            <a:spLocks xmlns:a="http://schemas.openxmlformats.org/drawingml/2006/main" noGrp="1"/>
          </p:cNvSpPr>
          <p:nvPr/>
        </p:nvSpPr>
        <p:spPr>
          <a:xfrm xmlns:a="http://schemas.openxmlformats.org/drawingml/2006/main">
            <a:off x="14460855" y="11248934"/>
            <a:ext cx="3200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Pert.</a:t>
            </a:r>
          </a:p>
        </p:txBody>
      </p:sp>
      <p:sp>
        <p:nvSpPr>
          <p:cNvPr id="299" name="svg_text_299">
            <a:extLst xmlns:a="http://schemas.openxmlformats.org/drawingml/2006/main">
              <a:ext uri="{FF2B5EF4-FFF2-40B4-BE49-F238E27FC236}">
                <a16:creationId xmlns:a16="http://schemas.microsoft.com/office/drawing/2014/main" id="{DB3C6F0D-8E32-47F0-BAAA-4A90DF068689}"/>
              </a:ext>
            </a:extLst>
          </p:cNvPr>
          <p:cNvSpPr>
            <a:spLocks xmlns:a="http://schemas.openxmlformats.org/drawingml/2006/main" noGrp="1"/>
          </p:cNvSpPr>
          <p:nvPr/>
        </p:nvSpPr>
        <p:spPr>
          <a:xfrm xmlns:a="http://schemas.openxmlformats.org/drawingml/2006/main">
            <a:off x="14460855" y="11420384"/>
            <a:ext cx="3200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Mel</a:t>
            </a:r>
          </a:p>
        </p:txBody>
      </p:sp>
      <p:sp>
        <p:nvSpPr>
          <p:cNvPr id="300" name="svg_rect_300">
            <a:extLst xmlns:a="http://schemas.openxmlformats.org/drawingml/2006/main">
              <a:ext uri="{FF2B5EF4-FFF2-40B4-BE49-F238E27FC236}">
                <a16:creationId xmlns:a16="http://schemas.microsoft.com/office/drawing/2014/main" id="{DE1987E4-61E7-41A1-8B60-D61E69C8BA74}"/>
              </a:ext>
            </a:extLst>
          </p:cNvPr>
          <p:cNvSpPr>
            <a:spLocks xmlns:a="http://schemas.openxmlformats.org/drawingml/2006/main" noGrp="1"/>
          </p:cNvSpPr>
          <p:nvPr/>
        </p:nvSpPr>
        <p:spPr>
          <a:xfrm xmlns:a="http://schemas.openxmlformats.org/drawingml/2006/main">
            <a:off x="11810048" y="11894820"/>
            <a:ext cx="2526030" cy="594360"/>
          </a:xfrm>
          <a:prstGeom xmlns:a="http://schemas.openxmlformats.org/drawingml/2006/main" prst="roundRect">
            <a:avLst>
              <a:gd name="adj" fmla="val 12821"/>
            </a:avLst>
          </a:prstGeom>
          <a:solidFill xmlns:a="http://schemas.openxmlformats.org/drawingml/2006/main">
            <a:srgbClr val="FFF3DC"/>
          </a:solidFill>
          <a:ln xmlns:a="http://schemas.openxmlformats.org/drawingml/2006/main" w="22289">
            <a:solidFill>
              <a:srgbClr val="D89A33"/>
            </a:solidFill>
            <a:prstDash val="solid"/>
          </a:ln>
        </p:spPr>
      </p:sp>
      <p:sp>
        <p:nvSpPr>
          <p:cNvPr id="301" name="svg_text_301">
            <a:extLst xmlns:a="http://schemas.openxmlformats.org/drawingml/2006/main">
              <a:ext uri="{FF2B5EF4-FFF2-40B4-BE49-F238E27FC236}">
                <a16:creationId xmlns:a16="http://schemas.microsoft.com/office/drawing/2014/main" id="{CE729D54-AC51-4B83-BD53-A88B4A41894A}"/>
              </a:ext>
            </a:extLst>
          </p:cNvPr>
          <p:cNvSpPr>
            <a:spLocks xmlns:a="http://schemas.openxmlformats.org/drawingml/2006/main" noGrp="1"/>
          </p:cNvSpPr>
          <p:nvPr/>
        </p:nvSpPr>
        <p:spPr>
          <a:xfrm xmlns:a="http://schemas.openxmlformats.org/drawingml/2006/main">
            <a:off x="11898459" y="11960889"/>
            <a:ext cx="2349208"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Clean–Perturbed Mel</a:t>
            </a:r>
          </a:p>
        </p:txBody>
      </p:sp>
      <p:sp>
        <p:nvSpPr>
          <p:cNvPr id="302" name="svg_text_302">
            <a:extLst xmlns:a="http://schemas.openxmlformats.org/drawingml/2006/main">
              <a:ext uri="{FF2B5EF4-FFF2-40B4-BE49-F238E27FC236}">
                <a16:creationId xmlns:a16="http://schemas.microsoft.com/office/drawing/2014/main" id="{D47377D5-EB9B-4EC5-BB84-AE093DBC3458}"/>
              </a:ext>
            </a:extLst>
          </p:cNvPr>
          <p:cNvSpPr>
            <a:spLocks xmlns:a="http://schemas.openxmlformats.org/drawingml/2006/main" noGrp="1"/>
          </p:cNvSpPr>
          <p:nvPr/>
        </p:nvSpPr>
        <p:spPr>
          <a:xfrm xmlns:a="http://schemas.openxmlformats.org/drawingml/2006/main">
            <a:off x="11898459" y="12177819"/>
            <a:ext cx="2349208"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Consistency Loss</a:t>
            </a:r>
          </a:p>
        </p:txBody>
      </p:sp>
      <p:sp>
        <p:nvSpPr>
          <p:cNvPr id="303" name="svg_path_303">
            <a:extLst xmlns:a="http://schemas.openxmlformats.org/drawingml/2006/main">
              <a:ext uri="{FF2B5EF4-FFF2-40B4-BE49-F238E27FC236}">
                <a16:creationId xmlns:a16="http://schemas.microsoft.com/office/drawing/2014/main" id="{BD72A5A4-2DC6-490D-88E1-5D53C1ECDBAD}"/>
              </a:ext>
            </a:extLst>
          </p:cNvPr>
          <p:cNvSpPr>
            <a:spLocks xmlns:a="http://schemas.openxmlformats.org/drawingml/2006/main" noGrp="1"/>
          </p:cNvSpPr>
          <p:nvPr/>
        </p:nvSpPr>
        <p:spPr>
          <a:xfrm xmlns:a="http://schemas.openxmlformats.org/drawingml/2006/main">
            <a:off x="14287500" y="9810750"/>
            <a:ext cx="209550" cy="2381250"/>
          </a:xfrm>
          <a:custGeom xmlns:a="http://schemas.openxmlformats.org/drawingml/2006/main">
            <a:pathLst>
              <a:path w="209550" h="2381250">
                <a:moveTo>
                  <a:pt x="209550" y="0"/>
                </a:moveTo>
                <a:lnTo>
                  <a:pt x="209550" y="2381250"/>
                </a:lnTo>
                <a:lnTo>
                  <a:pt x="0" y="2381250"/>
                </a:lnTo>
              </a:path>
            </a:pathLst>
          </a:custGeom>
          <a:noFill xmlns:a="http://schemas.openxmlformats.org/drawingml/2006/main"/>
          <a:ln xmlns:a="http://schemas.openxmlformats.org/drawingml/2006/main" w="24765">
            <a:solidFill>
              <a:srgbClr val="3D6285"/>
            </a:solidFill>
            <a:prstDash val="dash"/>
          </a:ln>
        </p:spPr>
      </p:sp>
      <p:sp>
        <p:nvSpPr>
          <p:cNvPr id="304" name="svg_arrowhead_304">
            <a:extLst xmlns:a="http://schemas.openxmlformats.org/drawingml/2006/main">
              <a:ext uri="{FF2B5EF4-FFF2-40B4-BE49-F238E27FC236}">
                <a16:creationId xmlns:a16="http://schemas.microsoft.com/office/drawing/2014/main" id="{D5961145-A8E6-477E-AD15-4A89E36E7BD5}"/>
              </a:ext>
            </a:extLst>
          </p:cNvPr>
          <p:cNvSpPr>
            <a:spLocks xmlns:a="http://schemas.openxmlformats.org/drawingml/2006/main" noGrp="1"/>
          </p:cNvSpPr>
          <p:nvPr/>
        </p:nvSpPr>
        <p:spPr>
          <a:xfrm xmlns:a="http://schemas.openxmlformats.org/drawingml/2006/main">
            <a:off x="14287500" y="12125325"/>
            <a:ext cx="133350" cy="133350"/>
          </a:xfrm>
          <a:custGeom xmlns:a="http://schemas.openxmlformats.org/drawingml/2006/main">
            <a:pathLst>
              <a:path w="133350" h="133350">
                <a:moveTo>
                  <a:pt x="0" y="66675"/>
                </a:moveTo>
                <a:lnTo>
                  <a:pt x="133350" y="0"/>
                </a:lnTo>
                <a:lnTo>
                  <a:pt x="13335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305" name="svg_path_305">
            <a:extLst xmlns:a="http://schemas.openxmlformats.org/drawingml/2006/main">
              <a:ext uri="{FF2B5EF4-FFF2-40B4-BE49-F238E27FC236}">
                <a16:creationId xmlns:a16="http://schemas.microsoft.com/office/drawing/2014/main" id="{30D42076-62C7-4176-92D8-66483AD18302}"/>
              </a:ext>
            </a:extLst>
          </p:cNvPr>
          <p:cNvSpPr>
            <a:spLocks xmlns:a="http://schemas.openxmlformats.org/drawingml/2006/main" noGrp="1"/>
          </p:cNvSpPr>
          <p:nvPr/>
        </p:nvSpPr>
        <p:spPr>
          <a:xfrm xmlns:a="http://schemas.openxmlformats.org/drawingml/2006/main">
            <a:off x="14287500" y="11715750"/>
            <a:ext cx="333375" cy="476250"/>
          </a:xfrm>
          <a:custGeom xmlns:a="http://schemas.openxmlformats.org/drawingml/2006/main">
            <a:pathLst>
              <a:path w="333375" h="476250">
                <a:moveTo>
                  <a:pt x="333375" y="0"/>
                </a:moveTo>
                <a:lnTo>
                  <a:pt x="333375" y="476250"/>
                </a:lnTo>
                <a:lnTo>
                  <a:pt x="0" y="476250"/>
                </a:lnTo>
              </a:path>
            </a:pathLst>
          </a:custGeom>
          <a:noFill xmlns:a="http://schemas.openxmlformats.org/drawingml/2006/main"/>
          <a:ln xmlns:a="http://schemas.openxmlformats.org/drawingml/2006/main" w="24765">
            <a:solidFill>
              <a:srgbClr val="3D6285"/>
            </a:solidFill>
            <a:prstDash val="dash"/>
          </a:ln>
        </p:spPr>
      </p:sp>
      <p:sp>
        <p:nvSpPr>
          <p:cNvPr id="306" name="svg_arrowhead_306">
            <a:extLst xmlns:a="http://schemas.openxmlformats.org/drawingml/2006/main">
              <a:ext uri="{FF2B5EF4-FFF2-40B4-BE49-F238E27FC236}">
                <a16:creationId xmlns:a16="http://schemas.microsoft.com/office/drawing/2014/main" id="{6AB0F02F-A2BD-4FF3-80ED-8F310612FE51}"/>
              </a:ext>
            </a:extLst>
          </p:cNvPr>
          <p:cNvSpPr>
            <a:spLocks xmlns:a="http://schemas.openxmlformats.org/drawingml/2006/main" noGrp="1"/>
          </p:cNvSpPr>
          <p:nvPr/>
        </p:nvSpPr>
        <p:spPr>
          <a:xfrm xmlns:a="http://schemas.openxmlformats.org/drawingml/2006/main">
            <a:off x="14287500" y="12125325"/>
            <a:ext cx="133350" cy="133350"/>
          </a:xfrm>
          <a:custGeom xmlns:a="http://schemas.openxmlformats.org/drawingml/2006/main">
            <a:pathLst>
              <a:path w="133350" h="133350">
                <a:moveTo>
                  <a:pt x="0" y="66675"/>
                </a:moveTo>
                <a:lnTo>
                  <a:pt x="133350" y="0"/>
                </a:lnTo>
                <a:lnTo>
                  <a:pt x="133350" y="13335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307" name="svg_path_307">
            <a:extLst xmlns:a="http://schemas.openxmlformats.org/drawingml/2006/main">
              <a:ext uri="{FF2B5EF4-FFF2-40B4-BE49-F238E27FC236}">
                <a16:creationId xmlns:a16="http://schemas.microsoft.com/office/drawing/2014/main" id="{AEA913CB-346F-4F1A-9349-AAFD5B418AE9}"/>
              </a:ext>
            </a:extLst>
          </p:cNvPr>
          <p:cNvSpPr>
            <a:spLocks xmlns:a="http://schemas.openxmlformats.org/drawingml/2006/main" noGrp="1"/>
          </p:cNvSpPr>
          <p:nvPr/>
        </p:nvSpPr>
        <p:spPr>
          <a:xfrm xmlns:a="http://schemas.openxmlformats.org/drawingml/2006/main">
            <a:off x="14811375" y="8572500"/>
            <a:ext cx="781050" cy="762000"/>
          </a:xfrm>
          <a:custGeom xmlns:a="http://schemas.openxmlformats.org/drawingml/2006/main">
            <a:pathLst>
              <a:path w="781050" h="762000">
                <a:moveTo>
                  <a:pt x="0" y="0"/>
                </a:moveTo>
                <a:lnTo>
                  <a:pt x="781050" y="0"/>
                </a:lnTo>
                <a:lnTo>
                  <a:pt x="781050" y="762000"/>
                </a:lnTo>
              </a:path>
            </a:pathLst>
          </a:custGeom>
          <a:noFill xmlns:a="http://schemas.openxmlformats.org/drawingml/2006/main"/>
          <a:ln xmlns:a="http://schemas.openxmlformats.org/drawingml/2006/main" w="30956">
            <a:solidFill>
              <a:srgbClr val="2386D8"/>
            </a:solidFill>
            <a:prstDash val="solid"/>
          </a:ln>
        </p:spPr>
      </p:sp>
      <p:sp>
        <p:nvSpPr>
          <p:cNvPr id="308" name="svg_arrowhead_308">
            <a:extLst xmlns:a="http://schemas.openxmlformats.org/drawingml/2006/main">
              <a:ext uri="{FF2B5EF4-FFF2-40B4-BE49-F238E27FC236}">
                <a16:creationId xmlns:a16="http://schemas.microsoft.com/office/drawing/2014/main" id="{F83275B8-CAD4-4332-969C-20E2E9376E80}"/>
              </a:ext>
            </a:extLst>
          </p:cNvPr>
          <p:cNvSpPr>
            <a:spLocks xmlns:a="http://schemas.openxmlformats.org/drawingml/2006/main" noGrp="1"/>
          </p:cNvSpPr>
          <p:nvPr/>
        </p:nvSpPr>
        <p:spPr>
          <a:xfrm xmlns:a="http://schemas.openxmlformats.org/drawingml/2006/main">
            <a:off x="15525750" y="92011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09" name="svg_text_309">
            <a:extLst xmlns:a="http://schemas.openxmlformats.org/drawingml/2006/main">
              <a:ext uri="{FF2B5EF4-FFF2-40B4-BE49-F238E27FC236}">
                <a16:creationId xmlns:a16="http://schemas.microsoft.com/office/drawing/2014/main" id="{F02D30B7-A602-4BC3-BFE3-2D9F4D29538F}"/>
              </a:ext>
            </a:extLst>
          </p:cNvPr>
          <p:cNvSpPr>
            <a:spLocks xmlns:a="http://schemas.openxmlformats.org/drawingml/2006/main" noGrp="1"/>
          </p:cNvSpPr>
          <p:nvPr/>
        </p:nvSpPr>
        <p:spPr>
          <a:xfrm xmlns:a="http://schemas.openxmlformats.org/drawingml/2006/main">
            <a:off x="14374703" y="8334284"/>
            <a:ext cx="173059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optimized weights</a:t>
            </a:r>
          </a:p>
        </p:txBody>
      </p:sp>
      <p:sp>
        <p:nvSpPr>
          <p:cNvPr id="310" name="svg_rect_310">
            <a:extLst xmlns:a="http://schemas.openxmlformats.org/drawingml/2006/main">
              <a:ext uri="{FF2B5EF4-FFF2-40B4-BE49-F238E27FC236}">
                <a16:creationId xmlns:a16="http://schemas.microsoft.com/office/drawing/2014/main" id="{39F2443B-8E80-4670-A042-2A74D5874EBD}"/>
              </a:ext>
            </a:extLst>
          </p:cNvPr>
          <p:cNvSpPr>
            <a:spLocks xmlns:a="http://schemas.openxmlformats.org/drawingml/2006/main" noGrp="1"/>
          </p:cNvSpPr>
          <p:nvPr/>
        </p:nvSpPr>
        <p:spPr>
          <a:xfrm xmlns:a="http://schemas.openxmlformats.org/drawingml/2006/main">
            <a:off x="15077123" y="9315450"/>
            <a:ext cx="1040130" cy="990600"/>
          </a:xfrm>
          <a:prstGeom xmlns:a="http://schemas.openxmlformats.org/drawingml/2006/main" prst="roundRect">
            <a:avLst>
              <a:gd name="adj" fmla="val 7692"/>
            </a:avLst>
          </a:prstGeom>
          <a:solidFill xmlns:a="http://schemas.openxmlformats.org/drawingml/2006/main">
            <a:srgbClr val="EDF6FF"/>
          </a:solidFill>
          <a:ln xmlns:a="http://schemas.openxmlformats.org/drawingml/2006/main" w="24765">
            <a:solidFill>
              <a:srgbClr val="408FD2"/>
            </a:solidFill>
            <a:prstDash val="solid"/>
          </a:ln>
        </p:spPr>
      </p:sp>
      <p:sp>
        <p:nvSpPr>
          <p:cNvPr id="311" name="svg_text_311">
            <a:extLst xmlns:a="http://schemas.openxmlformats.org/drawingml/2006/main">
              <a:ext uri="{FF2B5EF4-FFF2-40B4-BE49-F238E27FC236}">
                <a16:creationId xmlns:a16="http://schemas.microsoft.com/office/drawing/2014/main" id="{4CE10F4E-1AB2-4E90-A2CD-D00BF3B7E5F5}"/>
              </a:ext>
            </a:extLst>
          </p:cNvPr>
          <p:cNvSpPr>
            <a:spLocks xmlns:a="http://schemas.openxmlformats.org/drawingml/2006/main" noGrp="1"/>
          </p:cNvSpPr>
          <p:nvPr/>
        </p:nvSpPr>
        <p:spPr>
          <a:xfrm xmlns:a="http://schemas.openxmlformats.org/drawingml/2006/main">
            <a:off x="15115223" y="9465339"/>
            <a:ext cx="96393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2816"/>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SCIT-Speech</a:t>
            </a:r>
          </a:p>
        </p:txBody>
      </p:sp>
      <p:sp>
        <p:nvSpPr>
          <p:cNvPr id="312" name="svg_text_312">
            <a:extLst xmlns:a="http://schemas.openxmlformats.org/drawingml/2006/main">
              <a:ext uri="{FF2B5EF4-FFF2-40B4-BE49-F238E27FC236}">
                <a16:creationId xmlns:a16="http://schemas.microsoft.com/office/drawing/2014/main" id="{361610B2-072A-458B-B0F3-C71922DCA419}"/>
              </a:ext>
            </a:extLst>
          </p:cNvPr>
          <p:cNvSpPr>
            <a:spLocks xmlns:a="http://schemas.openxmlformats.org/drawingml/2006/main" noGrp="1"/>
          </p:cNvSpPr>
          <p:nvPr/>
        </p:nvSpPr>
        <p:spPr>
          <a:xfrm xmlns:a="http://schemas.openxmlformats.org/drawingml/2006/main">
            <a:off x="15115223" y="9703464"/>
            <a:ext cx="96393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LCA</a:t>
            </a:r>
          </a:p>
        </p:txBody>
      </p:sp>
      <p:sp>
        <p:nvSpPr>
          <p:cNvPr id="313" name="svg_text_313">
            <a:extLst xmlns:a="http://schemas.openxmlformats.org/drawingml/2006/main">
              <a:ext uri="{FF2B5EF4-FFF2-40B4-BE49-F238E27FC236}">
                <a16:creationId xmlns:a16="http://schemas.microsoft.com/office/drawing/2014/main" id="{831EF6AA-FC42-43C8-94A5-F1600F95BBFF}"/>
              </a:ext>
            </a:extLst>
          </p:cNvPr>
          <p:cNvSpPr>
            <a:spLocks xmlns:a="http://schemas.openxmlformats.org/drawingml/2006/main" noGrp="1"/>
          </p:cNvSpPr>
          <p:nvPr/>
        </p:nvSpPr>
        <p:spPr>
          <a:xfrm xmlns:a="http://schemas.openxmlformats.org/drawingml/2006/main">
            <a:off x="15115223" y="9982109"/>
            <a:ext cx="96393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final checkpoint</a:t>
            </a:r>
          </a:p>
        </p:txBody>
      </p:sp>
      <p:sp>
        <p:nvSpPr>
          <p:cNvPr id="314" name="svg_rect_314">
            <a:extLst xmlns:a="http://schemas.openxmlformats.org/drawingml/2006/main">
              <a:ext uri="{FF2B5EF4-FFF2-40B4-BE49-F238E27FC236}">
                <a16:creationId xmlns:a16="http://schemas.microsoft.com/office/drawing/2014/main" id="{85255C2F-08EF-4E71-A716-3F2B3DA6D923}"/>
              </a:ext>
            </a:extLst>
          </p:cNvPr>
          <p:cNvSpPr>
            <a:spLocks xmlns:a="http://schemas.openxmlformats.org/drawingml/2006/main" noGrp="1"/>
          </p:cNvSpPr>
          <p:nvPr/>
        </p:nvSpPr>
        <p:spPr>
          <a:xfrm xmlns:a="http://schemas.openxmlformats.org/drawingml/2006/main">
            <a:off x="16668750" y="6477000"/>
            <a:ext cx="6000750" cy="6667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24765">
            <a:solidFill>
              <a:srgbClr val="7DB5E8"/>
            </a:solidFill>
            <a:prstDash val="dash"/>
          </a:ln>
        </p:spPr>
      </p:sp>
      <p:sp>
        <p:nvSpPr>
          <p:cNvPr id="315" name="svg_circle_315">
            <a:extLst xmlns:a="http://schemas.openxmlformats.org/drawingml/2006/main">
              <a:ext uri="{FF2B5EF4-FFF2-40B4-BE49-F238E27FC236}">
                <a16:creationId xmlns:a16="http://schemas.microsoft.com/office/drawing/2014/main" id="{B4D74842-53E0-41BF-96A2-54B3A26DD33B}"/>
              </a:ext>
            </a:extLst>
          </p:cNvPr>
          <p:cNvSpPr>
            <a:spLocks xmlns:a="http://schemas.openxmlformats.org/drawingml/2006/main" noGrp="1"/>
          </p:cNvSpPr>
          <p:nvPr/>
        </p:nvSpPr>
        <p:spPr>
          <a:xfrm xmlns:a="http://schemas.openxmlformats.org/drawingml/2006/main">
            <a:off x="16735425" y="6543675"/>
            <a:ext cx="533400" cy="533400"/>
          </a:xfrm>
          <a:prstGeom xmlns:a="http://schemas.openxmlformats.org/drawingml/2006/main" prst="ellipse">
            <a:avLst/>
          </a:prstGeom>
          <a:solidFill xmlns:a="http://schemas.openxmlformats.org/drawingml/2006/main">
            <a:srgbClr val="080B0E"/>
          </a:solidFill>
          <a:ln xmlns:a="http://schemas.openxmlformats.org/drawingml/2006/main" w="0">
            <a:noFill/>
            <a:prstDash val="solid"/>
          </a:ln>
        </p:spPr>
      </p:sp>
      <p:sp>
        <p:nvSpPr>
          <p:cNvPr id="316" name="svg_text_316">
            <a:extLst xmlns:a="http://schemas.openxmlformats.org/drawingml/2006/main">
              <a:ext uri="{FF2B5EF4-FFF2-40B4-BE49-F238E27FC236}">
                <a16:creationId xmlns:a16="http://schemas.microsoft.com/office/drawing/2014/main" id="{C1F632F4-7440-4F4B-B742-CD7451471B9C}"/>
              </a:ext>
            </a:extLst>
          </p:cNvPr>
          <p:cNvSpPr>
            <a:spLocks xmlns:a="http://schemas.openxmlformats.org/drawingml/2006/main" noGrp="1"/>
          </p:cNvSpPr>
          <p:nvPr/>
        </p:nvSpPr>
        <p:spPr>
          <a:xfrm xmlns:a="http://schemas.openxmlformats.org/drawingml/2006/main">
            <a:off x="16764000" y="65722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87" b="1" i="0">
                <a:solidFill>
                  <a:srgbClr val="FFFFFF"/>
                </a:solidFill>
                <a:latin typeface="Arial"/>
                <a:ea typeface="Arial"/>
                <a:cs typeface="Arial"/>
              </a:defRPr>
            </a:pPr>
            <a:r>
              <a:rPr sz="2187" b="1" i="0">
                <a:solidFill>
                  <a:srgbClr val="FFFFFF"/>
                </a:solidFill>
                <a:latin typeface="Arial"/>
                <a:ea typeface="Arial"/>
                <a:cs typeface="Arial"/>
              </a:rPr>
              <a:t>6</a:t>
            </a:r>
          </a:p>
        </p:txBody>
      </p:sp>
      <p:sp>
        <p:nvSpPr>
          <p:cNvPr id="317" name="svg_text_317">
            <a:extLst xmlns:a="http://schemas.openxmlformats.org/drawingml/2006/main">
              <a:ext uri="{FF2B5EF4-FFF2-40B4-BE49-F238E27FC236}">
                <a16:creationId xmlns:a16="http://schemas.microsoft.com/office/drawing/2014/main" id="{786FBF33-D9BE-48B8-9552-55C293AEC98F}"/>
              </a:ext>
            </a:extLst>
          </p:cNvPr>
          <p:cNvSpPr>
            <a:spLocks xmlns:a="http://schemas.openxmlformats.org/drawingml/2006/main" noGrp="1"/>
          </p:cNvSpPr>
          <p:nvPr/>
        </p:nvSpPr>
        <p:spPr>
          <a:xfrm xmlns:a="http://schemas.openxmlformats.org/drawingml/2006/main">
            <a:off x="17383125" y="6513972"/>
            <a:ext cx="3363316"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OPTIONAL TOKEN–AUDIO</a:t>
            </a:r>
          </a:p>
        </p:txBody>
      </p:sp>
      <p:sp>
        <p:nvSpPr>
          <p:cNvPr id="318" name="svg_text_318">
            <a:extLst xmlns:a="http://schemas.openxmlformats.org/drawingml/2006/main">
              <a:ext uri="{FF2B5EF4-FFF2-40B4-BE49-F238E27FC236}">
                <a16:creationId xmlns:a16="http://schemas.microsoft.com/office/drawing/2014/main" id="{ED0891AF-C646-45F3-8609-F9C0E485BECC}"/>
              </a:ext>
            </a:extLst>
          </p:cNvPr>
          <p:cNvSpPr>
            <a:spLocks xmlns:a="http://schemas.openxmlformats.org/drawingml/2006/main" noGrp="1"/>
          </p:cNvSpPr>
          <p:nvPr/>
        </p:nvSpPr>
        <p:spPr>
          <a:xfrm xmlns:a="http://schemas.openxmlformats.org/drawingml/2006/main">
            <a:off x="17383125" y="6761622"/>
            <a:ext cx="3682502" cy="34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48" b="1" i="0">
                <a:solidFill>
                  <a:srgbClr val="000000"/>
                </a:solidFill>
                <a:latin typeface="Arial"/>
                <a:ea typeface="Arial"/>
                <a:cs typeface="Arial"/>
              </a:defRPr>
            </a:pPr>
            <a:r>
              <a:rPr sz="1848" b="1" i="0">
                <a:solidFill>
                  <a:srgbClr val="000000"/>
                </a:solidFill>
                <a:latin typeface="Arial"/>
                <a:ea typeface="Arial"/>
                <a:cs typeface="Arial"/>
              </a:rPr>
              <a:t>SPEAKER CLASSIFICATION</a:t>
            </a:r>
          </a:p>
        </p:txBody>
      </p:sp>
      <p:sp>
        <p:nvSpPr>
          <p:cNvPr id="319" name="svg_text_319">
            <a:extLst xmlns:a="http://schemas.openxmlformats.org/drawingml/2006/main">
              <a:ext uri="{FF2B5EF4-FFF2-40B4-BE49-F238E27FC236}">
                <a16:creationId xmlns:a16="http://schemas.microsoft.com/office/drawing/2014/main" id="{DEC94D26-E517-4B91-A11A-3F0CD644CB3A}"/>
              </a:ext>
            </a:extLst>
          </p:cNvPr>
          <p:cNvSpPr>
            <a:spLocks xmlns:a="http://schemas.openxmlformats.org/drawingml/2006/main" noGrp="1"/>
          </p:cNvSpPr>
          <p:nvPr/>
        </p:nvSpPr>
        <p:spPr>
          <a:xfrm xmlns:a="http://schemas.openxmlformats.org/drawingml/2006/main">
            <a:off x="16045739" y="7465089"/>
            <a:ext cx="2770022"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Received RVQ Indices</a:t>
            </a:r>
          </a:p>
        </p:txBody>
      </p:sp>
      <p:sp>
        <p:nvSpPr>
          <p:cNvPr id="320" name="svg_text_320">
            <a:extLst xmlns:a="http://schemas.openxmlformats.org/drawingml/2006/main">
              <a:ext uri="{FF2B5EF4-FFF2-40B4-BE49-F238E27FC236}">
                <a16:creationId xmlns:a16="http://schemas.microsoft.com/office/drawing/2014/main" id="{BE18FFB5-1B8D-4C43-BA61-26610E1AA3FD}"/>
              </a:ext>
            </a:extLst>
          </p:cNvPr>
          <p:cNvSpPr>
            <a:spLocks xmlns:a="http://schemas.openxmlformats.org/drawingml/2006/main" noGrp="1"/>
          </p:cNvSpPr>
          <p:nvPr/>
        </p:nvSpPr>
        <p:spPr>
          <a:xfrm xmlns:a="http://schemas.openxmlformats.org/drawingml/2006/main">
            <a:off x="16711898" y="7708363"/>
            <a:ext cx="1437704"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i₁, i₂, i₃</a:t>
            </a:r>
          </a:p>
        </p:txBody>
      </p:sp>
      <p:sp>
        <p:nvSpPr>
          <p:cNvPr id="321" name="svg_rect_321">
            <a:extLst xmlns:a="http://schemas.openxmlformats.org/drawingml/2006/main">
              <a:ext uri="{FF2B5EF4-FFF2-40B4-BE49-F238E27FC236}">
                <a16:creationId xmlns:a16="http://schemas.microsoft.com/office/drawing/2014/main" id="{E690DBF6-58E6-41BF-9C19-B5EDF796AD82}"/>
              </a:ext>
            </a:extLst>
          </p:cNvPr>
          <p:cNvSpPr>
            <a:spLocks xmlns:a="http://schemas.openxmlformats.org/drawingml/2006/main" noGrp="1"/>
          </p:cNvSpPr>
          <p:nvPr/>
        </p:nvSpPr>
        <p:spPr>
          <a:xfrm xmlns:a="http://schemas.openxmlformats.org/drawingml/2006/main">
            <a:off x="16906875" y="8096250"/>
            <a:ext cx="1047750" cy="171450"/>
          </a:xfrm>
          <a:prstGeom xmlns:a="http://schemas.openxmlformats.org/drawingml/2006/main" prst="rect">
            <a:avLst/>
          </a:prstGeom>
          <a:solidFill xmlns:a="http://schemas.openxmlformats.org/drawingml/2006/main">
            <a:srgbClr val="FB923C"/>
          </a:solidFill>
          <a:ln xmlns:a="http://schemas.openxmlformats.org/drawingml/2006/main" w="0">
            <a:noFill/>
            <a:prstDash val="solid"/>
          </a:ln>
        </p:spPr>
      </p:sp>
      <p:sp>
        <p:nvSpPr>
          <p:cNvPr id="322" name="svg_rect_322">
            <a:extLst xmlns:a="http://schemas.openxmlformats.org/drawingml/2006/main">
              <a:ext uri="{FF2B5EF4-FFF2-40B4-BE49-F238E27FC236}">
                <a16:creationId xmlns:a16="http://schemas.microsoft.com/office/drawing/2014/main" id="{DD9C439A-95A5-47E2-A376-A69CF4C6EA10}"/>
              </a:ext>
            </a:extLst>
          </p:cNvPr>
          <p:cNvSpPr>
            <a:spLocks xmlns:a="http://schemas.openxmlformats.org/drawingml/2006/main" noGrp="1"/>
          </p:cNvSpPr>
          <p:nvPr/>
        </p:nvSpPr>
        <p:spPr>
          <a:xfrm xmlns:a="http://schemas.openxmlformats.org/drawingml/2006/main">
            <a:off x="16906875" y="8401050"/>
            <a:ext cx="1047750" cy="171450"/>
          </a:xfrm>
          <a:prstGeom xmlns:a="http://schemas.openxmlformats.org/drawingml/2006/main" prst="rect">
            <a:avLst/>
          </a:prstGeom>
          <a:solidFill xmlns:a="http://schemas.openxmlformats.org/drawingml/2006/main">
            <a:srgbClr val="70BD92"/>
          </a:solidFill>
          <a:ln xmlns:a="http://schemas.openxmlformats.org/drawingml/2006/main" w="0">
            <a:noFill/>
            <a:prstDash val="solid"/>
          </a:ln>
        </p:spPr>
      </p:sp>
      <p:sp>
        <p:nvSpPr>
          <p:cNvPr id="323" name="svg_rect_323">
            <a:extLst xmlns:a="http://schemas.openxmlformats.org/drawingml/2006/main">
              <a:ext uri="{FF2B5EF4-FFF2-40B4-BE49-F238E27FC236}">
                <a16:creationId xmlns:a16="http://schemas.microsoft.com/office/drawing/2014/main" id="{AD13885B-58BB-452B-A913-F7A01FFA962D}"/>
              </a:ext>
            </a:extLst>
          </p:cNvPr>
          <p:cNvSpPr>
            <a:spLocks xmlns:a="http://schemas.openxmlformats.org/drawingml/2006/main" noGrp="1"/>
          </p:cNvSpPr>
          <p:nvPr/>
        </p:nvSpPr>
        <p:spPr>
          <a:xfrm xmlns:a="http://schemas.openxmlformats.org/drawingml/2006/main">
            <a:off x="16906875" y="8705850"/>
            <a:ext cx="1047750" cy="171450"/>
          </a:xfrm>
          <a:prstGeom xmlns:a="http://schemas.openxmlformats.org/drawingml/2006/main" prst="rect">
            <a:avLst/>
          </a:prstGeom>
          <a:solidFill xmlns:a="http://schemas.openxmlformats.org/drawingml/2006/main">
            <a:srgbClr val="8588E8"/>
          </a:solidFill>
          <a:ln xmlns:a="http://schemas.openxmlformats.org/drawingml/2006/main" w="0">
            <a:noFill/>
            <a:prstDash val="solid"/>
          </a:ln>
        </p:spPr>
      </p:sp>
      <p:sp>
        <p:nvSpPr>
          <p:cNvPr id="324" name="svg_path_324">
            <a:extLst xmlns:a="http://schemas.openxmlformats.org/drawingml/2006/main">
              <a:ext uri="{FF2B5EF4-FFF2-40B4-BE49-F238E27FC236}">
                <a16:creationId xmlns:a16="http://schemas.microsoft.com/office/drawing/2014/main" id="{F629F31A-4794-4B51-8FC2-3309A9C5EBAF}"/>
              </a:ext>
            </a:extLst>
          </p:cNvPr>
          <p:cNvSpPr>
            <a:spLocks xmlns:a="http://schemas.openxmlformats.org/drawingml/2006/main" noGrp="1"/>
          </p:cNvSpPr>
          <p:nvPr/>
        </p:nvSpPr>
        <p:spPr>
          <a:xfrm xmlns:a="http://schemas.openxmlformats.org/drawingml/2006/main">
            <a:off x="17954625" y="8477250"/>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325" name="svg_arrowhead_325">
            <a:extLst xmlns:a="http://schemas.openxmlformats.org/drawingml/2006/main">
              <a:ext uri="{FF2B5EF4-FFF2-40B4-BE49-F238E27FC236}">
                <a16:creationId xmlns:a16="http://schemas.microsoft.com/office/drawing/2014/main" id="{B39B3D89-364D-428E-B36A-51C6F77D479E}"/>
              </a:ext>
            </a:extLst>
          </p:cNvPr>
          <p:cNvSpPr>
            <a:spLocks xmlns:a="http://schemas.openxmlformats.org/drawingml/2006/main" noGrp="1"/>
          </p:cNvSpPr>
          <p:nvPr/>
        </p:nvSpPr>
        <p:spPr>
          <a:xfrm xmlns:a="http://schemas.openxmlformats.org/drawingml/2006/main">
            <a:off x="18059400" y="84105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26" name="svg_rect_326">
            <a:extLst xmlns:a="http://schemas.openxmlformats.org/drawingml/2006/main">
              <a:ext uri="{FF2B5EF4-FFF2-40B4-BE49-F238E27FC236}">
                <a16:creationId xmlns:a16="http://schemas.microsoft.com/office/drawing/2014/main" id="{23900B68-8A9D-4C3D-A4E2-0C334F2908D1}"/>
              </a:ext>
            </a:extLst>
          </p:cNvPr>
          <p:cNvSpPr>
            <a:spLocks xmlns:a="http://schemas.openxmlformats.org/drawingml/2006/main" noGrp="1"/>
          </p:cNvSpPr>
          <p:nvPr/>
        </p:nvSpPr>
        <p:spPr>
          <a:xfrm xmlns:a="http://schemas.openxmlformats.org/drawingml/2006/main">
            <a:off x="18165128" y="8031480"/>
            <a:ext cx="1436370" cy="891540"/>
          </a:xfrm>
          <a:prstGeom xmlns:a="http://schemas.openxmlformats.org/drawingml/2006/main" prst="roundRect">
            <a:avLst>
              <a:gd name="adj" fmla="val 8547"/>
            </a:avLst>
          </a:prstGeom>
          <a:solidFill xmlns:a="http://schemas.openxmlformats.org/drawingml/2006/main">
            <a:srgbClr val="EDF6FF"/>
          </a:solidFill>
          <a:ln xmlns:a="http://schemas.openxmlformats.org/drawingml/2006/main" w="24765">
            <a:solidFill>
              <a:srgbClr val="408FD2"/>
            </a:solidFill>
            <a:prstDash val="solid"/>
          </a:ln>
        </p:spPr>
      </p:sp>
      <p:sp>
        <p:nvSpPr>
          <p:cNvPr id="327" name="svg_text_327">
            <a:extLst xmlns:a="http://schemas.openxmlformats.org/drawingml/2006/main">
              <a:ext uri="{FF2B5EF4-FFF2-40B4-BE49-F238E27FC236}">
                <a16:creationId xmlns:a16="http://schemas.microsoft.com/office/drawing/2014/main" id="{AEBDE189-7CE9-45DB-A1B1-426D52021AC9}"/>
              </a:ext>
            </a:extLst>
          </p:cNvPr>
          <p:cNvSpPr>
            <a:spLocks xmlns:a="http://schemas.openxmlformats.org/drawingml/2006/main" noGrp="1"/>
          </p:cNvSpPr>
          <p:nvPr/>
        </p:nvSpPr>
        <p:spPr>
          <a:xfrm xmlns:a="http://schemas.openxmlformats.org/drawingml/2006/main">
            <a:off x="18215400" y="8160414"/>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Trainable RVQ</a:t>
            </a:r>
          </a:p>
        </p:txBody>
      </p:sp>
      <p:sp>
        <p:nvSpPr>
          <p:cNvPr id="328" name="svg_text_328">
            <a:extLst xmlns:a="http://schemas.openxmlformats.org/drawingml/2006/main">
              <a:ext uri="{FF2B5EF4-FFF2-40B4-BE49-F238E27FC236}">
                <a16:creationId xmlns:a16="http://schemas.microsoft.com/office/drawing/2014/main" id="{845B9269-16C6-4F7A-A270-C798CFD0E1C3}"/>
              </a:ext>
            </a:extLst>
          </p:cNvPr>
          <p:cNvSpPr>
            <a:spLocks xmlns:a="http://schemas.openxmlformats.org/drawingml/2006/main" noGrp="1"/>
          </p:cNvSpPr>
          <p:nvPr/>
        </p:nvSpPr>
        <p:spPr>
          <a:xfrm xmlns:a="http://schemas.openxmlformats.org/drawingml/2006/main">
            <a:off x="18215400" y="8398539"/>
            <a:ext cx="133582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7791"/>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Token Encoder</a:t>
            </a:r>
          </a:p>
        </p:txBody>
      </p:sp>
      <p:sp>
        <p:nvSpPr>
          <p:cNvPr id="329" name="svg_text_329">
            <a:extLst xmlns:a="http://schemas.openxmlformats.org/drawingml/2006/main">
              <a:ext uri="{FF2B5EF4-FFF2-40B4-BE49-F238E27FC236}">
                <a16:creationId xmlns:a16="http://schemas.microsoft.com/office/drawing/2014/main" id="{17444796-097B-4522-AA59-60632D679857}"/>
              </a:ext>
            </a:extLst>
          </p:cNvPr>
          <p:cNvSpPr>
            <a:spLocks xmlns:a="http://schemas.openxmlformats.org/drawingml/2006/main" noGrp="1"/>
          </p:cNvSpPr>
          <p:nvPr/>
        </p:nvSpPr>
        <p:spPr>
          <a:xfrm xmlns:a="http://schemas.openxmlformats.org/drawingml/2006/main">
            <a:off x="18215400" y="8648071"/>
            <a:ext cx="133582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 e_token</a:t>
            </a:r>
          </a:p>
        </p:txBody>
      </p:sp>
      <p:sp>
        <p:nvSpPr>
          <p:cNvPr id="330" name="svg_text_330">
            <a:extLst xmlns:a="http://schemas.openxmlformats.org/drawingml/2006/main">
              <a:ext uri="{FF2B5EF4-FFF2-40B4-BE49-F238E27FC236}">
                <a16:creationId xmlns:a16="http://schemas.microsoft.com/office/drawing/2014/main" id="{A0DCCC8B-D5AA-4406-8032-02A2BE58B49B}"/>
              </a:ext>
            </a:extLst>
          </p:cNvPr>
          <p:cNvSpPr>
            <a:spLocks xmlns:a="http://schemas.openxmlformats.org/drawingml/2006/main" noGrp="1"/>
          </p:cNvSpPr>
          <p:nvPr/>
        </p:nvSpPr>
        <p:spPr>
          <a:xfrm xmlns:a="http://schemas.openxmlformats.org/drawingml/2006/main">
            <a:off x="16045739" y="9751089"/>
            <a:ext cx="2770022"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Reconstructed Speech</a:t>
            </a:r>
          </a:p>
        </p:txBody>
      </p:sp>
      <p:sp>
        <p:nvSpPr>
          <p:cNvPr id="331" name="svg_rect_331">
            <a:extLst xmlns:a="http://schemas.openxmlformats.org/drawingml/2006/main">
              <a:ext uri="{FF2B5EF4-FFF2-40B4-BE49-F238E27FC236}">
                <a16:creationId xmlns:a16="http://schemas.microsoft.com/office/drawing/2014/main" id="{6F6A6F34-4607-43A8-927C-ED1A395B6042}"/>
              </a:ext>
            </a:extLst>
          </p:cNvPr>
          <p:cNvSpPr>
            <a:spLocks xmlns:a="http://schemas.openxmlformats.org/drawingml/2006/main" noGrp="1"/>
          </p:cNvSpPr>
          <p:nvPr/>
        </p:nvSpPr>
        <p:spPr>
          <a:xfrm xmlns:a="http://schemas.openxmlformats.org/drawingml/2006/main">
            <a:off x="16885920" y="10178415"/>
            <a:ext cx="108966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332" name="svg_text_332">
            <a:extLst xmlns:a="http://schemas.openxmlformats.org/drawingml/2006/main">
              <a:ext uri="{FF2B5EF4-FFF2-40B4-BE49-F238E27FC236}">
                <a16:creationId xmlns:a16="http://schemas.microsoft.com/office/drawing/2014/main" id="{3ED975C3-1C20-433F-937A-52170E10FAD3}"/>
              </a:ext>
            </a:extLst>
          </p:cNvPr>
          <p:cNvSpPr>
            <a:spLocks xmlns:a="http://schemas.openxmlformats.org/drawingml/2006/main" noGrp="1"/>
          </p:cNvSpPr>
          <p:nvPr/>
        </p:nvSpPr>
        <p:spPr>
          <a:xfrm xmlns:a="http://schemas.openxmlformats.org/drawingml/2006/main">
            <a:off x="16924058" y="10255914"/>
            <a:ext cx="1013384"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Speech x̂</a:t>
            </a:r>
          </a:p>
        </p:txBody>
      </p:sp>
      <p:sp>
        <p:nvSpPr>
          <p:cNvPr id="333" name="svg_text_333">
            <a:extLst xmlns:a="http://schemas.openxmlformats.org/drawingml/2006/main">
              <a:ext uri="{FF2B5EF4-FFF2-40B4-BE49-F238E27FC236}">
                <a16:creationId xmlns:a16="http://schemas.microsoft.com/office/drawing/2014/main" id="{DFC34351-0C04-4A3C-8C97-21586D17FC2E}"/>
              </a:ext>
            </a:extLst>
          </p:cNvPr>
          <p:cNvSpPr>
            <a:spLocks xmlns:a="http://schemas.openxmlformats.org/drawingml/2006/main" noGrp="1"/>
          </p:cNvSpPr>
          <p:nvPr/>
        </p:nvSpPr>
        <p:spPr>
          <a:xfrm xmlns:a="http://schemas.openxmlformats.org/drawingml/2006/main">
            <a:off x="16924058" y="10524496"/>
            <a:ext cx="101338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from Panel 4</a:t>
            </a:r>
          </a:p>
        </p:txBody>
      </p:sp>
      <p:sp>
        <p:nvSpPr>
          <p:cNvPr id="334" name="svg_path_334">
            <a:extLst xmlns:a="http://schemas.openxmlformats.org/drawingml/2006/main">
              <a:ext uri="{FF2B5EF4-FFF2-40B4-BE49-F238E27FC236}">
                <a16:creationId xmlns:a16="http://schemas.microsoft.com/office/drawing/2014/main" id="{07ED0035-B9E6-4A66-925F-91B5F5B4988E}"/>
              </a:ext>
            </a:extLst>
          </p:cNvPr>
          <p:cNvSpPr>
            <a:spLocks xmlns:a="http://schemas.openxmlformats.org/drawingml/2006/main" noGrp="1"/>
          </p:cNvSpPr>
          <p:nvPr/>
        </p:nvSpPr>
        <p:spPr>
          <a:xfrm xmlns:a="http://schemas.openxmlformats.org/drawingml/2006/main">
            <a:off x="17954625" y="10525125"/>
            <a:ext cx="238125" cy="9525"/>
          </a:xfrm>
          <a:custGeom xmlns:a="http://schemas.openxmlformats.org/drawingml/2006/main">
            <a:pathLst>
              <a:path w="238125" h="9525">
                <a:moveTo>
                  <a:pt x="0" y="0"/>
                </a:moveTo>
                <a:lnTo>
                  <a:pt x="238125" y="0"/>
                </a:lnTo>
              </a:path>
            </a:pathLst>
          </a:custGeom>
          <a:noFill xmlns:a="http://schemas.openxmlformats.org/drawingml/2006/main"/>
          <a:ln xmlns:a="http://schemas.openxmlformats.org/drawingml/2006/main" w="30956">
            <a:solidFill>
              <a:srgbClr val="2386D8"/>
            </a:solidFill>
            <a:prstDash val="solid"/>
          </a:ln>
        </p:spPr>
      </p:sp>
      <p:sp>
        <p:nvSpPr>
          <p:cNvPr id="335" name="svg_arrowhead_335">
            <a:extLst xmlns:a="http://schemas.openxmlformats.org/drawingml/2006/main">
              <a:ext uri="{FF2B5EF4-FFF2-40B4-BE49-F238E27FC236}">
                <a16:creationId xmlns:a16="http://schemas.microsoft.com/office/drawing/2014/main" id="{AB6E8452-49E2-4DE6-9347-A0023F7B6115}"/>
              </a:ext>
            </a:extLst>
          </p:cNvPr>
          <p:cNvSpPr>
            <a:spLocks xmlns:a="http://schemas.openxmlformats.org/drawingml/2006/main" noGrp="1"/>
          </p:cNvSpPr>
          <p:nvPr/>
        </p:nvSpPr>
        <p:spPr>
          <a:xfrm xmlns:a="http://schemas.openxmlformats.org/drawingml/2006/main">
            <a:off x="18059400" y="104584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36" name="svg_rect_336">
            <a:extLst xmlns:a="http://schemas.openxmlformats.org/drawingml/2006/main">
              <a:ext uri="{FF2B5EF4-FFF2-40B4-BE49-F238E27FC236}">
                <a16:creationId xmlns:a16="http://schemas.microsoft.com/office/drawing/2014/main" id="{E5D91947-8DD8-4556-A377-9580C1725985}"/>
              </a:ext>
            </a:extLst>
          </p:cNvPr>
          <p:cNvSpPr>
            <a:spLocks xmlns:a="http://schemas.openxmlformats.org/drawingml/2006/main" noGrp="1"/>
          </p:cNvSpPr>
          <p:nvPr/>
        </p:nvSpPr>
        <p:spPr>
          <a:xfrm xmlns:a="http://schemas.openxmlformats.org/drawingml/2006/main">
            <a:off x="18168938" y="10178415"/>
            <a:ext cx="123825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337" name="svg_text_337">
            <a:extLst xmlns:a="http://schemas.openxmlformats.org/drawingml/2006/main">
              <a:ext uri="{FF2B5EF4-FFF2-40B4-BE49-F238E27FC236}">
                <a16:creationId xmlns:a16="http://schemas.microsoft.com/office/drawing/2014/main" id="{5B8CDE1C-58DC-4966-8F61-AC3B803A6642}"/>
              </a:ext>
            </a:extLst>
          </p:cNvPr>
          <p:cNvSpPr>
            <a:spLocks xmlns:a="http://schemas.openxmlformats.org/drawingml/2006/main" noGrp="1"/>
          </p:cNvSpPr>
          <p:nvPr/>
        </p:nvSpPr>
        <p:spPr>
          <a:xfrm xmlns:a="http://schemas.openxmlformats.org/drawingml/2006/main">
            <a:off x="18212276" y="102559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Frozen</a:t>
            </a:r>
          </a:p>
        </p:txBody>
      </p:sp>
      <p:sp>
        <p:nvSpPr>
          <p:cNvPr id="338" name="svg_text_338">
            <a:extLst xmlns:a="http://schemas.openxmlformats.org/drawingml/2006/main">
              <a:ext uri="{FF2B5EF4-FFF2-40B4-BE49-F238E27FC236}">
                <a16:creationId xmlns:a16="http://schemas.microsoft.com/office/drawing/2014/main" id="{5BD91DE9-E3CF-45C0-A961-536176FC7C8D}"/>
              </a:ext>
            </a:extLst>
          </p:cNvPr>
          <p:cNvSpPr>
            <a:spLocks xmlns:a="http://schemas.openxmlformats.org/drawingml/2006/main" noGrp="1"/>
          </p:cNvSpPr>
          <p:nvPr/>
        </p:nvSpPr>
        <p:spPr>
          <a:xfrm xmlns:a="http://schemas.openxmlformats.org/drawingml/2006/main">
            <a:off x="18212276" y="10484514"/>
            <a:ext cx="1151573"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2544"/>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ECAPA-TDNN</a:t>
            </a:r>
          </a:p>
        </p:txBody>
      </p:sp>
      <p:sp>
        <p:nvSpPr>
          <p:cNvPr id="339" name="svg_path_339">
            <a:extLst xmlns:a="http://schemas.openxmlformats.org/drawingml/2006/main">
              <a:ext uri="{FF2B5EF4-FFF2-40B4-BE49-F238E27FC236}">
                <a16:creationId xmlns:a16="http://schemas.microsoft.com/office/drawing/2014/main" id="{B62FAAE3-B7E0-4F9E-808E-40450A5D08CE}"/>
              </a:ext>
            </a:extLst>
          </p:cNvPr>
          <p:cNvSpPr>
            <a:spLocks xmlns:a="http://schemas.openxmlformats.org/drawingml/2006/main" noGrp="1"/>
          </p:cNvSpPr>
          <p:nvPr/>
        </p:nvSpPr>
        <p:spPr>
          <a:xfrm xmlns:a="http://schemas.openxmlformats.org/drawingml/2006/main">
            <a:off x="19383375" y="1052512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30956">
            <a:solidFill>
              <a:srgbClr val="2386D8"/>
            </a:solidFill>
            <a:prstDash val="solid"/>
          </a:ln>
        </p:spPr>
      </p:sp>
      <p:sp>
        <p:nvSpPr>
          <p:cNvPr id="340" name="svg_arrowhead_340">
            <a:extLst xmlns:a="http://schemas.openxmlformats.org/drawingml/2006/main">
              <a:ext uri="{FF2B5EF4-FFF2-40B4-BE49-F238E27FC236}">
                <a16:creationId xmlns:a16="http://schemas.microsoft.com/office/drawing/2014/main" id="{C1086532-2546-4CDF-8193-7EBFFB5F98D2}"/>
              </a:ext>
            </a:extLst>
          </p:cNvPr>
          <p:cNvSpPr>
            <a:spLocks xmlns:a="http://schemas.openxmlformats.org/drawingml/2006/main" noGrp="1"/>
          </p:cNvSpPr>
          <p:nvPr/>
        </p:nvSpPr>
        <p:spPr>
          <a:xfrm xmlns:a="http://schemas.openxmlformats.org/drawingml/2006/main">
            <a:off x="19440525" y="104584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41" name="svg_rect_341">
            <a:extLst xmlns:a="http://schemas.openxmlformats.org/drawingml/2006/main">
              <a:ext uri="{FF2B5EF4-FFF2-40B4-BE49-F238E27FC236}">
                <a16:creationId xmlns:a16="http://schemas.microsoft.com/office/drawing/2014/main" id="{2858A2B2-6B0A-417F-84EA-4213FF871233}"/>
              </a:ext>
            </a:extLst>
          </p:cNvPr>
          <p:cNvSpPr>
            <a:spLocks xmlns:a="http://schemas.openxmlformats.org/drawingml/2006/main" noGrp="1"/>
          </p:cNvSpPr>
          <p:nvPr/>
        </p:nvSpPr>
        <p:spPr>
          <a:xfrm xmlns:a="http://schemas.openxmlformats.org/drawingml/2006/main">
            <a:off x="19551015" y="10178415"/>
            <a:ext cx="1188720" cy="693420"/>
          </a:xfrm>
          <a:prstGeom xmlns:a="http://schemas.openxmlformats.org/drawingml/2006/main" prst="roundRect">
            <a:avLst>
              <a:gd name="adj" fmla="val 10989"/>
            </a:avLst>
          </a:prstGeom>
          <a:solidFill xmlns:a="http://schemas.openxmlformats.org/drawingml/2006/main">
            <a:srgbClr val="EDF6FF"/>
          </a:solidFill>
          <a:ln xmlns:a="http://schemas.openxmlformats.org/drawingml/2006/main" w="24765">
            <a:solidFill>
              <a:srgbClr val="408FD2"/>
            </a:solidFill>
            <a:prstDash val="solid"/>
          </a:ln>
        </p:spPr>
      </p:sp>
      <p:sp>
        <p:nvSpPr>
          <p:cNvPr id="342" name="svg_text_342">
            <a:extLst xmlns:a="http://schemas.openxmlformats.org/drawingml/2006/main">
              <a:ext uri="{FF2B5EF4-FFF2-40B4-BE49-F238E27FC236}">
                <a16:creationId xmlns:a16="http://schemas.microsoft.com/office/drawing/2014/main" id="{F912C12E-0191-498A-973F-551EFA263CEB}"/>
              </a:ext>
            </a:extLst>
          </p:cNvPr>
          <p:cNvSpPr>
            <a:spLocks xmlns:a="http://schemas.openxmlformats.org/drawingml/2006/main" noGrp="1"/>
          </p:cNvSpPr>
          <p:nvPr/>
        </p:nvSpPr>
        <p:spPr>
          <a:xfrm xmlns:a="http://schemas.openxmlformats.org/drawingml/2006/main">
            <a:off x="19592620" y="10255914"/>
            <a:ext cx="110551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Trainable</a:t>
            </a:r>
          </a:p>
        </p:txBody>
      </p:sp>
      <p:sp>
        <p:nvSpPr>
          <p:cNvPr id="343" name="svg_text_343">
            <a:extLst xmlns:a="http://schemas.openxmlformats.org/drawingml/2006/main">
              <a:ext uri="{FF2B5EF4-FFF2-40B4-BE49-F238E27FC236}">
                <a16:creationId xmlns:a16="http://schemas.microsoft.com/office/drawing/2014/main" id="{A3AED337-3338-497E-A652-6339D1AA77CC}"/>
              </a:ext>
            </a:extLst>
          </p:cNvPr>
          <p:cNvSpPr>
            <a:spLocks xmlns:a="http://schemas.openxmlformats.org/drawingml/2006/main" noGrp="1"/>
          </p:cNvSpPr>
          <p:nvPr/>
        </p:nvSpPr>
        <p:spPr>
          <a:xfrm xmlns:a="http://schemas.openxmlformats.org/drawingml/2006/main">
            <a:off x="19592620" y="10484514"/>
            <a:ext cx="1105510"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Projection</a:t>
            </a:r>
          </a:p>
        </p:txBody>
      </p:sp>
      <p:sp>
        <p:nvSpPr>
          <p:cNvPr id="344" name="svg_text_344">
            <a:extLst xmlns:a="http://schemas.openxmlformats.org/drawingml/2006/main">
              <a:ext uri="{FF2B5EF4-FFF2-40B4-BE49-F238E27FC236}">
                <a16:creationId xmlns:a16="http://schemas.microsoft.com/office/drawing/2014/main" id="{C6A00730-A49A-4AE6-924B-A88F2D720642}"/>
              </a:ext>
            </a:extLst>
          </p:cNvPr>
          <p:cNvSpPr>
            <a:spLocks xmlns:a="http://schemas.openxmlformats.org/drawingml/2006/main" noGrp="1"/>
          </p:cNvSpPr>
          <p:nvPr/>
        </p:nvSpPr>
        <p:spPr>
          <a:xfrm xmlns:a="http://schemas.openxmlformats.org/drawingml/2006/main">
            <a:off x="19590391" y="10905496"/>
            <a:ext cx="1109967"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 e_audio</a:t>
            </a:r>
          </a:p>
        </p:txBody>
      </p:sp>
      <p:sp>
        <p:nvSpPr>
          <p:cNvPr id="345" name="svg_rect_345">
            <a:extLst xmlns:a="http://schemas.openxmlformats.org/drawingml/2006/main">
              <a:ext uri="{FF2B5EF4-FFF2-40B4-BE49-F238E27FC236}">
                <a16:creationId xmlns:a16="http://schemas.microsoft.com/office/drawing/2014/main" id="{A8D6C43F-E328-44EA-840C-C6C5BAB83061}"/>
              </a:ext>
            </a:extLst>
          </p:cNvPr>
          <p:cNvSpPr>
            <a:spLocks xmlns:a="http://schemas.openxmlformats.org/drawingml/2006/main" noGrp="1"/>
          </p:cNvSpPr>
          <p:nvPr/>
        </p:nvSpPr>
        <p:spPr>
          <a:xfrm xmlns:a="http://schemas.openxmlformats.org/drawingml/2006/main">
            <a:off x="19971068" y="8153400"/>
            <a:ext cx="1634490" cy="1981200"/>
          </a:xfrm>
          <a:prstGeom xmlns:a="http://schemas.openxmlformats.org/drawingml/2006/main" prst="roundRect">
            <a:avLst>
              <a:gd name="adj" fmla="val 4662"/>
            </a:avLst>
          </a:prstGeom>
          <a:solidFill xmlns:a="http://schemas.openxmlformats.org/drawingml/2006/main">
            <a:srgbClr val="EDF6FF"/>
          </a:solidFill>
          <a:ln xmlns:a="http://schemas.openxmlformats.org/drawingml/2006/main" w="24765">
            <a:solidFill>
              <a:srgbClr val="408FD2"/>
            </a:solidFill>
            <a:prstDash val="solid"/>
          </a:ln>
        </p:spPr>
      </p:sp>
      <p:sp>
        <p:nvSpPr>
          <p:cNvPr id="346" name="svg_text_346">
            <a:extLst xmlns:a="http://schemas.openxmlformats.org/drawingml/2006/main">
              <a:ext uri="{FF2B5EF4-FFF2-40B4-BE49-F238E27FC236}">
                <a16:creationId xmlns:a16="http://schemas.microsoft.com/office/drawing/2014/main" id="{25B4DDC5-F145-4526-9909-C47FD684D246}"/>
              </a:ext>
            </a:extLst>
          </p:cNvPr>
          <p:cNvSpPr>
            <a:spLocks xmlns:a="http://schemas.openxmlformats.org/drawingml/2006/main" noGrp="1"/>
          </p:cNvSpPr>
          <p:nvPr/>
        </p:nvSpPr>
        <p:spPr>
          <a:xfrm xmlns:a="http://schemas.openxmlformats.org/drawingml/2006/main">
            <a:off x="20028275" y="8322339"/>
            <a:ext cx="1520076"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Learned Gate g</a:t>
            </a:r>
          </a:p>
        </p:txBody>
      </p:sp>
      <p:sp>
        <p:nvSpPr>
          <p:cNvPr id="347" name="svg_text_347">
            <a:extLst xmlns:a="http://schemas.openxmlformats.org/drawingml/2006/main">
              <a:ext uri="{FF2B5EF4-FFF2-40B4-BE49-F238E27FC236}">
                <a16:creationId xmlns:a16="http://schemas.microsoft.com/office/drawing/2014/main" id="{CD06BB35-21BE-40ED-AEBA-EE67BC8EE73B}"/>
              </a:ext>
            </a:extLst>
          </p:cNvPr>
          <p:cNvSpPr>
            <a:spLocks xmlns:a="http://schemas.openxmlformats.org/drawingml/2006/main" noGrp="1"/>
          </p:cNvSpPr>
          <p:nvPr/>
        </p:nvSpPr>
        <p:spPr>
          <a:xfrm xmlns:a="http://schemas.openxmlformats.org/drawingml/2006/main">
            <a:off x="20028275" y="8898988"/>
            <a:ext cx="1520076"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e_fused =</a:t>
            </a:r>
          </a:p>
        </p:txBody>
      </p:sp>
      <p:sp>
        <p:nvSpPr>
          <p:cNvPr id="348" name="svg_text_348">
            <a:extLst xmlns:a="http://schemas.openxmlformats.org/drawingml/2006/main">
              <a:ext uri="{FF2B5EF4-FFF2-40B4-BE49-F238E27FC236}">
                <a16:creationId xmlns:a16="http://schemas.microsoft.com/office/drawing/2014/main" id="{51F0C7C2-19A8-4283-B291-16C444B30CF2}"/>
              </a:ext>
            </a:extLst>
          </p:cNvPr>
          <p:cNvSpPr>
            <a:spLocks xmlns:a="http://schemas.openxmlformats.org/drawingml/2006/main" noGrp="1"/>
          </p:cNvSpPr>
          <p:nvPr/>
        </p:nvSpPr>
        <p:spPr>
          <a:xfrm xmlns:a="http://schemas.openxmlformats.org/drawingml/2006/main">
            <a:off x="20028275" y="9203788"/>
            <a:ext cx="1520076"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g e_token +</a:t>
            </a:r>
          </a:p>
        </p:txBody>
      </p:sp>
      <p:sp>
        <p:nvSpPr>
          <p:cNvPr id="349" name="svg_text_349">
            <a:extLst xmlns:a="http://schemas.openxmlformats.org/drawingml/2006/main">
              <a:ext uri="{FF2B5EF4-FFF2-40B4-BE49-F238E27FC236}">
                <a16:creationId xmlns:a16="http://schemas.microsoft.com/office/drawing/2014/main" id="{59584A41-DB19-4F20-8A29-69DB2C646BB3}"/>
              </a:ext>
            </a:extLst>
          </p:cNvPr>
          <p:cNvSpPr>
            <a:spLocks xmlns:a="http://schemas.openxmlformats.org/drawingml/2006/main" noGrp="1"/>
          </p:cNvSpPr>
          <p:nvPr/>
        </p:nvSpPr>
        <p:spPr>
          <a:xfrm xmlns:a="http://schemas.openxmlformats.org/drawingml/2006/main">
            <a:off x="20028275" y="9508588"/>
            <a:ext cx="1520076" cy="2755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66" b="0" i="1">
                <a:solidFill>
                  <a:srgbClr val="111827"/>
                </a:solidFill>
                <a:latin typeface="Georgia"/>
                <a:ea typeface="Georgia"/>
                <a:cs typeface="Georgia"/>
              </a:defRPr>
            </a:pPr>
            <a:r>
              <a:rPr sz="1466" b="0" i="1">
                <a:solidFill>
                  <a:srgbClr val="111827"/>
                </a:solidFill>
                <a:latin typeface="Georgia"/>
                <a:ea typeface="Georgia"/>
                <a:cs typeface="Georgia"/>
              </a:rPr>
              <a:t>(1−g)e_audio</a:t>
            </a:r>
          </a:p>
        </p:txBody>
      </p:sp>
      <p:sp>
        <p:nvSpPr>
          <p:cNvPr id="350" name="svg_path_350">
            <a:extLst xmlns:a="http://schemas.openxmlformats.org/drawingml/2006/main">
              <a:ext uri="{FF2B5EF4-FFF2-40B4-BE49-F238E27FC236}">
                <a16:creationId xmlns:a16="http://schemas.microsoft.com/office/drawing/2014/main" id="{441FB917-6FC8-4BCE-9107-8D85EBFA3E48}"/>
              </a:ext>
            </a:extLst>
          </p:cNvPr>
          <p:cNvSpPr>
            <a:spLocks xmlns:a="http://schemas.openxmlformats.org/drawingml/2006/main" noGrp="1"/>
          </p:cNvSpPr>
          <p:nvPr/>
        </p:nvSpPr>
        <p:spPr>
          <a:xfrm xmlns:a="http://schemas.openxmlformats.org/drawingml/2006/main">
            <a:off x="19573875" y="8477250"/>
            <a:ext cx="428625" cy="9525"/>
          </a:xfrm>
          <a:custGeom xmlns:a="http://schemas.openxmlformats.org/drawingml/2006/main">
            <a:pathLst>
              <a:path w="428625" h="9525">
                <a:moveTo>
                  <a:pt x="0" y="0"/>
                </a:moveTo>
                <a:lnTo>
                  <a:pt x="428625" y="0"/>
                </a:lnTo>
              </a:path>
            </a:pathLst>
          </a:custGeom>
          <a:noFill xmlns:a="http://schemas.openxmlformats.org/drawingml/2006/main"/>
          <a:ln xmlns:a="http://schemas.openxmlformats.org/drawingml/2006/main" w="24765">
            <a:solidFill>
              <a:srgbClr val="2386D8"/>
            </a:solidFill>
            <a:prstDash val="solid"/>
          </a:ln>
        </p:spPr>
      </p:sp>
      <p:sp>
        <p:nvSpPr>
          <p:cNvPr id="351" name="svg_arrowhead_351">
            <a:extLst xmlns:a="http://schemas.openxmlformats.org/drawingml/2006/main">
              <a:ext uri="{FF2B5EF4-FFF2-40B4-BE49-F238E27FC236}">
                <a16:creationId xmlns:a16="http://schemas.microsoft.com/office/drawing/2014/main" id="{62ABE228-39BC-4341-800E-1202879A35FD}"/>
              </a:ext>
            </a:extLst>
          </p:cNvPr>
          <p:cNvSpPr>
            <a:spLocks xmlns:a="http://schemas.openxmlformats.org/drawingml/2006/main" noGrp="1"/>
          </p:cNvSpPr>
          <p:nvPr/>
        </p:nvSpPr>
        <p:spPr>
          <a:xfrm xmlns:a="http://schemas.openxmlformats.org/drawingml/2006/main">
            <a:off x="19869150" y="841057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52" name="svg_path_352">
            <a:extLst xmlns:a="http://schemas.openxmlformats.org/drawingml/2006/main">
              <a:ext uri="{FF2B5EF4-FFF2-40B4-BE49-F238E27FC236}">
                <a16:creationId xmlns:a16="http://schemas.microsoft.com/office/drawing/2014/main" id="{7508AA87-8664-4D39-94A4-38081E7C62A7}"/>
              </a:ext>
            </a:extLst>
          </p:cNvPr>
          <p:cNvSpPr>
            <a:spLocks xmlns:a="http://schemas.openxmlformats.org/drawingml/2006/main" noGrp="1"/>
          </p:cNvSpPr>
          <p:nvPr/>
        </p:nvSpPr>
        <p:spPr>
          <a:xfrm xmlns:a="http://schemas.openxmlformats.org/drawingml/2006/main">
            <a:off x="20716875" y="10096500"/>
            <a:ext cx="66675" cy="428625"/>
          </a:xfrm>
          <a:custGeom xmlns:a="http://schemas.openxmlformats.org/drawingml/2006/main">
            <a:pathLst>
              <a:path w="66675" h="428625">
                <a:moveTo>
                  <a:pt x="0" y="428625"/>
                </a:moveTo>
                <a:lnTo>
                  <a:pt x="66675" y="428625"/>
                </a:lnTo>
                <a:lnTo>
                  <a:pt x="66675" y="0"/>
                </a:lnTo>
              </a:path>
            </a:pathLst>
          </a:custGeom>
          <a:noFill xmlns:a="http://schemas.openxmlformats.org/drawingml/2006/main"/>
          <a:ln xmlns:a="http://schemas.openxmlformats.org/drawingml/2006/main" w="24765">
            <a:solidFill>
              <a:srgbClr val="2386D8"/>
            </a:solidFill>
            <a:prstDash val="solid"/>
          </a:ln>
        </p:spPr>
      </p:sp>
      <p:sp>
        <p:nvSpPr>
          <p:cNvPr id="353" name="svg_arrowhead_353">
            <a:extLst xmlns:a="http://schemas.openxmlformats.org/drawingml/2006/main">
              <a:ext uri="{FF2B5EF4-FFF2-40B4-BE49-F238E27FC236}">
                <a16:creationId xmlns:a16="http://schemas.microsoft.com/office/drawing/2014/main" id="{5474AEC5-2332-4D66-91AB-A9204AEC3CDE}"/>
              </a:ext>
            </a:extLst>
          </p:cNvPr>
          <p:cNvSpPr>
            <a:spLocks xmlns:a="http://schemas.openxmlformats.org/drawingml/2006/main" noGrp="1"/>
          </p:cNvSpPr>
          <p:nvPr/>
        </p:nvSpPr>
        <p:spPr>
          <a:xfrm xmlns:a="http://schemas.openxmlformats.org/drawingml/2006/main">
            <a:off x="20716875" y="10096500"/>
            <a:ext cx="133350" cy="133350"/>
          </a:xfrm>
          <a:custGeom xmlns:a="http://schemas.openxmlformats.org/drawingml/2006/main">
            <a:pathLst>
              <a:path w="133350" h="133350">
                <a:moveTo>
                  <a:pt x="66675" y="0"/>
                </a:moveTo>
                <a:lnTo>
                  <a:pt x="133350" y="133350"/>
                </a:lnTo>
                <a:lnTo>
                  <a:pt x="0" y="13335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54" name="svg_path_354">
            <a:extLst xmlns:a="http://schemas.openxmlformats.org/drawingml/2006/main">
              <a:ext uri="{FF2B5EF4-FFF2-40B4-BE49-F238E27FC236}">
                <a16:creationId xmlns:a16="http://schemas.microsoft.com/office/drawing/2014/main" id="{B9CDA3FD-1864-4569-B0F8-B880BC0239EA}"/>
              </a:ext>
            </a:extLst>
          </p:cNvPr>
          <p:cNvSpPr>
            <a:spLocks xmlns:a="http://schemas.openxmlformats.org/drawingml/2006/main" noGrp="1"/>
          </p:cNvSpPr>
          <p:nvPr/>
        </p:nvSpPr>
        <p:spPr>
          <a:xfrm xmlns:a="http://schemas.openxmlformats.org/drawingml/2006/main">
            <a:off x="21574125" y="9144000"/>
            <a:ext cx="142875" cy="9525"/>
          </a:xfrm>
          <a:custGeom xmlns:a="http://schemas.openxmlformats.org/drawingml/2006/main">
            <a:pathLst>
              <a:path w="142875" h="9525">
                <a:moveTo>
                  <a:pt x="0" y="0"/>
                </a:moveTo>
                <a:lnTo>
                  <a:pt x="142875" y="0"/>
                </a:lnTo>
              </a:path>
            </a:pathLst>
          </a:custGeom>
          <a:noFill xmlns:a="http://schemas.openxmlformats.org/drawingml/2006/main"/>
          <a:ln xmlns:a="http://schemas.openxmlformats.org/drawingml/2006/main" w="30956">
            <a:solidFill>
              <a:srgbClr val="2386D8"/>
            </a:solidFill>
            <a:prstDash val="solid"/>
          </a:ln>
        </p:spPr>
      </p:sp>
      <p:sp>
        <p:nvSpPr>
          <p:cNvPr id="355" name="svg_arrowhead_355">
            <a:extLst xmlns:a="http://schemas.openxmlformats.org/drawingml/2006/main">
              <a:ext uri="{FF2B5EF4-FFF2-40B4-BE49-F238E27FC236}">
                <a16:creationId xmlns:a16="http://schemas.microsoft.com/office/drawing/2014/main" id="{96454380-92FC-45B4-9B56-839B8F7945A9}"/>
              </a:ext>
            </a:extLst>
          </p:cNvPr>
          <p:cNvSpPr>
            <a:spLocks xmlns:a="http://schemas.openxmlformats.org/drawingml/2006/main" noGrp="1"/>
          </p:cNvSpPr>
          <p:nvPr/>
        </p:nvSpPr>
        <p:spPr>
          <a:xfrm xmlns:a="http://schemas.openxmlformats.org/drawingml/2006/main">
            <a:off x="21583650" y="9077325"/>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56" name="svg_rect_356">
            <a:extLst xmlns:a="http://schemas.openxmlformats.org/drawingml/2006/main">
              <a:ext uri="{FF2B5EF4-FFF2-40B4-BE49-F238E27FC236}">
                <a16:creationId xmlns:a16="http://schemas.microsoft.com/office/drawing/2014/main" id="{98C30490-A158-4C1A-891F-0A73150443E7}"/>
              </a:ext>
            </a:extLst>
          </p:cNvPr>
          <p:cNvSpPr>
            <a:spLocks xmlns:a="http://schemas.openxmlformats.org/drawingml/2006/main" noGrp="1"/>
          </p:cNvSpPr>
          <p:nvPr/>
        </p:nvSpPr>
        <p:spPr>
          <a:xfrm xmlns:a="http://schemas.openxmlformats.org/drawingml/2006/main">
            <a:off x="21700808" y="8549640"/>
            <a:ext cx="842010" cy="1188720"/>
          </a:xfrm>
          <a:prstGeom xmlns:a="http://schemas.openxmlformats.org/drawingml/2006/main" prst="roundRect">
            <a:avLst>
              <a:gd name="adj" fmla="val 9050"/>
            </a:avLst>
          </a:prstGeom>
          <a:solidFill xmlns:a="http://schemas.openxmlformats.org/drawingml/2006/main">
            <a:srgbClr val="EDF6FF"/>
          </a:solidFill>
          <a:ln xmlns:a="http://schemas.openxmlformats.org/drawingml/2006/main" w="24765">
            <a:solidFill>
              <a:srgbClr val="408FD2"/>
            </a:solidFill>
            <a:prstDash val="solid"/>
          </a:ln>
        </p:spPr>
      </p:sp>
      <p:sp>
        <p:nvSpPr>
          <p:cNvPr id="357" name="svg_text_357">
            <a:extLst xmlns:a="http://schemas.openxmlformats.org/drawingml/2006/main">
              <a:ext uri="{FF2B5EF4-FFF2-40B4-BE49-F238E27FC236}">
                <a16:creationId xmlns:a16="http://schemas.microsoft.com/office/drawing/2014/main" id="{9429FDF0-64AB-4528-870E-3094736C3753}"/>
              </a:ext>
            </a:extLst>
          </p:cNvPr>
          <p:cNvSpPr>
            <a:spLocks xmlns:a="http://schemas.openxmlformats.org/drawingml/2006/main" noGrp="1"/>
          </p:cNvSpPr>
          <p:nvPr/>
        </p:nvSpPr>
        <p:spPr>
          <a:xfrm xmlns:a="http://schemas.openxmlformats.org/drawingml/2006/main">
            <a:off x="21738908" y="8821369"/>
            <a:ext cx="76581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840" b="1" i="0">
                <a:solidFill>
                  <a:srgbClr val="000000"/>
                </a:solidFill>
                <a:latin typeface="Arial"/>
                <a:ea typeface="Arial"/>
                <a:cs typeface="Arial"/>
              </a:defRPr>
            </a:pPr>
            <a:r>
              <a:rPr sz="840" b="1" i="0">
                <a:solidFill>
                  <a:srgbClr val="000000"/>
                </a:solidFill>
                <a:latin typeface="Arial"/>
                <a:ea typeface="Arial"/>
                <a:cs typeface="Arial"/>
              </a:rPr>
              <a:t>110-Speaker</a:t>
            </a:r>
          </a:p>
        </p:txBody>
      </p:sp>
      <p:sp>
        <p:nvSpPr>
          <p:cNvPr id="358" name="svg_text_358">
            <a:extLst xmlns:a="http://schemas.openxmlformats.org/drawingml/2006/main">
              <a:ext uri="{FF2B5EF4-FFF2-40B4-BE49-F238E27FC236}">
                <a16:creationId xmlns:a16="http://schemas.microsoft.com/office/drawing/2014/main" id="{45C2C7F5-4DB3-4B71-8ACA-E7DADD99876C}"/>
              </a:ext>
            </a:extLst>
          </p:cNvPr>
          <p:cNvSpPr>
            <a:spLocks xmlns:a="http://schemas.openxmlformats.org/drawingml/2006/main" noGrp="1"/>
          </p:cNvSpPr>
          <p:nvPr/>
        </p:nvSpPr>
        <p:spPr>
          <a:xfrm xmlns:a="http://schemas.openxmlformats.org/drawingml/2006/main">
            <a:off x="21738908" y="9030919"/>
            <a:ext cx="76581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840" b="1" i="0">
                <a:solidFill>
                  <a:srgbClr val="000000"/>
                </a:solidFill>
                <a:latin typeface="Arial"/>
                <a:ea typeface="Arial"/>
                <a:cs typeface="Arial"/>
              </a:defRPr>
            </a:pPr>
            <a:r>
              <a:rPr sz="840" b="1" i="0">
                <a:solidFill>
                  <a:srgbClr val="000000"/>
                </a:solidFill>
                <a:latin typeface="Arial"/>
                <a:ea typeface="Arial"/>
                <a:cs typeface="Arial"/>
              </a:rPr>
              <a:t>Closed-Set</a:t>
            </a:r>
          </a:p>
        </p:txBody>
      </p:sp>
      <p:sp>
        <p:nvSpPr>
          <p:cNvPr id="359" name="svg_text_359">
            <a:extLst xmlns:a="http://schemas.openxmlformats.org/drawingml/2006/main">
              <a:ext uri="{FF2B5EF4-FFF2-40B4-BE49-F238E27FC236}">
                <a16:creationId xmlns:a16="http://schemas.microsoft.com/office/drawing/2014/main" id="{AF623CC4-1B3F-4215-BBB0-511DE559395C}"/>
              </a:ext>
            </a:extLst>
          </p:cNvPr>
          <p:cNvSpPr>
            <a:spLocks xmlns:a="http://schemas.openxmlformats.org/drawingml/2006/main" noGrp="1"/>
          </p:cNvSpPr>
          <p:nvPr/>
        </p:nvSpPr>
        <p:spPr>
          <a:xfrm xmlns:a="http://schemas.openxmlformats.org/drawingml/2006/main">
            <a:off x="21738908" y="9240469"/>
            <a:ext cx="76581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840" b="1" i="0">
                <a:solidFill>
                  <a:srgbClr val="000000"/>
                </a:solidFill>
                <a:latin typeface="Arial"/>
                <a:ea typeface="Arial"/>
                <a:cs typeface="Arial"/>
              </a:defRPr>
            </a:pPr>
            <a:r>
              <a:rPr sz="840" b="1" i="0">
                <a:solidFill>
                  <a:srgbClr val="000000"/>
                </a:solidFill>
                <a:latin typeface="Arial"/>
                <a:ea typeface="Arial"/>
                <a:cs typeface="Arial"/>
              </a:rPr>
              <a:t>Classifier</a:t>
            </a:r>
          </a:p>
        </p:txBody>
      </p:sp>
      <p:sp>
        <p:nvSpPr>
          <p:cNvPr id="360" name="svg_path_360">
            <a:extLst xmlns:a="http://schemas.openxmlformats.org/drawingml/2006/main">
              <a:ext uri="{FF2B5EF4-FFF2-40B4-BE49-F238E27FC236}">
                <a16:creationId xmlns:a16="http://schemas.microsoft.com/office/drawing/2014/main" id="{CE9C61A0-ADBD-444A-8972-3A482044EBDE}"/>
              </a:ext>
            </a:extLst>
          </p:cNvPr>
          <p:cNvSpPr>
            <a:spLocks xmlns:a="http://schemas.openxmlformats.org/drawingml/2006/main" noGrp="1"/>
          </p:cNvSpPr>
          <p:nvPr/>
        </p:nvSpPr>
        <p:spPr>
          <a:xfrm xmlns:a="http://schemas.openxmlformats.org/drawingml/2006/main">
            <a:off x="21669375" y="9715500"/>
            <a:ext cx="447675" cy="1333500"/>
          </a:xfrm>
          <a:custGeom xmlns:a="http://schemas.openxmlformats.org/drawingml/2006/main">
            <a:pathLst>
              <a:path w="447675" h="1333500">
                <a:moveTo>
                  <a:pt x="447675" y="0"/>
                </a:moveTo>
                <a:lnTo>
                  <a:pt x="447675" y="1190625"/>
                </a:lnTo>
                <a:lnTo>
                  <a:pt x="0" y="1190625"/>
                </a:lnTo>
                <a:lnTo>
                  <a:pt x="0" y="1333500"/>
                </a:lnTo>
              </a:path>
            </a:pathLst>
          </a:custGeom>
          <a:noFill xmlns:a="http://schemas.openxmlformats.org/drawingml/2006/main"/>
          <a:ln xmlns:a="http://schemas.openxmlformats.org/drawingml/2006/main" w="24765">
            <a:solidFill>
              <a:srgbClr val="2386D8"/>
            </a:solidFill>
            <a:prstDash val="solid"/>
          </a:ln>
        </p:spPr>
      </p:sp>
      <p:sp>
        <p:nvSpPr>
          <p:cNvPr id="361" name="svg_arrowhead_361">
            <a:extLst xmlns:a="http://schemas.openxmlformats.org/drawingml/2006/main">
              <a:ext uri="{FF2B5EF4-FFF2-40B4-BE49-F238E27FC236}">
                <a16:creationId xmlns:a16="http://schemas.microsoft.com/office/drawing/2014/main" id="{34414472-451D-4494-A4FA-D31C7095FD25}"/>
              </a:ext>
            </a:extLst>
          </p:cNvPr>
          <p:cNvSpPr>
            <a:spLocks xmlns:a="http://schemas.openxmlformats.org/drawingml/2006/main" noGrp="1"/>
          </p:cNvSpPr>
          <p:nvPr/>
        </p:nvSpPr>
        <p:spPr>
          <a:xfrm xmlns:a="http://schemas.openxmlformats.org/drawingml/2006/main">
            <a:off x="21602700" y="10915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62" name="svg_rect_362">
            <a:extLst xmlns:a="http://schemas.openxmlformats.org/drawingml/2006/main">
              <a:ext uri="{FF2B5EF4-FFF2-40B4-BE49-F238E27FC236}">
                <a16:creationId xmlns:a16="http://schemas.microsoft.com/office/drawing/2014/main" id="{4B79B27B-67C1-4E5F-B14C-BBFE29A22A5B}"/>
              </a:ext>
            </a:extLst>
          </p:cNvPr>
          <p:cNvSpPr>
            <a:spLocks xmlns:a="http://schemas.openxmlformats.org/drawingml/2006/main" noGrp="1"/>
          </p:cNvSpPr>
          <p:nvPr/>
        </p:nvSpPr>
        <p:spPr>
          <a:xfrm xmlns:a="http://schemas.openxmlformats.org/drawingml/2006/main">
            <a:off x="20827365" y="11036618"/>
            <a:ext cx="1684020" cy="643890"/>
          </a:xfrm>
          <a:prstGeom xmlns:a="http://schemas.openxmlformats.org/drawingml/2006/main" prst="roundRect">
            <a:avLst>
              <a:gd name="adj" fmla="val 11834"/>
            </a:avLst>
          </a:prstGeom>
          <a:solidFill xmlns:a="http://schemas.openxmlformats.org/drawingml/2006/main">
            <a:srgbClr val="EDF6FF"/>
          </a:solidFill>
          <a:ln xmlns:a="http://schemas.openxmlformats.org/drawingml/2006/main" w="24765">
            <a:solidFill>
              <a:srgbClr val="408FD2"/>
            </a:solidFill>
            <a:prstDash val="solid"/>
          </a:ln>
        </p:spPr>
      </p:sp>
      <p:sp>
        <p:nvSpPr>
          <p:cNvPr id="363" name="svg_text_363">
            <a:extLst xmlns:a="http://schemas.openxmlformats.org/drawingml/2006/main">
              <a:ext uri="{FF2B5EF4-FFF2-40B4-BE49-F238E27FC236}">
                <a16:creationId xmlns:a16="http://schemas.microsoft.com/office/drawing/2014/main" id="{8B75FF94-C829-452C-806A-2896D8AADD81}"/>
              </a:ext>
            </a:extLst>
          </p:cNvPr>
          <p:cNvSpPr>
            <a:spLocks xmlns:a="http://schemas.openxmlformats.org/drawingml/2006/main" noGrp="1"/>
          </p:cNvSpPr>
          <p:nvPr/>
        </p:nvSpPr>
        <p:spPr>
          <a:xfrm xmlns:a="http://schemas.openxmlformats.org/drawingml/2006/main">
            <a:off x="20886306" y="11143621"/>
            <a:ext cx="156613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Predicted Speaker ID</a:t>
            </a:r>
          </a:p>
        </p:txBody>
      </p:sp>
      <p:sp>
        <p:nvSpPr>
          <p:cNvPr id="364" name="svg_text_364">
            <a:extLst xmlns:a="http://schemas.openxmlformats.org/drawingml/2006/main">
              <a:ext uri="{FF2B5EF4-FFF2-40B4-BE49-F238E27FC236}">
                <a16:creationId xmlns:a16="http://schemas.microsoft.com/office/drawing/2014/main" id="{FD235DF6-E27D-44B1-AEDF-74B68326DD75}"/>
              </a:ext>
            </a:extLst>
          </p:cNvPr>
          <p:cNvSpPr>
            <a:spLocks xmlns:a="http://schemas.openxmlformats.org/drawingml/2006/main" noGrp="1"/>
          </p:cNvSpPr>
          <p:nvPr/>
        </p:nvSpPr>
        <p:spPr>
          <a:xfrm xmlns:a="http://schemas.openxmlformats.org/drawingml/2006/main">
            <a:off x="20886306" y="11341764"/>
            <a:ext cx="1566139" cy="2827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5" b="1" i="0">
                <a:solidFill>
                  <a:srgbClr val="18232E"/>
                </a:solidFill>
                <a:latin typeface="Arial"/>
                <a:ea typeface="Arial"/>
                <a:cs typeface="Arial"/>
              </a:defRPr>
            </a:pPr>
            <a:r>
              <a:rPr sz="1505" b="1" i="0">
                <a:solidFill>
                  <a:srgbClr val="18232E"/>
                </a:solidFill>
                <a:latin typeface="Arial"/>
                <a:ea typeface="Arial"/>
                <a:cs typeface="Arial"/>
              </a:rPr>
              <a:t>p225</a:t>
            </a:r>
          </a:p>
        </p:txBody>
      </p:sp>
      <p:sp>
        <p:nvSpPr>
          <p:cNvPr id="365" name="svg_rect_365">
            <a:extLst xmlns:a="http://schemas.openxmlformats.org/drawingml/2006/main">
              <a:ext uri="{FF2B5EF4-FFF2-40B4-BE49-F238E27FC236}">
                <a16:creationId xmlns:a16="http://schemas.microsoft.com/office/drawing/2014/main" id="{86C5B076-0C1E-4ABB-A5EF-CC72E2143616}"/>
              </a:ext>
            </a:extLst>
          </p:cNvPr>
          <p:cNvSpPr>
            <a:spLocks xmlns:a="http://schemas.openxmlformats.org/drawingml/2006/main" noGrp="1"/>
          </p:cNvSpPr>
          <p:nvPr/>
        </p:nvSpPr>
        <p:spPr>
          <a:xfrm xmlns:a="http://schemas.openxmlformats.org/drawingml/2006/main">
            <a:off x="16875443" y="12087606"/>
            <a:ext cx="1634490" cy="475488"/>
          </a:xfrm>
          <a:prstGeom xmlns:a="http://schemas.openxmlformats.org/drawingml/2006/main" prst="roundRect">
            <a:avLst>
              <a:gd name="adj" fmla="val 18029"/>
            </a:avLst>
          </a:prstGeom>
          <a:solidFill xmlns:a="http://schemas.openxmlformats.org/drawingml/2006/main">
            <a:srgbClr val="E4F2FF"/>
          </a:solidFill>
          <a:ln xmlns:a="http://schemas.openxmlformats.org/drawingml/2006/main" w="18574">
            <a:solidFill>
              <a:srgbClr val="78AFE0"/>
            </a:solidFill>
            <a:prstDash val="solid"/>
          </a:ln>
        </p:spPr>
      </p:sp>
      <p:sp>
        <p:nvSpPr>
          <p:cNvPr id="366" name="svg_text_366">
            <a:extLst xmlns:a="http://schemas.openxmlformats.org/drawingml/2006/main">
              <a:ext uri="{FF2B5EF4-FFF2-40B4-BE49-F238E27FC236}">
                <a16:creationId xmlns:a16="http://schemas.microsoft.com/office/drawing/2014/main" id="{254B215F-0A0B-4901-93EF-E1BEE4702206}"/>
              </a:ext>
            </a:extLst>
          </p:cNvPr>
          <p:cNvSpPr>
            <a:spLocks xmlns:a="http://schemas.openxmlformats.org/drawingml/2006/main" noGrp="1"/>
          </p:cNvSpPr>
          <p:nvPr/>
        </p:nvSpPr>
        <p:spPr>
          <a:xfrm xmlns:a="http://schemas.openxmlformats.org/drawingml/2006/main">
            <a:off x="16932650" y="12210421"/>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9578"/>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Frozen Speech Codec</a:t>
            </a:r>
          </a:p>
        </p:txBody>
      </p:sp>
      <p:sp>
        <p:nvSpPr>
          <p:cNvPr id="367" name="svg_rect_367">
            <a:extLst xmlns:a="http://schemas.openxmlformats.org/drawingml/2006/main">
              <a:ext uri="{FF2B5EF4-FFF2-40B4-BE49-F238E27FC236}">
                <a16:creationId xmlns:a16="http://schemas.microsoft.com/office/drawing/2014/main" id="{26BE0561-7C13-436A-8335-7D479238BA7D}"/>
              </a:ext>
            </a:extLst>
          </p:cNvPr>
          <p:cNvSpPr>
            <a:spLocks xmlns:a="http://schemas.openxmlformats.org/drawingml/2006/main" noGrp="1"/>
          </p:cNvSpPr>
          <p:nvPr/>
        </p:nvSpPr>
        <p:spPr>
          <a:xfrm xmlns:a="http://schemas.openxmlformats.org/drawingml/2006/main">
            <a:off x="18529935" y="12087606"/>
            <a:ext cx="2278380" cy="475488"/>
          </a:xfrm>
          <a:prstGeom xmlns:a="http://schemas.openxmlformats.org/drawingml/2006/main" prst="roundRect">
            <a:avLst>
              <a:gd name="adj" fmla="val 18029"/>
            </a:avLst>
          </a:prstGeom>
          <a:solidFill xmlns:a="http://schemas.openxmlformats.org/drawingml/2006/main">
            <a:srgbClr val="E4F2FF"/>
          </a:solidFill>
          <a:ln xmlns:a="http://schemas.openxmlformats.org/drawingml/2006/main" w="18574">
            <a:solidFill>
              <a:srgbClr val="78AFE0"/>
            </a:solidFill>
            <a:prstDash val="solid"/>
          </a:ln>
        </p:spPr>
      </p:sp>
      <p:sp>
        <p:nvSpPr>
          <p:cNvPr id="368" name="svg_text_368">
            <a:extLst xmlns:a="http://schemas.openxmlformats.org/drawingml/2006/main">
              <a:ext uri="{FF2B5EF4-FFF2-40B4-BE49-F238E27FC236}">
                <a16:creationId xmlns:a16="http://schemas.microsoft.com/office/drawing/2014/main" id="{706F05CB-F8EE-4F0F-B727-C3B3953EAEED}"/>
              </a:ext>
            </a:extLst>
          </p:cNvPr>
          <p:cNvSpPr>
            <a:spLocks xmlns:a="http://schemas.openxmlformats.org/drawingml/2006/main" noGrp="1"/>
          </p:cNvSpPr>
          <p:nvPr/>
        </p:nvSpPr>
        <p:spPr>
          <a:xfrm xmlns:a="http://schemas.openxmlformats.org/drawingml/2006/main">
            <a:off x="18609678" y="12210421"/>
            <a:ext cx="2118893"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Separately Trained Classifier</a:t>
            </a:r>
          </a:p>
        </p:txBody>
      </p:sp>
      <p:sp>
        <p:nvSpPr>
          <p:cNvPr id="369" name="svg_rect_369">
            <a:extLst xmlns:a="http://schemas.openxmlformats.org/drawingml/2006/main">
              <a:ext uri="{FF2B5EF4-FFF2-40B4-BE49-F238E27FC236}">
                <a16:creationId xmlns:a16="http://schemas.microsoft.com/office/drawing/2014/main" id="{0B0D55AA-0AAC-4A5B-B1AE-9E6760A777BD}"/>
              </a:ext>
            </a:extLst>
          </p:cNvPr>
          <p:cNvSpPr>
            <a:spLocks xmlns:a="http://schemas.openxmlformats.org/drawingml/2006/main" noGrp="1"/>
          </p:cNvSpPr>
          <p:nvPr/>
        </p:nvSpPr>
        <p:spPr>
          <a:xfrm xmlns:a="http://schemas.openxmlformats.org/drawingml/2006/main">
            <a:off x="20828318" y="12087606"/>
            <a:ext cx="1634490" cy="475488"/>
          </a:xfrm>
          <a:prstGeom xmlns:a="http://schemas.openxmlformats.org/drawingml/2006/main" prst="roundRect">
            <a:avLst>
              <a:gd name="adj" fmla="val 18029"/>
            </a:avLst>
          </a:prstGeom>
          <a:solidFill xmlns:a="http://schemas.openxmlformats.org/drawingml/2006/main">
            <a:srgbClr val="E4F2FF"/>
          </a:solidFill>
          <a:ln xmlns:a="http://schemas.openxmlformats.org/drawingml/2006/main" w="18574">
            <a:solidFill>
              <a:srgbClr val="78AFE0"/>
            </a:solidFill>
            <a:prstDash val="solid"/>
          </a:ln>
        </p:spPr>
      </p:sp>
      <p:sp>
        <p:nvSpPr>
          <p:cNvPr id="370" name="svg_text_370">
            <a:extLst xmlns:a="http://schemas.openxmlformats.org/drawingml/2006/main">
              <a:ext uri="{FF2B5EF4-FFF2-40B4-BE49-F238E27FC236}">
                <a16:creationId xmlns:a16="http://schemas.microsoft.com/office/drawing/2014/main" id="{FFE22852-4F5D-40E8-8921-05A7E62E70F2}"/>
              </a:ext>
            </a:extLst>
          </p:cNvPr>
          <p:cNvSpPr>
            <a:spLocks xmlns:a="http://schemas.openxmlformats.org/drawingml/2006/main" noGrp="1"/>
          </p:cNvSpPr>
          <p:nvPr/>
        </p:nvSpPr>
        <p:spPr>
          <a:xfrm xmlns:a="http://schemas.openxmlformats.org/drawingml/2006/main">
            <a:off x="20885525" y="12144284"/>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Receiver-side only;</a:t>
            </a:r>
          </a:p>
        </p:txBody>
      </p:sp>
      <p:sp>
        <p:nvSpPr>
          <p:cNvPr id="371" name="svg_text_371">
            <a:extLst xmlns:a="http://schemas.openxmlformats.org/drawingml/2006/main">
              <a:ext uri="{FF2B5EF4-FFF2-40B4-BE49-F238E27FC236}">
                <a16:creationId xmlns:a16="http://schemas.microsoft.com/office/drawing/2014/main" id="{9A8E2F71-9BFC-4DC1-BB9D-355FCB0AE6F1}"/>
              </a:ext>
            </a:extLst>
          </p:cNvPr>
          <p:cNvSpPr>
            <a:spLocks xmlns:a="http://schemas.openxmlformats.org/drawingml/2006/main" noGrp="1"/>
          </p:cNvSpPr>
          <p:nvPr/>
        </p:nvSpPr>
        <p:spPr>
          <a:xfrm xmlns:a="http://schemas.openxmlformats.org/drawingml/2006/main">
            <a:off x="20885525" y="12305919"/>
            <a:ext cx="1520076"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7941"/>
          </a:bodyPr>
          <a:lstStyle xmlns:a="http://schemas.openxmlformats.org/drawingml/2006/main"/>
          <a:p xmlns:a="http://schemas.openxmlformats.org/drawingml/2006/main">
            <a:pPr algn="ctr">
              <a:defRPr sz="1062" b="0" i="0">
                <a:solidFill>
                  <a:srgbClr val="415466"/>
                </a:solidFill>
                <a:latin typeface="Arial"/>
                <a:ea typeface="Arial"/>
                <a:cs typeface="Arial"/>
              </a:defRPr>
            </a:pPr>
            <a:r>
              <a:rPr sz="1062" b="0" i="0">
                <a:solidFill>
                  <a:srgbClr val="415466"/>
                </a:solidFill>
                <a:latin typeface="Arial"/>
                <a:ea typeface="Arial"/>
                <a:cs typeface="Arial"/>
              </a:rPr>
              <a:t>no additional transmission</a:t>
            </a:r>
          </a:p>
        </p:txBody>
      </p:sp>
      <p:sp>
        <p:nvSpPr>
          <p:cNvPr id="372" name="svg_path_372">
            <a:extLst xmlns:a="http://schemas.openxmlformats.org/drawingml/2006/main">
              <a:ext uri="{FF2B5EF4-FFF2-40B4-BE49-F238E27FC236}">
                <a16:creationId xmlns:a16="http://schemas.microsoft.com/office/drawing/2014/main" id="{FBF9422F-25A1-4955-B9E9-2F1EDD476261}"/>
              </a:ext>
            </a:extLst>
          </p:cNvPr>
          <p:cNvSpPr>
            <a:spLocks xmlns:a="http://schemas.openxmlformats.org/drawingml/2006/main" noGrp="1"/>
          </p:cNvSpPr>
          <p:nvPr/>
        </p:nvSpPr>
        <p:spPr>
          <a:xfrm xmlns:a="http://schemas.openxmlformats.org/drawingml/2006/main">
            <a:off x="17259300" y="5143500"/>
            <a:ext cx="28575" cy="1333500"/>
          </a:xfrm>
          <a:custGeom xmlns:a="http://schemas.openxmlformats.org/drawingml/2006/main">
            <a:pathLst>
              <a:path w="28575" h="1333500">
                <a:moveTo>
                  <a:pt x="0" y="0"/>
                </a:moveTo>
                <a:lnTo>
                  <a:pt x="0" y="1238250"/>
                </a:lnTo>
                <a:lnTo>
                  <a:pt x="28575" y="1238250"/>
                </a:lnTo>
                <a:lnTo>
                  <a:pt x="28575" y="1333500"/>
                </a:lnTo>
              </a:path>
            </a:pathLst>
          </a:custGeom>
          <a:noFill xmlns:a="http://schemas.openxmlformats.org/drawingml/2006/main"/>
          <a:ln xmlns:a="http://schemas.openxmlformats.org/drawingml/2006/main" w="24765">
            <a:solidFill>
              <a:srgbClr val="2386D8"/>
            </a:solidFill>
            <a:prstDash val="dash"/>
          </a:ln>
        </p:spPr>
      </p:sp>
      <p:sp>
        <p:nvSpPr>
          <p:cNvPr id="373" name="svg_arrowhead_373">
            <a:extLst xmlns:a="http://schemas.openxmlformats.org/drawingml/2006/main">
              <a:ext uri="{FF2B5EF4-FFF2-40B4-BE49-F238E27FC236}">
                <a16:creationId xmlns:a16="http://schemas.microsoft.com/office/drawing/2014/main" id="{50798F0A-D950-49CD-A3F4-0FC60810DDEE}"/>
              </a:ext>
            </a:extLst>
          </p:cNvPr>
          <p:cNvSpPr>
            <a:spLocks xmlns:a="http://schemas.openxmlformats.org/drawingml/2006/main" noGrp="1"/>
          </p:cNvSpPr>
          <p:nvPr/>
        </p:nvSpPr>
        <p:spPr>
          <a:xfrm xmlns:a="http://schemas.openxmlformats.org/drawingml/2006/main">
            <a:off x="17221200" y="6343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74" name="svg_path_374">
            <a:extLst xmlns:a="http://schemas.openxmlformats.org/drawingml/2006/main">
              <a:ext uri="{FF2B5EF4-FFF2-40B4-BE49-F238E27FC236}">
                <a16:creationId xmlns:a16="http://schemas.microsoft.com/office/drawing/2014/main" id="{209DA230-CC49-416C-A61E-C311F4721768}"/>
              </a:ext>
            </a:extLst>
          </p:cNvPr>
          <p:cNvSpPr>
            <a:spLocks xmlns:a="http://schemas.openxmlformats.org/drawingml/2006/main" noGrp="1"/>
          </p:cNvSpPr>
          <p:nvPr/>
        </p:nvSpPr>
        <p:spPr>
          <a:xfrm xmlns:a="http://schemas.openxmlformats.org/drawingml/2006/main">
            <a:off x="22288500" y="4905375"/>
            <a:ext cx="95250" cy="1571625"/>
          </a:xfrm>
          <a:custGeom xmlns:a="http://schemas.openxmlformats.org/drawingml/2006/main">
            <a:pathLst>
              <a:path w="95250" h="1571625">
                <a:moveTo>
                  <a:pt x="95250" y="0"/>
                </a:moveTo>
                <a:lnTo>
                  <a:pt x="95250" y="1428750"/>
                </a:lnTo>
                <a:lnTo>
                  <a:pt x="0" y="1428750"/>
                </a:lnTo>
                <a:lnTo>
                  <a:pt x="0" y="1571625"/>
                </a:lnTo>
              </a:path>
            </a:pathLst>
          </a:custGeom>
          <a:noFill xmlns:a="http://schemas.openxmlformats.org/drawingml/2006/main"/>
          <a:ln xmlns:a="http://schemas.openxmlformats.org/drawingml/2006/main" w="24765">
            <a:solidFill>
              <a:srgbClr val="2386D8"/>
            </a:solidFill>
            <a:prstDash val="dash"/>
          </a:ln>
        </p:spPr>
      </p:sp>
      <p:sp>
        <p:nvSpPr>
          <p:cNvPr id="375" name="svg_arrowhead_375">
            <a:extLst xmlns:a="http://schemas.openxmlformats.org/drawingml/2006/main">
              <a:ext uri="{FF2B5EF4-FFF2-40B4-BE49-F238E27FC236}">
                <a16:creationId xmlns:a16="http://schemas.microsoft.com/office/drawing/2014/main" id="{9D9EE318-8F92-4BAC-9378-AFB898BA8361}"/>
              </a:ext>
            </a:extLst>
          </p:cNvPr>
          <p:cNvSpPr>
            <a:spLocks xmlns:a="http://schemas.openxmlformats.org/drawingml/2006/main" noGrp="1"/>
          </p:cNvSpPr>
          <p:nvPr/>
        </p:nvSpPr>
        <p:spPr>
          <a:xfrm xmlns:a="http://schemas.openxmlformats.org/drawingml/2006/main">
            <a:off x="22221825" y="6343650"/>
            <a:ext cx="133350" cy="133350"/>
          </a:xfrm>
          <a:custGeom xmlns:a="http://schemas.openxmlformats.org/drawingml/2006/main">
            <a:pathLst>
              <a:path w="133350" h="133350">
                <a:moveTo>
                  <a:pt x="66675" y="133350"/>
                </a:moveTo>
                <a:lnTo>
                  <a:pt x="0" y="0"/>
                </a:lnTo>
                <a:lnTo>
                  <a:pt x="13335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76" name="svg_rect_376">
            <a:extLst xmlns:a="http://schemas.openxmlformats.org/drawingml/2006/main">
              <a:ext uri="{FF2B5EF4-FFF2-40B4-BE49-F238E27FC236}">
                <a16:creationId xmlns:a16="http://schemas.microsoft.com/office/drawing/2014/main" id="{2083546D-221A-4C17-A2DD-504B07DD2B2E}"/>
              </a:ext>
            </a:extLst>
          </p:cNvPr>
          <p:cNvSpPr>
            <a:spLocks xmlns:a="http://schemas.openxmlformats.org/drawingml/2006/main" noGrp="1"/>
          </p:cNvSpPr>
          <p:nvPr/>
        </p:nvSpPr>
        <p:spPr>
          <a:xfrm xmlns:a="http://schemas.openxmlformats.org/drawingml/2006/main">
            <a:off x="9858375" y="12687300"/>
            <a:ext cx="64770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2383">
            <a:solidFill>
              <a:srgbClr val="C7D6E5"/>
            </a:solidFill>
            <a:prstDash val="solid"/>
          </a:ln>
        </p:spPr>
      </p:sp>
      <p:sp>
        <p:nvSpPr>
          <p:cNvPr id="377" name="svg_path_377">
            <a:extLst xmlns:a="http://schemas.openxmlformats.org/drawingml/2006/main">
              <a:ext uri="{FF2B5EF4-FFF2-40B4-BE49-F238E27FC236}">
                <a16:creationId xmlns:a16="http://schemas.microsoft.com/office/drawing/2014/main" id="{7F9AFDC7-B601-4EBC-90E8-E1D357AFF5CA}"/>
              </a:ext>
            </a:extLst>
          </p:cNvPr>
          <p:cNvSpPr>
            <a:spLocks xmlns:a="http://schemas.openxmlformats.org/drawingml/2006/main" noGrp="1"/>
          </p:cNvSpPr>
          <p:nvPr/>
        </p:nvSpPr>
        <p:spPr>
          <a:xfrm xmlns:a="http://schemas.openxmlformats.org/drawingml/2006/main">
            <a:off x="10096500" y="128873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30956">
            <a:solidFill>
              <a:srgbClr val="2386D8"/>
            </a:solidFill>
            <a:prstDash val="solid"/>
          </a:ln>
        </p:spPr>
      </p:sp>
      <p:sp>
        <p:nvSpPr>
          <p:cNvPr id="378" name="svg_arrowhead_378">
            <a:extLst xmlns:a="http://schemas.openxmlformats.org/drawingml/2006/main">
              <a:ext uri="{FF2B5EF4-FFF2-40B4-BE49-F238E27FC236}">
                <a16:creationId xmlns:a16="http://schemas.microsoft.com/office/drawing/2014/main" id="{2A8C0188-43E9-4FD7-9875-B3808C0F4F1F}"/>
              </a:ext>
            </a:extLst>
          </p:cNvPr>
          <p:cNvSpPr>
            <a:spLocks xmlns:a="http://schemas.openxmlformats.org/drawingml/2006/main" noGrp="1"/>
          </p:cNvSpPr>
          <p:nvPr/>
        </p:nvSpPr>
        <p:spPr>
          <a:xfrm xmlns:a="http://schemas.openxmlformats.org/drawingml/2006/main">
            <a:off x="10439400" y="128206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2386D8"/>
          </a:solidFill>
          <a:ln xmlns:a="http://schemas.openxmlformats.org/drawingml/2006/main" w="4763">
            <a:solidFill>
              <a:srgbClr val="2386D8"/>
            </a:solidFill>
            <a:prstDash val="solid"/>
          </a:ln>
        </p:spPr>
      </p:sp>
      <p:sp>
        <p:nvSpPr>
          <p:cNvPr id="379" name="svg_text_379">
            <a:extLst xmlns:a="http://schemas.openxmlformats.org/drawingml/2006/main">
              <a:ext uri="{FF2B5EF4-FFF2-40B4-BE49-F238E27FC236}">
                <a16:creationId xmlns:a16="http://schemas.microsoft.com/office/drawing/2014/main" id="{1DC72331-D6ED-4CF3-B6E5-DAE22161A45A}"/>
              </a:ext>
            </a:extLst>
          </p:cNvPr>
          <p:cNvSpPr>
            <a:spLocks xmlns:a="http://schemas.openxmlformats.org/drawingml/2006/main" noGrp="1"/>
          </p:cNvSpPr>
          <p:nvPr/>
        </p:nvSpPr>
        <p:spPr>
          <a:xfrm xmlns:a="http://schemas.openxmlformats.org/drawingml/2006/main">
            <a:off x="9953625" y="12772396"/>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forward data flow</a:t>
            </a:r>
          </a:p>
        </p:txBody>
      </p:sp>
      <p:sp>
        <p:nvSpPr>
          <p:cNvPr id="380" name="svg_path_380">
            <a:extLst xmlns:a="http://schemas.openxmlformats.org/drawingml/2006/main">
              <a:ext uri="{FF2B5EF4-FFF2-40B4-BE49-F238E27FC236}">
                <a16:creationId xmlns:a16="http://schemas.microsoft.com/office/drawing/2014/main" id="{4F570F60-DF99-4A28-9304-A28366A235ED}"/>
              </a:ext>
            </a:extLst>
          </p:cNvPr>
          <p:cNvSpPr>
            <a:spLocks xmlns:a="http://schemas.openxmlformats.org/drawingml/2006/main" noGrp="1"/>
          </p:cNvSpPr>
          <p:nvPr/>
        </p:nvSpPr>
        <p:spPr>
          <a:xfrm xmlns:a="http://schemas.openxmlformats.org/drawingml/2006/main">
            <a:off x="12573000" y="128873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24765">
            <a:solidFill>
              <a:srgbClr val="3D6285"/>
            </a:solidFill>
            <a:prstDash val="dash"/>
          </a:ln>
        </p:spPr>
      </p:sp>
      <p:sp>
        <p:nvSpPr>
          <p:cNvPr id="381" name="svg_arrowhead_381">
            <a:extLst xmlns:a="http://schemas.openxmlformats.org/drawingml/2006/main">
              <a:ext uri="{FF2B5EF4-FFF2-40B4-BE49-F238E27FC236}">
                <a16:creationId xmlns:a16="http://schemas.microsoft.com/office/drawing/2014/main" id="{D5B2FE91-5D41-485E-895C-D55741139D55}"/>
              </a:ext>
            </a:extLst>
          </p:cNvPr>
          <p:cNvSpPr>
            <a:spLocks xmlns:a="http://schemas.openxmlformats.org/drawingml/2006/main" noGrp="1"/>
          </p:cNvSpPr>
          <p:nvPr/>
        </p:nvSpPr>
        <p:spPr>
          <a:xfrm xmlns:a="http://schemas.openxmlformats.org/drawingml/2006/main">
            <a:off x="12915900" y="12820650"/>
            <a:ext cx="133350" cy="133350"/>
          </a:xfrm>
          <a:custGeom xmlns:a="http://schemas.openxmlformats.org/drawingml/2006/main">
            <a:pathLst>
              <a:path w="133350" h="133350">
                <a:moveTo>
                  <a:pt x="133350" y="66675"/>
                </a:moveTo>
                <a:lnTo>
                  <a:pt x="0" y="133350"/>
                </a:lnTo>
                <a:lnTo>
                  <a:pt x="0" y="0"/>
                </a:lnTo>
                <a:close/>
              </a:path>
            </a:pathLst>
          </a:custGeom>
          <a:solidFill xmlns:a="http://schemas.openxmlformats.org/drawingml/2006/main">
            <a:srgbClr val="3D6285"/>
          </a:solidFill>
          <a:ln xmlns:a="http://schemas.openxmlformats.org/drawingml/2006/main" w="4763">
            <a:solidFill>
              <a:srgbClr val="3D6285"/>
            </a:solidFill>
            <a:prstDash val="solid"/>
          </a:ln>
        </p:spPr>
      </p:sp>
      <p:sp>
        <p:nvSpPr>
          <p:cNvPr id="382" name="svg_text_382">
            <a:extLst xmlns:a="http://schemas.openxmlformats.org/drawingml/2006/main">
              <a:ext uri="{FF2B5EF4-FFF2-40B4-BE49-F238E27FC236}">
                <a16:creationId xmlns:a16="http://schemas.microsoft.com/office/drawing/2014/main" id="{4256E6A8-6A86-4635-9E53-1291BAE1F1EC}"/>
              </a:ext>
            </a:extLst>
          </p:cNvPr>
          <p:cNvSpPr>
            <a:spLocks xmlns:a="http://schemas.openxmlformats.org/drawingml/2006/main" noGrp="1"/>
          </p:cNvSpPr>
          <p:nvPr/>
        </p:nvSpPr>
        <p:spPr>
          <a:xfrm xmlns:a="http://schemas.openxmlformats.org/drawingml/2006/main">
            <a:off x="9953625" y="12772396"/>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207" b="0" i="0">
                <a:solidFill>
                  <a:srgbClr val="334155"/>
                </a:solidFill>
                <a:latin typeface="Arial"/>
                <a:ea typeface="Arial"/>
                <a:cs typeface="Arial"/>
              </a:defRPr>
            </a:pPr>
            <a:r>
              <a:rPr sz="1207" b="0" i="0">
                <a:solidFill>
                  <a:srgbClr val="334155"/>
                </a:solidFill>
                <a:latin typeface="Arial"/>
                <a:ea typeface="Arial"/>
                <a:cs typeface="Arial"/>
              </a:rPr>
              <a:t>training supervision / optimization</a:t>
            </a:r>
          </a:p>
        </p:txBody>
      </p:sp>
    </p:spTree>
    <p:extLst>
      <p:ext uri="{BB962C8B-B14F-4D97-AF65-F5344CB8AC3E}">
        <p14:creationId xmlns:p14="http://schemas.microsoft.com/office/powerpoint/2010/main" val="19577330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2026-09-08T11:16:39.7750000Z</dcterms:created>
  <dcterms:modified xsi:type="dcterms:W3CDTF">2026-09-08T11:16:39.7750000Z</dcterms:modified>
</coreProperties>
</file>