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22860000" cy="13335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20" userDrawn="1">
          <p15:clr>
            <a:srgbClr val="A4A3A4"/>
          </p15:clr>
        </p15:guide>
        <p15:guide id="2" pos="72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Reconstructed as native PowerPoint shapes from figures/scit_speech_figure_blueprint.svg. Every box, line, arrowhead, and text label is independently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Reconstructed as native PowerPoint shapes from figures/scit_speech_figure_blueprint.svg. Every box, line, arrowhead, and text label is independently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3" name="svg_rect_001"/>
          <p:cNvSpPr>
            <a:spLocks noGrp="1"/>
          </p:cNvSpPr>
          <p:nvPr/>
        </p:nvSpPr>
        <p:spPr>
          <a:xfrm>
            <a:off x="0" y="0"/>
            <a:ext cx="22860000" cy="13335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svg_rect_002"/>
          <p:cNvSpPr>
            <a:spLocks noGrp="1"/>
          </p:cNvSpPr>
          <p:nvPr/>
        </p:nvSpPr>
        <p:spPr>
          <a:xfrm>
            <a:off x="190500" y="190500"/>
            <a:ext cx="22479000" cy="2238375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7DB5E8"/>
            </a:solidFill>
            <a:prstDash val="dash"/>
          </a:ln>
        </p:spPr>
      </p:sp>
      <p:sp>
        <p:nvSpPr>
          <p:cNvPr id="3" name="svg_circle_003"/>
          <p:cNvSpPr>
            <a:spLocks noGrp="1"/>
          </p:cNvSpPr>
          <p:nvPr/>
        </p:nvSpPr>
        <p:spPr>
          <a:xfrm>
            <a:off x="257175" y="257175"/>
            <a:ext cx="533400" cy="533400"/>
          </a:xfrm>
          <a:prstGeom prst="ellipse">
            <a:avLst/>
          </a:prstGeom>
          <a:solidFill>
            <a:srgbClr val="080B0E"/>
          </a:solidFill>
          <a:ln w="0">
            <a:noFill/>
            <a:prstDash val="solid"/>
          </a:ln>
        </p:spPr>
      </p:sp>
      <p:sp>
        <p:nvSpPr>
          <p:cNvPr id="4" name="svg_text_004"/>
          <p:cNvSpPr>
            <a:spLocks noGrp="1"/>
          </p:cNvSpPr>
          <p:nvPr/>
        </p:nvSpPr>
        <p:spPr>
          <a:xfrm>
            <a:off x="240982" y="324564"/>
            <a:ext cx="565785" cy="39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202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svg_text_005"/>
          <p:cNvSpPr>
            <a:spLocks noGrp="1"/>
          </p:cNvSpPr>
          <p:nvPr/>
        </p:nvSpPr>
        <p:spPr>
          <a:xfrm>
            <a:off x="904875" y="332613"/>
            <a:ext cx="6065520" cy="38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0F172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 i="0">
                <a:solidFill>
                  <a:srgbClr val="0F172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OFFLINE ENCODER ARCHITECTURE SEARCH</a:t>
            </a:r>
            <a:endParaRPr sz="1950" b="1" i="0">
              <a:solidFill>
                <a:srgbClr val="0F172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svg_rect_006"/>
          <p:cNvSpPr>
            <a:spLocks noGrp="1"/>
          </p:cNvSpPr>
          <p:nvPr/>
        </p:nvSpPr>
        <p:spPr>
          <a:xfrm>
            <a:off x="20669250" y="323850"/>
            <a:ext cx="1714500" cy="381000"/>
          </a:xfrm>
          <a:prstGeom prst="roundRect">
            <a:avLst>
              <a:gd name="adj" fmla="val 22500"/>
            </a:avLst>
          </a:prstGeom>
          <a:solidFill>
            <a:srgbClr val="ECF6FF"/>
          </a:solidFill>
          <a:ln w="14288">
            <a:solidFill>
              <a:srgbClr val="78AFE0"/>
            </a:solidFill>
            <a:prstDash val="solid"/>
          </a:ln>
        </p:spPr>
      </p:sp>
      <p:sp>
        <p:nvSpPr>
          <p:cNvPr id="7" name="svg_text_007"/>
          <p:cNvSpPr>
            <a:spLocks noGrp="1"/>
          </p:cNvSpPr>
          <p:nvPr/>
        </p:nvSpPr>
        <p:spPr>
          <a:xfrm>
            <a:off x="20394740" y="396621"/>
            <a:ext cx="226352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Encoder Search Only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384" name="组合 383"/>
          <p:cNvGrpSpPr/>
          <p:nvPr/>
        </p:nvGrpSpPr>
        <p:grpSpPr>
          <a:xfrm>
            <a:off x="422910" y="904240"/>
            <a:ext cx="3482340" cy="1000760"/>
            <a:chOff x="666" y="1424"/>
            <a:chExt cx="5484" cy="1576"/>
          </a:xfrm>
        </p:grpSpPr>
        <p:sp>
          <p:nvSpPr>
            <p:cNvPr id="8" name="svg_rect_008"/>
            <p:cNvSpPr>
              <a:spLocks noGrp="1"/>
            </p:cNvSpPr>
            <p:nvPr/>
          </p:nvSpPr>
          <p:spPr>
            <a:xfrm>
              <a:off x="674" y="1424"/>
              <a:ext cx="5477" cy="1576"/>
            </a:xfrm>
            <a:prstGeom prst="roundRect">
              <a:avLst>
                <a:gd name="adj" fmla="val 9412"/>
              </a:avLst>
            </a:prstGeom>
            <a:solidFill>
              <a:srgbClr val="F7FBFF"/>
            </a:solidFill>
            <a:ln w="19050">
              <a:solidFill>
                <a:srgbClr val="408FD2"/>
              </a:solidFill>
              <a:prstDash val="solid"/>
            </a:ln>
          </p:spPr>
        </p:sp>
        <p:sp>
          <p:nvSpPr>
            <p:cNvPr id="9" name="svg_text_009"/>
            <p:cNvSpPr>
              <a:spLocks noGrp="1"/>
            </p:cNvSpPr>
            <p:nvPr/>
          </p:nvSpPr>
          <p:spPr>
            <a:xfrm>
              <a:off x="1171" y="1780"/>
              <a:ext cx="4258" cy="39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/>
            <a:lstStyle/>
            <a:p>
              <a:pPr algn="ctr">
                <a:defRPr sz="1275" b="1" i="0">
                  <a:solidFill>
                    <a:srgbClr val="18232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600" b="1" i="0">
                  <a:solidFill>
                    <a:srgbClr val="18232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Candidate Encoder Space</a:t>
              </a:r>
              <a:endParaRPr sz="1600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svg_text_010"/>
            <p:cNvSpPr>
              <a:spLocks noGrp="1"/>
            </p:cNvSpPr>
            <p:nvPr/>
          </p:nvSpPr>
          <p:spPr>
            <a:xfrm>
              <a:off x="666" y="2218"/>
              <a:ext cx="5268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/>
            <a:lstStyle/>
            <a:p>
              <a:pPr algn="ctr">
                <a:defRPr sz="1050" b="0" i="0">
                  <a:solidFill>
                    <a:srgbClr val="33415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200" b="0" i="0">
                  <a:solidFill>
                    <a:srgbClr val="33415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candidate blocks, widths and depths</a:t>
              </a:r>
              <a:endParaRPr sz="120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86" name="组合 385"/>
          <p:cNvGrpSpPr/>
          <p:nvPr/>
        </p:nvGrpSpPr>
        <p:grpSpPr>
          <a:xfrm>
            <a:off x="4424680" y="904240"/>
            <a:ext cx="3798570" cy="999490"/>
            <a:chOff x="6489" y="1425"/>
            <a:chExt cx="5982" cy="1574"/>
          </a:xfrm>
        </p:grpSpPr>
        <p:sp>
          <p:nvSpPr>
            <p:cNvPr id="13" name="svg_rect_013"/>
            <p:cNvSpPr>
              <a:spLocks noGrp="1"/>
            </p:cNvSpPr>
            <p:nvPr/>
          </p:nvSpPr>
          <p:spPr>
            <a:xfrm>
              <a:off x="6750" y="1425"/>
              <a:ext cx="5475" cy="1575"/>
            </a:xfrm>
            <a:prstGeom prst="roundRect">
              <a:avLst>
                <a:gd name="adj" fmla="val 7619"/>
              </a:avLst>
            </a:prstGeom>
            <a:solidFill>
              <a:srgbClr val="F7FBFF"/>
            </a:solidFill>
            <a:ln w="19050">
              <a:solidFill>
                <a:srgbClr val="408FD2"/>
              </a:solidFill>
              <a:prstDash val="solid"/>
            </a:ln>
          </p:spPr>
        </p:sp>
        <p:grpSp>
          <p:nvGrpSpPr>
            <p:cNvPr id="385" name="组合 384"/>
            <p:cNvGrpSpPr/>
            <p:nvPr/>
          </p:nvGrpSpPr>
          <p:grpSpPr>
            <a:xfrm>
              <a:off x="6489" y="1645"/>
              <a:ext cx="5982" cy="1113"/>
              <a:chOff x="6489" y="1645"/>
              <a:chExt cx="5982" cy="1113"/>
            </a:xfrm>
          </p:grpSpPr>
          <p:sp>
            <p:nvSpPr>
              <p:cNvPr id="14" name="svg_text_014"/>
              <p:cNvSpPr>
                <a:spLocks noGrp="1"/>
              </p:cNvSpPr>
              <p:nvPr/>
            </p:nvSpPr>
            <p:spPr>
              <a:xfrm>
                <a:off x="6831" y="1645"/>
                <a:ext cx="5299" cy="39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/>
              <a:lstStyle/>
              <a:p>
                <a:pPr algn="ctr">
                  <a:defRPr sz="1275" b="1" i="0">
                    <a:solidFill>
                      <a:srgbClr val="18232E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sz="1600" b="1" i="0">
                    <a:solidFill>
                      <a:srgbClr val="18232E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Teacher-Guided Proxy Training</a:t>
                </a:r>
                <a:endParaRPr sz="1600" b="1" i="0">
                  <a:solidFill>
                    <a:srgbClr val="18232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" name="svg_text_015"/>
              <p:cNvSpPr>
                <a:spLocks noGrp="1"/>
              </p:cNvSpPr>
              <p:nvPr/>
            </p:nvSpPr>
            <p:spPr>
              <a:xfrm>
                <a:off x="7060" y="2068"/>
                <a:ext cx="4840" cy="3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/>
              <a:lstStyle/>
              <a:p>
                <a:pPr algn="ctr">
                  <a:defRPr sz="1050" b="0" i="0">
                    <a:solidFill>
                      <a:srgbClr val="334155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sz="1200" b="0" i="0">
                    <a:solidFill>
                      <a:srgbClr val="334155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Teacher → distillation → Student</a:t>
                </a:r>
                <a:endParaRPr sz="1200" b="0" i="0">
                  <a:solidFill>
                    <a:srgbClr val="33415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6" name="svg_text_016"/>
              <p:cNvSpPr>
                <a:spLocks noGrp="1"/>
              </p:cNvSpPr>
              <p:nvPr/>
            </p:nvSpPr>
            <p:spPr>
              <a:xfrm>
                <a:off x="6489" y="2428"/>
                <a:ext cx="5982" cy="3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/>
              <a:lstStyle/>
              <a:p>
                <a:pPr algn="ctr">
                  <a:defRPr sz="1050" b="0" i="0">
                    <a:solidFill>
                      <a:srgbClr val="334155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sz="1200" b="0" i="0">
                    <a:solidFill>
                      <a:srgbClr val="334155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short proxy training for every candidate</a:t>
                </a:r>
                <a:endParaRPr sz="1200" b="0" i="0">
                  <a:solidFill>
                    <a:srgbClr val="33415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19" name="svg_rect_019"/>
          <p:cNvSpPr>
            <a:spLocks noGrp="1"/>
          </p:cNvSpPr>
          <p:nvPr/>
        </p:nvSpPr>
        <p:spPr>
          <a:xfrm>
            <a:off x="8524875" y="904875"/>
            <a:ext cx="3476625" cy="1000125"/>
          </a:xfrm>
          <a:prstGeom prst="roundRect">
            <a:avLst>
              <a:gd name="adj" fmla="val 761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0" name="svg_text_020"/>
          <p:cNvSpPr>
            <a:spLocks noGrp="1"/>
          </p:cNvSpPr>
          <p:nvPr/>
        </p:nvSpPr>
        <p:spPr>
          <a:xfrm>
            <a:off x="8521065" y="1044321"/>
            <a:ext cx="347472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Resource and Quality Profiling</a:t>
            </a:r>
            <a:endParaRPr sz="1600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svg_text_021"/>
          <p:cNvSpPr>
            <a:spLocks noGrp="1"/>
          </p:cNvSpPr>
          <p:nvPr/>
        </p:nvSpPr>
        <p:spPr>
          <a:xfrm>
            <a:off x="8540496" y="1313307"/>
            <a:ext cx="3435858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quality ↑ · latency ↓ · model size ↓</a:t>
            </a:r>
            <a:endParaRPr sz="120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svg_text_022"/>
          <p:cNvSpPr>
            <a:spLocks noGrp="1"/>
          </p:cNvSpPr>
          <p:nvPr/>
        </p:nvSpPr>
        <p:spPr>
          <a:xfrm>
            <a:off x="8767191" y="1541907"/>
            <a:ext cx="2982468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ClrTx/>
              <a:buSzTx/>
              <a:buFontTx/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one point per candidate encoder</a:t>
            </a:r>
            <a:endParaRPr sz="120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svg_path_023"/>
          <p:cNvSpPr>
            <a:spLocks noGrp="1"/>
          </p:cNvSpPr>
          <p:nvPr/>
        </p:nvSpPr>
        <p:spPr>
          <a:xfrm>
            <a:off x="12001500" y="1400175"/>
            <a:ext cx="762000" cy="9525"/>
          </a:xfrm>
          <a:custGeom>
            <a:avLst/>
            <a:gdLst/>
            <a:ahLst/>
            <a:cxnLst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24" name="svg_arrowhead_024"/>
          <p:cNvSpPr>
            <a:spLocks noGrp="1"/>
          </p:cNvSpPr>
          <p:nvPr/>
        </p:nvSpPr>
        <p:spPr>
          <a:xfrm>
            <a:off x="12658725" y="134778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5" name="svg_rect_025"/>
          <p:cNvSpPr>
            <a:spLocks noGrp="1"/>
          </p:cNvSpPr>
          <p:nvPr/>
        </p:nvSpPr>
        <p:spPr>
          <a:xfrm>
            <a:off x="12763500" y="1000125"/>
            <a:ext cx="2762250" cy="809625"/>
          </a:xfrm>
          <a:prstGeom prst="roundRect">
            <a:avLst>
              <a:gd name="adj" fmla="val 9412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6" name="svg_text_026"/>
          <p:cNvSpPr>
            <a:spLocks noGrp="1"/>
          </p:cNvSpPr>
          <p:nvPr/>
        </p:nvSpPr>
        <p:spPr>
          <a:xfrm>
            <a:off x="13178028" y="1130046"/>
            <a:ext cx="1933194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Pareto Selection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svg_text_027"/>
          <p:cNvSpPr>
            <a:spLocks noGrp="1"/>
          </p:cNvSpPr>
          <p:nvPr/>
        </p:nvSpPr>
        <p:spPr>
          <a:xfrm>
            <a:off x="12789408" y="1408557"/>
            <a:ext cx="271043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quality versus resource cost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svg_path_028"/>
          <p:cNvSpPr>
            <a:spLocks noGrp="1"/>
          </p:cNvSpPr>
          <p:nvPr/>
        </p:nvSpPr>
        <p:spPr>
          <a:xfrm>
            <a:off x="15525750" y="1400175"/>
            <a:ext cx="762000" cy="9525"/>
          </a:xfrm>
          <a:custGeom>
            <a:avLst/>
            <a:gdLst/>
            <a:ahLst/>
            <a:cxnLst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29" name="svg_arrowhead_029"/>
          <p:cNvSpPr>
            <a:spLocks noGrp="1"/>
          </p:cNvSpPr>
          <p:nvPr/>
        </p:nvSpPr>
        <p:spPr>
          <a:xfrm>
            <a:off x="16182975" y="134778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0" name="svg_rect_030"/>
          <p:cNvSpPr>
            <a:spLocks noGrp="1"/>
          </p:cNvSpPr>
          <p:nvPr/>
        </p:nvSpPr>
        <p:spPr>
          <a:xfrm>
            <a:off x="16287750" y="904875"/>
            <a:ext cx="3476625" cy="1000125"/>
          </a:xfrm>
          <a:prstGeom prst="roundRect">
            <a:avLst>
              <a:gd name="adj" fmla="val 761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31" name="svg_text_031"/>
          <p:cNvSpPr>
            <a:spLocks noGrp="1"/>
          </p:cNvSpPr>
          <p:nvPr/>
        </p:nvSpPr>
        <p:spPr>
          <a:xfrm>
            <a:off x="16834485" y="1044321"/>
            <a:ext cx="237363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NAS-Selected Encoder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svg_text_032"/>
          <p:cNvSpPr>
            <a:spLocks noGrp="1"/>
          </p:cNvSpPr>
          <p:nvPr/>
        </p:nvSpPr>
        <p:spPr>
          <a:xfrm>
            <a:off x="16756761" y="1313307"/>
            <a:ext cx="2529078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selected architecture only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svg_text_033"/>
          <p:cNvSpPr>
            <a:spLocks noGrp="1"/>
          </p:cNvSpPr>
          <p:nvPr/>
        </p:nvSpPr>
        <p:spPr>
          <a:xfrm>
            <a:off x="16666083" y="1541907"/>
            <a:ext cx="271043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used for full codec training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" name="svg_path_034"/>
          <p:cNvSpPr>
            <a:spLocks noGrp="1"/>
          </p:cNvSpPr>
          <p:nvPr/>
        </p:nvSpPr>
        <p:spPr>
          <a:xfrm>
            <a:off x="2762250" y="1905000"/>
            <a:ext cx="15259050" cy="1857375"/>
          </a:xfrm>
          <a:custGeom>
            <a:avLst/>
            <a:gdLst/>
            <a:ahLst/>
            <a:cxnLst/>
            <a:pathLst>
              <a:path w="15259050" h="1857375">
                <a:moveTo>
                  <a:pt x="15259050" y="0"/>
                </a:moveTo>
                <a:lnTo>
                  <a:pt x="15259050" y="361950"/>
                </a:lnTo>
                <a:lnTo>
                  <a:pt x="0" y="361950"/>
                </a:lnTo>
                <a:lnTo>
                  <a:pt x="0" y="1857375"/>
                </a:lnTo>
              </a:path>
            </a:pathLst>
          </a:custGeom>
          <a:noFill/>
          <a:ln w="19050">
            <a:solidFill>
              <a:srgbClr val="2386D8"/>
            </a:solidFill>
            <a:prstDash val="dash"/>
          </a:ln>
        </p:spPr>
      </p:sp>
      <p:sp>
        <p:nvSpPr>
          <p:cNvPr id="35" name="svg_arrowhead_035"/>
          <p:cNvSpPr>
            <a:spLocks noGrp="1"/>
          </p:cNvSpPr>
          <p:nvPr/>
        </p:nvSpPr>
        <p:spPr>
          <a:xfrm>
            <a:off x="2709863" y="3657600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6" name="svg_rect_036"/>
          <p:cNvSpPr>
            <a:spLocks noGrp="1"/>
          </p:cNvSpPr>
          <p:nvPr/>
        </p:nvSpPr>
        <p:spPr>
          <a:xfrm>
            <a:off x="190500" y="2619375"/>
            <a:ext cx="11144250" cy="3667125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7DB5E8"/>
            </a:solidFill>
            <a:prstDash val="dash"/>
          </a:ln>
        </p:spPr>
      </p:sp>
      <p:sp>
        <p:nvSpPr>
          <p:cNvPr id="37" name="svg_circle_037"/>
          <p:cNvSpPr>
            <a:spLocks noGrp="1"/>
          </p:cNvSpPr>
          <p:nvPr/>
        </p:nvSpPr>
        <p:spPr>
          <a:xfrm>
            <a:off x="257175" y="2686050"/>
            <a:ext cx="533400" cy="533400"/>
          </a:xfrm>
          <a:prstGeom prst="ellipse">
            <a:avLst/>
          </a:prstGeom>
          <a:solidFill>
            <a:srgbClr val="080B0E"/>
          </a:solidFill>
          <a:ln w="0">
            <a:noFill/>
            <a:prstDash val="solid"/>
          </a:ln>
        </p:spPr>
      </p:sp>
      <p:sp>
        <p:nvSpPr>
          <p:cNvPr id="38" name="svg_text_038"/>
          <p:cNvSpPr>
            <a:spLocks noGrp="1"/>
          </p:cNvSpPr>
          <p:nvPr/>
        </p:nvSpPr>
        <p:spPr>
          <a:xfrm>
            <a:off x="240982" y="2753439"/>
            <a:ext cx="565785" cy="39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202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9" name="svg_text_039"/>
          <p:cNvSpPr>
            <a:spLocks noGrp="1"/>
          </p:cNvSpPr>
          <p:nvPr/>
        </p:nvSpPr>
        <p:spPr>
          <a:xfrm>
            <a:off x="904875" y="2761488"/>
            <a:ext cx="6065520" cy="38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0F172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 i="0">
                <a:solidFill>
                  <a:srgbClr val="0F172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SPEECH ENCODING AND THREE-LAYER RVQ</a:t>
            </a:r>
            <a:endParaRPr sz="1950" b="1" i="0">
              <a:solidFill>
                <a:srgbClr val="0F172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svg_rect_040"/>
          <p:cNvSpPr>
            <a:spLocks noGrp="1"/>
          </p:cNvSpPr>
          <p:nvPr/>
        </p:nvSpPr>
        <p:spPr>
          <a:xfrm>
            <a:off x="428625" y="3857625"/>
            <a:ext cx="1190625" cy="1000125"/>
          </a:xfrm>
          <a:prstGeom prst="roundRect">
            <a:avLst>
              <a:gd name="adj" fmla="val 761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41" name="svg_text_041"/>
          <p:cNvSpPr>
            <a:spLocks noGrp="1"/>
          </p:cNvSpPr>
          <p:nvPr/>
        </p:nvSpPr>
        <p:spPr>
          <a:xfrm>
            <a:off x="603123" y="4063746"/>
            <a:ext cx="832104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 kHz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svg_text_042"/>
          <p:cNvSpPr>
            <a:spLocks noGrp="1"/>
          </p:cNvSpPr>
          <p:nvPr/>
        </p:nvSpPr>
        <p:spPr>
          <a:xfrm>
            <a:off x="272796" y="4320921"/>
            <a:ext cx="1492758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Input Speech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" name="svg_path_043"/>
          <p:cNvSpPr>
            <a:spLocks noGrp="1"/>
          </p:cNvSpPr>
          <p:nvPr/>
        </p:nvSpPr>
        <p:spPr>
          <a:xfrm>
            <a:off x="485775" y="5010785"/>
            <a:ext cx="866775" cy="428625"/>
          </a:xfrm>
          <a:custGeom>
            <a:avLst/>
            <a:gdLst/>
            <a:ahLst/>
            <a:cxnLst/>
            <a:pathLst>
              <a:path w="866775" h="428625">
                <a:moveTo>
                  <a:pt x="0" y="257175"/>
                </a:moveTo>
                <a:lnTo>
                  <a:pt x="76200" y="85725"/>
                </a:lnTo>
                <a:lnTo>
                  <a:pt x="152400" y="381000"/>
                </a:lnTo>
                <a:lnTo>
                  <a:pt x="238125" y="0"/>
                </a:lnTo>
                <a:lnTo>
                  <a:pt x="323850" y="428625"/>
                </a:lnTo>
                <a:lnTo>
                  <a:pt x="409575" y="133350"/>
                </a:lnTo>
                <a:lnTo>
                  <a:pt x="495300" y="352425"/>
                </a:lnTo>
                <a:lnTo>
                  <a:pt x="581025" y="38100"/>
                </a:lnTo>
                <a:lnTo>
                  <a:pt x="666750" y="400050"/>
                </a:lnTo>
                <a:lnTo>
                  <a:pt x="771525" y="190500"/>
                </a:lnTo>
                <a:lnTo>
                  <a:pt x="866775" y="285750"/>
                </a:lnTo>
              </a:path>
            </a:pathLst>
          </a:custGeom>
          <a:noFill/>
          <a:ln w="38100">
            <a:solidFill>
              <a:srgbClr val="13AD95"/>
            </a:solidFill>
            <a:prstDash val="solid"/>
          </a:ln>
        </p:spPr>
      </p:sp>
      <p:sp>
        <p:nvSpPr>
          <p:cNvPr id="44" name="svg_path_044"/>
          <p:cNvSpPr>
            <a:spLocks noGrp="1"/>
          </p:cNvSpPr>
          <p:nvPr/>
        </p:nvSpPr>
        <p:spPr>
          <a:xfrm>
            <a:off x="1619250" y="4352925"/>
            <a:ext cx="333375" cy="9525"/>
          </a:xfrm>
          <a:custGeom>
            <a:avLst/>
            <a:gdLst/>
            <a:ahLst/>
            <a:cxnLst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45" name="svg_arrowhead_045"/>
          <p:cNvSpPr>
            <a:spLocks noGrp="1"/>
          </p:cNvSpPr>
          <p:nvPr/>
        </p:nvSpPr>
        <p:spPr>
          <a:xfrm>
            <a:off x="1847850" y="43005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46" name="svg_rect_046"/>
          <p:cNvSpPr>
            <a:spLocks noGrp="1"/>
          </p:cNvSpPr>
          <p:nvPr/>
        </p:nvSpPr>
        <p:spPr>
          <a:xfrm>
            <a:off x="1952625" y="3762375"/>
            <a:ext cx="1619250" cy="1190625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47" name="svg_text_047"/>
          <p:cNvSpPr>
            <a:spLocks noGrp="1"/>
          </p:cNvSpPr>
          <p:nvPr/>
        </p:nvSpPr>
        <p:spPr>
          <a:xfrm>
            <a:off x="2015871" y="3997071"/>
            <a:ext cx="1492758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NAS-Selected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" name="svg_text_048"/>
          <p:cNvSpPr>
            <a:spLocks noGrp="1"/>
          </p:cNvSpPr>
          <p:nvPr/>
        </p:nvSpPr>
        <p:spPr>
          <a:xfrm>
            <a:off x="1905762" y="4254246"/>
            <a:ext cx="1712976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SEANet Encoder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" name="svg_text_049"/>
          <p:cNvSpPr>
            <a:spLocks noGrp="1"/>
          </p:cNvSpPr>
          <p:nvPr/>
        </p:nvSpPr>
        <p:spPr>
          <a:xfrm>
            <a:off x="1543050" y="4542282"/>
            <a:ext cx="243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architecture from Panel 1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" name="svg_path_050"/>
          <p:cNvSpPr>
            <a:spLocks noGrp="1"/>
          </p:cNvSpPr>
          <p:nvPr/>
        </p:nvSpPr>
        <p:spPr>
          <a:xfrm>
            <a:off x="3571875" y="4352925"/>
            <a:ext cx="333375" cy="9525"/>
          </a:xfrm>
          <a:custGeom>
            <a:avLst/>
            <a:gdLst/>
            <a:ahLst/>
            <a:cxnLst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51" name="svg_arrowhead_051"/>
          <p:cNvSpPr>
            <a:spLocks noGrp="1"/>
          </p:cNvSpPr>
          <p:nvPr/>
        </p:nvSpPr>
        <p:spPr>
          <a:xfrm>
            <a:off x="3800475" y="43005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52" name="svg_rect_052"/>
          <p:cNvSpPr>
            <a:spLocks noGrp="1"/>
          </p:cNvSpPr>
          <p:nvPr/>
        </p:nvSpPr>
        <p:spPr>
          <a:xfrm>
            <a:off x="3905250" y="3857625"/>
            <a:ext cx="1381125" cy="1000125"/>
          </a:xfrm>
          <a:prstGeom prst="roundRect">
            <a:avLst>
              <a:gd name="adj" fmla="val 761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53" name="svg_text_053"/>
          <p:cNvSpPr>
            <a:spLocks noGrp="1"/>
          </p:cNvSpPr>
          <p:nvPr/>
        </p:nvSpPr>
        <p:spPr>
          <a:xfrm>
            <a:off x="3954780" y="4063746"/>
            <a:ext cx="127254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Continuous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4" name="svg_text_054"/>
          <p:cNvSpPr>
            <a:spLocks noGrp="1"/>
          </p:cNvSpPr>
          <p:nvPr/>
        </p:nvSpPr>
        <p:spPr>
          <a:xfrm>
            <a:off x="4064889" y="4301871"/>
            <a:ext cx="1052322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Latent z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5" name="svg_text_055"/>
          <p:cNvSpPr>
            <a:spLocks noGrp="1"/>
          </p:cNvSpPr>
          <p:nvPr/>
        </p:nvSpPr>
        <p:spPr>
          <a:xfrm>
            <a:off x="3825240" y="4561332"/>
            <a:ext cx="153162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50 Hz, d = 1024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6" name="svg_path_056"/>
          <p:cNvSpPr>
            <a:spLocks noGrp="1"/>
          </p:cNvSpPr>
          <p:nvPr/>
        </p:nvSpPr>
        <p:spPr>
          <a:xfrm>
            <a:off x="5286375" y="4352925"/>
            <a:ext cx="333375" cy="9525"/>
          </a:xfrm>
          <a:custGeom>
            <a:avLst/>
            <a:gdLst/>
            <a:ahLst/>
            <a:cxnLst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57" name="svg_arrowhead_057"/>
          <p:cNvSpPr>
            <a:spLocks noGrp="1"/>
          </p:cNvSpPr>
          <p:nvPr/>
        </p:nvSpPr>
        <p:spPr>
          <a:xfrm>
            <a:off x="5514975" y="43005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58" name="svg_rect_058"/>
          <p:cNvSpPr>
            <a:spLocks noGrp="1"/>
          </p:cNvSpPr>
          <p:nvPr/>
        </p:nvSpPr>
        <p:spPr>
          <a:xfrm>
            <a:off x="5619750" y="3733800"/>
            <a:ext cx="1571625" cy="1238250"/>
          </a:xfrm>
          <a:prstGeom prst="roundRect">
            <a:avLst>
              <a:gd name="adj" fmla="val 6154"/>
            </a:avLst>
          </a:prstGeom>
          <a:solidFill>
            <a:srgbClr val="FFF7ED"/>
          </a:solidFill>
          <a:ln w="19050">
            <a:solidFill>
              <a:srgbClr val="EF8D32"/>
            </a:solidFill>
            <a:prstDash val="solid"/>
          </a:ln>
        </p:spPr>
      </p:sp>
      <p:sp>
        <p:nvSpPr>
          <p:cNvPr id="59" name="svg_text_059"/>
          <p:cNvSpPr>
            <a:spLocks noGrp="1"/>
          </p:cNvSpPr>
          <p:nvPr/>
        </p:nvSpPr>
        <p:spPr>
          <a:xfrm>
            <a:off x="5434203" y="3920871"/>
            <a:ext cx="1933194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Q1 / Codebook C1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" name="svg_text_060"/>
          <p:cNvSpPr>
            <a:spLocks noGrp="1"/>
          </p:cNvSpPr>
          <p:nvPr/>
        </p:nvSpPr>
        <p:spPr>
          <a:xfrm>
            <a:off x="5680329" y="4199382"/>
            <a:ext cx="144094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Coarse Content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" name="svg_text_061"/>
          <p:cNvSpPr>
            <a:spLocks noGrp="1"/>
          </p:cNvSpPr>
          <p:nvPr/>
        </p:nvSpPr>
        <p:spPr>
          <a:xfrm>
            <a:off x="5725668" y="4427982"/>
            <a:ext cx="135026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1,024 entries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" name="svg_text_062"/>
          <p:cNvSpPr>
            <a:spLocks noGrp="1"/>
          </p:cNvSpPr>
          <p:nvPr/>
        </p:nvSpPr>
        <p:spPr>
          <a:xfrm>
            <a:off x="5599367" y="4654296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index i₁ → q₁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63" name="svg_path_063"/>
          <p:cNvSpPr>
            <a:spLocks noGrp="1"/>
          </p:cNvSpPr>
          <p:nvPr/>
        </p:nvSpPr>
        <p:spPr>
          <a:xfrm>
            <a:off x="7191375" y="4352925"/>
            <a:ext cx="285750" cy="9525"/>
          </a:xfrm>
          <a:custGeom>
            <a:avLst/>
            <a:gdLst/>
            <a:ahLst/>
            <a:cxnLst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64" name="svg_arrowhead_064"/>
          <p:cNvSpPr>
            <a:spLocks noGrp="1"/>
          </p:cNvSpPr>
          <p:nvPr/>
        </p:nvSpPr>
        <p:spPr>
          <a:xfrm>
            <a:off x="7372350" y="43005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65" name="svg_text_065"/>
          <p:cNvSpPr>
            <a:spLocks noGrp="1"/>
          </p:cNvSpPr>
          <p:nvPr/>
        </p:nvSpPr>
        <p:spPr>
          <a:xfrm>
            <a:off x="7157847" y="4046982"/>
            <a:ext cx="35280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r₁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6" name="svg_rect_066"/>
          <p:cNvSpPr>
            <a:spLocks noGrp="1"/>
          </p:cNvSpPr>
          <p:nvPr/>
        </p:nvSpPr>
        <p:spPr>
          <a:xfrm>
            <a:off x="7477125" y="3733800"/>
            <a:ext cx="1571625" cy="1238250"/>
          </a:xfrm>
          <a:prstGeom prst="roundRect">
            <a:avLst>
              <a:gd name="adj" fmla="val 6154"/>
            </a:avLst>
          </a:prstGeom>
          <a:solidFill>
            <a:srgbClr val="EFFAF4"/>
          </a:solidFill>
          <a:ln w="19050">
            <a:solidFill>
              <a:srgbClr val="4CA873"/>
            </a:solidFill>
            <a:prstDash val="solid"/>
          </a:ln>
        </p:spPr>
      </p:sp>
      <p:sp>
        <p:nvSpPr>
          <p:cNvPr id="67" name="svg_text_067"/>
          <p:cNvSpPr>
            <a:spLocks noGrp="1"/>
          </p:cNvSpPr>
          <p:nvPr/>
        </p:nvSpPr>
        <p:spPr>
          <a:xfrm>
            <a:off x="7291578" y="3920871"/>
            <a:ext cx="1933194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Q2 / Codebook C2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8" name="svg_text_068"/>
          <p:cNvSpPr>
            <a:spLocks noGrp="1"/>
          </p:cNvSpPr>
          <p:nvPr/>
        </p:nvSpPr>
        <p:spPr>
          <a:xfrm>
            <a:off x="7311009" y="4199382"/>
            <a:ext cx="189433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Acoustic Refinement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9" name="svg_text_069"/>
          <p:cNvSpPr>
            <a:spLocks noGrp="1"/>
          </p:cNvSpPr>
          <p:nvPr/>
        </p:nvSpPr>
        <p:spPr>
          <a:xfrm>
            <a:off x="7583043" y="4427982"/>
            <a:ext cx="135026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1,024 entries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0" name="svg_text_070"/>
          <p:cNvSpPr>
            <a:spLocks noGrp="1"/>
          </p:cNvSpPr>
          <p:nvPr/>
        </p:nvSpPr>
        <p:spPr>
          <a:xfrm>
            <a:off x="7456742" y="4654296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index i₂ → q₂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71" name="svg_path_071"/>
          <p:cNvSpPr>
            <a:spLocks noGrp="1"/>
          </p:cNvSpPr>
          <p:nvPr/>
        </p:nvSpPr>
        <p:spPr>
          <a:xfrm>
            <a:off x="9048750" y="4352925"/>
            <a:ext cx="285750" cy="9525"/>
          </a:xfrm>
          <a:custGeom>
            <a:avLst/>
            <a:gdLst/>
            <a:ahLst/>
            <a:cxnLst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72" name="svg_arrowhead_072"/>
          <p:cNvSpPr>
            <a:spLocks noGrp="1"/>
          </p:cNvSpPr>
          <p:nvPr/>
        </p:nvSpPr>
        <p:spPr>
          <a:xfrm>
            <a:off x="9229725" y="43005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73" name="svg_text_073"/>
          <p:cNvSpPr>
            <a:spLocks noGrp="1"/>
          </p:cNvSpPr>
          <p:nvPr/>
        </p:nvSpPr>
        <p:spPr>
          <a:xfrm>
            <a:off x="9015222" y="4046982"/>
            <a:ext cx="35280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r₂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4" name="svg_rect_074"/>
          <p:cNvSpPr>
            <a:spLocks noGrp="1"/>
          </p:cNvSpPr>
          <p:nvPr/>
        </p:nvSpPr>
        <p:spPr>
          <a:xfrm>
            <a:off x="9334500" y="3733800"/>
            <a:ext cx="1714500" cy="1238250"/>
          </a:xfrm>
          <a:prstGeom prst="roundRect">
            <a:avLst>
              <a:gd name="adj" fmla="val 6154"/>
            </a:avLst>
          </a:prstGeom>
          <a:solidFill>
            <a:srgbClr val="F4F2FF"/>
          </a:solidFill>
          <a:ln w="19050">
            <a:solidFill>
              <a:srgbClr val="7374D8"/>
            </a:solidFill>
            <a:prstDash val="solid"/>
          </a:ln>
        </p:spPr>
      </p:sp>
      <p:sp>
        <p:nvSpPr>
          <p:cNvPr id="75" name="svg_text_075"/>
          <p:cNvSpPr>
            <a:spLocks noGrp="1"/>
          </p:cNvSpPr>
          <p:nvPr/>
        </p:nvSpPr>
        <p:spPr>
          <a:xfrm>
            <a:off x="9225153" y="3920871"/>
            <a:ext cx="1933194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Q3 / Codebook C3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6" name="svg_text_076"/>
          <p:cNvSpPr>
            <a:spLocks noGrp="1"/>
          </p:cNvSpPr>
          <p:nvPr/>
        </p:nvSpPr>
        <p:spPr>
          <a:xfrm>
            <a:off x="9017889" y="4199382"/>
            <a:ext cx="234772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Fine Acoustic Refinement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7" name="svg_text_077"/>
          <p:cNvSpPr>
            <a:spLocks noGrp="1"/>
          </p:cNvSpPr>
          <p:nvPr/>
        </p:nvSpPr>
        <p:spPr>
          <a:xfrm>
            <a:off x="9516618" y="4427982"/>
            <a:ext cx="135026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1,024 entries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8" name="svg_text_078"/>
          <p:cNvSpPr>
            <a:spLocks noGrp="1"/>
          </p:cNvSpPr>
          <p:nvPr/>
        </p:nvSpPr>
        <p:spPr>
          <a:xfrm>
            <a:off x="9390317" y="4654296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index i₃ → q₃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79" name="svg_rect_079"/>
          <p:cNvSpPr>
            <a:spLocks noGrp="1"/>
          </p:cNvSpPr>
          <p:nvPr/>
        </p:nvSpPr>
        <p:spPr>
          <a:xfrm>
            <a:off x="5715000" y="5191125"/>
            <a:ext cx="333375" cy="209550"/>
          </a:xfrm>
          <a:prstGeom prst="rect">
            <a:avLst/>
          </a:prstGeom>
          <a:solidFill>
            <a:srgbClr val="FB923C"/>
          </a:solidFill>
          <a:ln w="0">
            <a:noFill/>
            <a:prstDash val="solid"/>
          </a:ln>
        </p:spPr>
      </p:sp>
      <p:sp>
        <p:nvSpPr>
          <p:cNvPr id="80" name="svg_rect_080"/>
          <p:cNvSpPr>
            <a:spLocks noGrp="1"/>
          </p:cNvSpPr>
          <p:nvPr/>
        </p:nvSpPr>
        <p:spPr>
          <a:xfrm>
            <a:off x="6115050" y="5191125"/>
            <a:ext cx="333375" cy="209550"/>
          </a:xfrm>
          <a:prstGeom prst="rect">
            <a:avLst/>
          </a:prstGeom>
          <a:solidFill>
            <a:srgbClr val="FB923C"/>
          </a:solidFill>
          <a:ln w="0">
            <a:noFill/>
            <a:prstDash val="solid"/>
          </a:ln>
        </p:spPr>
      </p:sp>
      <p:sp>
        <p:nvSpPr>
          <p:cNvPr id="81" name="svg_rect_081"/>
          <p:cNvSpPr>
            <a:spLocks noGrp="1"/>
          </p:cNvSpPr>
          <p:nvPr/>
        </p:nvSpPr>
        <p:spPr>
          <a:xfrm>
            <a:off x="6515100" y="5191125"/>
            <a:ext cx="333375" cy="209550"/>
          </a:xfrm>
          <a:prstGeom prst="rect">
            <a:avLst/>
          </a:prstGeom>
          <a:solidFill>
            <a:srgbClr val="FB923C"/>
          </a:solidFill>
          <a:ln w="0">
            <a:noFill/>
            <a:prstDash val="solid"/>
          </a:ln>
        </p:spPr>
      </p:sp>
      <p:sp>
        <p:nvSpPr>
          <p:cNvPr id="82" name="svg_text_082"/>
          <p:cNvSpPr>
            <a:spLocks noGrp="1"/>
          </p:cNvSpPr>
          <p:nvPr/>
        </p:nvSpPr>
        <p:spPr>
          <a:xfrm>
            <a:off x="6805041" y="5178171"/>
            <a:ext cx="391668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i₁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83" name="svg_rect_083"/>
          <p:cNvSpPr>
            <a:spLocks noGrp="1"/>
          </p:cNvSpPr>
          <p:nvPr/>
        </p:nvSpPr>
        <p:spPr>
          <a:xfrm>
            <a:off x="7572375" y="5191125"/>
            <a:ext cx="333375" cy="209550"/>
          </a:xfrm>
          <a:prstGeom prst="rect">
            <a:avLst/>
          </a:prstGeom>
          <a:solidFill>
            <a:srgbClr val="70BD92"/>
          </a:solidFill>
          <a:ln w="0">
            <a:noFill/>
            <a:prstDash val="solid"/>
          </a:ln>
        </p:spPr>
      </p:sp>
      <p:sp>
        <p:nvSpPr>
          <p:cNvPr id="84" name="svg_rect_084"/>
          <p:cNvSpPr>
            <a:spLocks noGrp="1"/>
          </p:cNvSpPr>
          <p:nvPr/>
        </p:nvSpPr>
        <p:spPr>
          <a:xfrm>
            <a:off x="7972425" y="5191125"/>
            <a:ext cx="333375" cy="209550"/>
          </a:xfrm>
          <a:prstGeom prst="rect">
            <a:avLst/>
          </a:prstGeom>
          <a:solidFill>
            <a:srgbClr val="70BD92"/>
          </a:solidFill>
          <a:ln w="0">
            <a:noFill/>
            <a:prstDash val="solid"/>
          </a:ln>
        </p:spPr>
      </p:sp>
      <p:sp>
        <p:nvSpPr>
          <p:cNvPr id="85" name="svg_rect_085"/>
          <p:cNvSpPr>
            <a:spLocks noGrp="1"/>
          </p:cNvSpPr>
          <p:nvPr/>
        </p:nvSpPr>
        <p:spPr>
          <a:xfrm>
            <a:off x="8372475" y="5191125"/>
            <a:ext cx="333375" cy="209550"/>
          </a:xfrm>
          <a:prstGeom prst="rect">
            <a:avLst/>
          </a:prstGeom>
          <a:solidFill>
            <a:srgbClr val="70BD92"/>
          </a:solidFill>
          <a:ln w="0">
            <a:noFill/>
            <a:prstDash val="solid"/>
          </a:ln>
        </p:spPr>
      </p:sp>
      <p:sp>
        <p:nvSpPr>
          <p:cNvPr id="86" name="svg_text_086"/>
          <p:cNvSpPr>
            <a:spLocks noGrp="1"/>
          </p:cNvSpPr>
          <p:nvPr/>
        </p:nvSpPr>
        <p:spPr>
          <a:xfrm>
            <a:off x="8662416" y="5178171"/>
            <a:ext cx="391668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i₂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87" name="svg_rect_087"/>
          <p:cNvSpPr>
            <a:spLocks noGrp="1"/>
          </p:cNvSpPr>
          <p:nvPr/>
        </p:nvSpPr>
        <p:spPr>
          <a:xfrm>
            <a:off x="9477375" y="5191125"/>
            <a:ext cx="333375" cy="209550"/>
          </a:xfrm>
          <a:prstGeom prst="rect">
            <a:avLst/>
          </a:prstGeom>
          <a:solidFill>
            <a:srgbClr val="8588E8"/>
          </a:solidFill>
          <a:ln w="0">
            <a:noFill/>
            <a:prstDash val="solid"/>
          </a:ln>
        </p:spPr>
      </p:sp>
      <p:sp>
        <p:nvSpPr>
          <p:cNvPr id="88" name="svg_rect_088"/>
          <p:cNvSpPr>
            <a:spLocks noGrp="1"/>
          </p:cNvSpPr>
          <p:nvPr/>
        </p:nvSpPr>
        <p:spPr>
          <a:xfrm>
            <a:off x="9877425" y="5191125"/>
            <a:ext cx="333375" cy="209550"/>
          </a:xfrm>
          <a:prstGeom prst="rect">
            <a:avLst/>
          </a:prstGeom>
          <a:solidFill>
            <a:srgbClr val="8588E8"/>
          </a:solidFill>
          <a:ln w="0">
            <a:noFill/>
            <a:prstDash val="solid"/>
          </a:ln>
        </p:spPr>
      </p:sp>
      <p:sp>
        <p:nvSpPr>
          <p:cNvPr id="89" name="svg_rect_089"/>
          <p:cNvSpPr>
            <a:spLocks noGrp="1"/>
          </p:cNvSpPr>
          <p:nvPr/>
        </p:nvSpPr>
        <p:spPr>
          <a:xfrm>
            <a:off x="10277475" y="5191125"/>
            <a:ext cx="333375" cy="209550"/>
          </a:xfrm>
          <a:prstGeom prst="rect">
            <a:avLst/>
          </a:prstGeom>
          <a:solidFill>
            <a:srgbClr val="8588E8"/>
          </a:solidFill>
          <a:ln w="0">
            <a:noFill/>
            <a:prstDash val="solid"/>
          </a:ln>
        </p:spPr>
      </p:sp>
      <p:sp>
        <p:nvSpPr>
          <p:cNvPr id="90" name="svg_text_090"/>
          <p:cNvSpPr>
            <a:spLocks noGrp="1"/>
          </p:cNvSpPr>
          <p:nvPr/>
        </p:nvSpPr>
        <p:spPr>
          <a:xfrm>
            <a:off x="10567416" y="5178171"/>
            <a:ext cx="391668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i₃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91" name="svg_path_091"/>
          <p:cNvSpPr>
            <a:spLocks noGrp="1"/>
          </p:cNvSpPr>
          <p:nvPr/>
        </p:nvSpPr>
        <p:spPr>
          <a:xfrm>
            <a:off x="5619750" y="5619750"/>
            <a:ext cx="5429250" cy="190500"/>
          </a:xfrm>
          <a:custGeom>
            <a:avLst/>
            <a:gdLst/>
            <a:ahLst/>
            <a:cxnLst/>
            <a:pathLst>
              <a:path w="5429250" h="190500">
                <a:moveTo>
                  <a:pt x="0" y="0"/>
                </a:moveTo>
                <a:lnTo>
                  <a:pt x="0" y="190500"/>
                </a:lnTo>
                <a:lnTo>
                  <a:pt x="5429250" y="190500"/>
                </a:lnTo>
                <a:lnTo>
                  <a:pt x="5429250" y="0"/>
                </a:lnTo>
              </a:path>
            </a:pathLst>
          </a:custGeom>
          <a:noFill/>
          <a:ln w="15240">
            <a:solidFill>
              <a:srgbClr val="506070"/>
            </a:solidFill>
            <a:prstDash val="solid"/>
          </a:ln>
        </p:spPr>
      </p:sp>
      <p:sp>
        <p:nvSpPr>
          <p:cNvPr id="92" name="svg_text_092"/>
          <p:cNvSpPr>
            <a:spLocks noGrp="1"/>
          </p:cNvSpPr>
          <p:nvPr/>
        </p:nvSpPr>
        <p:spPr>
          <a:xfrm>
            <a:off x="6376797" y="5940171"/>
            <a:ext cx="3915156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Quantized Latent zq = q₁ + q₂ + q₃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3" name="svg_rect_093"/>
          <p:cNvSpPr>
            <a:spLocks noGrp="1"/>
          </p:cNvSpPr>
          <p:nvPr/>
        </p:nvSpPr>
        <p:spPr>
          <a:xfrm>
            <a:off x="11525250" y="2619375"/>
            <a:ext cx="4953000" cy="3667125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7DB5E8"/>
            </a:solidFill>
            <a:prstDash val="dash"/>
          </a:ln>
        </p:spPr>
      </p:sp>
      <p:sp>
        <p:nvSpPr>
          <p:cNvPr id="94" name="svg_circle_094"/>
          <p:cNvSpPr>
            <a:spLocks noGrp="1"/>
          </p:cNvSpPr>
          <p:nvPr/>
        </p:nvSpPr>
        <p:spPr>
          <a:xfrm>
            <a:off x="11591925" y="2686050"/>
            <a:ext cx="533400" cy="533400"/>
          </a:xfrm>
          <a:prstGeom prst="ellipse">
            <a:avLst/>
          </a:prstGeom>
          <a:solidFill>
            <a:srgbClr val="080B0E"/>
          </a:solidFill>
          <a:ln w="0">
            <a:noFill/>
            <a:prstDash val="solid"/>
          </a:ln>
        </p:spPr>
      </p:sp>
      <p:sp>
        <p:nvSpPr>
          <p:cNvPr id="95" name="svg_text_095"/>
          <p:cNvSpPr>
            <a:spLocks noGrp="1"/>
          </p:cNvSpPr>
          <p:nvPr/>
        </p:nvSpPr>
        <p:spPr>
          <a:xfrm>
            <a:off x="11575733" y="2753439"/>
            <a:ext cx="565785" cy="39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202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6" name="svg_text_096"/>
          <p:cNvSpPr>
            <a:spLocks noGrp="1"/>
          </p:cNvSpPr>
          <p:nvPr/>
        </p:nvSpPr>
        <p:spPr>
          <a:xfrm>
            <a:off x="12239625" y="2761488"/>
            <a:ext cx="4718304" cy="38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0F172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 i="0">
                <a:solidFill>
                  <a:srgbClr val="0F172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DISCRETE INDEX TRANSMISSION</a:t>
            </a:r>
            <a:endParaRPr sz="1950" b="1" i="0">
              <a:solidFill>
                <a:srgbClr val="0F172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7" name="svg_rect_097"/>
          <p:cNvSpPr>
            <a:spLocks noGrp="1"/>
          </p:cNvSpPr>
          <p:nvPr/>
        </p:nvSpPr>
        <p:spPr>
          <a:xfrm>
            <a:off x="11791950" y="3714750"/>
            <a:ext cx="1000125" cy="1666875"/>
          </a:xfrm>
          <a:prstGeom prst="roundRect">
            <a:avLst>
              <a:gd name="adj" fmla="val 761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98" name="svg_text_098"/>
          <p:cNvSpPr>
            <a:spLocks noGrp="1"/>
          </p:cNvSpPr>
          <p:nvPr/>
        </p:nvSpPr>
        <p:spPr>
          <a:xfrm>
            <a:off x="12110847" y="3837432"/>
            <a:ext cx="35280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i₁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9" name="svg_rect_099"/>
          <p:cNvSpPr>
            <a:spLocks noGrp="1"/>
          </p:cNvSpPr>
          <p:nvPr/>
        </p:nvSpPr>
        <p:spPr>
          <a:xfrm>
            <a:off x="11953875" y="4095750"/>
            <a:ext cx="666750" cy="152400"/>
          </a:xfrm>
          <a:prstGeom prst="rect">
            <a:avLst/>
          </a:prstGeom>
          <a:solidFill>
            <a:srgbClr val="FB923C"/>
          </a:solidFill>
          <a:ln w="0">
            <a:noFill/>
            <a:prstDash val="solid"/>
          </a:ln>
        </p:spPr>
      </p:sp>
      <p:sp>
        <p:nvSpPr>
          <p:cNvPr id="100" name="svg_text_100"/>
          <p:cNvSpPr>
            <a:spLocks noGrp="1"/>
          </p:cNvSpPr>
          <p:nvPr/>
        </p:nvSpPr>
        <p:spPr>
          <a:xfrm>
            <a:off x="12110847" y="4332732"/>
            <a:ext cx="35280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i₂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1" name="svg_rect_101"/>
          <p:cNvSpPr>
            <a:spLocks noGrp="1"/>
          </p:cNvSpPr>
          <p:nvPr/>
        </p:nvSpPr>
        <p:spPr>
          <a:xfrm>
            <a:off x="11953875" y="4591050"/>
            <a:ext cx="666750" cy="152400"/>
          </a:xfrm>
          <a:prstGeom prst="rect">
            <a:avLst/>
          </a:prstGeom>
          <a:solidFill>
            <a:srgbClr val="70BD92"/>
          </a:solidFill>
          <a:ln w="0">
            <a:noFill/>
            <a:prstDash val="solid"/>
          </a:ln>
        </p:spPr>
      </p:sp>
      <p:sp>
        <p:nvSpPr>
          <p:cNvPr id="102" name="svg_text_102"/>
          <p:cNvSpPr>
            <a:spLocks noGrp="1"/>
          </p:cNvSpPr>
          <p:nvPr/>
        </p:nvSpPr>
        <p:spPr>
          <a:xfrm>
            <a:off x="12110847" y="4828032"/>
            <a:ext cx="35280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i₃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3" name="svg_rect_103"/>
          <p:cNvSpPr>
            <a:spLocks noGrp="1"/>
          </p:cNvSpPr>
          <p:nvPr/>
        </p:nvSpPr>
        <p:spPr>
          <a:xfrm>
            <a:off x="11953875" y="5086350"/>
            <a:ext cx="666750" cy="152400"/>
          </a:xfrm>
          <a:prstGeom prst="rect">
            <a:avLst/>
          </a:prstGeom>
          <a:solidFill>
            <a:srgbClr val="8588E8"/>
          </a:solidFill>
          <a:ln w="0">
            <a:noFill/>
            <a:prstDash val="solid"/>
          </a:ln>
        </p:spPr>
      </p:sp>
      <p:sp>
        <p:nvSpPr>
          <p:cNvPr id="104" name="svg_path_104"/>
          <p:cNvSpPr>
            <a:spLocks noGrp="1"/>
          </p:cNvSpPr>
          <p:nvPr/>
        </p:nvSpPr>
        <p:spPr>
          <a:xfrm>
            <a:off x="12792075" y="4476750"/>
            <a:ext cx="257175" cy="9525"/>
          </a:xfrm>
          <a:custGeom>
            <a:avLst/>
            <a:gdLst/>
            <a:ahLst/>
            <a:cxnLst/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105" name="svg_arrowhead_105"/>
          <p:cNvSpPr>
            <a:spLocks noGrp="1"/>
          </p:cNvSpPr>
          <p:nvPr/>
        </p:nvSpPr>
        <p:spPr>
          <a:xfrm>
            <a:off x="12944475" y="44243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06" name="svg_rect_106"/>
          <p:cNvSpPr>
            <a:spLocks noGrp="1"/>
          </p:cNvSpPr>
          <p:nvPr/>
        </p:nvSpPr>
        <p:spPr>
          <a:xfrm>
            <a:off x="13049250" y="3905250"/>
            <a:ext cx="1190625" cy="1143000"/>
          </a:xfrm>
          <a:prstGeom prst="roundRect">
            <a:avLst>
              <a:gd name="adj" fmla="val 6667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107" name="svg_text_107"/>
          <p:cNvSpPr>
            <a:spLocks noGrp="1"/>
          </p:cNvSpPr>
          <p:nvPr/>
        </p:nvSpPr>
        <p:spPr>
          <a:xfrm>
            <a:off x="12838366" y="4035171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Index Packing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8" name="svg_text_108"/>
          <p:cNvSpPr>
            <a:spLocks noGrp="1"/>
          </p:cNvSpPr>
          <p:nvPr/>
        </p:nvSpPr>
        <p:spPr>
          <a:xfrm>
            <a:off x="13418058" y="4294632"/>
            <a:ext cx="44348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and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9" name="svg_text_109"/>
          <p:cNvSpPr>
            <a:spLocks noGrp="1"/>
          </p:cNvSpPr>
          <p:nvPr/>
        </p:nvSpPr>
        <p:spPr>
          <a:xfrm>
            <a:off x="12838366" y="4492371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Packetization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0" name="svg_text_110"/>
          <p:cNvSpPr>
            <a:spLocks noGrp="1"/>
          </p:cNvSpPr>
          <p:nvPr/>
        </p:nvSpPr>
        <p:spPr>
          <a:xfrm>
            <a:off x="12692634" y="4780407"/>
            <a:ext cx="189433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× 10 bits × 50 Hz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1" name="svg_path_111"/>
          <p:cNvSpPr>
            <a:spLocks noGrp="1"/>
          </p:cNvSpPr>
          <p:nvPr/>
        </p:nvSpPr>
        <p:spPr>
          <a:xfrm>
            <a:off x="14239875" y="4476750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112" name="svg_arrowhead_112"/>
          <p:cNvSpPr>
            <a:spLocks noGrp="1"/>
          </p:cNvSpPr>
          <p:nvPr/>
        </p:nvSpPr>
        <p:spPr>
          <a:xfrm>
            <a:off x="14373225" y="44243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13" name="svg_rect_113"/>
          <p:cNvSpPr>
            <a:spLocks noGrp="1"/>
          </p:cNvSpPr>
          <p:nvPr/>
        </p:nvSpPr>
        <p:spPr>
          <a:xfrm>
            <a:off x="14478000" y="3905250"/>
            <a:ext cx="857250" cy="114300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114" name="svg_text_114"/>
          <p:cNvSpPr>
            <a:spLocks noGrp="1"/>
          </p:cNvSpPr>
          <p:nvPr/>
        </p:nvSpPr>
        <p:spPr>
          <a:xfrm>
            <a:off x="14380464" y="4130421"/>
            <a:ext cx="1052322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Discrete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5" name="svg_text_115"/>
          <p:cNvSpPr>
            <a:spLocks noGrp="1"/>
          </p:cNvSpPr>
          <p:nvPr/>
        </p:nvSpPr>
        <p:spPr>
          <a:xfrm>
            <a:off x="14325410" y="4378071"/>
            <a:ext cx="116243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Bitstream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6" name="svg_path_116"/>
          <p:cNvSpPr>
            <a:spLocks noGrp="1"/>
          </p:cNvSpPr>
          <p:nvPr/>
        </p:nvSpPr>
        <p:spPr>
          <a:xfrm>
            <a:off x="15335250" y="4476750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117" name="svg_arrowhead_117"/>
          <p:cNvSpPr>
            <a:spLocks noGrp="1"/>
          </p:cNvSpPr>
          <p:nvPr/>
        </p:nvSpPr>
        <p:spPr>
          <a:xfrm>
            <a:off x="15468600" y="44243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18" name="svg_rect_118"/>
          <p:cNvSpPr>
            <a:spLocks noGrp="1"/>
          </p:cNvSpPr>
          <p:nvPr/>
        </p:nvSpPr>
        <p:spPr>
          <a:xfrm>
            <a:off x="15573375" y="3905250"/>
            <a:ext cx="666750" cy="11430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119" name="svg_text_119"/>
          <p:cNvSpPr>
            <a:spLocks noGrp="1"/>
          </p:cNvSpPr>
          <p:nvPr/>
        </p:nvSpPr>
        <p:spPr>
          <a:xfrm>
            <a:off x="15545753" y="4187571"/>
            <a:ext cx="721995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Comm.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0" name="svg_text_120"/>
          <p:cNvSpPr>
            <a:spLocks noGrp="1"/>
          </p:cNvSpPr>
          <p:nvPr/>
        </p:nvSpPr>
        <p:spPr>
          <a:xfrm>
            <a:off x="15435644" y="4435221"/>
            <a:ext cx="942213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Channel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1" name="svg_text_121"/>
          <p:cNvSpPr>
            <a:spLocks noGrp="1"/>
          </p:cNvSpPr>
          <p:nvPr/>
        </p:nvSpPr>
        <p:spPr>
          <a:xfrm>
            <a:off x="12099227" y="5349621"/>
            <a:ext cx="380504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Nominal Index Payload: 1.5 kbit/s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2" name="svg_rect_122"/>
          <p:cNvSpPr>
            <a:spLocks noGrp="1"/>
          </p:cNvSpPr>
          <p:nvPr/>
        </p:nvSpPr>
        <p:spPr>
          <a:xfrm>
            <a:off x="12477750" y="5734050"/>
            <a:ext cx="3048000" cy="400050"/>
          </a:xfrm>
          <a:prstGeom prst="roundRect">
            <a:avLst>
              <a:gd name="adj" fmla="val 21429"/>
            </a:avLst>
          </a:prstGeom>
          <a:solidFill>
            <a:srgbClr val="ECF6FF"/>
          </a:solidFill>
          <a:ln w="14288">
            <a:solidFill>
              <a:srgbClr val="78AFE0"/>
            </a:solidFill>
            <a:prstDash val="solid"/>
          </a:ln>
        </p:spPr>
      </p:sp>
      <p:sp>
        <p:nvSpPr>
          <p:cNvPr id="123" name="svg_text_123"/>
          <p:cNvSpPr>
            <a:spLocks noGrp="1"/>
          </p:cNvSpPr>
          <p:nvPr/>
        </p:nvSpPr>
        <p:spPr>
          <a:xfrm>
            <a:off x="11879008" y="5825871"/>
            <a:ext cx="4245483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ONLY DISCRETE INDICES ARE TRANSMITTED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4" name="svg_rect_124"/>
          <p:cNvSpPr>
            <a:spLocks noGrp="1"/>
          </p:cNvSpPr>
          <p:nvPr/>
        </p:nvSpPr>
        <p:spPr>
          <a:xfrm>
            <a:off x="16668750" y="2619375"/>
            <a:ext cx="6000750" cy="3667125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7DB5E8"/>
            </a:solidFill>
            <a:prstDash val="dash"/>
          </a:ln>
        </p:spPr>
      </p:sp>
      <p:sp>
        <p:nvSpPr>
          <p:cNvPr id="125" name="svg_circle_125"/>
          <p:cNvSpPr>
            <a:spLocks noGrp="1"/>
          </p:cNvSpPr>
          <p:nvPr/>
        </p:nvSpPr>
        <p:spPr>
          <a:xfrm>
            <a:off x="16735425" y="2686050"/>
            <a:ext cx="533400" cy="533400"/>
          </a:xfrm>
          <a:prstGeom prst="ellipse">
            <a:avLst/>
          </a:prstGeom>
          <a:solidFill>
            <a:srgbClr val="080B0E"/>
          </a:solidFill>
          <a:ln w="0">
            <a:noFill/>
            <a:prstDash val="solid"/>
          </a:ln>
        </p:spPr>
      </p:sp>
      <p:sp>
        <p:nvSpPr>
          <p:cNvPr id="126" name="svg_text_126"/>
          <p:cNvSpPr>
            <a:spLocks noGrp="1"/>
          </p:cNvSpPr>
          <p:nvPr/>
        </p:nvSpPr>
        <p:spPr>
          <a:xfrm>
            <a:off x="16719233" y="2753439"/>
            <a:ext cx="565785" cy="39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202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7" name="svg_text_127"/>
          <p:cNvSpPr>
            <a:spLocks noGrp="1"/>
          </p:cNvSpPr>
          <p:nvPr/>
        </p:nvSpPr>
        <p:spPr>
          <a:xfrm>
            <a:off x="17383125" y="2669286"/>
            <a:ext cx="4446270" cy="3248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SHARED-CODEBOOK RECONSTRUCTION</a:t>
            </a:r>
            <a:endParaRPr sz="1650" b="1" i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8" name="svg_text_128"/>
          <p:cNvSpPr>
            <a:spLocks noGrp="1"/>
          </p:cNvSpPr>
          <p:nvPr/>
        </p:nvSpPr>
        <p:spPr>
          <a:xfrm>
            <a:off x="17383125" y="2916936"/>
            <a:ext cx="1881378" cy="3248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AND DECODING</a:t>
            </a:r>
            <a:endParaRPr sz="1650" b="1" i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9" name="svg_rect_129"/>
          <p:cNvSpPr>
            <a:spLocks noGrp="1"/>
          </p:cNvSpPr>
          <p:nvPr/>
        </p:nvSpPr>
        <p:spPr>
          <a:xfrm>
            <a:off x="16906875" y="3952875"/>
            <a:ext cx="714375" cy="1190625"/>
          </a:xfrm>
          <a:prstGeom prst="roundRect">
            <a:avLst>
              <a:gd name="adj" fmla="val 10667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130" name="svg_text_130"/>
          <p:cNvSpPr>
            <a:spLocks noGrp="1"/>
          </p:cNvSpPr>
          <p:nvPr/>
        </p:nvSpPr>
        <p:spPr>
          <a:xfrm>
            <a:off x="16810863" y="3665982"/>
            <a:ext cx="89687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Received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1" name="svg_rect_131"/>
          <p:cNvSpPr>
            <a:spLocks noGrp="1"/>
          </p:cNvSpPr>
          <p:nvPr/>
        </p:nvSpPr>
        <p:spPr>
          <a:xfrm>
            <a:off x="17049750" y="4143375"/>
            <a:ext cx="428625" cy="142875"/>
          </a:xfrm>
          <a:prstGeom prst="rect">
            <a:avLst/>
          </a:prstGeom>
          <a:solidFill>
            <a:srgbClr val="FB923C"/>
          </a:solidFill>
          <a:ln w="0">
            <a:noFill/>
            <a:prstDash val="solid"/>
          </a:ln>
        </p:spPr>
      </p:sp>
      <p:sp>
        <p:nvSpPr>
          <p:cNvPr id="132" name="svg_rect_132"/>
          <p:cNvSpPr>
            <a:spLocks noGrp="1"/>
          </p:cNvSpPr>
          <p:nvPr/>
        </p:nvSpPr>
        <p:spPr>
          <a:xfrm>
            <a:off x="17049750" y="4457700"/>
            <a:ext cx="428625" cy="142875"/>
          </a:xfrm>
          <a:prstGeom prst="rect">
            <a:avLst/>
          </a:prstGeom>
          <a:solidFill>
            <a:srgbClr val="70BD92"/>
          </a:solidFill>
          <a:ln w="0">
            <a:noFill/>
            <a:prstDash val="solid"/>
          </a:ln>
        </p:spPr>
      </p:sp>
      <p:sp>
        <p:nvSpPr>
          <p:cNvPr id="133" name="svg_rect_133"/>
          <p:cNvSpPr>
            <a:spLocks noGrp="1"/>
          </p:cNvSpPr>
          <p:nvPr/>
        </p:nvSpPr>
        <p:spPr>
          <a:xfrm>
            <a:off x="17049750" y="4772025"/>
            <a:ext cx="428625" cy="142875"/>
          </a:xfrm>
          <a:prstGeom prst="rect">
            <a:avLst/>
          </a:prstGeom>
          <a:solidFill>
            <a:srgbClr val="8588E8"/>
          </a:solidFill>
          <a:ln w="0">
            <a:noFill/>
            <a:prstDash val="solid"/>
          </a:ln>
        </p:spPr>
      </p:sp>
      <p:sp>
        <p:nvSpPr>
          <p:cNvPr id="134" name="svg_path_134"/>
          <p:cNvSpPr>
            <a:spLocks noGrp="1"/>
          </p:cNvSpPr>
          <p:nvPr/>
        </p:nvSpPr>
        <p:spPr>
          <a:xfrm>
            <a:off x="17621250" y="4238625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135" name="svg_arrowhead_135"/>
          <p:cNvSpPr>
            <a:spLocks noGrp="1"/>
          </p:cNvSpPr>
          <p:nvPr/>
        </p:nvSpPr>
        <p:spPr>
          <a:xfrm>
            <a:off x="17754600" y="41862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36" name="svg_path_136"/>
          <p:cNvSpPr>
            <a:spLocks noGrp="1"/>
          </p:cNvSpPr>
          <p:nvPr/>
        </p:nvSpPr>
        <p:spPr>
          <a:xfrm>
            <a:off x="17621250" y="4543425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137" name="svg_arrowhead_137"/>
          <p:cNvSpPr>
            <a:spLocks noGrp="1"/>
          </p:cNvSpPr>
          <p:nvPr/>
        </p:nvSpPr>
        <p:spPr>
          <a:xfrm>
            <a:off x="17754600" y="44910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38" name="svg_path_138"/>
          <p:cNvSpPr>
            <a:spLocks noGrp="1"/>
          </p:cNvSpPr>
          <p:nvPr/>
        </p:nvSpPr>
        <p:spPr>
          <a:xfrm>
            <a:off x="17621250" y="4857750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139" name="svg_arrowhead_139"/>
          <p:cNvSpPr>
            <a:spLocks noGrp="1"/>
          </p:cNvSpPr>
          <p:nvPr/>
        </p:nvSpPr>
        <p:spPr>
          <a:xfrm>
            <a:off x="17754600" y="48053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40" name="svg_rect_140"/>
          <p:cNvSpPr>
            <a:spLocks noGrp="1"/>
          </p:cNvSpPr>
          <p:nvPr/>
        </p:nvSpPr>
        <p:spPr>
          <a:xfrm>
            <a:off x="17859375" y="3857625"/>
            <a:ext cx="1285875" cy="66675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9525">
            <a:solidFill>
              <a:srgbClr val="EF8D32"/>
            </a:solidFill>
            <a:prstDash val="solid"/>
          </a:ln>
        </p:spPr>
      </p:sp>
      <p:sp>
        <p:nvSpPr>
          <p:cNvPr id="141" name="svg_text_141"/>
          <p:cNvSpPr>
            <a:spLocks noGrp="1"/>
          </p:cNvSpPr>
          <p:nvPr/>
        </p:nvSpPr>
        <p:spPr>
          <a:xfrm>
            <a:off x="18023205" y="3924681"/>
            <a:ext cx="94869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Pre-Shared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2" name="svg_text_142"/>
          <p:cNvSpPr>
            <a:spLocks noGrp="1"/>
          </p:cNvSpPr>
          <p:nvPr/>
        </p:nvSpPr>
        <p:spPr>
          <a:xfrm>
            <a:off x="17984343" y="4086606"/>
            <a:ext cx="102641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Codebook C1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3" name="svg_text_143"/>
          <p:cNvSpPr>
            <a:spLocks noGrp="1"/>
          </p:cNvSpPr>
          <p:nvPr/>
        </p:nvSpPr>
        <p:spPr>
          <a:xfrm>
            <a:off x="18026444" y="4263771"/>
            <a:ext cx="942213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i₁ → q₁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44" name="svg_rect_144"/>
          <p:cNvSpPr>
            <a:spLocks noGrp="1"/>
          </p:cNvSpPr>
          <p:nvPr/>
        </p:nvSpPr>
        <p:spPr>
          <a:xfrm>
            <a:off x="17859375" y="4572000"/>
            <a:ext cx="1285875" cy="666750"/>
          </a:xfrm>
          <a:prstGeom prst="roundRect">
            <a:avLst>
              <a:gd name="adj" fmla="val 10000"/>
            </a:avLst>
          </a:prstGeom>
          <a:solidFill>
            <a:srgbClr val="EFFAF4"/>
          </a:solidFill>
          <a:ln w="9525">
            <a:solidFill>
              <a:srgbClr val="4CA873"/>
            </a:solidFill>
            <a:prstDash val="solid"/>
          </a:ln>
        </p:spPr>
      </p:sp>
      <p:sp>
        <p:nvSpPr>
          <p:cNvPr id="145" name="svg_text_145"/>
          <p:cNvSpPr>
            <a:spLocks noGrp="1"/>
          </p:cNvSpPr>
          <p:nvPr/>
        </p:nvSpPr>
        <p:spPr>
          <a:xfrm>
            <a:off x="18023205" y="4639056"/>
            <a:ext cx="94869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Pre-Shared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6" name="svg_text_146"/>
          <p:cNvSpPr>
            <a:spLocks noGrp="1"/>
          </p:cNvSpPr>
          <p:nvPr/>
        </p:nvSpPr>
        <p:spPr>
          <a:xfrm>
            <a:off x="17984343" y="4800981"/>
            <a:ext cx="102641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Codebook C2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7" name="svg_text_147"/>
          <p:cNvSpPr>
            <a:spLocks noGrp="1"/>
          </p:cNvSpPr>
          <p:nvPr/>
        </p:nvSpPr>
        <p:spPr>
          <a:xfrm>
            <a:off x="18026444" y="4978146"/>
            <a:ext cx="942213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i₂ → q₂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48" name="svg_rect_148"/>
          <p:cNvSpPr>
            <a:spLocks noGrp="1"/>
          </p:cNvSpPr>
          <p:nvPr/>
        </p:nvSpPr>
        <p:spPr>
          <a:xfrm>
            <a:off x="17859375" y="5286375"/>
            <a:ext cx="1285875" cy="666750"/>
          </a:xfrm>
          <a:prstGeom prst="roundRect">
            <a:avLst>
              <a:gd name="adj" fmla="val 10000"/>
            </a:avLst>
          </a:prstGeom>
          <a:solidFill>
            <a:srgbClr val="F4F2FF"/>
          </a:solidFill>
          <a:ln w="9525">
            <a:solidFill>
              <a:srgbClr val="7374D8"/>
            </a:solidFill>
            <a:prstDash val="solid"/>
          </a:ln>
        </p:spPr>
      </p:sp>
      <p:sp>
        <p:nvSpPr>
          <p:cNvPr id="149" name="svg_text_149"/>
          <p:cNvSpPr>
            <a:spLocks noGrp="1"/>
          </p:cNvSpPr>
          <p:nvPr/>
        </p:nvSpPr>
        <p:spPr>
          <a:xfrm>
            <a:off x="18023205" y="5353431"/>
            <a:ext cx="94869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Pre-Shared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0" name="svg_text_150"/>
          <p:cNvSpPr>
            <a:spLocks noGrp="1"/>
          </p:cNvSpPr>
          <p:nvPr/>
        </p:nvSpPr>
        <p:spPr>
          <a:xfrm>
            <a:off x="17984343" y="5515356"/>
            <a:ext cx="102641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Codebook C3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1" name="svg_text_151"/>
          <p:cNvSpPr>
            <a:spLocks noGrp="1"/>
          </p:cNvSpPr>
          <p:nvPr/>
        </p:nvSpPr>
        <p:spPr>
          <a:xfrm>
            <a:off x="18026444" y="5692521"/>
            <a:ext cx="942213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i₃ → q₃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52" name="svg_path_152"/>
          <p:cNvSpPr>
            <a:spLocks noGrp="1"/>
          </p:cNvSpPr>
          <p:nvPr/>
        </p:nvSpPr>
        <p:spPr>
          <a:xfrm>
            <a:off x="19145250" y="4191000"/>
            <a:ext cx="285750" cy="619125"/>
          </a:xfrm>
          <a:custGeom>
            <a:avLst/>
            <a:gdLst/>
            <a:ahLst/>
            <a:cxnLst/>
            <a:pathLst>
              <a:path w="285750" h="619125">
                <a:moveTo>
                  <a:pt x="0" y="0"/>
                </a:moveTo>
                <a:lnTo>
                  <a:pt x="285750" y="0"/>
                </a:lnTo>
                <a:lnTo>
                  <a:pt x="285750" y="619125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153" name="svg_arrowhead_153"/>
          <p:cNvSpPr>
            <a:spLocks noGrp="1"/>
          </p:cNvSpPr>
          <p:nvPr/>
        </p:nvSpPr>
        <p:spPr>
          <a:xfrm>
            <a:off x="19378613" y="4705350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54" name="svg_path_154"/>
          <p:cNvSpPr>
            <a:spLocks noGrp="1"/>
          </p:cNvSpPr>
          <p:nvPr/>
        </p:nvSpPr>
        <p:spPr>
          <a:xfrm>
            <a:off x="19145250" y="4905375"/>
            <a:ext cx="285750" cy="9525"/>
          </a:xfrm>
          <a:custGeom>
            <a:avLst/>
            <a:gdLst/>
            <a:ahLst/>
            <a:cxnLst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155" name="svg_arrowhead_155"/>
          <p:cNvSpPr>
            <a:spLocks noGrp="1"/>
          </p:cNvSpPr>
          <p:nvPr/>
        </p:nvSpPr>
        <p:spPr>
          <a:xfrm>
            <a:off x="19326225" y="485298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56" name="svg_path_156"/>
          <p:cNvSpPr>
            <a:spLocks noGrp="1"/>
          </p:cNvSpPr>
          <p:nvPr/>
        </p:nvSpPr>
        <p:spPr>
          <a:xfrm>
            <a:off x="19145250" y="5000625"/>
            <a:ext cx="285750" cy="619125"/>
          </a:xfrm>
          <a:custGeom>
            <a:avLst/>
            <a:gdLst/>
            <a:ahLst/>
            <a:cxnLst/>
            <a:pathLst>
              <a:path w="285750" h="619125">
                <a:moveTo>
                  <a:pt x="0" y="619125"/>
                </a:moveTo>
                <a:lnTo>
                  <a:pt x="285750" y="619125"/>
                </a:lnTo>
                <a:lnTo>
                  <a:pt x="285750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157" name="svg_arrowhead_157"/>
          <p:cNvSpPr>
            <a:spLocks noGrp="1"/>
          </p:cNvSpPr>
          <p:nvPr/>
        </p:nvSpPr>
        <p:spPr>
          <a:xfrm>
            <a:off x="19378613" y="500062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58" name="svg_circle_158"/>
          <p:cNvSpPr>
            <a:spLocks noGrp="1"/>
          </p:cNvSpPr>
          <p:nvPr/>
        </p:nvSpPr>
        <p:spPr>
          <a:xfrm>
            <a:off x="19335750" y="4667250"/>
            <a:ext cx="476250" cy="476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668D2"/>
            </a:solidFill>
            <a:prstDash val="solid"/>
          </a:ln>
        </p:spPr>
      </p:sp>
      <p:sp>
        <p:nvSpPr>
          <p:cNvPr id="159" name="svg_text_159"/>
          <p:cNvSpPr>
            <a:spLocks noGrp="1"/>
          </p:cNvSpPr>
          <p:nvPr/>
        </p:nvSpPr>
        <p:spPr>
          <a:xfrm>
            <a:off x="19249073" y="4681728"/>
            <a:ext cx="649605" cy="4576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325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325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</a:t>
            </a:r>
            <a:endParaRPr sz="2325" b="0" i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0" name="svg_text_160"/>
          <p:cNvSpPr>
            <a:spLocks noGrp="1"/>
          </p:cNvSpPr>
          <p:nvPr/>
        </p:nvSpPr>
        <p:spPr>
          <a:xfrm>
            <a:off x="18827496" y="3463671"/>
            <a:ext cx="1492758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q₁ + q₂ + q₃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61" name="svg_path_161"/>
          <p:cNvSpPr>
            <a:spLocks noGrp="1"/>
          </p:cNvSpPr>
          <p:nvPr/>
        </p:nvSpPr>
        <p:spPr>
          <a:xfrm>
            <a:off x="19812000" y="4905375"/>
            <a:ext cx="285750" cy="9525"/>
          </a:xfrm>
          <a:custGeom>
            <a:avLst/>
            <a:gdLst/>
            <a:ahLst/>
            <a:cxnLst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162" name="svg_arrowhead_162"/>
          <p:cNvSpPr>
            <a:spLocks noGrp="1"/>
          </p:cNvSpPr>
          <p:nvPr/>
        </p:nvSpPr>
        <p:spPr>
          <a:xfrm>
            <a:off x="19992975" y="485298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63" name="svg_rect_163"/>
          <p:cNvSpPr>
            <a:spLocks noGrp="1"/>
          </p:cNvSpPr>
          <p:nvPr/>
        </p:nvSpPr>
        <p:spPr>
          <a:xfrm>
            <a:off x="20097750" y="4381500"/>
            <a:ext cx="904875" cy="1047750"/>
          </a:xfrm>
          <a:prstGeom prst="roundRect">
            <a:avLst>
              <a:gd name="adj" fmla="val 8421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164" name="svg_text_164"/>
          <p:cNvSpPr>
            <a:spLocks noGrp="1"/>
          </p:cNvSpPr>
          <p:nvPr/>
        </p:nvSpPr>
        <p:spPr>
          <a:xfrm>
            <a:off x="19964210" y="4492371"/>
            <a:ext cx="116243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Recovered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5" name="svg_text_165"/>
          <p:cNvSpPr>
            <a:spLocks noGrp="1"/>
          </p:cNvSpPr>
          <p:nvPr/>
        </p:nvSpPr>
        <p:spPr>
          <a:xfrm>
            <a:off x="19964210" y="4730496"/>
            <a:ext cx="116243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Latent zq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6" name="svg_text_166"/>
          <p:cNvSpPr>
            <a:spLocks noGrp="1"/>
          </p:cNvSpPr>
          <p:nvPr/>
        </p:nvSpPr>
        <p:spPr>
          <a:xfrm>
            <a:off x="19993356" y="5020056"/>
            <a:ext cx="1104138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using shared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7" name="svg_text_167"/>
          <p:cNvSpPr>
            <a:spLocks noGrp="1"/>
          </p:cNvSpPr>
          <p:nvPr/>
        </p:nvSpPr>
        <p:spPr>
          <a:xfrm>
            <a:off x="20109942" y="5181981"/>
            <a:ext cx="87096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codebooks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8" name="svg_path_168"/>
          <p:cNvSpPr>
            <a:spLocks noGrp="1"/>
          </p:cNvSpPr>
          <p:nvPr/>
        </p:nvSpPr>
        <p:spPr>
          <a:xfrm>
            <a:off x="21002625" y="4905375"/>
            <a:ext cx="285750" cy="9525"/>
          </a:xfrm>
          <a:custGeom>
            <a:avLst/>
            <a:gdLst/>
            <a:ahLst/>
            <a:cxnLst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169" name="svg_arrowhead_169"/>
          <p:cNvSpPr>
            <a:spLocks noGrp="1"/>
          </p:cNvSpPr>
          <p:nvPr/>
        </p:nvSpPr>
        <p:spPr>
          <a:xfrm>
            <a:off x="21183600" y="485298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70" name="svg_rect_170"/>
          <p:cNvSpPr>
            <a:spLocks noGrp="1"/>
          </p:cNvSpPr>
          <p:nvPr/>
        </p:nvSpPr>
        <p:spPr>
          <a:xfrm>
            <a:off x="21288375" y="4381500"/>
            <a:ext cx="904875" cy="1047750"/>
          </a:xfrm>
          <a:prstGeom prst="roundRect">
            <a:avLst>
              <a:gd name="adj" fmla="val 8421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171" name="svg_text_171"/>
          <p:cNvSpPr>
            <a:spLocks noGrp="1"/>
          </p:cNvSpPr>
          <p:nvPr/>
        </p:nvSpPr>
        <p:spPr>
          <a:xfrm>
            <a:off x="21319998" y="4549521"/>
            <a:ext cx="832104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SEANet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2" name="svg_text_172"/>
          <p:cNvSpPr>
            <a:spLocks noGrp="1"/>
          </p:cNvSpPr>
          <p:nvPr/>
        </p:nvSpPr>
        <p:spPr>
          <a:xfrm>
            <a:off x="21264944" y="4797171"/>
            <a:ext cx="942213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Decoder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3" name="svg_path_173"/>
          <p:cNvSpPr>
            <a:spLocks noGrp="1"/>
          </p:cNvSpPr>
          <p:nvPr/>
        </p:nvSpPr>
        <p:spPr>
          <a:xfrm>
            <a:off x="22193250" y="4905375"/>
            <a:ext cx="190500" cy="9525"/>
          </a:xfrm>
          <a:custGeom>
            <a:avLst/>
            <a:gdLst/>
            <a:ahLst/>
            <a:cxnLst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174" name="svg_arrowhead_174"/>
          <p:cNvSpPr>
            <a:spLocks noGrp="1"/>
          </p:cNvSpPr>
          <p:nvPr/>
        </p:nvSpPr>
        <p:spPr>
          <a:xfrm>
            <a:off x="22278975" y="485298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75" name="svg_text_175"/>
          <p:cNvSpPr>
            <a:spLocks noGrp="1"/>
          </p:cNvSpPr>
          <p:nvPr/>
        </p:nvSpPr>
        <p:spPr>
          <a:xfrm>
            <a:off x="21060918" y="5570982"/>
            <a:ext cx="135026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Reconstructed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6" name="svg_text_176"/>
          <p:cNvSpPr>
            <a:spLocks noGrp="1"/>
          </p:cNvSpPr>
          <p:nvPr/>
        </p:nvSpPr>
        <p:spPr>
          <a:xfrm>
            <a:off x="20970240" y="5761482"/>
            <a:ext cx="153162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Speech output →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7" name="svg_rect_177"/>
          <p:cNvSpPr>
            <a:spLocks noGrp="1"/>
          </p:cNvSpPr>
          <p:nvPr/>
        </p:nvSpPr>
        <p:spPr>
          <a:xfrm>
            <a:off x="17811750" y="5981700"/>
            <a:ext cx="3905250" cy="266700"/>
          </a:xfrm>
          <a:prstGeom prst="roundRect">
            <a:avLst>
              <a:gd name="adj" fmla="val 32143"/>
            </a:avLst>
          </a:prstGeom>
          <a:solidFill>
            <a:srgbClr val="ECF6FF"/>
          </a:solidFill>
          <a:ln w="14288">
            <a:solidFill>
              <a:srgbClr val="78AFE0"/>
            </a:solidFill>
            <a:prstDash val="solid"/>
          </a:ln>
        </p:spPr>
      </p:sp>
      <p:sp>
        <p:nvSpPr>
          <p:cNvPr id="178" name="svg_text_178"/>
          <p:cNvSpPr>
            <a:spLocks noGrp="1"/>
          </p:cNvSpPr>
          <p:nvPr/>
        </p:nvSpPr>
        <p:spPr>
          <a:xfrm>
            <a:off x="17463516" y="6039231"/>
            <a:ext cx="4601718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Codebooks and decoder are pre-deployed; never transmitted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9" name="svg_rect_179"/>
          <p:cNvSpPr>
            <a:spLocks noGrp="1"/>
          </p:cNvSpPr>
          <p:nvPr/>
        </p:nvSpPr>
        <p:spPr>
          <a:xfrm>
            <a:off x="190500" y="6477000"/>
            <a:ext cx="16287750" cy="66675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9050">
            <a:solidFill>
              <a:srgbClr val="7DB5E8"/>
            </a:solidFill>
            <a:prstDash val="dash"/>
          </a:ln>
        </p:spPr>
      </p:sp>
      <p:sp>
        <p:nvSpPr>
          <p:cNvPr id="180" name="svg_circle_180"/>
          <p:cNvSpPr>
            <a:spLocks noGrp="1"/>
          </p:cNvSpPr>
          <p:nvPr/>
        </p:nvSpPr>
        <p:spPr>
          <a:xfrm>
            <a:off x="257175" y="6543675"/>
            <a:ext cx="533400" cy="533400"/>
          </a:xfrm>
          <a:prstGeom prst="ellipse">
            <a:avLst/>
          </a:prstGeom>
          <a:solidFill>
            <a:srgbClr val="080B0E"/>
          </a:solidFill>
          <a:ln w="0">
            <a:noFill/>
            <a:prstDash val="solid"/>
          </a:ln>
        </p:spPr>
      </p:sp>
      <p:sp>
        <p:nvSpPr>
          <p:cNvPr id="181" name="svg_text_181"/>
          <p:cNvSpPr>
            <a:spLocks noGrp="1"/>
          </p:cNvSpPr>
          <p:nvPr/>
        </p:nvSpPr>
        <p:spPr>
          <a:xfrm>
            <a:off x="240982" y="6611064"/>
            <a:ext cx="565785" cy="39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202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2" name="svg_text_182"/>
          <p:cNvSpPr>
            <a:spLocks noGrp="1"/>
          </p:cNvSpPr>
          <p:nvPr/>
        </p:nvSpPr>
        <p:spPr>
          <a:xfrm>
            <a:off x="904875" y="6619113"/>
            <a:ext cx="8591550" cy="38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0F172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 i="0">
                <a:solidFill>
                  <a:srgbClr val="0F172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ADVERSARIAL TRAINING AND CHANNEL-AWARE FINE-TUNING</a:t>
            </a:r>
            <a:endParaRPr sz="1950" b="1" i="0">
              <a:solidFill>
                <a:srgbClr val="0F172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3" name="svg_rect_183"/>
          <p:cNvSpPr>
            <a:spLocks noGrp="1"/>
          </p:cNvSpPr>
          <p:nvPr/>
        </p:nvSpPr>
        <p:spPr>
          <a:xfrm>
            <a:off x="14382750" y="6610350"/>
            <a:ext cx="1762125" cy="381000"/>
          </a:xfrm>
          <a:prstGeom prst="roundRect">
            <a:avLst>
              <a:gd name="adj" fmla="val 22500"/>
            </a:avLst>
          </a:prstGeom>
          <a:solidFill>
            <a:srgbClr val="ECF6FF"/>
          </a:solidFill>
          <a:ln w="14288">
            <a:solidFill>
              <a:srgbClr val="78AFE0"/>
            </a:solidFill>
            <a:prstDash val="solid"/>
          </a:ln>
        </p:spPr>
      </p:sp>
      <p:sp>
        <p:nvSpPr>
          <p:cNvPr id="184" name="svg_text_184"/>
          <p:cNvSpPr>
            <a:spLocks noGrp="1"/>
          </p:cNvSpPr>
          <p:nvPr/>
        </p:nvSpPr>
        <p:spPr>
          <a:xfrm>
            <a:off x="14457616" y="6683121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TRAINING ONLY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5" name="svg_rect_185"/>
          <p:cNvSpPr>
            <a:spLocks noGrp="1"/>
          </p:cNvSpPr>
          <p:nvPr/>
        </p:nvSpPr>
        <p:spPr>
          <a:xfrm>
            <a:off x="333375" y="7143750"/>
            <a:ext cx="9048750" cy="5810250"/>
          </a:xfrm>
          <a:prstGeom prst="roundRect">
            <a:avLst>
              <a:gd name="adj" fmla="val 1639"/>
            </a:avLst>
          </a:prstGeom>
          <a:solidFill>
            <a:srgbClr val="FBFDFF"/>
          </a:solidFill>
          <a:ln w="15240">
            <a:solidFill>
              <a:srgbClr val="A8CBEA"/>
            </a:solidFill>
            <a:prstDash val="dash"/>
          </a:ln>
        </p:spPr>
      </p:sp>
      <p:sp>
        <p:nvSpPr>
          <p:cNvPr id="186" name="svg_rect_186"/>
          <p:cNvSpPr>
            <a:spLocks noGrp="1"/>
          </p:cNvSpPr>
          <p:nvPr/>
        </p:nvSpPr>
        <p:spPr>
          <a:xfrm>
            <a:off x="476250" y="7286625"/>
            <a:ext cx="476250" cy="285750"/>
          </a:xfrm>
          <a:prstGeom prst="roundRect">
            <a:avLst>
              <a:gd name="adj" fmla="val 50000"/>
            </a:avLst>
          </a:prstGeom>
          <a:solidFill>
            <a:srgbClr val="1467B8"/>
          </a:solidFill>
          <a:ln w="0">
            <a:noFill/>
            <a:prstDash val="solid"/>
          </a:ln>
        </p:spPr>
      </p:sp>
      <p:sp>
        <p:nvSpPr>
          <p:cNvPr id="187" name="svg_text_187"/>
          <p:cNvSpPr>
            <a:spLocks noGrp="1"/>
          </p:cNvSpPr>
          <p:nvPr/>
        </p:nvSpPr>
        <p:spPr>
          <a:xfrm>
            <a:off x="518541" y="7321296"/>
            <a:ext cx="391668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5A</a:t>
            </a:r>
            <a:endParaRPr sz="12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8" name="svg_text_188"/>
          <p:cNvSpPr>
            <a:spLocks noGrp="1"/>
          </p:cNvSpPr>
          <p:nvPr/>
        </p:nvSpPr>
        <p:spPr>
          <a:xfrm>
            <a:off x="1095375" y="7308723"/>
            <a:ext cx="3571875" cy="3100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1720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i="0">
                <a:solidFill>
                  <a:srgbClr val="1720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SCIT-Speech-Base Training</a:t>
            </a:r>
            <a:endParaRPr sz="1575" b="1" i="0">
              <a:solidFill>
                <a:srgbClr val="1720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9" name="svg_rect_189"/>
          <p:cNvSpPr>
            <a:spLocks noGrp="1"/>
          </p:cNvSpPr>
          <p:nvPr/>
        </p:nvSpPr>
        <p:spPr>
          <a:xfrm>
            <a:off x="666750" y="8572500"/>
            <a:ext cx="1381125" cy="66675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190" name="svg_text_190"/>
          <p:cNvSpPr>
            <a:spLocks noGrp="1"/>
          </p:cNvSpPr>
          <p:nvPr/>
        </p:nvSpPr>
        <p:spPr>
          <a:xfrm>
            <a:off x="551117" y="8664321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Real Speech x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1" name="svg_text_191"/>
          <p:cNvSpPr>
            <a:spLocks noGrp="1"/>
          </p:cNvSpPr>
          <p:nvPr/>
        </p:nvSpPr>
        <p:spPr>
          <a:xfrm>
            <a:off x="450723" y="8923782"/>
            <a:ext cx="180365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training reference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2" name="svg_rect_192"/>
          <p:cNvSpPr>
            <a:spLocks noGrp="1"/>
          </p:cNvSpPr>
          <p:nvPr/>
        </p:nvSpPr>
        <p:spPr>
          <a:xfrm>
            <a:off x="2762250" y="8572500"/>
            <a:ext cx="2238375" cy="85725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193" name="svg_text_193"/>
          <p:cNvSpPr>
            <a:spLocks noGrp="1"/>
          </p:cNvSpPr>
          <p:nvPr/>
        </p:nvSpPr>
        <p:spPr>
          <a:xfrm>
            <a:off x="2524697" y="8683371"/>
            <a:ext cx="270395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SCIT-Speech Generator G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4" name="svg_text_194"/>
          <p:cNvSpPr>
            <a:spLocks noGrp="1"/>
          </p:cNvSpPr>
          <p:nvPr/>
        </p:nvSpPr>
        <p:spPr>
          <a:xfrm>
            <a:off x="2748153" y="8952357"/>
            <a:ext cx="225704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Encoder + RVQ + Decoder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5" name="svg_text_195"/>
          <p:cNvSpPr>
            <a:spLocks noGrp="1"/>
          </p:cNvSpPr>
          <p:nvPr/>
        </p:nvSpPr>
        <p:spPr>
          <a:xfrm>
            <a:off x="2340102" y="9171432"/>
            <a:ext cx="307314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produces reconstructed speech x̂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6" name="svg_path_196"/>
          <p:cNvSpPr>
            <a:spLocks noGrp="1"/>
          </p:cNvSpPr>
          <p:nvPr/>
        </p:nvSpPr>
        <p:spPr>
          <a:xfrm>
            <a:off x="2047875" y="8905875"/>
            <a:ext cx="714375" cy="9525"/>
          </a:xfrm>
          <a:custGeom>
            <a:avLst/>
            <a:gdLst/>
            <a:ahLst/>
            <a:cxnLst/>
            <a:pathLst>
              <a:path w="714375" h="9525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197" name="svg_arrowhead_197"/>
          <p:cNvSpPr>
            <a:spLocks noGrp="1"/>
          </p:cNvSpPr>
          <p:nvPr/>
        </p:nvSpPr>
        <p:spPr>
          <a:xfrm>
            <a:off x="2657475" y="885348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98" name="svg_rect_198"/>
          <p:cNvSpPr>
            <a:spLocks noGrp="1"/>
          </p:cNvSpPr>
          <p:nvPr/>
        </p:nvSpPr>
        <p:spPr>
          <a:xfrm>
            <a:off x="2381250" y="7620000"/>
            <a:ext cx="1809750" cy="742950"/>
          </a:xfrm>
          <a:prstGeom prst="roundRect">
            <a:avLst>
              <a:gd name="adj" fmla="val 10256"/>
            </a:avLst>
          </a:prstGeom>
          <a:solidFill>
            <a:srgbClr val="F7FBFF"/>
          </a:solidFill>
          <a:ln w="17145">
            <a:solidFill>
              <a:srgbClr val="527CA3"/>
            </a:solidFill>
            <a:prstDash val="dash"/>
          </a:ln>
        </p:spPr>
      </p:sp>
      <p:sp>
        <p:nvSpPr>
          <p:cNvPr id="199" name="svg_text_199"/>
          <p:cNvSpPr>
            <a:spLocks noGrp="1"/>
          </p:cNvSpPr>
          <p:nvPr/>
        </p:nvSpPr>
        <p:spPr>
          <a:xfrm>
            <a:off x="2484692" y="7692771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Frozen HuBERT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0" name="svg_text_200"/>
          <p:cNvSpPr>
            <a:spLocks noGrp="1"/>
          </p:cNvSpPr>
          <p:nvPr/>
        </p:nvSpPr>
        <p:spPr>
          <a:xfrm>
            <a:off x="2815019" y="7911846"/>
            <a:ext cx="942213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Teacher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1" name="svg_text_201"/>
          <p:cNvSpPr>
            <a:spLocks noGrp="1"/>
          </p:cNvSpPr>
          <p:nvPr/>
        </p:nvSpPr>
        <p:spPr>
          <a:xfrm>
            <a:off x="2617470" y="8153781"/>
            <a:ext cx="133731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teacher feature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2" name="svg_path_202"/>
          <p:cNvSpPr>
            <a:spLocks noGrp="1"/>
          </p:cNvSpPr>
          <p:nvPr/>
        </p:nvSpPr>
        <p:spPr>
          <a:xfrm>
            <a:off x="1352550" y="7991475"/>
            <a:ext cx="1028700" cy="581025"/>
          </a:xfrm>
          <a:custGeom>
            <a:avLst/>
            <a:gdLst/>
            <a:ahLst/>
            <a:cxnLst/>
            <a:pathLst>
              <a:path w="1028700" h="581025">
                <a:moveTo>
                  <a:pt x="0" y="581025"/>
                </a:moveTo>
                <a:lnTo>
                  <a:pt x="0" y="0"/>
                </a:lnTo>
                <a:lnTo>
                  <a:pt x="1028700" y="0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203" name="svg_arrowhead_203"/>
          <p:cNvSpPr>
            <a:spLocks noGrp="1"/>
          </p:cNvSpPr>
          <p:nvPr/>
        </p:nvSpPr>
        <p:spPr>
          <a:xfrm>
            <a:off x="2276475" y="793908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204" name="svg_path_204"/>
          <p:cNvSpPr>
            <a:spLocks noGrp="1"/>
          </p:cNvSpPr>
          <p:nvPr/>
        </p:nvSpPr>
        <p:spPr>
          <a:xfrm>
            <a:off x="4191000" y="7991475"/>
            <a:ext cx="476250" cy="581025"/>
          </a:xfrm>
          <a:custGeom>
            <a:avLst/>
            <a:gdLst/>
            <a:ahLst/>
            <a:cxnLst/>
            <a:pathLst>
              <a:path w="476250" h="581025">
                <a:moveTo>
                  <a:pt x="0" y="0"/>
                </a:moveTo>
                <a:lnTo>
                  <a:pt x="476250" y="0"/>
                </a:lnTo>
                <a:lnTo>
                  <a:pt x="476250" y="581025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205" name="svg_arrowhead_205"/>
          <p:cNvSpPr>
            <a:spLocks noGrp="1"/>
          </p:cNvSpPr>
          <p:nvPr/>
        </p:nvSpPr>
        <p:spPr>
          <a:xfrm>
            <a:off x="4614863" y="846772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206" name="svg_text_206"/>
          <p:cNvSpPr>
            <a:spLocks noGrp="1"/>
          </p:cNvSpPr>
          <p:nvPr/>
        </p:nvSpPr>
        <p:spPr>
          <a:xfrm>
            <a:off x="4194048" y="7687056"/>
            <a:ext cx="180365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Semantic Distillation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7" name="svg_text_207"/>
          <p:cNvSpPr>
            <a:spLocks noGrp="1"/>
          </p:cNvSpPr>
          <p:nvPr/>
        </p:nvSpPr>
        <p:spPr>
          <a:xfrm>
            <a:off x="4815840" y="7858506"/>
            <a:ext cx="56007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 Q1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8" name="svg_rect_208"/>
          <p:cNvSpPr>
            <a:spLocks noGrp="1"/>
          </p:cNvSpPr>
          <p:nvPr/>
        </p:nvSpPr>
        <p:spPr>
          <a:xfrm>
            <a:off x="5476875" y="8572500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09" name="svg_text_209"/>
          <p:cNvSpPr>
            <a:spLocks noGrp="1"/>
          </p:cNvSpPr>
          <p:nvPr/>
        </p:nvSpPr>
        <p:spPr>
          <a:xfrm>
            <a:off x="5437442" y="8664321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Reconstructed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0" name="svg_text_210"/>
          <p:cNvSpPr>
            <a:spLocks noGrp="1"/>
          </p:cNvSpPr>
          <p:nvPr/>
        </p:nvSpPr>
        <p:spPr>
          <a:xfrm>
            <a:off x="5657660" y="8892921"/>
            <a:ext cx="116243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Speech x̂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1" name="svg_path_211"/>
          <p:cNvSpPr>
            <a:spLocks noGrp="1"/>
          </p:cNvSpPr>
          <p:nvPr/>
        </p:nvSpPr>
        <p:spPr>
          <a:xfrm>
            <a:off x="5000625" y="8905875"/>
            <a:ext cx="476250" cy="9525"/>
          </a:xfrm>
          <a:custGeom>
            <a:avLst/>
            <a:gdLst/>
            <a:ahLst/>
            <a:cxnLst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212" name="svg_arrowhead_212"/>
          <p:cNvSpPr>
            <a:spLocks noGrp="1"/>
          </p:cNvSpPr>
          <p:nvPr/>
        </p:nvSpPr>
        <p:spPr>
          <a:xfrm>
            <a:off x="5372100" y="885348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13" name="svg_rect_213"/>
          <p:cNvSpPr>
            <a:spLocks noGrp="1"/>
          </p:cNvSpPr>
          <p:nvPr/>
        </p:nvSpPr>
        <p:spPr>
          <a:xfrm>
            <a:off x="5476875" y="9906000"/>
            <a:ext cx="1571625" cy="1190625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14" name="svg_text_214"/>
          <p:cNvSpPr>
            <a:spLocks noGrp="1"/>
          </p:cNvSpPr>
          <p:nvPr/>
        </p:nvSpPr>
        <p:spPr>
          <a:xfrm>
            <a:off x="5346383" y="10016871"/>
            <a:ext cx="1823085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Multi-Scale GAN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5" name="svg_text_215"/>
          <p:cNvSpPr>
            <a:spLocks noGrp="1"/>
          </p:cNvSpPr>
          <p:nvPr/>
        </p:nvSpPr>
        <p:spPr>
          <a:xfrm>
            <a:off x="5401437" y="10254996"/>
            <a:ext cx="1712976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Discriminators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6" name="svg_text_216"/>
          <p:cNvSpPr>
            <a:spLocks noGrp="1"/>
          </p:cNvSpPr>
          <p:nvPr/>
        </p:nvSpPr>
        <p:spPr>
          <a:xfrm>
            <a:off x="5310759" y="10543032"/>
            <a:ext cx="189433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waveform · periodic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7" name="svg_text_217"/>
          <p:cNvSpPr>
            <a:spLocks noGrp="1"/>
          </p:cNvSpPr>
          <p:nvPr/>
        </p:nvSpPr>
        <p:spPr>
          <a:xfrm>
            <a:off x="5537454" y="10762107"/>
            <a:ext cx="144094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time-frequency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8" name="svg_path_218"/>
          <p:cNvSpPr>
            <a:spLocks noGrp="1"/>
          </p:cNvSpPr>
          <p:nvPr/>
        </p:nvSpPr>
        <p:spPr>
          <a:xfrm>
            <a:off x="1352550" y="9239250"/>
            <a:ext cx="4124325" cy="1238250"/>
          </a:xfrm>
          <a:custGeom>
            <a:avLst/>
            <a:gdLst/>
            <a:ahLst/>
            <a:cxnLst/>
            <a:pathLst>
              <a:path w="4124325" h="1238250">
                <a:moveTo>
                  <a:pt x="0" y="0"/>
                </a:moveTo>
                <a:lnTo>
                  <a:pt x="0" y="1238250"/>
                </a:lnTo>
                <a:lnTo>
                  <a:pt x="4124325" y="123825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19" name="svg_arrowhead_219"/>
          <p:cNvSpPr>
            <a:spLocks noGrp="1"/>
          </p:cNvSpPr>
          <p:nvPr/>
        </p:nvSpPr>
        <p:spPr>
          <a:xfrm>
            <a:off x="5372100" y="1042511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20" name="svg_text_220"/>
          <p:cNvSpPr>
            <a:spLocks noGrp="1"/>
          </p:cNvSpPr>
          <p:nvPr/>
        </p:nvSpPr>
        <p:spPr>
          <a:xfrm>
            <a:off x="2642616" y="10209657"/>
            <a:ext cx="715518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Real x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1" name="svg_path_221"/>
          <p:cNvSpPr>
            <a:spLocks noGrp="1"/>
          </p:cNvSpPr>
          <p:nvPr/>
        </p:nvSpPr>
        <p:spPr>
          <a:xfrm>
            <a:off x="6238875" y="9239250"/>
            <a:ext cx="9525" cy="666750"/>
          </a:xfrm>
          <a:custGeom>
            <a:avLst/>
            <a:gdLst/>
            <a:ahLst/>
            <a:cxnLst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22" name="svg_arrowhead_222"/>
          <p:cNvSpPr>
            <a:spLocks noGrp="1"/>
          </p:cNvSpPr>
          <p:nvPr/>
        </p:nvSpPr>
        <p:spPr>
          <a:xfrm>
            <a:off x="6186488" y="980122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23" name="svg_text_223"/>
          <p:cNvSpPr>
            <a:spLocks noGrp="1"/>
          </p:cNvSpPr>
          <p:nvPr/>
        </p:nvSpPr>
        <p:spPr>
          <a:xfrm>
            <a:off x="6132957" y="9552432"/>
            <a:ext cx="125958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Generated x̂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4" name="svg_rect_224"/>
          <p:cNvSpPr>
            <a:spLocks noGrp="1"/>
          </p:cNvSpPr>
          <p:nvPr/>
        </p:nvSpPr>
        <p:spPr>
          <a:xfrm>
            <a:off x="7524750" y="9858375"/>
            <a:ext cx="1476375" cy="552450"/>
          </a:xfrm>
          <a:prstGeom prst="roundRect">
            <a:avLst>
              <a:gd name="adj" fmla="val 13793"/>
            </a:avLst>
          </a:prstGeom>
          <a:solidFill>
            <a:srgbClr val="FFF8EA"/>
          </a:solidFill>
          <a:ln w="17145">
            <a:solidFill>
              <a:srgbClr val="D89A33"/>
            </a:solidFill>
            <a:prstDash val="solid"/>
          </a:ln>
        </p:spPr>
      </p:sp>
      <p:sp>
        <p:nvSpPr>
          <p:cNvPr id="225" name="svg_text_225"/>
          <p:cNvSpPr>
            <a:spLocks noGrp="1"/>
          </p:cNvSpPr>
          <p:nvPr/>
        </p:nvSpPr>
        <p:spPr>
          <a:xfrm>
            <a:off x="7291578" y="10016871"/>
            <a:ext cx="1933194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Adversarial Loss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6" name="svg_rect_226"/>
          <p:cNvSpPr>
            <a:spLocks noGrp="1"/>
          </p:cNvSpPr>
          <p:nvPr/>
        </p:nvSpPr>
        <p:spPr>
          <a:xfrm>
            <a:off x="7524750" y="10572750"/>
            <a:ext cx="1476375" cy="590550"/>
          </a:xfrm>
          <a:prstGeom prst="roundRect">
            <a:avLst>
              <a:gd name="adj" fmla="val 12903"/>
            </a:avLst>
          </a:prstGeom>
          <a:solidFill>
            <a:srgbClr val="FFF8EA"/>
          </a:solidFill>
          <a:ln w="17145">
            <a:solidFill>
              <a:srgbClr val="D89A33"/>
            </a:solidFill>
            <a:prstDash val="solid"/>
          </a:ln>
        </p:spPr>
      </p:sp>
      <p:sp>
        <p:nvSpPr>
          <p:cNvPr id="227" name="svg_text_227"/>
          <p:cNvSpPr>
            <a:spLocks noGrp="1"/>
          </p:cNvSpPr>
          <p:nvPr/>
        </p:nvSpPr>
        <p:spPr>
          <a:xfrm>
            <a:off x="7291578" y="10664571"/>
            <a:ext cx="1933194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Feature-Matching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8" name="svg_text_228"/>
          <p:cNvSpPr>
            <a:spLocks noGrp="1"/>
          </p:cNvSpPr>
          <p:nvPr/>
        </p:nvSpPr>
        <p:spPr>
          <a:xfrm>
            <a:off x="7952232" y="10874121"/>
            <a:ext cx="611886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Loss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9" name="svg_path_229"/>
          <p:cNvSpPr>
            <a:spLocks noGrp="1"/>
          </p:cNvSpPr>
          <p:nvPr/>
        </p:nvSpPr>
        <p:spPr>
          <a:xfrm>
            <a:off x="7048500" y="10191750"/>
            <a:ext cx="476250" cy="9525"/>
          </a:xfrm>
          <a:custGeom>
            <a:avLst/>
            <a:gdLst/>
            <a:ahLst/>
            <a:cxnLst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30" name="svg_arrowhead_230"/>
          <p:cNvSpPr>
            <a:spLocks noGrp="1"/>
          </p:cNvSpPr>
          <p:nvPr/>
        </p:nvSpPr>
        <p:spPr>
          <a:xfrm>
            <a:off x="7419975" y="101393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31" name="svg_path_231"/>
          <p:cNvSpPr>
            <a:spLocks noGrp="1"/>
          </p:cNvSpPr>
          <p:nvPr/>
        </p:nvSpPr>
        <p:spPr>
          <a:xfrm>
            <a:off x="7048500" y="10839450"/>
            <a:ext cx="476250" cy="9525"/>
          </a:xfrm>
          <a:custGeom>
            <a:avLst/>
            <a:gdLst/>
            <a:ahLst/>
            <a:cxnLst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32" name="svg_arrowhead_232"/>
          <p:cNvSpPr>
            <a:spLocks noGrp="1"/>
          </p:cNvSpPr>
          <p:nvPr/>
        </p:nvSpPr>
        <p:spPr>
          <a:xfrm>
            <a:off x="7419975" y="107870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33" name="svg_path_233"/>
          <p:cNvSpPr>
            <a:spLocks noGrp="1"/>
          </p:cNvSpPr>
          <p:nvPr/>
        </p:nvSpPr>
        <p:spPr>
          <a:xfrm>
            <a:off x="4476750" y="9429750"/>
            <a:ext cx="3048000" cy="2095500"/>
          </a:xfrm>
          <a:custGeom>
            <a:avLst/>
            <a:gdLst/>
            <a:ahLst/>
            <a:cxnLst/>
            <a:pathLst>
              <a:path w="3048000" h="2095500">
                <a:moveTo>
                  <a:pt x="3048000" y="714375"/>
                </a:moveTo>
                <a:lnTo>
                  <a:pt x="2809875" y="714375"/>
                </a:lnTo>
                <a:lnTo>
                  <a:pt x="2809875" y="2095500"/>
                </a:lnTo>
                <a:lnTo>
                  <a:pt x="0" y="20955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234" name="svg_arrowhead_234"/>
          <p:cNvSpPr>
            <a:spLocks noGrp="1"/>
          </p:cNvSpPr>
          <p:nvPr/>
        </p:nvSpPr>
        <p:spPr>
          <a:xfrm>
            <a:off x="4424363" y="9429750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235" name="svg_path_235"/>
          <p:cNvSpPr>
            <a:spLocks noGrp="1"/>
          </p:cNvSpPr>
          <p:nvPr/>
        </p:nvSpPr>
        <p:spPr>
          <a:xfrm>
            <a:off x="4191000" y="9429750"/>
            <a:ext cx="3333750" cy="2333625"/>
          </a:xfrm>
          <a:custGeom>
            <a:avLst/>
            <a:gdLst/>
            <a:ahLst/>
            <a:cxnLst/>
            <a:pathLst>
              <a:path w="3333750" h="2333625">
                <a:moveTo>
                  <a:pt x="3333750" y="1428750"/>
                </a:moveTo>
                <a:lnTo>
                  <a:pt x="2952750" y="1428750"/>
                </a:lnTo>
                <a:lnTo>
                  <a:pt x="2952750" y="2333625"/>
                </a:lnTo>
                <a:lnTo>
                  <a:pt x="0" y="233362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236" name="svg_arrowhead_236"/>
          <p:cNvSpPr>
            <a:spLocks noGrp="1"/>
          </p:cNvSpPr>
          <p:nvPr/>
        </p:nvSpPr>
        <p:spPr>
          <a:xfrm>
            <a:off x="4138613" y="9429750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237" name="svg_rect_237"/>
          <p:cNvSpPr>
            <a:spLocks noGrp="1"/>
          </p:cNvSpPr>
          <p:nvPr/>
        </p:nvSpPr>
        <p:spPr>
          <a:xfrm>
            <a:off x="2714625" y="11858625"/>
            <a:ext cx="2762250" cy="857250"/>
          </a:xfrm>
          <a:prstGeom prst="roundRect">
            <a:avLst>
              <a:gd name="adj" fmla="val 8889"/>
            </a:avLst>
          </a:prstGeom>
          <a:solidFill>
            <a:srgbClr val="FFF8EA"/>
          </a:solidFill>
          <a:ln w="17145">
            <a:solidFill>
              <a:srgbClr val="D89A33"/>
            </a:solidFill>
            <a:prstDash val="solid"/>
          </a:ln>
        </p:spPr>
      </p:sp>
      <p:sp>
        <p:nvSpPr>
          <p:cNvPr id="238" name="svg_text_238"/>
          <p:cNvSpPr>
            <a:spLocks noGrp="1"/>
          </p:cNvSpPr>
          <p:nvPr/>
        </p:nvSpPr>
        <p:spPr>
          <a:xfrm>
            <a:off x="3239262" y="11950446"/>
            <a:ext cx="1712976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Waveform + Mel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9" name="svg_text_239"/>
          <p:cNvSpPr>
            <a:spLocks noGrp="1"/>
          </p:cNvSpPr>
          <p:nvPr/>
        </p:nvSpPr>
        <p:spPr>
          <a:xfrm>
            <a:off x="2963990" y="12179046"/>
            <a:ext cx="226352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Reconstruction Loss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0" name="svg_text_240"/>
          <p:cNvSpPr>
            <a:spLocks noGrp="1"/>
          </p:cNvSpPr>
          <p:nvPr/>
        </p:nvSpPr>
        <p:spPr>
          <a:xfrm>
            <a:off x="2831211" y="12438507"/>
            <a:ext cx="2529078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compares x and x̂ directly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1" name="svg_path_241"/>
          <p:cNvSpPr>
            <a:spLocks noGrp="1"/>
          </p:cNvSpPr>
          <p:nvPr/>
        </p:nvSpPr>
        <p:spPr>
          <a:xfrm>
            <a:off x="571500" y="9239250"/>
            <a:ext cx="3524250" cy="3571875"/>
          </a:xfrm>
          <a:custGeom>
            <a:avLst/>
            <a:gdLst/>
            <a:ahLst/>
            <a:cxnLst/>
            <a:pathLst>
              <a:path w="3524250" h="3571875">
                <a:moveTo>
                  <a:pt x="781050" y="0"/>
                </a:moveTo>
                <a:lnTo>
                  <a:pt x="0" y="0"/>
                </a:lnTo>
                <a:lnTo>
                  <a:pt x="0" y="3571875"/>
                </a:lnTo>
                <a:lnTo>
                  <a:pt x="3524250" y="3571875"/>
                </a:lnTo>
                <a:lnTo>
                  <a:pt x="3524250" y="3476625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242" name="svg_arrowhead_242"/>
          <p:cNvSpPr>
            <a:spLocks noGrp="1"/>
          </p:cNvSpPr>
          <p:nvPr/>
        </p:nvSpPr>
        <p:spPr>
          <a:xfrm>
            <a:off x="4043363" y="1271587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243" name="svg_path_243"/>
          <p:cNvSpPr>
            <a:spLocks noGrp="1"/>
          </p:cNvSpPr>
          <p:nvPr/>
        </p:nvSpPr>
        <p:spPr>
          <a:xfrm>
            <a:off x="5476875" y="9239250"/>
            <a:ext cx="762000" cy="3048000"/>
          </a:xfrm>
          <a:custGeom>
            <a:avLst/>
            <a:gdLst/>
            <a:ahLst/>
            <a:cxnLst/>
            <a:pathLst>
              <a:path w="762000" h="3048000">
                <a:moveTo>
                  <a:pt x="762000" y="0"/>
                </a:moveTo>
                <a:lnTo>
                  <a:pt x="762000" y="2428875"/>
                </a:lnTo>
                <a:lnTo>
                  <a:pt x="0" y="2428875"/>
                </a:lnTo>
                <a:lnTo>
                  <a:pt x="0" y="3048000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244" name="svg_arrowhead_244"/>
          <p:cNvSpPr>
            <a:spLocks noGrp="1"/>
          </p:cNvSpPr>
          <p:nvPr/>
        </p:nvSpPr>
        <p:spPr>
          <a:xfrm>
            <a:off x="5424488" y="1218247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245" name="svg_path_245"/>
          <p:cNvSpPr>
            <a:spLocks noGrp="1"/>
          </p:cNvSpPr>
          <p:nvPr/>
        </p:nvSpPr>
        <p:spPr>
          <a:xfrm>
            <a:off x="3905250" y="9429750"/>
            <a:ext cx="190500" cy="2428875"/>
          </a:xfrm>
          <a:custGeom>
            <a:avLst/>
            <a:gdLst/>
            <a:ahLst/>
            <a:cxnLst/>
            <a:pathLst>
              <a:path w="190500" h="2428875">
                <a:moveTo>
                  <a:pt x="190500" y="2428875"/>
                </a:moveTo>
                <a:lnTo>
                  <a:pt x="190500" y="1952625"/>
                </a:lnTo>
                <a:lnTo>
                  <a:pt x="0" y="195262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246" name="svg_arrowhead_246"/>
          <p:cNvSpPr>
            <a:spLocks noGrp="1"/>
          </p:cNvSpPr>
          <p:nvPr/>
        </p:nvSpPr>
        <p:spPr>
          <a:xfrm>
            <a:off x="3852863" y="9429750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247" name="svg_rect_247"/>
          <p:cNvSpPr>
            <a:spLocks noGrp="1"/>
          </p:cNvSpPr>
          <p:nvPr/>
        </p:nvSpPr>
        <p:spPr>
          <a:xfrm>
            <a:off x="762000" y="12001500"/>
            <a:ext cx="1476375" cy="619125"/>
          </a:xfrm>
          <a:prstGeom prst="roundRect">
            <a:avLst>
              <a:gd name="adj" fmla="val 12308"/>
            </a:avLst>
          </a:prstGeom>
          <a:solidFill>
            <a:srgbClr val="FFF8EA"/>
          </a:solidFill>
          <a:ln w="17145">
            <a:solidFill>
              <a:srgbClr val="D89A33"/>
            </a:solidFill>
            <a:prstDash val="solid"/>
          </a:ln>
        </p:spPr>
      </p:sp>
      <p:sp>
        <p:nvSpPr>
          <p:cNvPr id="248" name="svg_text_248"/>
          <p:cNvSpPr>
            <a:spLocks noGrp="1"/>
          </p:cNvSpPr>
          <p:nvPr/>
        </p:nvSpPr>
        <p:spPr>
          <a:xfrm>
            <a:off x="638937" y="12093321"/>
            <a:ext cx="1712976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RVQ Commitment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9" name="svg_text_249"/>
          <p:cNvSpPr>
            <a:spLocks noGrp="1"/>
          </p:cNvSpPr>
          <p:nvPr/>
        </p:nvSpPr>
        <p:spPr>
          <a:xfrm>
            <a:off x="684276" y="12352782"/>
            <a:ext cx="1622298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updates RVQ only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0" name="svg_path_250"/>
          <p:cNvSpPr>
            <a:spLocks noGrp="1"/>
          </p:cNvSpPr>
          <p:nvPr/>
        </p:nvSpPr>
        <p:spPr>
          <a:xfrm>
            <a:off x="1495425" y="9429750"/>
            <a:ext cx="1838325" cy="2571750"/>
          </a:xfrm>
          <a:custGeom>
            <a:avLst/>
            <a:gdLst/>
            <a:ahLst/>
            <a:cxnLst/>
            <a:pathLst>
              <a:path w="1838325" h="2571750">
                <a:moveTo>
                  <a:pt x="0" y="2571750"/>
                </a:moveTo>
                <a:lnTo>
                  <a:pt x="0" y="1762125"/>
                </a:lnTo>
                <a:lnTo>
                  <a:pt x="1838325" y="1762125"/>
                </a:lnTo>
                <a:lnTo>
                  <a:pt x="1838325" y="0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251" name="svg_arrowhead_251"/>
          <p:cNvSpPr>
            <a:spLocks noGrp="1"/>
          </p:cNvSpPr>
          <p:nvPr/>
        </p:nvSpPr>
        <p:spPr>
          <a:xfrm>
            <a:off x="3281363" y="9429750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252" name="svg_rect_252"/>
          <p:cNvSpPr>
            <a:spLocks noGrp="1"/>
          </p:cNvSpPr>
          <p:nvPr/>
        </p:nvSpPr>
        <p:spPr>
          <a:xfrm>
            <a:off x="9572625" y="7143750"/>
            <a:ext cx="6715125" cy="5810250"/>
          </a:xfrm>
          <a:prstGeom prst="roundRect">
            <a:avLst>
              <a:gd name="adj" fmla="val 1639"/>
            </a:avLst>
          </a:prstGeom>
          <a:solidFill>
            <a:srgbClr val="FBFDFF"/>
          </a:solidFill>
          <a:ln w="15240">
            <a:solidFill>
              <a:srgbClr val="A8CBEA"/>
            </a:solidFill>
            <a:prstDash val="dash"/>
          </a:ln>
        </p:spPr>
      </p:sp>
      <p:sp>
        <p:nvSpPr>
          <p:cNvPr id="253" name="svg_rect_253"/>
          <p:cNvSpPr>
            <a:spLocks noGrp="1"/>
          </p:cNvSpPr>
          <p:nvPr/>
        </p:nvSpPr>
        <p:spPr>
          <a:xfrm>
            <a:off x="9715500" y="7286625"/>
            <a:ext cx="476250" cy="285750"/>
          </a:xfrm>
          <a:prstGeom prst="roundRect">
            <a:avLst>
              <a:gd name="adj" fmla="val 50000"/>
            </a:avLst>
          </a:prstGeom>
          <a:solidFill>
            <a:srgbClr val="1467B8"/>
          </a:solidFill>
          <a:ln w="0">
            <a:noFill/>
            <a:prstDash val="solid"/>
          </a:ln>
        </p:spPr>
      </p:sp>
      <p:sp>
        <p:nvSpPr>
          <p:cNvPr id="254" name="svg_text_254"/>
          <p:cNvSpPr>
            <a:spLocks noGrp="1"/>
          </p:cNvSpPr>
          <p:nvPr/>
        </p:nvSpPr>
        <p:spPr>
          <a:xfrm>
            <a:off x="9757791" y="7321296"/>
            <a:ext cx="391668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5B</a:t>
            </a:r>
            <a:endParaRPr sz="12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5" name="svg_text_255"/>
          <p:cNvSpPr>
            <a:spLocks noGrp="1"/>
          </p:cNvSpPr>
          <p:nvPr/>
        </p:nvSpPr>
        <p:spPr>
          <a:xfrm>
            <a:off x="10334625" y="7308723"/>
            <a:ext cx="3571875" cy="3100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1720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i="0">
                <a:solidFill>
                  <a:srgbClr val="1720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Channel-Aware Fine-Tuning</a:t>
            </a:r>
            <a:endParaRPr sz="1575" b="1" i="0">
              <a:solidFill>
                <a:srgbClr val="1720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6" name="svg_rect_256"/>
          <p:cNvSpPr>
            <a:spLocks noGrp="1"/>
          </p:cNvSpPr>
          <p:nvPr/>
        </p:nvSpPr>
        <p:spPr>
          <a:xfrm>
            <a:off x="9810750" y="9429750"/>
            <a:ext cx="1190625" cy="76200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57" name="svg_text_257"/>
          <p:cNvSpPr>
            <a:spLocks noGrp="1"/>
          </p:cNvSpPr>
          <p:nvPr/>
        </p:nvSpPr>
        <p:spPr>
          <a:xfrm>
            <a:off x="9765030" y="9540621"/>
            <a:ext cx="127254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Base Model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8" name="svg_text_258"/>
          <p:cNvSpPr>
            <a:spLocks noGrp="1"/>
          </p:cNvSpPr>
          <p:nvPr/>
        </p:nvSpPr>
        <p:spPr>
          <a:xfrm>
            <a:off x="9765030" y="9778746"/>
            <a:ext cx="127254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Checkpoint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9" name="svg_path_259"/>
          <p:cNvSpPr>
            <a:spLocks noGrp="1"/>
          </p:cNvSpPr>
          <p:nvPr/>
        </p:nvSpPr>
        <p:spPr>
          <a:xfrm>
            <a:off x="11001375" y="9810750"/>
            <a:ext cx="333375" cy="9525"/>
          </a:xfrm>
          <a:custGeom>
            <a:avLst/>
            <a:gdLst/>
            <a:ahLst/>
            <a:cxnLst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260" name="svg_arrowhead_260"/>
          <p:cNvSpPr>
            <a:spLocks noGrp="1"/>
          </p:cNvSpPr>
          <p:nvPr/>
        </p:nvSpPr>
        <p:spPr>
          <a:xfrm>
            <a:off x="11229975" y="97583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61" name="svg_rect_261"/>
          <p:cNvSpPr>
            <a:spLocks noGrp="1"/>
          </p:cNvSpPr>
          <p:nvPr/>
        </p:nvSpPr>
        <p:spPr>
          <a:xfrm>
            <a:off x="11334750" y="7905750"/>
            <a:ext cx="3476625" cy="4429125"/>
          </a:xfrm>
          <a:prstGeom prst="roundRect">
            <a:avLst>
              <a:gd name="adj" fmla="val 2192"/>
            </a:avLst>
          </a:prstGeom>
          <a:solidFill>
            <a:srgbClr val="F7FBFF"/>
          </a:solidFill>
          <a:ln w="17145">
            <a:solidFill>
              <a:srgbClr val="527CA3"/>
            </a:solidFill>
            <a:prstDash val="dash"/>
          </a:ln>
        </p:spPr>
      </p:sp>
      <p:sp>
        <p:nvSpPr>
          <p:cNvPr id="262" name="svg_text_262"/>
          <p:cNvSpPr>
            <a:spLocks noGrp="1"/>
          </p:cNvSpPr>
          <p:nvPr/>
        </p:nvSpPr>
        <p:spPr>
          <a:xfrm>
            <a:off x="11275886" y="8016621"/>
            <a:ext cx="3584829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CHANNEL-AWARE FINE-TUNING BLOCK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3" name="svg_rect_263"/>
          <p:cNvSpPr>
            <a:spLocks noGrp="1"/>
          </p:cNvSpPr>
          <p:nvPr/>
        </p:nvSpPr>
        <p:spPr>
          <a:xfrm>
            <a:off x="12001500" y="8429625"/>
            <a:ext cx="2143125" cy="523875"/>
          </a:xfrm>
          <a:prstGeom prst="roundRect">
            <a:avLst>
              <a:gd name="adj" fmla="val 14545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64" name="svg_text_264"/>
          <p:cNvSpPr>
            <a:spLocks noGrp="1"/>
          </p:cNvSpPr>
          <p:nvPr/>
        </p:nvSpPr>
        <p:spPr>
          <a:xfrm>
            <a:off x="11606213" y="8492871"/>
            <a:ext cx="2924175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Random RVQ-Depth Sampling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5" name="svg_text_265"/>
          <p:cNvSpPr>
            <a:spLocks noGrp="1"/>
          </p:cNvSpPr>
          <p:nvPr/>
        </p:nvSpPr>
        <p:spPr>
          <a:xfrm>
            <a:off x="11972163" y="8744331"/>
            <a:ext cx="219227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training augmentation only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6" name="svg_path_266"/>
          <p:cNvSpPr>
            <a:spLocks noGrp="1"/>
          </p:cNvSpPr>
          <p:nvPr/>
        </p:nvSpPr>
        <p:spPr>
          <a:xfrm>
            <a:off x="11906250" y="8953500"/>
            <a:ext cx="1162050" cy="285750"/>
          </a:xfrm>
          <a:custGeom>
            <a:avLst/>
            <a:gdLst/>
            <a:ahLst/>
            <a:cxnLst/>
            <a:pathLst>
              <a:path w="1162050" h="285750">
                <a:moveTo>
                  <a:pt x="1162050" y="0"/>
                </a:moveTo>
                <a:lnTo>
                  <a:pt x="1162050" y="285750"/>
                </a:lnTo>
                <a:lnTo>
                  <a:pt x="0" y="28575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67" name="svg_arrowhead_267"/>
          <p:cNvSpPr>
            <a:spLocks noGrp="1"/>
          </p:cNvSpPr>
          <p:nvPr/>
        </p:nvSpPr>
        <p:spPr>
          <a:xfrm>
            <a:off x="11906250" y="91868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68" name="svg_rect_268"/>
          <p:cNvSpPr>
            <a:spLocks noGrp="1"/>
          </p:cNvSpPr>
          <p:nvPr/>
        </p:nvSpPr>
        <p:spPr>
          <a:xfrm>
            <a:off x="11525250" y="9239250"/>
            <a:ext cx="1143000" cy="571500"/>
          </a:xfrm>
          <a:prstGeom prst="roundRect">
            <a:avLst>
              <a:gd name="adj" fmla="val 13333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69" name="svg_text_269"/>
          <p:cNvSpPr>
            <a:spLocks noGrp="1"/>
          </p:cNvSpPr>
          <p:nvPr/>
        </p:nvSpPr>
        <p:spPr>
          <a:xfrm>
            <a:off x="11295316" y="9321546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Clean Indices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0" name="svg_text_270"/>
          <p:cNvSpPr>
            <a:spLocks noGrp="1"/>
          </p:cNvSpPr>
          <p:nvPr/>
        </p:nvSpPr>
        <p:spPr>
          <a:xfrm>
            <a:off x="11570589" y="9540621"/>
            <a:ext cx="1052322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i₁,i₂,i₃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71" name="svg_path_271"/>
          <p:cNvSpPr>
            <a:spLocks noGrp="1"/>
          </p:cNvSpPr>
          <p:nvPr/>
        </p:nvSpPr>
        <p:spPr>
          <a:xfrm>
            <a:off x="12668250" y="9525000"/>
            <a:ext cx="285750" cy="9525"/>
          </a:xfrm>
          <a:custGeom>
            <a:avLst/>
            <a:gdLst/>
            <a:ahLst/>
            <a:cxnLst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72" name="svg_arrowhead_272"/>
          <p:cNvSpPr>
            <a:spLocks noGrp="1"/>
          </p:cNvSpPr>
          <p:nvPr/>
        </p:nvSpPr>
        <p:spPr>
          <a:xfrm>
            <a:off x="12849225" y="947261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73" name="svg_rect_273"/>
          <p:cNvSpPr>
            <a:spLocks noGrp="1"/>
          </p:cNvSpPr>
          <p:nvPr/>
        </p:nvSpPr>
        <p:spPr>
          <a:xfrm>
            <a:off x="12954000" y="9239250"/>
            <a:ext cx="1190625" cy="571500"/>
          </a:xfrm>
          <a:prstGeom prst="roundRect">
            <a:avLst>
              <a:gd name="adj" fmla="val 13333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74" name="svg_text_274"/>
          <p:cNvSpPr>
            <a:spLocks noGrp="1"/>
          </p:cNvSpPr>
          <p:nvPr/>
        </p:nvSpPr>
        <p:spPr>
          <a:xfrm>
            <a:off x="12908280" y="9312021"/>
            <a:ext cx="127254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Decoder Dθ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5" name="svg_text_275"/>
          <p:cNvSpPr>
            <a:spLocks noGrp="1"/>
          </p:cNvSpPr>
          <p:nvPr/>
        </p:nvSpPr>
        <p:spPr>
          <a:xfrm>
            <a:off x="13070205" y="9573006"/>
            <a:ext cx="94869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clean pass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6" name="svg_path_276"/>
          <p:cNvSpPr>
            <a:spLocks noGrp="1"/>
          </p:cNvSpPr>
          <p:nvPr/>
        </p:nvSpPr>
        <p:spPr>
          <a:xfrm>
            <a:off x="14144625" y="9525000"/>
            <a:ext cx="142875" cy="9525"/>
          </a:xfrm>
          <a:custGeom>
            <a:avLst/>
            <a:gdLst/>
            <a:ahLst/>
            <a:cxnLst/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77" name="svg_arrowhead_277"/>
          <p:cNvSpPr>
            <a:spLocks noGrp="1"/>
          </p:cNvSpPr>
          <p:nvPr/>
        </p:nvSpPr>
        <p:spPr>
          <a:xfrm>
            <a:off x="14182725" y="947261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78" name="svg_rect_278"/>
          <p:cNvSpPr>
            <a:spLocks noGrp="1"/>
          </p:cNvSpPr>
          <p:nvPr/>
        </p:nvSpPr>
        <p:spPr>
          <a:xfrm>
            <a:off x="14287500" y="9239250"/>
            <a:ext cx="428625" cy="571500"/>
          </a:xfrm>
          <a:prstGeom prst="roundRect">
            <a:avLst>
              <a:gd name="adj" fmla="val 17778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79" name="svg_text_279"/>
          <p:cNvSpPr>
            <a:spLocks noGrp="1"/>
          </p:cNvSpPr>
          <p:nvPr/>
        </p:nvSpPr>
        <p:spPr>
          <a:xfrm>
            <a:off x="14217015" y="9363456"/>
            <a:ext cx="56007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Clean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0" name="svg_text_280"/>
          <p:cNvSpPr>
            <a:spLocks noGrp="1"/>
          </p:cNvSpPr>
          <p:nvPr/>
        </p:nvSpPr>
        <p:spPr>
          <a:xfrm>
            <a:off x="14294739" y="9534906"/>
            <a:ext cx="40462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Mel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1" name="svg_path_281"/>
          <p:cNvSpPr>
            <a:spLocks noGrp="1"/>
          </p:cNvSpPr>
          <p:nvPr/>
        </p:nvSpPr>
        <p:spPr>
          <a:xfrm>
            <a:off x="12096750" y="9810750"/>
            <a:ext cx="9525" cy="476250"/>
          </a:xfrm>
          <a:custGeom>
            <a:avLst/>
            <a:gdLst/>
            <a:ahLst/>
            <a:cxnLst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82" name="svg_arrowhead_282"/>
          <p:cNvSpPr>
            <a:spLocks noGrp="1"/>
          </p:cNvSpPr>
          <p:nvPr/>
        </p:nvSpPr>
        <p:spPr>
          <a:xfrm>
            <a:off x="12044363" y="1018222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83" name="svg_rect_283"/>
          <p:cNvSpPr>
            <a:spLocks noGrp="1"/>
          </p:cNvSpPr>
          <p:nvPr/>
        </p:nvSpPr>
        <p:spPr>
          <a:xfrm>
            <a:off x="11525250" y="10287000"/>
            <a:ext cx="1381125" cy="571500"/>
          </a:xfrm>
          <a:prstGeom prst="roundRect">
            <a:avLst>
              <a:gd name="adj" fmla="val 13333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84" name="svg_text_284"/>
          <p:cNvSpPr>
            <a:spLocks noGrp="1"/>
          </p:cNvSpPr>
          <p:nvPr/>
        </p:nvSpPr>
        <p:spPr>
          <a:xfrm>
            <a:off x="11134344" y="10445496"/>
            <a:ext cx="2153412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Index Perturbation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5" name="svg_path_285"/>
          <p:cNvSpPr>
            <a:spLocks noGrp="1"/>
          </p:cNvSpPr>
          <p:nvPr/>
        </p:nvSpPr>
        <p:spPr>
          <a:xfrm>
            <a:off x="12906375" y="10572750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86" name="svg_arrowhead_286"/>
          <p:cNvSpPr>
            <a:spLocks noGrp="1"/>
          </p:cNvSpPr>
          <p:nvPr/>
        </p:nvSpPr>
        <p:spPr>
          <a:xfrm>
            <a:off x="13039725" y="105203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87" name="svg_rect_287"/>
          <p:cNvSpPr>
            <a:spLocks noGrp="1"/>
          </p:cNvSpPr>
          <p:nvPr/>
        </p:nvSpPr>
        <p:spPr>
          <a:xfrm>
            <a:off x="13144500" y="10287000"/>
            <a:ext cx="1238250" cy="571500"/>
          </a:xfrm>
          <a:prstGeom prst="roundRect">
            <a:avLst>
              <a:gd name="adj" fmla="val 13333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88" name="svg_text_288"/>
          <p:cNvSpPr>
            <a:spLocks noGrp="1"/>
          </p:cNvSpPr>
          <p:nvPr/>
        </p:nvSpPr>
        <p:spPr>
          <a:xfrm>
            <a:off x="13182410" y="10350246"/>
            <a:ext cx="116243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Perturbed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9" name="svg_text_289"/>
          <p:cNvSpPr>
            <a:spLocks noGrp="1"/>
          </p:cNvSpPr>
          <p:nvPr/>
        </p:nvSpPr>
        <p:spPr>
          <a:xfrm>
            <a:off x="13237464" y="10569321"/>
            <a:ext cx="1052322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ĩ₁,ĩ₂,ĩ₃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90" name="svg_path_290"/>
          <p:cNvSpPr>
            <a:spLocks noGrp="1"/>
          </p:cNvSpPr>
          <p:nvPr/>
        </p:nvSpPr>
        <p:spPr>
          <a:xfrm>
            <a:off x="13763625" y="10858500"/>
            <a:ext cx="9525" cy="285750"/>
          </a:xfrm>
          <a:custGeom>
            <a:avLst/>
            <a:gdLst/>
            <a:ahLst/>
            <a:cxnLst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91" name="svg_arrowhead_291"/>
          <p:cNvSpPr>
            <a:spLocks noGrp="1"/>
          </p:cNvSpPr>
          <p:nvPr/>
        </p:nvSpPr>
        <p:spPr>
          <a:xfrm>
            <a:off x="13711238" y="1103947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92" name="svg_rect_292"/>
          <p:cNvSpPr>
            <a:spLocks noGrp="1"/>
          </p:cNvSpPr>
          <p:nvPr/>
        </p:nvSpPr>
        <p:spPr>
          <a:xfrm>
            <a:off x="13144500" y="11144250"/>
            <a:ext cx="1190625" cy="571500"/>
          </a:xfrm>
          <a:prstGeom prst="roundRect">
            <a:avLst>
              <a:gd name="adj" fmla="val 13333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93" name="svg_text_293"/>
          <p:cNvSpPr>
            <a:spLocks noGrp="1"/>
          </p:cNvSpPr>
          <p:nvPr/>
        </p:nvSpPr>
        <p:spPr>
          <a:xfrm>
            <a:off x="13098780" y="11217021"/>
            <a:ext cx="127254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Decoder Dθ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4" name="svg_text_294"/>
          <p:cNvSpPr>
            <a:spLocks noGrp="1"/>
          </p:cNvSpPr>
          <p:nvPr/>
        </p:nvSpPr>
        <p:spPr>
          <a:xfrm>
            <a:off x="13182981" y="11478006"/>
            <a:ext cx="1104138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same weights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5" name="svg_path_295"/>
          <p:cNvSpPr>
            <a:spLocks noGrp="1"/>
          </p:cNvSpPr>
          <p:nvPr/>
        </p:nvSpPr>
        <p:spPr>
          <a:xfrm>
            <a:off x="14335125" y="11430000"/>
            <a:ext cx="95250" cy="9525"/>
          </a:xfrm>
          <a:custGeom>
            <a:avLst/>
            <a:gdLst/>
            <a:ahLst/>
            <a:cxnLst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96" name="svg_arrowhead_296"/>
          <p:cNvSpPr>
            <a:spLocks noGrp="1"/>
          </p:cNvSpPr>
          <p:nvPr/>
        </p:nvSpPr>
        <p:spPr>
          <a:xfrm>
            <a:off x="14325600" y="1137761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97" name="svg_rect_297"/>
          <p:cNvSpPr>
            <a:spLocks noGrp="1"/>
          </p:cNvSpPr>
          <p:nvPr/>
        </p:nvSpPr>
        <p:spPr>
          <a:xfrm>
            <a:off x="14430375" y="11144250"/>
            <a:ext cx="381000" cy="571500"/>
          </a:xfrm>
          <a:prstGeom prst="roundRect">
            <a:avLst>
              <a:gd name="adj" fmla="val 20000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98" name="svg_text_298"/>
          <p:cNvSpPr>
            <a:spLocks noGrp="1"/>
          </p:cNvSpPr>
          <p:nvPr/>
        </p:nvSpPr>
        <p:spPr>
          <a:xfrm>
            <a:off x="14340840" y="11268456"/>
            <a:ext cx="56007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Pert.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9" name="svg_text_299"/>
          <p:cNvSpPr>
            <a:spLocks noGrp="1"/>
          </p:cNvSpPr>
          <p:nvPr/>
        </p:nvSpPr>
        <p:spPr>
          <a:xfrm>
            <a:off x="14418564" y="11439906"/>
            <a:ext cx="40462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Mel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0" name="svg_rect_300"/>
          <p:cNvSpPr>
            <a:spLocks noGrp="1"/>
          </p:cNvSpPr>
          <p:nvPr/>
        </p:nvSpPr>
        <p:spPr>
          <a:xfrm>
            <a:off x="11858625" y="11906250"/>
            <a:ext cx="2428875" cy="571500"/>
          </a:xfrm>
          <a:prstGeom prst="roundRect">
            <a:avLst>
              <a:gd name="adj" fmla="val 13333"/>
            </a:avLst>
          </a:prstGeom>
          <a:solidFill>
            <a:srgbClr val="FFF8EA"/>
          </a:solidFill>
          <a:ln w="17145">
            <a:solidFill>
              <a:srgbClr val="D89A33"/>
            </a:solidFill>
            <a:prstDash val="solid"/>
          </a:ln>
        </p:spPr>
      </p:sp>
      <p:sp>
        <p:nvSpPr>
          <p:cNvPr id="301" name="svg_text_301"/>
          <p:cNvSpPr>
            <a:spLocks noGrp="1"/>
          </p:cNvSpPr>
          <p:nvPr/>
        </p:nvSpPr>
        <p:spPr>
          <a:xfrm>
            <a:off x="11936540" y="11988546"/>
            <a:ext cx="226352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Clean–Perturbed Mel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2" name="svg_text_302"/>
          <p:cNvSpPr>
            <a:spLocks noGrp="1"/>
          </p:cNvSpPr>
          <p:nvPr/>
        </p:nvSpPr>
        <p:spPr>
          <a:xfrm>
            <a:off x="12101703" y="12207621"/>
            <a:ext cx="1933194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Consistency Loss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3" name="svg_path_303"/>
          <p:cNvSpPr>
            <a:spLocks noGrp="1"/>
          </p:cNvSpPr>
          <p:nvPr/>
        </p:nvSpPr>
        <p:spPr>
          <a:xfrm>
            <a:off x="14287500" y="9810750"/>
            <a:ext cx="209550" cy="2381250"/>
          </a:xfrm>
          <a:custGeom>
            <a:avLst/>
            <a:gdLst/>
            <a:ahLst/>
            <a:cxnLst/>
            <a:pathLst>
              <a:path w="209550" h="2381250">
                <a:moveTo>
                  <a:pt x="209550" y="0"/>
                </a:moveTo>
                <a:lnTo>
                  <a:pt x="209550" y="2381250"/>
                </a:lnTo>
                <a:lnTo>
                  <a:pt x="0" y="2381250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304" name="svg_arrowhead_304"/>
          <p:cNvSpPr>
            <a:spLocks noGrp="1"/>
          </p:cNvSpPr>
          <p:nvPr/>
        </p:nvSpPr>
        <p:spPr>
          <a:xfrm>
            <a:off x="14287500" y="1213961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305" name="svg_path_305"/>
          <p:cNvSpPr>
            <a:spLocks noGrp="1"/>
          </p:cNvSpPr>
          <p:nvPr/>
        </p:nvSpPr>
        <p:spPr>
          <a:xfrm>
            <a:off x="14287500" y="11715750"/>
            <a:ext cx="333375" cy="476250"/>
          </a:xfrm>
          <a:custGeom>
            <a:avLst/>
            <a:gdLst/>
            <a:ahLst/>
            <a:cxnLst/>
            <a:pathLst>
              <a:path w="333375" h="476250">
                <a:moveTo>
                  <a:pt x="333375" y="0"/>
                </a:moveTo>
                <a:lnTo>
                  <a:pt x="333375" y="476250"/>
                </a:lnTo>
                <a:lnTo>
                  <a:pt x="0" y="476250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306" name="svg_arrowhead_306"/>
          <p:cNvSpPr>
            <a:spLocks noGrp="1"/>
          </p:cNvSpPr>
          <p:nvPr/>
        </p:nvSpPr>
        <p:spPr>
          <a:xfrm>
            <a:off x="14287500" y="1213961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307" name="svg_path_307"/>
          <p:cNvSpPr>
            <a:spLocks noGrp="1"/>
          </p:cNvSpPr>
          <p:nvPr/>
        </p:nvSpPr>
        <p:spPr>
          <a:xfrm>
            <a:off x="14811375" y="8572500"/>
            <a:ext cx="781050" cy="762000"/>
          </a:xfrm>
          <a:custGeom>
            <a:avLst/>
            <a:gdLst/>
            <a:ahLst/>
            <a:cxnLst/>
            <a:pathLst>
              <a:path w="781050" h="762000">
                <a:moveTo>
                  <a:pt x="0" y="0"/>
                </a:moveTo>
                <a:lnTo>
                  <a:pt x="781050" y="0"/>
                </a:lnTo>
                <a:lnTo>
                  <a:pt x="781050" y="76200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308" name="svg_arrowhead_308"/>
          <p:cNvSpPr>
            <a:spLocks noGrp="1"/>
          </p:cNvSpPr>
          <p:nvPr/>
        </p:nvSpPr>
        <p:spPr>
          <a:xfrm>
            <a:off x="15540038" y="922972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09" name="svg_text_309"/>
          <p:cNvSpPr>
            <a:spLocks noGrp="1"/>
          </p:cNvSpPr>
          <p:nvPr/>
        </p:nvSpPr>
        <p:spPr>
          <a:xfrm>
            <a:off x="14493621" y="8353806"/>
            <a:ext cx="1492758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optimized weights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0" name="svg_rect_310"/>
          <p:cNvSpPr>
            <a:spLocks noGrp="1"/>
          </p:cNvSpPr>
          <p:nvPr/>
        </p:nvSpPr>
        <p:spPr>
          <a:xfrm>
            <a:off x="15097125" y="9334500"/>
            <a:ext cx="1000125" cy="9525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311" name="svg_text_311"/>
          <p:cNvSpPr>
            <a:spLocks noGrp="1"/>
          </p:cNvSpPr>
          <p:nvPr/>
        </p:nvSpPr>
        <p:spPr>
          <a:xfrm>
            <a:off x="14901101" y="9492996"/>
            <a:ext cx="1382649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SCIT-Speech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2" name="svg_text_312"/>
          <p:cNvSpPr>
            <a:spLocks noGrp="1"/>
          </p:cNvSpPr>
          <p:nvPr/>
        </p:nvSpPr>
        <p:spPr>
          <a:xfrm>
            <a:off x="15341537" y="9731121"/>
            <a:ext cx="50177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LCA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3" name="svg_text_313"/>
          <p:cNvSpPr>
            <a:spLocks noGrp="1"/>
          </p:cNvSpPr>
          <p:nvPr/>
        </p:nvSpPr>
        <p:spPr>
          <a:xfrm>
            <a:off x="14884908" y="10001631"/>
            <a:ext cx="141503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final checkpoint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4" name="svg_rect_314"/>
          <p:cNvSpPr>
            <a:spLocks noGrp="1"/>
          </p:cNvSpPr>
          <p:nvPr/>
        </p:nvSpPr>
        <p:spPr>
          <a:xfrm>
            <a:off x="16668750" y="6477000"/>
            <a:ext cx="6000750" cy="66675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9050">
            <a:solidFill>
              <a:srgbClr val="7DB5E8"/>
            </a:solidFill>
            <a:prstDash val="dash"/>
          </a:ln>
        </p:spPr>
      </p:sp>
      <p:sp>
        <p:nvSpPr>
          <p:cNvPr id="315" name="svg_circle_315"/>
          <p:cNvSpPr>
            <a:spLocks noGrp="1"/>
          </p:cNvSpPr>
          <p:nvPr/>
        </p:nvSpPr>
        <p:spPr>
          <a:xfrm>
            <a:off x="16735425" y="6543675"/>
            <a:ext cx="533400" cy="533400"/>
          </a:xfrm>
          <a:prstGeom prst="ellipse">
            <a:avLst/>
          </a:prstGeom>
          <a:solidFill>
            <a:srgbClr val="080B0E"/>
          </a:solidFill>
          <a:ln w="0">
            <a:noFill/>
            <a:prstDash val="solid"/>
          </a:ln>
        </p:spPr>
      </p:sp>
      <p:sp>
        <p:nvSpPr>
          <p:cNvPr id="316" name="svg_text_316"/>
          <p:cNvSpPr>
            <a:spLocks noGrp="1"/>
          </p:cNvSpPr>
          <p:nvPr/>
        </p:nvSpPr>
        <p:spPr>
          <a:xfrm>
            <a:off x="16719233" y="6611064"/>
            <a:ext cx="565785" cy="39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endParaRPr sz="202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7" name="svg_text_317"/>
          <p:cNvSpPr>
            <a:spLocks noGrp="1"/>
          </p:cNvSpPr>
          <p:nvPr/>
        </p:nvSpPr>
        <p:spPr>
          <a:xfrm>
            <a:off x="17383125" y="6536436"/>
            <a:ext cx="3021330" cy="3248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OPTIONAL TOKEN–AUDIO</a:t>
            </a:r>
            <a:endParaRPr sz="1650" b="1" i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8" name="svg_text_318"/>
          <p:cNvSpPr>
            <a:spLocks noGrp="1"/>
          </p:cNvSpPr>
          <p:nvPr/>
        </p:nvSpPr>
        <p:spPr>
          <a:xfrm>
            <a:off x="17383125" y="6784086"/>
            <a:ext cx="3306318" cy="3248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SPEAKER CLASSIFICATION</a:t>
            </a:r>
            <a:endParaRPr sz="1650" b="1" i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9" name="svg_text_319"/>
          <p:cNvSpPr>
            <a:spLocks noGrp="1"/>
          </p:cNvSpPr>
          <p:nvPr/>
        </p:nvSpPr>
        <p:spPr>
          <a:xfrm>
            <a:off x="16243935" y="7492746"/>
            <a:ext cx="237363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Received RVQ Indices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0" name="svg_text_320"/>
          <p:cNvSpPr>
            <a:spLocks noGrp="1"/>
          </p:cNvSpPr>
          <p:nvPr/>
        </p:nvSpPr>
        <p:spPr>
          <a:xfrm>
            <a:off x="16794480" y="7730871"/>
            <a:ext cx="127254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i₁, i₂, i₃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321" name="svg_rect_321"/>
          <p:cNvSpPr>
            <a:spLocks noGrp="1"/>
          </p:cNvSpPr>
          <p:nvPr/>
        </p:nvSpPr>
        <p:spPr>
          <a:xfrm>
            <a:off x="16906875" y="8096250"/>
            <a:ext cx="1047750" cy="171450"/>
          </a:xfrm>
          <a:prstGeom prst="rect">
            <a:avLst/>
          </a:prstGeom>
          <a:solidFill>
            <a:srgbClr val="FB923C"/>
          </a:solidFill>
          <a:ln w="0">
            <a:noFill/>
            <a:prstDash val="solid"/>
          </a:ln>
        </p:spPr>
      </p:sp>
      <p:sp>
        <p:nvSpPr>
          <p:cNvPr id="322" name="svg_rect_322"/>
          <p:cNvSpPr>
            <a:spLocks noGrp="1"/>
          </p:cNvSpPr>
          <p:nvPr/>
        </p:nvSpPr>
        <p:spPr>
          <a:xfrm>
            <a:off x="16906875" y="8401050"/>
            <a:ext cx="1047750" cy="171450"/>
          </a:xfrm>
          <a:prstGeom prst="rect">
            <a:avLst/>
          </a:prstGeom>
          <a:solidFill>
            <a:srgbClr val="70BD92"/>
          </a:solidFill>
          <a:ln w="0">
            <a:noFill/>
            <a:prstDash val="solid"/>
          </a:ln>
        </p:spPr>
      </p:sp>
      <p:sp>
        <p:nvSpPr>
          <p:cNvPr id="323" name="svg_rect_323"/>
          <p:cNvSpPr>
            <a:spLocks noGrp="1"/>
          </p:cNvSpPr>
          <p:nvPr/>
        </p:nvSpPr>
        <p:spPr>
          <a:xfrm>
            <a:off x="16906875" y="8705850"/>
            <a:ext cx="1047750" cy="171450"/>
          </a:xfrm>
          <a:prstGeom prst="rect">
            <a:avLst/>
          </a:prstGeom>
          <a:solidFill>
            <a:srgbClr val="8588E8"/>
          </a:solidFill>
          <a:ln w="0">
            <a:noFill/>
            <a:prstDash val="solid"/>
          </a:ln>
        </p:spPr>
      </p:sp>
      <p:sp>
        <p:nvSpPr>
          <p:cNvPr id="324" name="svg_path_324"/>
          <p:cNvSpPr>
            <a:spLocks noGrp="1"/>
          </p:cNvSpPr>
          <p:nvPr/>
        </p:nvSpPr>
        <p:spPr>
          <a:xfrm>
            <a:off x="17954625" y="8477250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325" name="svg_arrowhead_325"/>
          <p:cNvSpPr>
            <a:spLocks noGrp="1"/>
          </p:cNvSpPr>
          <p:nvPr/>
        </p:nvSpPr>
        <p:spPr>
          <a:xfrm>
            <a:off x="18087975" y="84248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26" name="svg_rect_326"/>
          <p:cNvSpPr>
            <a:spLocks noGrp="1"/>
          </p:cNvSpPr>
          <p:nvPr/>
        </p:nvSpPr>
        <p:spPr>
          <a:xfrm>
            <a:off x="18192750" y="8048625"/>
            <a:ext cx="1381125" cy="85725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327" name="svg_text_327"/>
          <p:cNvSpPr>
            <a:spLocks noGrp="1"/>
          </p:cNvSpPr>
          <p:nvPr/>
        </p:nvSpPr>
        <p:spPr>
          <a:xfrm>
            <a:off x="18077117" y="8188071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Trainable RVQ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8" name="svg_text_328"/>
          <p:cNvSpPr>
            <a:spLocks noGrp="1"/>
          </p:cNvSpPr>
          <p:nvPr/>
        </p:nvSpPr>
        <p:spPr>
          <a:xfrm>
            <a:off x="18077117" y="8426196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Token Encoder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9" name="svg_text_329"/>
          <p:cNvSpPr>
            <a:spLocks noGrp="1"/>
          </p:cNvSpPr>
          <p:nvPr/>
        </p:nvSpPr>
        <p:spPr>
          <a:xfrm>
            <a:off x="18384774" y="8666607"/>
            <a:ext cx="98755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 e_token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0" name="svg_text_330"/>
          <p:cNvSpPr>
            <a:spLocks noGrp="1"/>
          </p:cNvSpPr>
          <p:nvPr/>
        </p:nvSpPr>
        <p:spPr>
          <a:xfrm>
            <a:off x="16243935" y="9778746"/>
            <a:ext cx="237363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Reconstructed Speech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1" name="svg_rect_331"/>
          <p:cNvSpPr>
            <a:spLocks noGrp="1"/>
          </p:cNvSpPr>
          <p:nvPr/>
        </p:nvSpPr>
        <p:spPr>
          <a:xfrm>
            <a:off x="16906875" y="10191750"/>
            <a:ext cx="1047750" cy="66675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332" name="svg_text_332"/>
          <p:cNvSpPr>
            <a:spLocks noGrp="1"/>
          </p:cNvSpPr>
          <p:nvPr/>
        </p:nvSpPr>
        <p:spPr>
          <a:xfrm>
            <a:off x="16849535" y="10283571"/>
            <a:ext cx="116243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Speech x̂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3" name="svg_text_333"/>
          <p:cNvSpPr>
            <a:spLocks noGrp="1"/>
          </p:cNvSpPr>
          <p:nvPr/>
        </p:nvSpPr>
        <p:spPr>
          <a:xfrm>
            <a:off x="16800957" y="10543032"/>
            <a:ext cx="125958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from Panel 4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4" name="svg_path_334"/>
          <p:cNvSpPr>
            <a:spLocks noGrp="1"/>
          </p:cNvSpPr>
          <p:nvPr/>
        </p:nvSpPr>
        <p:spPr>
          <a:xfrm>
            <a:off x="17954625" y="10525125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335" name="svg_arrowhead_335"/>
          <p:cNvSpPr>
            <a:spLocks noGrp="1"/>
          </p:cNvSpPr>
          <p:nvPr/>
        </p:nvSpPr>
        <p:spPr>
          <a:xfrm>
            <a:off x="18087975" y="104727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36" name="svg_rect_336"/>
          <p:cNvSpPr>
            <a:spLocks noGrp="1"/>
          </p:cNvSpPr>
          <p:nvPr/>
        </p:nvSpPr>
        <p:spPr>
          <a:xfrm>
            <a:off x="18192750" y="10191750"/>
            <a:ext cx="1190625" cy="66675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337" name="svg_text_337"/>
          <p:cNvSpPr>
            <a:spLocks noGrp="1"/>
          </p:cNvSpPr>
          <p:nvPr/>
        </p:nvSpPr>
        <p:spPr>
          <a:xfrm>
            <a:off x="18367248" y="10283571"/>
            <a:ext cx="832104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Frozen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8" name="svg_text_338"/>
          <p:cNvSpPr>
            <a:spLocks noGrp="1"/>
          </p:cNvSpPr>
          <p:nvPr/>
        </p:nvSpPr>
        <p:spPr>
          <a:xfrm>
            <a:off x="18147030" y="10512171"/>
            <a:ext cx="127254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ECAPA-TDNN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9" name="svg_path_339"/>
          <p:cNvSpPr>
            <a:spLocks noGrp="1"/>
          </p:cNvSpPr>
          <p:nvPr/>
        </p:nvSpPr>
        <p:spPr>
          <a:xfrm>
            <a:off x="19383375" y="10525125"/>
            <a:ext cx="190500" cy="9525"/>
          </a:xfrm>
          <a:custGeom>
            <a:avLst/>
            <a:gdLst/>
            <a:ahLst/>
            <a:cxnLst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340" name="svg_arrowhead_340"/>
          <p:cNvSpPr>
            <a:spLocks noGrp="1"/>
          </p:cNvSpPr>
          <p:nvPr/>
        </p:nvSpPr>
        <p:spPr>
          <a:xfrm>
            <a:off x="19469100" y="104727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41" name="svg_rect_341"/>
          <p:cNvSpPr>
            <a:spLocks noGrp="1"/>
          </p:cNvSpPr>
          <p:nvPr/>
        </p:nvSpPr>
        <p:spPr>
          <a:xfrm>
            <a:off x="19573875" y="10191750"/>
            <a:ext cx="1143000" cy="66675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342" name="svg_text_342"/>
          <p:cNvSpPr>
            <a:spLocks noGrp="1"/>
          </p:cNvSpPr>
          <p:nvPr/>
        </p:nvSpPr>
        <p:spPr>
          <a:xfrm>
            <a:off x="19564160" y="10283571"/>
            <a:ext cx="116243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Trainable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3" name="svg_text_343"/>
          <p:cNvSpPr>
            <a:spLocks noGrp="1"/>
          </p:cNvSpPr>
          <p:nvPr/>
        </p:nvSpPr>
        <p:spPr>
          <a:xfrm>
            <a:off x="19509105" y="10512171"/>
            <a:ext cx="127254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Projection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4" name="svg_text_344"/>
          <p:cNvSpPr>
            <a:spLocks noGrp="1"/>
          </p:cNvSpPr>
          <p:nvPr/>
        </p:nvSpPr>
        <p:spPr>
          <a:xfrm>
            <a:off x="19651599" y="10924032"/>
            <a:ext cx="98755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 e_audio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5" name="svg_rect_345"/>
          <p:cNvSpPr>
            <a:spLocks noGrp="1"/>
          </p:cNvSpPr>
          <p:nvPr/>
        </p:nvSpPr>
        <p:spPr>
          <a:xfrm>
            <a:off x="20002500" y="8191500"/>
            <a:ext cx="1571625" cy="1905000"/>
          </a:xfrm>
          <a:prstGeom prst="roundRect">
            <a:avLst>
              <a:gd name="adj" fmla="val 4848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346" name="svg_text_346"/>
          <p:cNvSpPr>
            <a:spLocks noGrp="1"/>
          </p:cNvSpPr>
          <p:nvPr/>
        </p:nvSpPr>
        <p:spPr>
          <a:xfrm>
            <a:off x="19927062" y="8349996"/>
            <a:ext cx="1712976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Learned Gate g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7" name="svg_text_347"/>
          <p:cNvSpPr>
            <a:spLocks noGrp="1"/>
          </p:cNvSpPr>
          <p:nvPr/>
        </p:nvSpPr>
        <p:spPr>
          <a:xfrm>
            <a:off x="20202335" y="8921496"/>
            <a:ext cx="116243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e_fused =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348" name="svg_text_348"/>
          <p:cNvSpPr>
            <a:spLocks noGrp="1"/>
          </p:cNvSpPr>
          <p:nvPr/>
        </p:nvSpPr>
        <p:spPr>
          <a:xfrm>
            <a:off x="20092226" y="9226296"/>
            <a:ext cx="1382649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g e_token +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349" name="svg_text_349"/>
          <p:cNvSpPr>
            <a:spLocks noGrp="1"/>
          </p:cNvSpPr>
          <p:nvPr/>
        </p:nvSpPr>
        <p:spPr>
          <a:xfrm>
            <a:off x="20037171" y="9531096"/>
            <a:ext cx="1492758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(1−g)e_audio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350" name="svg_path_350"/>
          <p:cNvSpPr>
            <a:spLocks noGrp="1"/>
          </p:cNvSpPr>
          <p:nvPr/>
        </p:nvSpPr>
        <p:spPr>
          <a:xfrm>
            <a:off x="19573875" y="8477250"/>
            <a:ext cx="428625" cy="9525"/>
          </a:xfrm>
          <a:custGeom>
            <a:avLst/>
            <a:gdLst/>
            <a:ahLst/>
            <a:cxnLst/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351" name="svg_arrowhead_351"/>
          <p:cNvSpPr>
            <a:spLocks noGrp="1"/>
          </p:cNvSpPr>
          <p:nvPr/>
        </p:nvSpPr>
        <p:spPr>
          <a:xfrm>
            <a:off x="19897725" y="84248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52" name="svg_path_352"/>
          <p:cNvSpPr>
            <a:spLocks noGrp="1"/>
          </p:cNvSpPr>
          <p:nvPr/>
        </p:nvSpPr>
        <p:spPr>
          <a:xfrm>
            <a:off x="20716875" y="10096500"/>
            <a:ext cx="66675" cy="428625"/>
          </a:xfrm>
          <a:custGeom>
            <a:avLst/>
            <a:gdLst/>
            <a:ahLst/>
            <a:cxnLst/>
            <a:pathLst>
              <a:path w="66675" h="428625">
                <a:moveTo>
                  <a:pt x="0" y="428625"/>
                </a:moveTo>
                <a:lnTo>
                  <a:pt x="66675" y="428625"/>
                </a:lnTo>
                <a:lnTo>
                  <a:pt x="66675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353" name="svg_arrowhead_353"/>
          <p:cNvSpPr>
            <a:spLocks noGrp="1"/>
          </p:cNvSpPr>
          <p:nvPr/>
        </p:nvSpPr>
        <p:spPr>
          <a:xfrm>
            <a:off x="20731163" y="10096500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54" name="svg_path_354"/>
          <p:cNvSpPr>
            <a:spLocks noGrp="1"/>
          </p:cNvSpPr>
          <p:nvPr/>
        </p:nvSpPr>
        <p:spPr>
          <a:xfrm>
            <a:off x="21574125" y="9144000"/>
            <a:ext cx="142875" cy="9525"/>
          </a:xfrm>
          <a:custGeom>
            <a:avLst/>
            <a:gdLst/>
            <a:ahLst/>
            <a:cxnLst/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355" name="svg_arrowhead_355"/>
          <p:cNvSpPr>
            <a:spLocks noGrp="1"/>
          </p:cNvSpPr>
          <p:nvPr/>
        </p:nvSpPr>
        <p:spPr>
          <a:xfrm>
            <a:off x="21612225" y="909161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56" name="svg_rect_356"/>
          <p:cNvSpPr>
            <a:spLocks noGrp="1"/>
          </p:cNvSpPr>
          <p:nvPr/>
        </p:nvSpPr>
        <p:spPr>
          <a:xfrm>
            <a:off x="21717000" y="8572500"/>
            <a:ext cx="809625" cy="1143000"/>
          </a:xfrm>
          <a:prstGeom prst="roundRect">
            <a:avLst>
              <a:gd name="adj" fmla="val 9412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357" name="svg_text_357"/>
          <p:cNvSpPr>
            <a:spLocks noGrp="1"/>
          </p:cNvSpPr>
          <p:nvPr/>
        </p:nvSpPr>
        <p:spPr>
          <a:xfrm>
            <a:off x="21675090" y="8831580"/>
            <a:ext cx="88392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7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110-Speaker</a:t>
            </a:r>
            <a:endParaRPr sz="750" b="1" i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8" name="svg_text_358"/>
          <p:cNvSpPr>
            <a:spLocks noGrp="1"/>
          </p:cNvSpPr>
          <p:nvPr/>
        </p:nvSpPr>
        <p:spPr>
          <a:xfrm>
            <a:off x="21707475" y="9041130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7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Closed-Set</a:t>
            </a:r>
            <a:endParaRPr sz="750" b="1" i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9" name="svg_text_359"/>
          <p:cNvSpPr>
            <a:spLocks noGrp="1"/>
          </p:cNvSpPr>
          <p:nvPr/>
        </p:nvSpPr>
        <p:spPr>
          <a:xfrm>
            <a:off x="21707475" y="9250680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7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Classifier</a:t>
            </a:r>
            <a:endParaRPr sz="750" b="1" i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0" name="svg_path_360"/>
          <p:cNvSpPr>
            <a:spLocks noGrp="1"/>
          </p:cNvSpPr>
          <p:nvPr/>
        </p:nvSpPr>
        <p:spPr>
          <a:xfrm>
            <a:off x="21669375" y="9715500"/>
            <a:ext cx="447675" cy="1333500"/>
          </a:xfrm>
          <a:custGeom>
            <a:avLst/>
            <a:gdLst/>
            <a:ahLst/>
            <a:cxnLst/>
            <a:pathLst>
              <a:path w="447675" h="1333500">
                <a:moveTo>
                  <a:pt x="447675" y="0"/>
                </a:moveTo>
                <a:lnTo>
                  <a:pt x="447675" y="1190625"/>
                </a:lnTo>
                <a:lnTo>
                  <a:pt x="0" y="1190625"/>
                </a:lnTo>
                <a:lnTo>
                  <a:pt x="0" y="133350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361" name="svg_arrowhead_361"/>
          <p:cNvSpPr>
            <a:spLocks noGrp="1"/>
          </p:cNvSpPr>
          <p:nvPr/>
        </p:nvSpPr>
        <p:spPr>
          <a:xfrm>
            <a:off x="21616988" y="1094422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62" name="svg_rect_362"/>
          <p:cNvSpPr>
            <a:spLocks noGrp="1"/>
          </p:cNvSpPr>
          <p:nvPr/>
        </p:nvSpPr>
        <p:spPr>
          <a:xfrm>
            <a:off x="20859750" y="11049000"/>
            <a:ext cx="1619250" cy="619125"/>
          </a:xfrm>
          <a:prstGeom prst="roundRect">
            <a:avLst>
              <a:gd name="adj" fmla="val 12308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363" name="svg_text_363"/>
          <p:cNvSpPr>
            <a:spLocks noGrp="1"/>
          </p:cNvSpPr>
          <p:nvPr/>
        </p:nvSpPr>
        <p:spPr>
          <a:xfrm>
            <a:off x="20676870" y="11162157"/>
            <a:ext cx="198501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Predicted Speaker ID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4" name="svg_text_364"/>
          <p:cNvSpPr>
            <a:spLocks noGrp="1"/>
          </p:cNvSpPr>
          <p:nvPr/>
        </p:nvSpPr>
        <p:spPr>
          <a:xfrm>
            <a:off x="21363432" y="11369421"/>
            <a:ext cx="611886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p225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5" name="svg_rect_365"/>
          <p:cNvSpPr>
            <a:spLocks noGrp="1"/>
          </p:cNvSpPr>
          <p:nvPr/>
        </p:nvSpPr>
        <p:spPr>
          <a:xfrm>
            <a:off x="16906875" y="12096750"/>
            <a:ext cx="1571625" cy="457200"/>
          </a:xfrm>
          <a:prstGeom prst="roundRect">
            <a:avLst>
              <a:gd name="adj" fmla="val 18750"/>
            </a:avLst>
          </a:prstGeom>
          <a:solidFill>
            <a:srgbClr val="ECF6FF"/>
          </a:solidFill>
          <a:ln w="14288">
            <a:solidFill>
              <a:srgbClr val="78AFE0"/>
            </a:solidFill>
            <a:prstDash val="solid"/>
          </a:ln>
        </p:spPr>
      </p:sp>
      <p:sp>
        <p:nvSpPr>
          <p:cNvPr id="366" name="svg_text_366"/>
          <p:cNvSpPr>
            <a:spLocks noGrp="1"/>
          </p:cNvSpPr>
          <p:nvPr/>
        </p:nvSpPr>
        <p:spPr>
          <a:xfrm>
            <a:off x="16740759" y="12228957"/>
            <a:ext cx="189433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Frozen Speech Codec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7" name="svg_rect_367"/>
          <p:cNvSpPr>
            <a:spLocks noGrp="1"/>
          </p:cNvSpPr>
          <p:nvPr/>
        </p:nvSpPr>
        <p:spPr>
          <a:xfrm>
            <a:off x="18573750" y="12096750"/>
            <a:ext cx="2190750" cy="457200"/>
          </a:xfrm>
          <a:prstGeom prst="roundRect">
            <a:avLst>
              <a:gd name="adj" fmla="val 18750"/>
            </a:avLst>
          </a:prstGeom>
          <a:solidFill>
            <a:srgbClr val="ECF6FF"/>
          </a:solidFill>
          <a:ln w="14288">
            <a:solidFill>
              <a:srgbClr val="78AFE0"/>
            </a:solidFill>
            <a:prstDash val="solid"/>
          </a:ln>
        </p:spPr>
      </p:sp>
      <p:sp>
        <p:nvSpPr>
          <p:cNvPr id="368" name="svg_text_368"/>
          <p:cNvSpPr>
            <a:spLocks noGrp="1"/>
          </p:cNvSpPr>
          <p:nvPr/>
        </p:nvSpPr>
        <p:spPr>
          <a:xfrm>
            <a:off x="18268569" y="12228957"/>
            <a:ext cx="280111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Separately Trained Classifier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9" name="svg_rect_369"/>
          <p:cNvSpPr>
            <a:spLocks noGrp="1"/>
          </p:cNvSpPr>
          <p:nvPr/>
        </p:nvSpPr>
        <p:spPr>
          <a:xfrm>
            <a:off x="20859750" y="12096750"/>
            <a:ext cx="1571625" cy="457200"/>
          </a:xfrm>
          <a:prstGeom prst="roundRect">
            <a:avLst>
              <a:gd name="adj" fmla="val 18750"/>
            </a:avLst>
          </a:prstGeom>
          <a:solidFill>
            <a:srgbClr val="ECF6FF"/>
          </a:solidFill>
          <a:ln w="14288">
            <a:solidFill>
              <a:srgbClr val="78AFE0"/>
            </a:solidFill>
            <a:prstDash val="solid"/>
          </a:ln>
        </p:spPr>
      </p:sp>
      <p:sp>
        <p:nvSpPr>
          <p:cNvPr id="370" name="svg_text_370"/>
          <p:cNvSpPr>
            <a:spLocks noGrp="1"/>
          </p:cNvSpPr>
          <p:nvPr/>
        </p:nvSpPr>
        <p:spPr>
          <a:xfrm>
            <a:off x="20816697" y="12163806"/>
            <a:ext cx="164820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Receiver-side only;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1" name="svg_text_371"/>
          <p:cNvSpPr>
            <a:spLocks noGrp="1"/>
          </p:cNvSpPr>
          <p:nvPr/>
        </p:nvSpPr>
        <p:spPr>
          <a:xfrm>
            <a:off x="20544663" y="12335256"/>
            <a:ext cx="219227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 additional transmission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2" name="svg_path_372"/>
          <p:cNvSpPr>
            <a:spLocks noGrp="1"/>
          </p:cNvSpPr>
          <p:nvPr/>
        </p:nvSpPr>
        <p:spPr>
          <a:xfrm>
            <a:off x="17259300" y="5143500"/>
            <a:ext cx="28575" cy="1333500"/>
          </a:xfrm>
          <a:custGeom>
            <a:avLst/>
            <a:gdLst/>
            <a:ahLst/>
            <a:cxnLst/>
            <a:pathLst>
              <a:path w="28575" h="1333500">
                <a:moveTo>
                  <a:pt x="0" y="0"/>
                </a:moveTo>
                <a:lnTo>
                  <a:pt x="0" y="1238250"/>
                </a:lnTo>
                <a:lnTo>
                  <a:pt x="28575" y="1238250"/>
                </a:lnTo>
                <a:lnTo>
                  <a:pt x="28575" y="1333500"/>
                </a:lnTo>
              </a:path>
            </a:pathLst>
          </a:custGeom>
          <a:noFill/>
          <a:ln w="19050">
            <a:solidFill>
              <a:srgbClr val="2386D8"/>
            </a:solidFill>
            <a:prstDash val="dash"/>
          </a:ln>
        </p:spPr>
      </p:sp>
      <p:sp>
        <p:nvSpPr>
          <p:cNvPr id="373" name="svg_arrowhead_373"/>
          <p:cNvSpPr>
            <a:spLocks noGrp="1"/>
          </p:cNvSpPr>
          <p:nvPr/>
        </p:nvSpPr>
        <p:spPr>
          <a:xfrm>
            <a:off x="17235488" y="637222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74" name="svg_path_374"/>
          <p:cNvSpPr>
            <a:spLocks noGrp="1"/>
          </p:cNvSpPr>
          <p:nvPr/>
        </p:nvSpPr>
        <p:spPr>
          <a:xfrm>
            <a:off x="22288500" y="4905375"/>
            <a:ext cx="95250" cy="1571625"/>
          </a:xfrm>
          <a:custGeom>
            <a:avLst/>
            <a:gdLst/>
            <a:ahLst/>
            <a:cxnLst/>
            <a:pathLst>
              <a:path w="95250" h="1571625">
                <a:moveTo>
                  <a:pt x="95250" y="0"/>
                </a:moveTo>
                <a:lnTo>
                  <a:pt x="95250" y="1428750"/>
                </a:lnTo>
                <a:lnTo>
                  <a:pt x="0" y="1428750"/>
                </a:lnTo>
                <a:lnTo>
                  <a:pt x="0" y="1571625"/>
                </a:lnTo>
              </a:path>
            </a:pathLst>
          </a:custGeom>
          <a:noFill/>
          <a:ln w="19050">
            <a:solidFill>
              <a:srgbClr val="2386D8"/>
            </a:solidFill>
            <a:prstDash val="dash"/>
          </a:ln>
        </p:spPr>
      </p:sp>
      <p:sp>
        <p:nvSpPr>
          <p:cNvPr id="375" name="svg_arrowhead_375"/>
          <p:cNvSpPr>
            <a:spLocks noGrp="1"/>
          </p:cNvSpPr>
          <p:nvPr/>
        </p:nvSpPr>
        <p:spPr>
          <a:xfrm>
            <a:off x="22236113" y="637222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76" name="svg_rect_376"/>
          <p:cNvSpPr>
            <a:spLocks noGrp="1"/>
          </p:cNvSpPr>
          <p:nvPr/>
        </p:nvSpPr>
        <p:spPr>
          <a:xfrm>
            <a:off x="9858375" y="12687300"/>
            <a:ext cx="6477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7D6E5"/>
            </a:solidFill>
            <a:prstDash val="solid"/>
          </a:ln>
        </p:spPr>
      </p:sp>
      <p:sp>
        <p:nvSpPr>
          <p:cNvPr id="377" name="svg_path_377"/>
          <p:cNvSpPr>
            <a:spLocks noGrp="1"/>
          </p:cNvSpPr>
          <p:nvPr/>
        </p:nvSpPr>
        <p:spPr>
          <a:xfrm>
            <a:off x="10096500" y="12887325"/>
            <a:ext cx="476250" cy="9525"/>
          </a:xfrm>
          <a:custGeom>
            <a:avLst/>
            <a:gdLst/>
            <a:ahLst/>
            <a:cxnLst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378" name="svg_arrowhead_378"/>
          <p:cNvSpPr>
            <a:spLocks noGrp="1"/>
          </p:cNvSpPr>
          <p:nvPr/>
        </p:nvSpPr>
        <p:spPr>
          <a:xfrm>
            <a:off x="10467975" y="128349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79" name="svg_text_379"/>
          <p:cNvSpPr>
            <a:spLocks noGrp="1"/>
          </p:cNvSpPr>
          <p:nvPr/>
        </p:nvSpPr>
        <p:spPr>
          <a:xfrm>
            <a:off x="10573512" y="12790932"/>
            <a:ext cx="171297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forward data flow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0" name="svg_path_380"/>
          <p:cNvSpPr>
            <a:spLocks noGrp="1"/>
          </p:cNvSpPr>
          <p:nvPr/>
        </p:nvSpPr>
        <p:spPr>
          <a:xfrm>
            <a:off x="12573000" y="12887325"/>
            <a:ext cx="476250" cy="9525"/>
          </a:xfrm>
          <a:custGeom>
            <a:avLst/>
            <a:gdLst/>
            <a:ahLst/>
            <a:cxnLst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381" name="svg_arrowhead_381"/>
          <p:cNvSpPr>
            <a:spLocks noGrp="1"/>
          </p:cNvSpPr>
          <p:nvPr/>
        </p:nvSpPr>
        <p:spPr>
          <a:xfrm>
            <a:off x="12944475" y="128349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382" name="svg_text_382"/>
          <p:cNvSpPr>
            <a:spLocks noGrp="1"/>
          </p:cNvSpPr>
          <p:nvPr/>
        </p:nvSpPr>
        <p:spPr>
          <a:xfrm>
            <a:off x="12519660" y="12790932"/>
            <a:ext cx="334518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training supervision / optimization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3" name="svg_rect_001"/>
          <p:cNvSpPr>
            <a:spLocks noGrp="1"/>
          </p:cNvSpPr>
          <p:nvPr/>
        </p:nvSpPr>
        <p:spPr>
          <a:xfrm>
            <a:off x="0" y="0"/>
            <a:ext cx="22860000" cy="13335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svg_rect_002"/>
          <p:cNvSpPr>
            <a:spLocks noGrp="1"/>
          </p:cNvSpPr>
          <p:nvPr/>
        </p:nvSpPr>
        <p:spPr>
          <a:xfrm>
            <a:off x="240665" y="190500"/>
            <a:ext cx="22479000" cy="2238375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7DB5E8"/>
            </a:solidFill>
            <a:prstDash val="dash"/>
          </a:ln>
        </p:spPr>
      </p:sp>
      <p:sp>
        <p:nvSpPr>
          <p:cNvPr id="3" name="svg_circle_003"/>
          <p:cNvSpPr>
            <a:spLocks noGrp="1"/>
          </p:cNvSpPr>
          <p:nvPr/>
        </p:nvSpPr>
        <p:spPr>
          <a:xfrm>
            <a:off x="257175" y="257175"/>
            <a:ext cx="533400" cy="533400"/>
          </a:xfrm>
          <a:prstGeom prst="ellipse">
            <a:avLst/>
          </a:prstGeom>
          <a:solidFill>
            <a:srgbClr val="080B0E"/>
          </a:solidFill>
          <a:ln w="0">
            <a:noFill/>
            <a:prstDash val="solid"/>
          </a:ln>
        </p:spPr>
      </p:sp>
      <p:sp>
        <p:nvSpPr>
          <p:cNvPr id="4" name="svg_text_004"/>
          <p:cNvSpPr>
            <a:spLocks noGrp="1"/>
          </p:cNvSpPr>
          <p:nvPr/>
        </p:nvSpPr>
        <p:spPr>
          <a:xfrm>
            <a:off x="240982" y="324564"/>
            <a:ext cx="565785" cy="39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202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svg_text_005"/>
          <p:cNvSpPr>
            <a:spLocks noGrp="1"/>
          </p:cNvSpPr>
          <p:nvPr/>
        </p:nvSpPr>
        <p:spPr>
          <a:xfrm>
            <a:off x="904875" y="332613"/>
            <a:ext cx="6065520" cy="38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0F172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 i="0">
                <a:solidFill>
                  <a:srgbClr val="0F172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OFFLINE ENCODER ARCHITECTURE SEARCH</a:t>
            </a:r>
            <a:endParaRPr sz="1950" b="1" i="0">
              <a:solidFill>
                <a:srgbClr val="0F172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svg_rect_006"/>
          <p:cNvSpPr>
            <a:spLocks noGrp="1"/>
          </p:cNvSpPr>
          <p:nvPr/>
        </p:nvSpPr>
        <p:spPr>
          <a:xfrm>
            <a:off x="20669250" y="323850"/>
            <a:ext cx="1714500" cy="381000"/>
          </a:xfrm>
          <a:prstGeom prst="roundRect">
            <a:avLst>
              <a:gd name="adj" fmla="val 22500"/>
            </a:avLst>
          </a:prstGeom>
          <a:solidFill>
            <a:srgbClr val="ECF6FF"/>
          </a:solidFill>
          <a:ln w="14288">
            <a:solidFill>
              <a:srgbClr val="78AFE0"/>
            </a:solidFill>
            <a:prstDash val="solid"/>
          </a:ln>
        </p:spPr>
      </p:sp>
      <p:sp>
        <p:nvSpPr>
          <p:cNvPr id="7" name="svg_text_007"/>
          <p:cNvSpPr>
            <a:spLocks noGrp="1"/>
          </p:cNvSpPr>
          <p:nvPr/>
        </p:nvSpPr>
        <p:spPr>
          <a:xfrm>
            <a:off x="20394740" y="396621"/>
            <a:ext cx="226352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Encoder Search Only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384" name="组合 383"/>
          <p:cNvGrpSpPr/>
          <p:nvPr/>
        </p:nvGrpSpPr>
        <p:grpSpPr>
          <a:xfrm>
            <a:off x="422910" y="904240"/>
            <a:ext cx="3482340" cy="1000760"/>
            <a:chOff x="666" y="1424"/>
            <a:chExt cx="5484" cy="1576"/>
          </a:xfrm>
        </p:grpSpPr>
        <p:sp>
          <p:nvSpPr>
            <p:cNvPr id="8" name="svg_rect_008"/>
            <p:cNvSpPr>
              <a:spLocks noGrp="1"/>
            </p:cNvSpPr>
            <p:nvPr/>
          </p:nvSpPr>
          <p:spPr>
            <a:xfrm>
              <a:off x="674" y="1424"/>
              <a:ext cx="5477" cy="1576"/>
            </a:xfrm>
            <a:prstGeom prst="roundRect">
              <a:avLst>
                <a:gd name="adj" fmla="val 9412"/>
              </a:avLst>
            </a:prstGeom>
            <a:solidFill>
              <a:srgbClr val="F7FBFF"/>
            </a:solidFill>
            <a:ln w="19050">
              <a:solidFill>
                <a:srgbClr val="408FD2"/>
              </a:solidFill>
              <a:prstDash val="solid"/>
            </a:ln>
          </p:spPr>
        </p:sp>
        <p:sp>
          <p:nvSpPr>
            <p:cNvPr id="9" name="svg_text_009"/>
            <p:cNvSpPr>
              <a:spLocks noGrp="1"/>
            </p:cNvSpPr>
            <p:nvPr/>
          </p:nvSpPr>
          <p:spPr>
            <a:xfrm>
              <a:off x="1171" y="1780"/>
              <a:ext cx="4258" cy="39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/>
            <a:lstStyle/>
            <a:p>
              <a:pPr algn="ctr">
                <a:defRPr sz="1275" b="1" i="0">
                  <a:solidFill>
                    <a:srgbClr val="18232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600" b="1" i="0">
                  <a:solidFill>
                    <a:srgbClr val="18232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Candidate Encoder Space</a:t>
              </a:r>
              <a:endParaRPr sz="1600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svg_text_010"/>
            <p:cNvSpPr>
              <a:spLocks noGrp="1"/>
            </p:cNvSpPr>
            <p:nvPr/>
          </p:nvSpPr>
          <p:spPr>
            <a:xfrm>
              <a:off x="666" y="2218"/>
              <a:ext cx="5268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/>
            <a:lstStyle/>
            <a:p>
              <a:pPr algn="ctr">
                <a:defRPr sz="1050" b="0" i="0">
                  <a:solidFill>
                    <a:srgbClr val="33415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200" b="0" i="0">
                  <a:solidFill>
                    <a:srgbClr val="33415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candidate blocks, widths and depths</a:t>
              </a:r>
              <a:endParaRPr sz="120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86" name="组合 385"/>
          <p:cNvGrpSpPr/>
          <p:nvPr/>
        </p:nvGrpSpPr>
        <p:grpSpPr>
          <a:xfrm>
            <a:off x="4424680" y="904240"/>
            <a:ext cx="3798570" cy="999490"/>
            <a:chOff x="6489" y="1425"/>
            <a:chExt cx="5982" cy="1574"/>
          </a:xfrm>
        </p:grpSpPr>
        <p:sp>
          <p:nvSpPr>
            <p:cNvPr id="13" name="svg_rect_013"/>
            <p:cNvSpPr>
              <a:spLocks noGrp="1"/>
            </p:cNvSpPr>
            <p:nvPr/>
          </p:nvSpPr>
          <p:spPr>
            <a:xfrm>
              <a:off x="6750" y="1425"/>
              <a:ext cx="5475" cy="1575"/>
            </a:xfrm>
            <a:prstGeom prst="roundRect">
              <a:avLst>
                <a:gd name="adj" fmla="val 7619"/>
              </a:avLst>
            </a:prstGeom>
            <a:solidFill>
              <a:srgbClr val="F7FBFF"/>
            </a:solidFill>
            <a:ln w="19050">
              <a:solidFill>
                <a:srgbClr val="408FD2"/>
              </a:solidFill>
              <a:prstDash val="solid"/>
            </a:ln>
          </p:spPr>
        </p:sp>
        <p:grpSp>
          <p:nvGrpSpPr>
            <p:cNvPr id="385" name="组合 384"/>
            <p:cNvGrpSpPr/>
            <p:nvPr/>
          </p:nvGrpSpPr>
          <p:grpSpPr>
            <a:xfrm>
              <a:off x="6489" y="1645"/>
              <a:ext cx="5982" cy="1113"/>
              <a:chOff x="6489" y="1645"/>
              <a:chExt cx="5982" cy="1113"/>
            </a:xfrm>
          </p:grpSpPr>
          <p:sp>
            <p:nvSpPr>
              <p:cNvPr id="14" name="svg_text_014"/>
              <p:cNvSpPr>
                <a:spLocks noGrp="1"/>
              </p:cNvSpPr>
              <p:nvPr/>
            </p:nvSpPr>
            <p:spPr>
              <a:xfrm>
                <a:off x="6831" y="1645"/>
                <a:ext cx="5299" cy="39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/>
              <a:lstStyle/>
              <a:p>
                <a:pPr algn="ctr">
                  <a:defRPr sz="1275" b="1" i="0">
                    <a:solidFill>
                      <a:srgbClr val="18232E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sz="1600" b="1" i="0">
                    <a:solidFill>
                      <a:srgbClr val="18232E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Teacher-Guided Proxy Training</a:t>
                </a:r>
                <a:endParaRPr sz="1600" b="1" i="0">
                  <a:solidFill>
                    <a:srgbClr val="18232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" name="svg_text_015"/>
              <p:cNvSpPr>
                <a:spLocks noGrp="1"/>
              </p:cNvSpPr>
              <p:nvPr/>
            </p:nvSpPr>
            <p:spPr>
              <a:xfrm>
                <a:off x="7060" y="2068"/>
                <a:ext cx="4840" cy="3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/>
              <a:lstStyle/>
              <a:p>
                <a:pPr algn="ctr">
                  <a:defRPr sz="1050" b="0" i="0">
                    <a:solidFill>
                      <a:srgbClr val="334155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sz="1200" b="0" i="0">
                    <a:solidFill>
                      <a:srgbClr val="334155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Teacher → distillation → Student</a:t>
                </a:r>
                <a:endParaRPr sz="1200" b="0" i="0">
                  <a:solidFill>
                    <a:srgbClr val="33415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6" name="svg_text_016"/>
              <p:cNvSpPr>
                <a:spLocks noGrp="1"/>
              </p:cNvSpPr>
              <p:nvPr/>
            </p:nvSpPr>
            <p:spPr>
              <a:xfrm>
                <a:off x="6489" y="2428"/>
                <a:ext cx="5982" cy="3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/>
              <a:lstStyle/>
              <a:p>
                <a:pPr algn="ctr">
                  <a:defRPr sz="1050" b="0" i="0">
                    <a:solidFill>
                      <a:srgbClr val="334155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sz="1200" b="0" i="0">
                    <a:solidFill>
                      <a:srgbClr val="334155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short proxy training for every candidate</a:t>
                </a:r>
                <a:endParaRPr sz="1200" b="0" i="0">
                  <a:solidFill>
                    <a:srgbClr val="33415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9059545" y="904240"/>
            <a:ext cx="3535680" cy="999490"/>
            <a:chOff x="13323" y="1424"/>
            <a:chExt cx="5568" cy="1574"/>
          </a:xfrm>
        </p:grpSpPr>
        <p:sp>
          <p:nvSpPr>
            <p:cNvPr id="19" name="svg_rect_019"/>
            <p:cNvSpPr>
              <a:spLocks noGrp="1"/>
            </p:cNvSpPr>
            <p:nvPr/>
          </p:nvSpPr>
          <p:spPr>
            <a:xfrm>
              <a:off x="13323" y="1424"/>
              <a:ext cx="5475" cy="1575"/>
            </a:xfrm>
            <a:prstGeom prst="roundRect">
              <a:avLst>
                <a:gd name="adj" fmla="val 7619"/>
              </a:avLst>
            </a:prstGeom>
            <a:solidFill>
              <a:srgbClr val="F7FBFF"/>
            </a:solidFill>
            <a:ln w="19050">
              <a:solidFill>
                <a:srgbClr val="408FD2"/>
              </a:solidFill>
              <a:prstDash val="solid"/>
            </a:ln>
          </p:spPr>
        </p:sp>
        <p:sp>
          <p:nvSpPr>
            <p:cNvPr id="20" name="svg_text_020"/>
            <p:cNvSpPr>
              <a:spLocks noGrp="1"/>
            </p:cNvSpPr>
            <p:nvPr/>
          </p:nvSpPr>
          <p:spPr>
            <a:xfrm>
              <a:off x="13419" y="1645"/>
              <a:ext cx="5472" cy="39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/>
            <a:lstStyle/>
            <a:p>
              <a:pPr algn="ctr">
                <a:defRPr sz="1275" b="1" i="0">
                  <a:solidFill>
                    <a:srgbClr val="18232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600" b="1" i="0">
                  <a:solidFill>
                    <a:srgbClr val="18232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Resource and Quality Profiling</a:t>
              </a:r>
              <a:endParaRPr sz="1600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svg_text_021"/>
            <p:cNvSpPr>
              <a:spLocks noGrp="1"/>
            </p:cNvSpPr>
            <p:nvPr/>
          </p:nvSpPr>
          <p:spPr>
            <a:xfrm>
              <a:off x="13450" y="2068"/>
              <a:ext cx="5411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/>
            <a:lstStyle/>
            <a:p>
              <a:pPr algn="ctr">
                <a:defRPr sz="1050" b="0" i="0">
                  <a:solidFill>
                    <a:srgbClr val="33415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200" b="0" i="0">
                  <a:solidFill>
                    <a:srgbClr val="33415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quality ↑ · latency ↓ · model size ↓</a:t>
              </a:r>
              <a:endParaRPr sz="120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svg_text_022"/>
            <p:cNvSpPr>
              <a:spLocks noGrp="1"/>
            </p:cNvSpPr>
            <p:nvPr/>
          </p:nvSpPr>
          <p:spPr>
            <a:xfrm>
              <a:off x="13807" y="2428"/>
              <a:ext cx="4697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rmAutofit/>
            </a:bodyPr>
            <a:lstStyle/>
            <a:p>
              <a:pPr algn="ctr">
                <a:buClrTx/>
                <a:buSzTx/>
                <a:buFontTx/>
                <a:defRPr sz="1050" b="0" i="0">
                  <a:solidFill>
                    <a:srgbClr val="33415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200" b="0" i="0">
                  <a:solidFill>
                    <a:srgbClr val="33415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one point per candidate encoder</a:t>
              </a:r>
              <a:endParaRPr sz="120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4" name="svg_path_034"/>
          <p:cNvSpPr>
            <a:spLocks noGrp="1"/>
          </p:cNvSpPr>
          <p:nvPr/>
        </p:nvSpPr>
        <p:spPr>
          <a:xfrm>
            <a:off x="2762250" y="1905000"/>
            <a:ext cx="15259050" cy="1857375"/>
          </a:xfrm>
          <a:custGeom>
            <a:avLst/>
            <a:gdLst/>
            <a:ahLst/>
            <a:cxnLst/>
            <a:pathLst>
              <a:path w="15259050" h="1857375">
                <a:moveTo>
                  <a:pt x="15259050" y="0"/>
                </a:moveTo>
                <a:lnTo>
                  <a:pt x="15259050" y="361950"/>
                </a:lnTo>
                <a:lnTo>
                  <a:pt x="0" y="361950"/>
                </a:lnTo>
                <a:lnTo>
                  <a:pt x="0" y="1857375"/>
                </a:lnTo>
              </a:path>
            </a:pathLst>
          </a:custGeom>
          <a:noFill/>
          <a:ln w="19050">
            <a:solidFill>
              <a:srgbClr val="2386D8"/>
            </a:solidFill>
            <a:prstDash val="dash"/>
          </a:ln>
        </p:spPr>
      </p:sp>
      <p:sp>
        <p:nvSpPr>
          <p:cNvPr id="35" name="svg_arrowhead_035"/>
          <p:cNvSpPr>
            <a:spLocks noGrp="1"/>
          </p:cNvSpPr>
          <p:nvPr/>
        </p:nvSpPr>
        <p:spPr>
          <a:xfrm>
            <a:off x="2709863" y="3657600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6" name="svg_rect_036"/>
          <p:cNvSpPr>
            <a:spLocks noGrp="1"/>
          </p:cNvSpPr>
          <p:nvPr/>
        </p:nvSpPr>
        <p:spPr>
          <a:xfrm>
            <a:off x="190500" y="2619375"/>
            <a:ext cx="11144250" cy="3667125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7DB5E8"/>
            </a:solidFill>
            <a:prstDash val="dash"/>
          </a:ln>
        </p:spPr>
      </p:sp>
      <p:sp>
        <p:nvSpPr>
          <p:cNvPr id="37" name="svg_circle_037"/>
          <p:cNvSpPr>
            <a:spLocks noGrp="1"/>
          </p:cNvSpPr>
          <p:nvPr/>
        </p:nvSpPr>
        <p:spPr>
          <a:xfrm>
            <a:off x="257175" y="2686050"/>
            <a:ext cx="533400" cy="533400"/>
          </a:xfrm>
          <a:prstGeom prst="ellipse">
            <a:avLst/>
          </a:prstGeom>
          <a:solidFill>
            <a:srgbClr val="080B0E"/>
          </a:solidFill>
          <a:ln w="0">
            <a:noFill/>
            <a:prstDash val="solid"/>
          </a:ln>
        </p:spPr>
      </p:sp>
      <p:sp>
        <p:nvSpPr>
          <p:cNvPr id="38" name="svg_text_038"/>
          <p:cNvSpPr>
            <a:spLocks noGrp="1"/>
          </p:cNvSpPr>
          <p:nvPr/>
        </p:nvSpPr>
        <p:spPr>
          <a:xfrm>
            <a:off x="240982" y="2753439"/>
            <a:ext cx="565785" cy="39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202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9" name="svg_text_039"/>
          <p:cNvSpPr>
            <a:spLocks noGrp="1"/>
          </p:cNvSpPr>
          <p:nvPr/>
        </p:nvSpPr>
        <p:spPr>
          <a:xfrm>
            <a:off x="904875" y="2761488"/>
            <a:ext cx="6065520" cy="38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0F172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 i="0">
                <a:solidFill>
                  <a:srgbClr val="0F172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SPEECH ENCODING AND THREE-LAYER RVQ</a:t>
            </a:r>
            <a:endParaRPr sz="1950" b="1" i="0">
              <a:solidFill>
                <a:srgbClr val="0F172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svg_rect_040"/>
          <p:cNvSpPr>
            <a:spLocks noGrp="1"/>
          </p:cNvSpPr>
          <p:nvPr/>
        </p:nvSpPr>
        <p:spPr>
          <a:xfrm>
            <a:off x="428625" y="3857625"/>
            <a:ext cx="1190625" cy="1000125"/>
          </a:xfrm>
          <a:prstGeom prst="roundRect">
            <a:avLst>
              <a:gd name="adj" fmla="val 761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41" name="svg_text_041"/>
          <p:cNvSpPr>
            <a:spLocks noGrp="1"/>
          </p:cNvSpPr>
          <p:nvPr/>
        </p:nvSpPr>
        <p:spPr>
          <a:xfrm>
            <a:off x="603123" y="4063746"/>
            <a:ext cx="832104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 kHz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svg_text_042"/>
          <p:cNvSpPr>
            <a:spLocks noGrp="1"/>
          </p:cNvSpPr>
          <p:nvPr/>
        </p:nvSpPr>
        <p:spPr>
          <a:xfrm>
            <a:off x="272796" y="4320921"/>
            <a:ext cx="1492758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Input Speech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" name="svg_path_043"/>
          <p:cNvSpPr>
            <a:spLocks noGrp="1"/>
          </p:cNvSpPr>
          <p:nvPr/>
        </p:nvSpPr>
        <p:spPr>
          <a:xfrm>
            <a:off x="485775" y="5010785"/>
            <a:ext cx="866775" cy="428625"/>
          </a:xfrm>
          <a:custGeom>
            <a:avLst/>
            <a:gdLst/>
            <a:ahLst/>
            <a:cxnLst/>
            <a:pathLst>
              <a:path w="866775" h="428625">
                <a:moveTo>
                  <a:pt x="0" y="257175"/>
                </a:moveTo>
                <a:lnTo>
                  <a:pt x="76200" y="85725"/>
                </a:lnTo>
                <a:lnTo>
                  <a:pt x="152400" y="381000"/>
                </a:lnTo>
                <a:lnTo>
                  <a:pt x="238125" y="0"/>
                </a:lnTo>
                <a:lnTo>
                  <a:pt x="323850" y="428625"/>
                </a:lnTo>
                <a:lnTo>
                  <a:pt x="409575" y="133350"/>
                </a:lnTo>
                <a:lnTo>
                  <a:pt x="495300" y="352425"/>
                </a:lnTo>
                <a:lnTo>
                  <a:pt x="581025" y="38100"/>
                </a:lnTo>
                <a:lnTo>
                  <a:pt x="666750" y="400050"/>
                </a:lnTo>
                <a:lnTo>
                  <a:pt x="771525" y="190500"/>
                </a:lnTo>
                <a:lnTo>
                  <a:pt x="866775" y="285750"/>
                </a:lnTo>
              </a:path>
            </a:pathLst>
          </a:custGeom>
          <a:noFill/>
          <a:ln w="38100">
            <a:solidFill>
              <a:srgbClr val="13AD95"/>
            </a:solidFill>
            <a:prstDash val="solid"/>
          </a:ln>
        </p:spPr>
      </p:sp>
      <p:sp>
        <p:nvSpPr>
          <p:cNvPr id="44" name="svg_path_044"/>
          <p:cNvSpPr>
            <a:spLocks noGrp="1"/>
          </p:cNvSpPr>
          <p:nvPr/>
        </p:nvSpPr>
        <p:spPr>
          <a:xfrm>
            <a:off x="1619250" y="4352925"/>
            <a:ext cx="333375" cy="9525"/>
          </a:xfrm>
          <a:custGeom>
            <a:avLst/>
            <a:gdLst/>
            <a:ahLst/>
            <a:cxnLst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45" name="svg_arrowhead_045"/>
          <p:cNvSpPr>
            <a:spLocks noGrp="1"/>
          </p:cNvSpPr>
          <p:nvPr/>
        </p:nvSpPr>
        <p:spPr>
          <a:xfrm>
            <a:off x="1847850" y="43005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46" name="svg_rect_046"/>
          <p:cNvSpPr>
            <a:spLocks noGrp="1"/>
          </p:cNvSpPr>
          <p:nvPr/>
        </p:nvSpPr>
        <p:spPr>
          <a:xfrm>
            <a:off x="1952625" y="3762375"/>
            <a:ext cx="1619250" cy="1190625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47" name="svg_text_047"/>
          <p:cNvSpPr>
            <a:spLocks noGrp="1"/>
          </p:cNvSpPr>
          <p:nvPr/>
        </p:nvSpPr>
        <p:spPr>
          <a:xfrm>
            <a:off x="2015871" y="3997071"/>
            <a:ext cx="1492758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NAS-Selected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" name="svg_text_048"/>
          <p:cNvSpPr>
            <a:spLocks noGrp="1"/>
          </p:cNvSpPr>
          <p:nvPr/>
        </p:nvSpPr>
        <p:spPr>
          <a:xfrm>
            <a:off x="1905762" y="4254246"/>
            <a:ext cx="1712976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SEANet Encoder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" name="svg_text_049"/>
          <p:cNvSpPr>
            <a:spLocks noGrp="1"/>
          </p:cNvSpPr>
          <p:nvPr/>
        </p:nvSpPr>
        <p:spPr>
          <a:xfrm>
            <a:off x="1543050" y="4542282"/>
            <a:ext cx="243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architecture from Panel 1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" name="svg_path_050"/>
          <p:cNvSpPr>
            <a:spLocks noGrp="1"/>
          </p:cNvSpPr>
          <p:nvPr/>
        </p:nvSpPr>
        <p:spPr>
          <a:xfrm>
            <a:off x="3571875" y="4352925"/>
            <a:ext cx="333375" cy="9525"/>
          </a:xfrm>
          <a:custGeom>
            <a:avLst/>
            <a:gdLst/>
            <a:ahLst/>
            <a:cxnLst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51" name="svg_arrowhead_051"/>
          <p:cNvSpPr>
            <a:spLocks noGrp="1"/>
          </p:cNvSpPr>
          <p:nvPr/>
        </p:nvSpPr>
        <p:spPr>
          <a:xfrm>
            <a:off x="3800475" y="43005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52" name="svg_rect_052"/>
          <p:cNvSpPr>
            <a:spLocks noGrp="1"/>
          </p:cNvSpPr>
          <p:nvPr/>
        </p:nvSpPr>
        <p:spPr>
          <a:xfrm>
            <a:off x="3905250" y="3857625"/>
            <a:ext cx="1381125" cy="1000125"/>
          </a:xfrm>
          <a:prstGeom prst="roundRect">
            <a:avLst>
              <a:gd name="adj" fmla="val 761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53" name="svg_text_053"/>
          <p:cNvSpPr>
            <a:spLocks noGrp="1"/>
          </p:cNvSpPr>
          <p:nvPr/>
        </p:nvSpPr>
        <p:spPr>
          <a:xfrm>
            <a:off x="3954780" y="4063746"/>
            <a:ext cx="127254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Continuous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4" name="svg_text_054"/>
          <p:cNvSpPr>
            <a:spLocks noGrp="1"/>
          </p:cNvSpPr>
          <p:nvPr/>
        </p:nvSpPr>
        <p:spPr>
          <a:xfrm>
            <a:off x="4064889" y="4301871"/>
            <a:ext cx="1052322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Latent z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5" name="svg_text_055"/>
          <p:cNvSpPr>
            <a:spLocks noGrp="1"/>
          </p:cNvSpPr>
          <p:nvPr/>
        </p:nvSpPr>
        <p:spPr>
          <a:xfrm>
            <a:off x="3825240" y="4561332"/>
            <a:ext cx="153162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50 Hz, d = 1024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6" name="svg_path_056"/>
          <p:cNvSpPr>
            <a:spLocks noGrp="1"/>
          </p:cNvSpPr>
          <p:nvPr/>
        </p:nvSpPr>
        <p:spPr>
          <a:xfrm>
            <a:off x="5286375" y="4352925"/>
            <a:ext cx="333375" cy="9525"/>
          </a:xfrm>
          <a:custGeom>
            <a:avLst/>
            <a:gdLst/>
            <a:ahLst/>
            <a:cxnLst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57" name="svg_arrowhead_057"/>
          <p:cNvSpPr>
            <a:spLocks noGrp="1"/>
          </p:cNvSpPr>
          <p:nvPr/>
        </p:nvSpPr>
        <p:spPr>
          <a:xfrm>
            <a:off x="5514975" y="43005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58" name="svg_rect_058"/>
          <p:cNvSpPr>
            <a:spLocks noGrp="1"/>
          </p:cNvSpPr>
          <p:nvPr/>
        </p:nvSpPr>
        <p:spPr>
          <a:xfrm>
            <a:off x="5619750" y="3733800"/>
            <a:ext cx="1571625" cy="1238250"/>
          </a:xfrm>
          <a:prstGeom prst="roundRect">
            <a:avLst>
              <a:gd name="adj" fmla="val 6154"/>
            </a:avLst>
          </a:prstGeom>
          <a:solidFill>
            <a:srgbClr val="FFF7ED"/>
          </a:solidFill>
          <a:ln w="19050">
            <a:solidFill>
              <a:srgbClr val="EF8D32"/>
            </a:solidFill>
            <a:prstDash val="solid"/>
          </a:ln>
        </p:spPr>
      </p:sp>
      <p:sp>
        <p:nvSpPr>
          <p:cNvPr id="59" name="svg_text_059"/>
          <p:cNvSpPr>
            <a:spLocks noGrp="1"/>
          </p:cNvSpPr>
          <p:nvPr/>
        </p:nvSpPr>
        <p:spPr>
          <a:xfrm>
            <a:off x="5434203" y="3920871"/>
            <a:ext cx="1933194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Q1 / Codebook C1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" name="svg_text_060"/>
          <p:cNvSpPr>
            <a:spLocks noGrp="1"/>
          </p:cNvSpPr>
          <p:nvPr/>
        </p:nvSpPr>
        <p:spPr>
          <a:xfrm>
            <a:off x="5680329" y="4199382"/>
            <a:ext cx="144094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Coarse Content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" name="svg_text_061"/>
          <p:cNvSpPr>
            <a:spLocks noGrp="1"/>
          </p:cNvSpPr>
          <p:nvPr/>
        </p:nvSpPr>
        <p:spPr>
          <a:xfrm>
            <a:off x="5725668" y="4427982"/>
            <a:ext cx="135026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1,024 entries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" name="svg_text_062"/>
          <p:cNvSpPr>
            <a:spLocks noGrp="1"/>
          </p:cNvSpPr>
          <p:nvPr/>
        </p:nvSpPr>
        <p:spPr>
          <a:xfrm>
            <a:off x="5599367" y="4654296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index i₁ → q₁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63" name="svg_path_063"/>
          <p:cNvSpPr>
            <a:spLocks noGrp="1"/>
          </p:cNvSpPr>
          <p:nvPr/>
        </p:nvSpPr>
        <p:spPr>
          <a:xfrm>
            <a:off x="7191375" y="4352925"/>
            <a:ext cx="285750" cy="9525"/>
          </a:xfrm>
          <a:custGeom>
            <a:avLst/>
            <a:gdLst/>
            <a:ahLst/>
            <a:cxnLst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64" name="svg_arrowhead_064"/>
          <p:cNvSpPr>
            <a:spLocks noGrp="1"/>
          </p:cNvSpPr>
          <p:nvPr/>
        </p:nvSpPr>
        <p:spPr>
          <a:xfrm>
            <a:off x="7372350" y="43005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65" name="svg_text_065"/>
          <p:cNvSpPr>
            <a:spLocks noGrp="1"/>
          </p:cNvSpPr>
          <p:nvPr/>
        </p:nvSpPr>
        <p:spPr>
          <a:xfrm>
            <a:off x="7157847" y="4046982"/>
            <a:ext cx="35280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r₁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6" name="svg_rect_066"/>
          <p:cNvSpPr>
            <a:spLocks noGrp="1"/>
          </p:cNvSpPr>
          <p:nvPr/>
        </p:nvSpPr>
        <p:spPr>
          <a:xfrm>
            <a:off x="7477125" y="3733800"/>
            <a:ext cx="1571625" cy="1238250"/>
          </a:xfrm>
          <a:prstGeom prst="roundRect">
            <a:avLst>
              <a:gd name="adj" fmla="val 6154"/>
            </a:avLst>
          </a:prstGeom>
          <a:solidFill>
            <a:srgbClr val="EFFAF4"/>
          </a:solidFill>
          <a:ln w="19050">
            <a:solidFill>
              <a:srgbClr val="4CA873"/>
            </a:solidFill>
            <a:prstDash val="solid"/>
          </a:ln>
        </p:spPr>
      </p:sp>
      <p:sp>
        <p:nvSpPr>
          <p:cNvPr id="67" name="svg_text_067"/>
          <p:cNvSpPr>
            <a:spLocks noGrp="1"/>
          </p:cNvSpPr>
          <p:nvPr/>
        </p:nvSpPr>
        <p:spPr>
          <a:xfrm>
            <a:off x="7291578" y="3920871"/>
            <a:ext cx="1933194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Q2 / Codebook C2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8" name="svg_text_068"/>
          <p:cNvSpPr>
            <a:spLocks noGrp="1"/>
          </p:cNvSpPr>
          <p:nvPr/>
        </p:nvSpPr>
        <p:spPr>
          <a:xfrm>
            <a:off x="7311009" y="4199382"/>
            <a:ext cx="189433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Acoustic Refinement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9" name="svg_text_069"/>
          <p:cNvSpPr>
            <a:spLocks noGrp="1"/>
          </p:cNvSpPr>
          <p:nvPr/>
        </p:nvSpPr>
        <p:spPr>
          <a:xfrm>
            <a:off x="7583043" y="4427982"/>
            <a:ext cx="135026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1,024 entries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0" name="svg_text_070"/>
          <p:cNvSpPr>
            <a:spLocks noGrp="1"/>
          </p:cNvSpPr>
          <p:nvPr/>
        </p:nvSpPr>
        <p:spPr>
          <a:xfrm>
            <a:off x="7456742" y="4654296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index i₂ → q₂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71" name="svg_path_071"/>
          <p:cNvSpPr>
            <a:spLocks noGrp="1"/>
          </p:cNvSpPr>
          <p:nvPr/>
        </p:nvSpPr>
        <p:spPr>
          <a:xfrm>
            <a:off x="9048750" y="4352925"/>
            <a:ext cx="285750" cy="9525"/>
          </a:xfrm>
          <a:custGeom>
            <a:avLst/>
            <a:gdLst/>
            <a:ahLst/>
            <a:cxnLst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72" name="svg_arrowhead_072"/>
          <p:cNvSpPr>
            <a:spLocks noGrp="1"/>
          </p:cNvSpPr>
          <p:nvPr/>
        </p:nvSpPr>
        <p:spPr>
          <a:xfrm>
            <a:off x="9229725" y="43005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73" name="svg_text_073"/>
          <p:cNvSpPr>
            <a:spLocks noGrp="1"/>
          </p:cNvSpPr>
          <p:nvPr/>
        </p:nvSpPr>
        <p:spPr>
          <a:xfrm>
            <a:off x="9015222" y="4046982"/>
            <a:ext cx="35280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r₂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4" name="svg_rect_074"/>
          <p:cNvSpPr>
            <a:spLocks noGrp="1"/>
          </p:cNvSpPr>
          <p:nvPr/>
        </p:nvSpPr>
        <p:spPr>
          <a:xfrm>
            <a:off x="9334500" y="3733800"/>
            <a:ext cx="1714500" cy="1238250"/>
          </a:xfrm>
          <a:prstGeom prst="roundRect">
            <a:avLst>
              <a:gd name="adj" fmla="val 6154"/>
            </a:avLst>
          </a:prstGeom>
          <a:solidFill>
            <a:srgbClr val="F4F2FF"/>
          </a:solidFill>
          <a:ln w="19050">
            <a:solidFill>
              <a:srgbClr val="7374D8"/>
            </a:solidFill>
            <a:prstDash val="solid"/>
          </a:ln>
        </p:spPr>
      </p:sp>
      <p:sp>
        <p:nvSpPr>
          <p:cNvPr id="75" name="svg_text_075"/>
          <p:cNvSpPr>
            <a:spLocks noGrp="1"/>
          </p:cNvSpPr>
          <p:nvPr/>
        </p:nvSpPr>
        <p:spPr>
          <a:xfrm>
            <a:off x="9225153" y="3920871"/>
            <a:ext cx="1933194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Q3 / Codebook C3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6" name="svg_text_076"/>
          <p:cNvSpPr>
            <a:spLocks noGrp="1"/>
          </p:cNvSpPr>
          <p:nvPr/>
        </p:nvSpPr>
        <p:spPr>
          <a:xfrm>
            <a:off x="9017889" y="4199382"/>
            <a:ext cx="234772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Fine Acoustic Refinement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7" name="svg_text_077"/>
          <p:cNvSpPr>
            <a:spLocks noGrp="1"/>
          </p:cNvSpPr>
          <p:nvPr/>
        </p:nvSpPr>
        <p:spPr>
          <a:xfrm>
            <a:off x="9516618" y="4427982"/>
            <a:ext cx="135026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1,024 entries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8" name="svg_text_078"/>
          <p:cNvSpPr>
            <a:spLocks noGrp="1"/>
          </p:cNvSpPr>
          <p:nvPr/>
        </p:nvSpPr>
        <p:spPr>
          <a:xfrm>
            <a:off x="9390317" y="4654296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index i₃ → q₃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79" name="svg_rect_079"/>
          <p:cNvSpPr>
            <a:spLocks noGrp="1"/>
          </p:cNvSpPr>
          <p:nvPr/>
        </p:nvSpPr>
        <p:spPr>
          <a:xfrm>
            <a:off x="5715000" y="5191125"/>
            <a:ext cx="333375" cy="209550"/>
          </a:xfrm>
          <a:prstGeom prst="rect">
            <a:avLst/>
          </a:prstGeom>
          <a:solidFill>
            <a:srgbClr val="FB923C"/>
          </a:solidFill>
          <a:ln w="0">
            <a:noFill/>
            <a:prstDash val="solid"/>
          </a:ln>
        </p:spPr>
      </p:sp>
      <p:sp>
        <p:nvSpPr>
          <p:cNvPr id="80" name="svg_rect_080"/>
          <p:cNvSpPr>
            <a:spLocks noGrp="1"/>
          </p:cNvSpPr>
          <p:nvPr/>
        </p:nvSpPr>
        <p:spPr>
          <a:xfrm>
            <a:off x="6115050" y="5191125"/>
            <a:ext cx="333375" cy="209550"/>
          </a:xfrm>
          <a:prstGeom prst="rect">
            <a:avLst/>
          </a:prstGeom>
          <a:solidFill>
            <a:srgbClr val="FB923C"/>
          </a:solidFill>
          <a:ln w="0">
            <a:noFill/>
            <a:prstDash val="solid"/>
          </a:ln>
        </p:spPr>
      </p:sp>
      <p:sp>
        <p:nvSpPr>
          <p:cNvPr id="81" name="svg_rect_081"/>
          <p:cNvSpPr>
            <a:spLocks noGrp="1"/>
          </p:cNvSpPr>
          <p:nvPr/>
        </p:nvSpPr>
        <p:spPr>
          <a:xfrm>
            <a:off x="6515100" y="5191125"/>
            <a:ext cx="333375" cy="209550"/>
          </a:xfrm>
          <a:prstGeom prst="rect">
            <a:avLst/>
          </a:prstGeom>
          <a:solidFill>
            <a:srgbClr val="FB923C"/>
          </a:solidFill>
          <a:ln w="0">
            <a:noFill/>
            <a:prstDash val="solid"/>
          </a:ln>
        </p:spPr>
      </p:sp>
      <p:sp>
        <p:nvSpPr>
          <p:cNvPr id="82" name="svg_text_082"/>
          <p:cNvSpPr>
            <a:spLocks noGrp="1"/>
          </p:cNvSpPr>
          <p:nvPr/>
        </p:nvSpPr>
        <p:spPr>
          <a:xfrm>
            <a:off x="6805041" y="5178171"/>
            <a:ext cx="391668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i₁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83" name="svg_rect_083"/>
          <p:cNvSpPr>
            <a:spLocks noGrp="1"/>
          </p:cNvSpPr>
          <p:nvPr/>
        </p:nvSpPr>
        <p:spPr>
          <a:xfrm>
            <a:off x="7572375" y="5191125"/>
            <a:ext cx="333375" cy="209550"/>
          </a:xfrm>
          <a:prstGeom prst="rect">
            <a:avLst/>
          </a:prstGeom>
          <a:solidFill>
            <a:srgbClr val="70BD92"/>
          </a:solidFill>
          <a:ln w="0">
            <a:noFill/>
            <a:prstDash val="solid"/>
          </a:ln>
        </p:spPr>
      </p:sp>
      <p:sp>
        <p:nvSpPr>
          <p:cNvPr id="84" name="svg_rect_084"/>
          <p:cNvSpPr>
            <a:spLocks noGrp="1"/>
          </p:cNvSpPr>
          <p:nvPr/>
        </p:nvSpPr>
        <p:spPr>
          <a:xfrm>
            <a:off x="7972425" y="5191125"/>
            <a:ext cx="333375" cy="209550"/>
          </a:xfrm>
          <a:prstGeom prst="rect">
            <a:avLst/>
          </a:prstGeom>
          <a:solidFill>
            <a:srgbClr val="70BD92"/>
          </a:solidFill>
          <a:ln w="0">
            <a:noFill/>
            <a:prstDash val="solid"/>
          </a:ln>
        </p:spPr>
      </p:sp>
      <p:sp>
        <p:nvSpPr>
          <p:cNvPr id="85" name="svg_rect_085"/>
          <p:cNvSpPr>
            <a:spLocks noGrp="1"/>
          </p:cNvSpPr>
          <p:nvPr/>
        </p:nvSpPr>
        <p:spPr>
          <a:xfrm>
            <a:off x="8372475" y="5191125"/>
            <a:ext cx="333375" cy="209550"/>
          </a:xfrm>
          <a:prstGeom prst="rect">
            <a:avLst/>
          </a:prstGeom>
          <a:solidFill>
            <a:srgbClr val="70BD92"/>
          </a:solidFill>
          <a:ln w="0">
            <a:noFill/>
            <a:prstDash val="solid"/>
          </a:ln>
        </p:spPr>
      </p:sp>
      <p:sp>
        <p:nvSpPr>
          <p:cNvPr id="86" name="svg_text_086"/>
          <p:cNvSpPr>
            <a:spLocks noGrp="1"/>
          </p:cNvSpPr>
          <p:nvPr/>
        </p:nvSpPr>
        <p:spPr>
          <a:xfrm>
            <a:off x="8662416" y="5178171"/>
            <a:ext cx="391668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i₂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87" name="svg_rect_087"/>
          <p:cNvSpPr>
            <a:spLocks noGrp="1"/>
          </p:cNvSpPr>
          <p:nvPr/>
        </p:nvSpPr>
        <p:spPr>
          <a:xfrm>
            <a:off x="9477375" y="5191125"/>
            <a:ext cx="333375" cy="209550"/>
          </a:xfrm>
          <a:prstGeom prst="rect">
            <a:avLst/>
          </a:prstGeom>
          <a:solidFill>
            <a:srgbClr val="8588E8"/>
          </a:solidFill>
          <a:ln w="0">
            <a:noFill/>
            <a:prstDash val="solid"/>
          </a:ln>
        </p:spPr>
      </p:sp>
      <p:sp>
        <p:nvSpPr>
          <p:cNvPr id="88" name="svg_rect_088"/>
          <p:cNvSpPr>
            <a:spLocks noGrp="1"/>
          </p:cNvSpPr>
          <p:nvPr/>
        </p:nvSpPr>
        <p:spPr>
          <a:xfrm>
            <a:off x="9877425" y="5191125"/>
            <a:ext cx="333375" cy="209550"/>
          </a:xfrm>
          <a:prstGeom prst="rect">
            <a:avLst/>
          </a:prstGeom>
          <a:solidFill>
            <a:srgbClr val="8588E8"/>
          </a:solidFill>
          <a:ln w="0">
            <a:noFill/>
            <a:prstDash val="solid"/>
          </a:ln>
        </p:spPr>
      </p:sp>
      <p:sp>
        <p:nvSpPr>
          <p:cNvPr id="89" name="svg_rect_089"/>
          <p:cNvSpPr>
            <a:spLocks noGrp="1"/>
          </p:cNvSpPr>
          <p:nvPr/>
        </p:nvSpPr>
        <p:spPr>
          <a:xfrm>
            <a:off x="10277475" y="5191125"/>
            <a:ext cx="333375" cy="209550"/>
          </a:xfrm>
          <a:prstGeom prst="rect">
            <a:avLst/>
          </a:prstGeom>
          <a:solidFill>
            <a:srgbClr val="8588E8"/>
          </a:solidFill>
          <a:ln w="0">
            <a:noFill/>
            <a:prstDash val="solid"/>
          </a:ln>
        </p:spPr>
      </p:sp>
      <p:sp>
        <p:nvSpPr>
          <p:cNvPr id="90" name="svg_text_090"/>
          <p:cNvSpPr>
            <a:spLocks noGrp="1"/>
          </p:cNvSpPr>
          <p:nvPr/>
        </p:nvSpPr>
        <p:spPr>
          <a:xfrm>
            <a:off x="10567416" y="5178171"/>
            <a:ext cx="391668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i₃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91" name="svg_path_091"/>
          <p:cNvSpPr>
            <a:spLocks noGrp="1"/>
          </p:cNvSpPr>
          <p:nvPr/>
        </p:nvSpPr>
        <p:spPr>
          <a:xfrm>
            <a:off x="5619750" y="5619750"/>
            <a:ext cx="5429250" cy="190500"/>
          </a:xfrm>
          <a:custGeom>
            <a:avLst/>
            <a:gdLst/>
            <a:ahLst/>
            <a:cxnLst/>
            <a:pathLst>
              <a:path w="5429250" h="190500">
                <a:moveTo>
                  <a:pt x="0" y="0"/>
                </a:moveTo>
                <a:lnTo>
                  <a:pt x="0" y="190500"/>
                </a:lnTo>
                <a:lnTo>
                  <a:pt x="5429250" y="190500"/>
                </a:lnTo>
                <a:lnTo>
                  <a:pt x="5429250" y="0"/>
                </a:lnTo>
              </a:path>
            </a:pathLst>
          </a:custGeom>
          <a:noFill/>
          <a:ln w="15240">
            <a:solidFill>
              <a:srgbClr val="506070"/>
            </a:solidFill>
            <a:prstDash val="solid"/>
          </a:ln>
        </p:spPr>
      </p:sp>
      <p:sp>
        <p:nvSpPr>
          <p:cNvPr id="92" name="svg_text_092"/>
          <p:cNvSpPr>
            <a:spLocks noGrp="1"/>
          </p:cNvSpPr>
          <p:nvPr/>
        </p:nvSpPr>
        <p:spPr>
          <a:xfrm>
            <a:off x="6376797" y="5940171"/>
            <a:ext cx="3915156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Quantized Latent zq = q₁ + q₂ + q₃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3" name="svg_rect_093"/>
          <p:cNvSpPr>
            <a:spLocks noGrp="1"/>
          </p:cNvSpPr>
          <p:nvPr/>
        </p:nvSpPr>
        <p:spPr>
          <a:xfrm>
            <a:off x="11525250" y="2619375"/>
            <a:ext cx="4953000" cy="3667125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7DB5E8"/>
            </a:solidFill>
            <a:prstDash val="dash"/>
          </a:ln>
        </p:spPr>
      </p:sp>
      <p:sp>
        <p:nvSpPr>
          <p:cNvPr id="94" name="svg_circle_094"/>
          <p:cNvSpPr>
            <a:spLocks noGrp="1"/>
          </p:cNvSpPr>
          <p:nvPr/>
        </p:nvSpPr>
        <p:spPr>
          <a:xfrm>
            <a:off x="11591925" y="2686050"/>
            <a:ext cx="533400" cy="533400"/>
          </a:xfrm>
          <a:prstGeom prst="ellipse">
            <a:avLst/>
          </a:prstGeom>
          <a:solidFill>
            <a:srgbClr val="080B0E"/>
          </a:solidFill>
          <a:ln w="0">
            <a:noFill/>
            <a:prstDash val="solid"/>
          </a:ln>
        </p:spPr>
      </p:sp>
      <p:sp>
        <p:nvSpPr>
          <p:cNvPr id="95" name="svg_text_095"/>
          <p:cNvSpPr>
            <a:spLocks noGrp="1"/>
          </p:cNvSpPr>
          <p:nvPr/>
        </p:nvSpPr>
        <p:spPr>
          <a:xfrm>
            <a:off x="11575733" y="2753439"/>
            <a:ext cx="565785" cy="39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202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6" name="svg_text_096"/>
          <p:cNvSpPr>
            <a:spLocks noGrp="1"/>
          </p:cNvSpPr>
          <p:nvPr/>
        </p:nvSpPr>
        <p:spPr>
          <a:xfrm>
            <a:off x="12239625" y="2761488"/>
            <a:ext cx="4718304" cy="38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0F172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 i="0">
                <a:solidFill>
                  <a:srgbClr val="0F172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DISCRETE INDEX TRANSMISSION</a:t>
            </a:r>
            <a:endParaRPr sz="1950" b="1" i="0">
              <a:solidFill>
                <a:srgbClr val="0F172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7" name="svg_rect_097"/>
          <p:cNvSpPr>
            <a:spLocks noGrp="1"/>
          </p:cNvSpPr>
          <p:nvPr/>
        </p:nvSpPr>
        <p:spPr>
          <a:xfrm>
            <a:off x="11791950" y="3714750"/>
            <a:ext cx="1000125" cy="1666875"/>
          </a:xfrm>
          <a:prstGeom prst="roundRect">
            <a:avLst>
              <a:gd name="adj" fmla="val 761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98" name="svg_text_098"/>
          <p:cNvSpPr>
            <a:spLocks noGrp="1"/>
          </p:cNvSpPr>
          <p:nvPr/>
        </p:nvSpPr>
        <p:spPr>
          <a:xfrm>
            <a:off x="12110847" y="3837432"/>
            <a:ext cx="35280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i₁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9" name="svg_rect_099"/>
          <p:cNvSpPr>
            <a:spLocks noGrp="1"/>
          </p:cNvSpPr>
          <p:nvPr/>
        </p:nvSpPr>
        <p:spPr>
          <a:xfrm>
            <a:off x="11953875" y="4095750"/>
            <a:ext cx="666750" cy="152400"/>
          </a:xfrm>
          <a:prstGeom prst="rect">
            <a:avLst/>
          </a:prstGeom>
          <a:solidFill>
            <a:srgbClr val="FB923C"/>
          </a:solidFill>
          <a:ln w="0">
            <a:noFill/>
            <a:prstDash val="solid"/>
          </a:ln>
        </p:spPr>
      </p:sp>
      <p:sp>
        <p:nvSpPr>
          <p:cNvPr id="100" name="svg_text_100"/>
          <p:cNvSpPr>
            <a:spLocks noGrp="1"/>
          </p:cNvSpPr>
          <p:nvPr/>
        </p:nvSpPr>
        <p:spPr>
          <a:xfrm>
            <a:off x="12110847" y="4332732"/>
            <a:ext cx="35280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i₂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1" name="svg_rect_101"/>
          <p:cNvSpPr>
            <a:spLocks noGrp="1"/>
          </p:cNvSpPr>
          <p:nvPr/>
        </p:nvSpPr>
        <p:spPr>
          <a:xfrm>
            <a:off x="11953875" y="4591050"/>
            <a:ext cx="666750" cy="152400"/>
          </a:xfrm>
          <a:prstGeom prst="rect">
            <a:avLst/>
          </a:prstGeom>
          <a:solidFill>
            <a:srgbClr val="70BD92"/>
          </a:solidFill>
          <a:ln w="0">
            <a:noFill/>
            <a:prstDash val="solid"/>
          </a:ln>
        </p:spPr>
      </p:sp>
      <p:sp>
        <p:nvSpPr>
          <p:cNvPr id="102" name="svg_text_102"/>
          <p:cNvSpPr>
            <a:spLocks noGrp="1"/>
          </p:cNvSpPr>
          <p:nvPr/>
        </p:nvSpPr>
        <p:spPr>
          <a:xfrm>
            <a:off x="12110847" y="4828032"/>
            <a:ext cx="35280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i₃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3" name="svg_rect_103"/>
          <p:cNvSpPr>
            <a:spLocks noGrp="1"/>
          </p:cNvSpPr>
          <p:nvPr/>
        </p:nvSpPr>
        <p:spPr>
          <a:xfrm>
            <a:off x="11953875" y="5086350"/>
            <a:ext cx="666750" cy="152400"/>
          </a:xfrm>
          <a:prstGeom prst="rect">
            <a:avLst/>
          </a:prstGeom>
          <a:solidFill>
            <a:srgbClr val="8588E8"/>
          </a:solidFill>
          <a:ln w="0">
            <a:noFill/>
            <a:prstDash val="solid"/>
          </a:ln>
        </p:spPr>
      </p:sp>
      <p:sp>
        <p:nvSpPr>
          <p:cNvPr id="104" name="svg_path_104"/>
          <p:cNvSpPr>
            <a:spLocks noGrp="1"/>
          </p:cNvSpPr>
          <p:nvPr/>
        </p:nvSpPr>
        <p:spPr>
          <a:xfrm>
            <a:off x="12792075" y="4476750"/>
            <a:ext cx="257175" cy="9525"/>
          </a:xfrm>
          <a:custGeom>
            <a:avLst/>
            <a:gdLst/>
            <a:ahLst/>
            <a:cxnLst/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105" name="svg_arrowhead_105"/>
          <p:cNvSpPr>
            <a:spLocks noGrp="1"/>
          </p:cNvSpPr>
          <p:nvPr/>
        </p:nvSpPr>
        <p:spPr>
          <a:xfrm>
            <a:off x="12944475" y="44243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06" name="svg_rect_106"/>
          <p:cNvSpPr>
            <a:spLocks noGrp="1"/>
          </p:cNvSpPr>
          <p:nvPr/>
        </p:nvSpPr>
        <p:spPr>
          <a:xfrm>
            <a:off x="13049250" y="3905250"/>
            <a:ext cx="1190625" cy="1143000"/>
          </a:xfrm>
          <a:prstGeom prst="roundRect">
            <a:avLst>
              <a:gd name="adj" fmla="val 6667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107" name="svg_text_107"/>
          <p:cNvSpPr>
            <a:spLocks noGrp="1"/>
          </p:cNvSpPr>
          <p:nvPr/>
        </p:nvSpPr>
        <p:spPr>
          <a:xfrm>
            <a:off x="12838366" y="4035171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Index Packing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8" name="svg_text_108"/>
          <p:cNvSpPr>
            <a:spLocks noGrp="1"/>
          </p:cNvSpPr>
          <p:nvPr/>
        </p:nvSpPr>
        <p:spPr>
          <a:xfrm>
            <a:off x="13418058" y="4294632"/>
            <a:ext cx="44348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and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9" name="svg_text_109"/>
          <p:cNvSpPr>
            <a:spLocks noGrp="1"/>
          </p:cNvSpPr>
          <p:nvPr/>
        </p:nvSpPr>
        <p:spPr>
          <a:xfrm>
            <a:off x="12838366" y="4492371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Packetization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0" name="svg_text_110"/>
          <p:cNvSpPr>
            <a:spLocks noGrp="1"/>
          </p:cNvSpPr>
          <p:nvPr/>
        </p:nvSpPr>
        <p:spPr>
          <a:xfrm>
            <a:off x="12692634" y="4780407"/>
            <a:ext cx="189433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× 10 bits × 50 Hz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1" name="svg_path_111"/>
          <p:cNvSpPr>
            <a:spLocks noGrp="1"/>
          </p:cNvSpPr>
          <p:nvPr/>
        </p:nvSpPr>
        <p:spPr>
          <a:xfrm>
            <a:off x="14239875" y="4476750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112" name="svg_arrowhead_112"/>
          <p:cNvSpPr>
            <a:spLocks noGrp="1"/>
          </p:cNvSpPr>
          <p:nvPr/>
        </p:nvSpPr>
        <p:spPr>
          <a:xfrm>
            <a:off x="14373225" y="44243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13" name="svg_rect_113"/>
          <p:cNvSpPr>
            <a:spLocks noGrp="1"/>
          </p:cNvSpPr>
          <p:nvPr/>
        </p:nvSpPr>
        <p:spPr>
          <a:xfrm>
            <a:off x="14478000" y="3905250"/>
            <a:ext cx="857250" cy="114300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114" name="svg_text_114"/>
          <p:cNvSpPr>
            <a:spLocks noGrp="1"/>
          </p:cNvSpPr>
          <p:nvPr/>
        </p:nvSpPr>
        <p:spPr>
          <a:xfrm>
            <a:off x="14380464" y="4130421"/>
            <a:ext cx="1052322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Discrete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5" name="svg_text_115"/>
          <p:cNvSpPr>
            <a:spLocks noGrp="1"/>
          </p:cNvSpPr>
          <p:nvPr/>
        </p:nvSpPr>
        <p:spPr>
          <a:xfrm>
            <a:off x="14325410" y="4378071"/>
            <a:ext cx="116243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Bitstream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6" name="svg_path_116"/>
          <p:cNvSpPr>
            <a:spLocks noGrp="1"/>
          </p:cNvSpPr>
          <p:nvPr/>
        </p:nvSpPr>
        <p:spPr>
          <a:xfrm>
            <a:off x="15335250" y="4476750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117" name="svg_arrowhead_117"/>
          <p:cNvSpPr>
            <a:spLocks noGrp="1"/>
          </p:cNvSpPr>
          <p:nvPr/>
        </p:nvSpPr>
        <p:spPr>
          <a:xfrm>
            <a:off x="15468600" y="44243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18" name="svg_rect_118"/>
          <p:cNvSpPr>
            <a:spLocks noGrp="1"/>
          </p:cNvSpPr>
          <p:nvPr/>
        </p:nvSpPr>
        <p:spPr>
          <a:xfrm>
            <a:off x="15573375" y="3905250"/>
            <a:ext cx="666750" cy="114300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119" name="svg_text_119"/>
          <p:cNvSpPr>
            <a:spLocks noGrp="1"/>
          </p:cNvSpPr>
          <p:nvPr/>
        </p:nvSpPr>
        <p:spPr>
          <a:xfrm>
            <a:off x="15545753" y="4187571"/>
            <a:ext cx="721995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Comm.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0" name="svg_text_120"/>
          <p:cNvSpPr>
            <a:spLocks noGrp="1"/>
          </p:cNvSpPr>
          <p:nvPr/>
        </p:nvSpPr>
        <p:spPr>
          <a:xfrm>
            <a:off x="15435644" y="4435221"/>
            <a:ext cx="942213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Channel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1" name="svg_text_121"/>
          <p:cNvSpPr>
            <a:spLocks noGrp="1"/>
          </p:cNvSpPr>
          <p:nvPr/>
        </p:nvSpPr>
        <p:spPr>
          <a:xfrm>
            <a:off x="12099227" y="5349621"/>
            <a:ext cx="380504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Nominal Index Payload: 1.5 kbit/s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2" name="svg_rect_122"/>
          <p:cNvSpPr>
            <a:spLocks noGrp="1"/>
          </p:cNvSpPr>
          <p:nvPr/>
        </p:nvSpPr>
        <p:spPr>
          <a:xfrm>
            <a:off x="12477750" y="5734050"/>
            <a:ext cx="3048000" cy="400050"/>
          </a:xfrm>
          <a:prstGeom prst="roundRect">
            <a:avLst>
              <a:gd name="adj" fmla="val 21429"/>
            </a:avLst>
          </a:prstGeom>
          <a:solidFill>
            <a:srgbClr val="ECF6FF"/>
          </a:solidFill>
          <a:ln w="14288">
            <a:solidFill>
              <a:srgbClr val="78AFE0"/>
            </a:solidFill>
            <a:prstDash val="solid"/>
          </a:ln>
        </p:spPr>
      </p:sp>
      <p:sp>
        <p:nvSpPr>
          <p:cNvPr id="123" name="svg_text_123"/>
          <p:cNvSpPr>
            <a:spLocks noGrp="1"/>
          </p:cNvSpPr>
          <p:nvPr/>
        </p:nvSpPr>
        <p:spPr>
          <a:xfrm>
            <a:off x="11879008" y="5825871"/>
            <a:ext cx="4245483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ONLY DISCRETE INDICES ARE TRANSMITTED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4" name="svg_rect_124"/>
          <p:cNvSpPr>
            <a:spLocks noGrp="1"/>
          </p:cNvSpPr>
          <p:nvPr/>
        </p:nvSpPr>
        <p:spPr>
          <a:xfrm>
            <a:off x="16668750" y="2619375"/>
            <a:ext cx="6000750" cy="3667125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7DB5E8"/>
            </a:solidFill>
            <a:prstDash val="dash"/>
          </a:ln>
        </p:spPr>
      </p:sp>
      <p:sp>
        <p:nvSpPr>
          <p:cNvPr id="125" name="svg_circle_125"/>
          <p:cNvSpPr>
            <a:spLocks noGrp="1"/>
          </p:cNvSpPr>
          <p:nvPr/>
        </p:nvSpPr>
        <p:spPr>
          <a:xfrm>
            <a:off x="16735425" y="2686050"/>
            <a:ext cx="533400" cy="533400"/>
          </a:xfrm>
          <a:prstGeom prst="ellipse">
            <a:avLst/>
          </a:prstGeom>
          <a:solidFill>
            <a:srgbClr val="080B0E"/>
          </a:solidFill>
          <a:ln w="0">
            <a:noFill/>
            <a:prstDash val="solid"/>
          </a:ln>
        </p:spPr>
      </p:sp>
      <p:sp>
        <p:nvSpPr>
          <p:cNvPr id="126" name="svg_text_126"/>
          <p:cNvSpPr>
            <a:spLocks noGrp="1"/>
          </p:cNvSpPr>
          <p:nvPr/>
        </p:nvSpPr>
        <p:spPr>
          <a:xfrm>
            <a:off x="16719233" y="2753439"/>
            <a:ext cx="565785" cy="39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202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7" name="svg_text_127"/>
          <p:cNvSpPr>
            <a:spLocks noGrp="1"/>
          </p:cNvSpPr>
          <p:nvPr/>
        </p:nvSpPr>
        <p:spPr>
          <a:xfrm>
            <a:off x="17383125" y="2669286"/>
            <a:ext cx="4446270" cy="3248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SHARED-CODEBOOK RECONSTRUCTION</a:t>
            </a:r>
            <a:endParaRPr sz="1650" b="1" i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8" name="svg_text_128"/>
          <p:cNvSpPr>
            <a:spLocks noGrp="1"/>
          </p:cNvSpPr>
          <p:nvPr/>
        </p:nvSpPr>
        <p:spPr>
          <a:xfrm>
            <a:off x="17383125" y="2916936"/>
            <a:ext cx="1881378" cy="3248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AND DECODING</a:t>
            </a:r>
            <a:endParaRPr sz="1650" b="1" i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9" name="svg_rect_129"/>
          <p:cNvSpPr>
            <a:spLocks noGrp="1"/>
          </p:cNvSpPr>
          <p:nvPr/>
        </p:nvSpPr>
        <p:spPr>
          <a:xfrm>
            <a:off x="16906875" y="3952875"/>
            <a:ext cx="714375" cy="1190625"/>
          </a:xfrm>
          <a:prstGeom prst="roundRect">
            <a:avLst>
              <a:gd name="adj" fmla="val 10667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130" name="svg_text_130"/>
          <p:cNvSpPr>
            <a:spLocks noGrp="1"/>
          </p:cNvSpPr>
          <p:nvPr/>
        </p:nvSpPr>
        <p:spPr>
          <a:xfrm>
            <a:off x="16810863" y="3665982"/>
            <a:ext cx="89687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Received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1" name="svg_rect_131"/>
          <p:cNvSpPr>
            <a:spLocks noGrp="1"/>
          </p:cNvSpPr>
          <p:nvPr/>
        </p:nvSpPr>
        <p:spPr>
          <a:xfrm>
            <a:off x="17049750" y="4143375"/>
            <a:ext cx="428625" cy="142875"/>
          </a:xfrm>
          <a:prstGeom prst="rect">
            <a:avLst/>
          </a:prstGeom>
          <a:solidFill>
            <a:srgbClr val="FB923C"/>
          </a:solidFill>
          <a:ln w="0">
            <a:noFill/>
            <a:prstDash val="solid"/>
          </a:ln>
        </p:spPr>
      </p:sp>
      <p:sp>
        <p:nvSpPr>
          <p:cNvPr id="132" name="svg_rect_132"/>
          <p:cNvSpPr>
            <a:spLocks noGrp="1"/>
          </p:cNvSpPr>
          <p:nvPr/>
        </p:nvSpPr>
        <p:spPr>
          <a:xfrm>
            <a:off x="17049750" y="4457700"/>
            <a:ext cx="428625" cy="142875"/>
          </a:xfrm>
          <a:prstGeom prst="rect">
            <a:avLst/>
          </a:prstGeom>
          <a:solidFill>
            <a:srgbClr val="70BD92"/>
          </a:solidFill>
          <a:ln w="0">
            <a:noFill/>
            <a:prstDash val="solid"/>
          </a:ln>
        </p:spPr>
      </p:sp>
      <p:sp>
        <p:nvSpPr>
          <p:cNvPr id="133" name="svg_rect_133"/>
          <p:cNvSpPr>
            <a:spLocks noGrp="1"/>
          </p:cNvSpPr>
          <p:nvPr/>
        </p:nvSpPr>
        <p:spPr>
          <a:xfrm>
            <a:off x="17049750" y="4772025"/>
            <a:ext cx="428625" cy="142875"/>
          </a:xfrm>
          <a:prstGeom prst="rect">
            <a:avLst/>
          </a:prstGeom>
          <a:solidFill>
            <a:srgbClr val="8588E8"/>
          </a:solidFill>
          <a:ln w="0">
            <a:noFill/>
            <a:prstDash val="solid"/>
          </a:ln>
        </p:spPr>
      </p:sp>
      <p:sp>
        <p:nvSpPr>
          <p:cNvPr id="134" name="svg_path_134"/>
          <p:cNvSpPr>
            <a:spLocks noGrp="1"/>
          </p:cNvSpPr>
          <p:nvPr/>
        </p:nvSpPr>
        <p:spPr>
          <a:xfrm>
            <a:off x="17621250" y="4238625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135" name="svg_arrowhead_135"/>
          <p:cNvSpPr>
            <a:spLocks noGrp="1"/>
          </p:cNvSpPr>
          <p:nvPr/>
        </p:nvSpPr>
        <p:spPr>
          <a:xfrm>
            <a:off x="17754600" y="41862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36" name="svg_path_136"/>
          <p:cNvSpPr>
            <a:spLocks noGrp="1"/>
          </p:cNvSpPr>
          <p:nvPr/>
        </p:nvSpPr>
        <p:spPr>
          <a:xfrm>
            <a:off x="17621250" y="4543425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137" name="svg_arrowhead_137"/>
          <p:cNvSpPr>
            <a:spLocks noGrp="1"/>
          </p:cNvSpPr>
          <p:nvPr/>
        </p:nvSpPr>
        <p:spPr>
          <a:xfrm>
            <a:off x="17754600" y="44910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38" name="svg_path_138"/>
          <p:cNvSpPr>
            <a:spLocks noGrp="1"/>
          </p:cNvSpPr>
          <p:nvPr/>
        </p:nvSpPr>
        <p:spPr>
          <a:xfrm>
            <a:off x="17621250" y="4857750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139" name="svg_arrowhead_139"/>
          <p:cNvSpPr>
            <a:spLocks noGrp="1"/>
          </p:cNvSpPr>
          <p:nvPr/>
        </p:nvSpPr>
        <p:spPr>
          <a:xfrm>
            <a:off x="17754600" y="48053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40" name="svg_rect_140"/>
          <p:cNvSpPr>
            <a:spLocks noGrp="1"/>
          </p:cNvSpPr>
          <p:nvPr/>
        </p:nvSpPr>
        <p:spPr>
          <a:xfrm>
            <a:off x="17859375" y="3857625"/>
            <a:ext cx="1285875" cy="66675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9525">
            <a:solidFill>
              <a:srgbClr val="EF8D32"/>
            </a:solidFill>
            <a:prstDash val="solid"/>
          </a:ln>
        </p:spPr>
      </p:sp>
      <p:sp>
        <p:nvSpPr>
          <p:cNvPr id="141" name="svg_text_141"/>
          <p:cNvSpPr>
            <a:spLocks noGrp="1"/>
          </p:cNvSpPr>
          <p:nvPr/>
        </p:nvSpPr>
        <p:spPr>
          <a:xfrm>
            <a:off x="18023205" y="3924681"/>
            <a:ext cx="94869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Pre-Shared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2" name="svg_text_142"/>
          <p:cNvSpPr>
            <a:spLocks noGrp="1"/>
          </p:cNvSpPr>
          <p:nvPr/>
        </p:nvSpPr>
        <p:spPr>
          <a:xfrm>
            <a:off x="17984343" y="4086606"/>
            <a:ext cx="102641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Codebook C1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3" name="svg_text_143"/>
          <p:cNvSpPr>
            <a:spLocks noGrp="1"/>
          </p:cNvSpPr>
          <p:nvPr/>
        </p:nvSpPr>
        <p:spPr>
          <a:xfrm>
            <a:off x="18026444" y="4263771"/>
            <a:ext cx="942213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i₁ → q₁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44" name="svg_rect_144"/>
          <p:cNvSpPr>
            <a:spLocks noGrp="1"/>
          </p:cNvSpPr>
          <p:nvPr/>
        </p:nvSpPr>
        <p:spPr>
          <a:xfrm>
            <a:off x="17859375" y="4572000"/>
            <a:ext cx="1285875" cy="666750"/>
          </a:xfrm>
          <a:prstGeom prst="roundRect">
            <a:avLst>
              <a:gd name="adj" fmla="val 10000"/>
            </a:avLst>
          </a:prstGeom>
          <a:solidFill>
            <a:srgbClr val="EFFAF4"/>
          </a:solidFill>
          <a:ln w="9525">
            <a:solidFill>
              <a:srgbClr val="4CA873"/>
            </a:solidFill>
            <a:prstDash val="solid"/>
          </a:ln>
        </p:spPr>
      </p:sp>
      <p:sp>
        <p:nvSpPr>
          <p:cNvPr id="145" name="svg_text_145"/>
          <p:cNvSpPr>
            <a:spLocks noGrp="1"/>
          </p:cNvSpPr>
          <p:nvPr/>
        </p:nvSpPr>
        <p:spPr>
          <a:xfrm>
            <a:off x="18023205" y="4639056"/>
            <a:ext cx="94869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Pre-Shared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6" name="svg_text_146"/>
          <p:cNvSpPr>
            <a:spLocks noGrp="1"/>
          </p:cNvSpPr>
          <p:nvPr/>
        </p:nvSpPr>
        <p:spPr>
          <a:xfrm>
            <a:off x="17984343" y="4800981"/>
            <a:ext cx="102641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Codebook C2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7" name="svg_text_147"/>
          <p:cNvSpPr>
            <a:spLocks noGrp="1"/>
          </p:cNvSpPr>
          <p:nvPr/>
        </p:nvSpPr>
        <p:spPr>
          <a:xfrm>
            <a:off x="18026444" y="4978146"/>
            <a:ext cx="942213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i₂ → q₂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48" name="svg_rect_148"/>
          <p:cNvSpPr>
            <a:spLocks noGrp="1"/>
          </p:cNvSpPr>
          <p:nvPr/>
        </p:nvSpPr>
        <p:spPr>
          <a:xfrm>
            <a:off x="17859375" y="5286375"/>
            <a:ext cx="1285875" cy="666750"/>
          </a:xfrm>
          <a:prstGeom prst="roundRect">
            <a:avLst>
              <a:gd name="adj" fmla="val 10000"/>
            </a:avLst>
          </a:prstGeom>
          <a:solidFill>
            <a:srgbClr val="F4F2FF"/>
          </a:solidFill>
          <a:ln w="9525">
            <a:solidFill>
              <a:srgbClr val="7374D8"/>
            </a:solidFill>
            <a:prstDash val="solid"/>
          </a:ln>
        </p:spPr>
      </p:sp>
      <p:sp>
        <p:nvSpPr>
          <p:cNvPr id="149" name="svg_text_149"/>
          <p:cNvSpPr>
            <a:spLocks noGrp="1"/>
          </p:cNvSpPr>
          <p:nvPr/>
        </p:nvSpPr>
        <p:spPr>
          <a:xfrm>
            <a:off x="18023205" y="5353431"/>
            <a:ext cx="94869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Pre-Shared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0" name="svg_text_150"/>
          <p:cNvSpPr>
            <a:spLocks noGrp="1"/>
          </p:cNvSpPr>
          <p:nvPr/>
        </p:nvSpPr>
        <p:spPr>
          <a:xfrm>
            <a:off x="17984343" y="5515356"/>
            <a:ext cx="102641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Codebook C3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1" name="svg_text_151"/>
          <p:cNvSpPr>
            <a:spLocks noGrp="1"/>
          </p:cNvSpPr>
          <p:nvPr/>
        </p:nvSpPr>
        <p:spPr>
          <a:xfrm>
            <a:off x="18026444" y="5692521"/>
            <a:ext cx="942213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i₃ → q₃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52" name="svg_path_152"/>
          <p:cNvSpPr>
            <a:spLocks noGrp="1"/>
          </p:cNvSpPr>
          <p:nvPr/>
        </p:nvSpPr>
        <p:spPr>
          <a:xfrm>
            <a:off x="19145250" y="4191000"/>
            <a:ext cx="285750" cy="619125"/>
          </a:xfrm>
          <a:custGeom>
            <a:avLst/>
            <a:gdLst/>
            <a:ahLst/>
            <a:cxnLst/>
            <a:pathLst>
              <a:path w="285750" h="619125">
                <a:moveTo>
                  <a:pt x="0" y="0"/>
                </a:moveTo>
                <a:lnTo>
                  <a:pt x="285750" y="0"/>
                </a:lnTo>
                <a:lnTo>
                  <a:pt x="285750" y="619125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153" name="svg_arrowhead_153"/>
          <p:cNvSpPr>
            <a:spLocks noGrp="1"/>
          </p:cNvSpPr>
          <p:nvPr/>
        </p:nvSpPr>
        <p:spPr>
          <a:xfrm>
            <a:off x="19378613" y="4705350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54" name="svg_path_154"/>
          <p:cNvSpPr>
            <a:spLocks noGrp="1"/>
          </p:cNvSpPr>
          <p:nvPr/>
        </p:nvSpPr>
        <p:spPr>
          <a:xfrm>
            <a:off x="19145250" y="4905375"/>
            <a:ext cx="285750" cy="9525"/>
          </a:xfrm>
          <a:custGeom>
            <a:avLst/>
            <a:gdLst/>
            <a:ahLst/>
            <a:cxnLst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155" name="svg_arrowhead_155"/>
          <p:cNvSpPr>
            <a:spLocks noGrp="1"/>
          </p:cNvSpPr>
          <p:nvPr/>
        </p:nvSpPr>
        <p:spPr>
          <a:xfrm>
            <a:off x="19326225" y="485298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56" name="svg_path_156"/>
          <p:cNvSpPr>
            <a:spLocks noGrp="1"/>
          </p:cNvSpPr>
          <p:nvPr/>
        </p:nvSpPr>
        <p:spPr>
          <a:xfrm>
            <a:off x="19145250" y="5000625"/>
            <a:ext cx="285750" cy="619125"/>
          </a:xfrm>
          <a:custGeom>
            <a:avLst/>
            <a:gdLst/>
            <a:ahLst/>
            <a:cxnLst/>
            <a:pathLst>
              <a:path w="285750" h="619125">
                <a:moveTo>
                  <a:pt x="0" y="619125"/>
                </a:moveTo>
                <a:lnTo>
                  <a:pt x="285750" y="619125"/>
                </a:lnTo>
                <a:lnTo>
                  <a:pt x="285750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157" name="svg_arrowhead_157"/>
          <p:cNvSpPr>
            <a:spLocks noGrp="1"/>
          </p:cNvSpPr>
          <p:nvPr/>
        </p:nvSpPr>
        <p:spPr>
          <a:xfrm>
            <a:off x="19378613" y="500062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58" name="svg_circle_158"/>
          <p:cNvSpPr>
            <a:spLocks noGrp="1"/>
          </p:cNvSpPr>
          <p:nvPr/>
        </p:nvSpPr>
        <p:spPr>
          <a:xfrm>
            <a:off x="19335750" y="4667250"/>
            <a:ext cx="476250" cy="476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668D2"/>
            </a:solidFill>
            <a:prstDash val="solid"/>
          </a:ln>
        </p:spPr>
      </p:sp>
      <p:sp>
        <p:nvSpPr>
          <p:cNvPr id="159" name="svg_text_159"/>
          <p:cNvSpPr>
            <a:spLocks noGrp="1"/>
          </p:cNvSpPr>
          <p:nvPr/>
        </p:nvSpPr>
        <p:spPr>
          <a:xfrm>
            <a:off x="19249073" y="4681728"/>
            <a:ext cx="649605" cy="4576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325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325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</a:t>
            </a:r>
            <a:endParaRPr sz="2325" b="0" i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0" name="svg_text_160"/>
          <p:cNvSpPr>
            <a:spLocks noGrp="1"/>
          </p:cNvSpPr>
          <p:nvPr/>
        </p:nvSpPr>
        <p:spPr>
          <a:xfrm>
            <a:off x="18827496" y="3463671"/>
            <a:ext cx="1492758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q₁ + q₂ + q₃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61" name="svg_path_161"/>
          <p:cNvSpPr>
            <a:spLocks noGrp="1"/>
          </p:cNvSpPr>
          <p:nvPr/>
        </p:nvSpPr>
        <p:spPr>
          <a:xfrm>
            <a:off x="19812000" y="4905375"/>
            <a:ext cx="285750" cy="9525"/>
          </a:xfrm>
          <a:custGeom>
            <a:avLst/>
            <a:gdLst/>
            <a:ahLst/>
            <a:cxnLst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162" name="svg_arrowhead_162"/>
          <p:cNvSpPr>
            <a:spLocks noGrp="1"/>
          </p:cNvSpPr>
          <p:nvPr/>
        </p:nvSpPr>
        <p:spPr>
          <a:xfrm>
            <a:off x="19992975" y="485298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63" name="svg_rect_163"/>
          <p:cNvSpPr>
            <a:spLocks noGrp="1"/>
          </p:cNvSpPr>
          <p:nvPr/>
        </p:nvSpPr>
        <p:spPr>
          <a:xfrm>
            <a:off x="20097750" y="4381500"/>
            <a:ext cx="904875" cy="1047750"/>
          </a:xfrm>
          <a:prstGeom prst="roundRect">
            <a:avLst>
              <a:gd name="adj" fmla="val 8421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164" name="svg_text_164"/>
          <p:cNvSpPr>
            <a:spLocks noGrp="1"/>
          </p:cNvSpPr>
          <p:nvPr/>
        </p:nvSpPr>
        <p:spPr>
          <a:xfrm>
            <a:off x="19964210" y="4492371"/>
            <a:ext cx="116243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Recovered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5" name="svg_text_165"/>
          <p:cNvSpPr>
            <a:spLocks noGrp="1"/>
          </p:cNvSpPr>
          <p:nvPr/>
        </p:nvSpPr>
        <p:spPr>
          <a:xfrm>
            <a:off x="19964210" y="4730496"/>
            <a:ext cx="116243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Latent zq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6" name="svg_text_166"/>
          <p:cNvSpPr>
            <a:spLocks noGrp="1"/>
          </p:cNvSpPr>
          <p:nvPr/>
        </p:nvSpPr>
        <p:spPr>
          <a:xfrm>
            <a:off x="19993356" y="5020056"/>
            <a:ext cx="1104138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using shared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7" name="svg_text_167"/>
          <p:cNvSpPr>
            <a:spLocks noGrp="1"/>
          </p:cNvSpPr>
          <p:nvPr/>
        </p:nvSpPr>
        <p:spPr>
          <a:xfrm>
            <a:off x="20109942" y="5181981"/>
            <a:ext cx="87096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codebooks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8" name="svg_path_168"/>
          <p:cNvSpPr>
            <a:spLocks noGrp="1"/>
          </p:cNvSpPr>
          <p:nvPr/>
        </p:nvSpPr>
        <p:spPr>
          <a:xfrm>
            <a:off x="21002625" y="4905375"/>
            <a:ext cx="285750" cy="9525"/>
          </a:xfrm>
          <a:custGeom>
            <a:avLst/>
            <a:gdLst/>
            <a:ahLst/>
            <a:cxnLst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169" name="svg_arrowhead_169"/>
          <p:cNvSpPr>
            <a:spLocks noGrp="1"/>
          </p:cNvSpPr>
          <p:nvPr/>
        </p:nvSpPr>
        <p:spPr>
          <a:xfrm>
            <a:off x="21183600" y="485298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70" name="svg_rect_170"/>
          <p:cNvSpPr>
            <a:spLocks noGrp="1"/>
          </p:cNvSpPr>
          <p:nvPr/>
        </p:nvSpPr>
        <p:spPr>
          <a:xfrm>
            <a:off x="21288375" y="4381500"/>
            <a:ext cx="904875" cy="1047750"/>
          </a:xfrm>
          <a:prstGeom prst="roundRect">
            <a:avLst>
              <a:gd name="adj" fmla="val 8421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171" name="svg_text_171"/>
          <p:cNvSpPr>
            <a:spLocks noGrp="1"/>
          </p:cNvSpPr>
          <p:nvPr/>
        </p:nvSpPr>
        <p:spPr>
          <a:xfrm>
            <a:off x="21319998" y="4549521"/>
            <a:ext cx="832104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SEANet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2" name="svg_text_172"/>
          <p:cNvSpPr>
            <a:spLocks noGrp="1"/>
          </p:cNvSpPr>
          <p:nvPr/>
        </p:nvSpPr>
        <p:spPr>
          <a:xfrm>
            <a:off x="21264944" y="4797171"/>
            <a:ext cx="942213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Decoder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3" name="svg_path_173"/>
          <p:cNvSpPr>
            <a:spLocks noGrp="1"/>
          </p:cNvSpPr>
          <p:nvPr/>
        </p:nvSpPr>
        <p:spPr>
          <a:xfrm>
            <a:off x="22193250" y="4905375"/>
            <a:ext cx="190500" cy="9525"/>
          </a:xfrm>
          <a:custGeom>
            <a:avLst/>
            <a:gdLst/>
            <a:ahLst/>
            <a:cxnLst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174" name="svg_arrowhead_174"/>
          <p:cNvSpPr>
            <a:spLocks noGrp="1"/>
          </p:cNvSpPr>
          <p:nvPr/>
        </p:nvSpPr>
        <p:spPr>
          <a:xfrm>
            <a:off x="22278975" y="485298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75" name="svg_text_175"/>
          <p:cNvSpPr>
            <a:spLocks noGrp="1"/>
          </p:cNvSpPr>
          <p:nvPr/>
        </p:nvSpPr>
        <p:spPr>
          <a:xfrm>
            <a:off x="21060918" y="5570982"/>
            <a:ext cx="135026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Reconstructed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6" name="svg_text_176"/>
          <p:cNvSpPr>
            <a:spLocks noGrp="1"/>
          </p:cNvSpPr>
          <p:nvPr/>
        </p:nvSpPr>
        <p:spPr>
          <a:xfrm>
            <a:off x="20970240" y="5761482"/>
            <a:ext cx="153162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Speech output →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7" name="svg_rect_177"/>
          <p:cNvSpPr>
            <a:spLocks noGrp="1"/>
          </p:cNvSpPr>
          <p:nvPr/>
        </p:nvSpPr>
        <p:spPr>
          <a:xfrm>
            <a:off x="17811750" y="5981700"/>
            <a:ext cx="3905250" cy="266700"/>
          </a:xfrm>
          <a:prstGeom prst="roundRect">
            <a:avLst>
              <a:gd name="adj" fmla="val 32143"/>
            </a:avLst>
          </a:prstGeom>
          <a:solidFill>
            <a:srgbClr val="ECF6FF"/>
          </a:solidFill>
          <a:ln w="14288">
            <a:solidFill>
              <a:srgbClr val="78AFE0"/>
            </a:solidFill>
            <a:prstDash val="solid"/>
          </a:ln>
        </p:spPr>
      </p:sp>
      <p:sp>
        <p:nvSpPr>
          <p:cNvPr id="178" name="svg_text_178"/>
          <p:cNvSpPr>
            <a:spLocks noGrp="1"/>
          </p:cNvSpPr>
          <p:nvPr/>
        </p:nvSpPr>
        <p:spPr>
          <a:xfrm>
            <a:off x="17463516" y="6039231"/>
            <a:ext cx="4601718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Codebooks and decoder are pre-deployed; never transmitted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9" name="svg_rect_179"/>
          <p:cNvSpPr>
            <a:spLocks noGrp="1"/>
          </p:cNvSpPr>
          <p:nvPr/>
        </p:nvSpPr>
        <p:spPr>
          <a:xfrm>
            <a:off x="190500" y="6477000"/>
            <a:ext cx="16287750" cy="66675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9050">
            <a:solidFill>
              <a:srgbClr val="7DB5E8"/>
            </a:solidFill>
            <a:prstDash val="dash"/>
          </a:ln>
        </p:spPr>
      </p:sp>
      <p:sp>
        <p:nvSpPr>
          <p:cNvPr id="180" name="svg_circle_180"/>
          <p:cNvSpPr>
            <a:spLocks noGrp="1"/>
          </p:cNvSpPr>
          <p:nvPr/>
        </p:nvSpPr>
        <p:spPr>
          <a:xfrm>
            <a:off x="257175" y="6543675"/>
            <a:ext cx="533400" cy="533400"/>
          </a:xfrm>
          <a:prstGeom prst="ellipse">
            <a:avLst/>
          </a:prstGeom>
          <a:solidFill>
            <a:srgbClr val="080B0E"/>
          </a:solidFill>
          <a:ln w="0">
            <a:noFill/>
            <a:prstDash val="solid"/>
          </a:ln>
        </p:spPr>
      </p:sp>
      <p:sp>
        <p:nvSpPr>
          <p:cNvPr id="181" name="svg_text_181"/>
          <p:cNvSpPr>
            <a:spLocks noGrp="1"/>
          </p:cNvSpPr>
          <p:nvPr/>
        </p:nvSpPr>
        <p:spPr>
          <a:xfrm>
            <a:off x="240982" y="6611064"/>
            <a:ext cx="565785" cy="39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202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2" name="svg_text_182"/>
          <p:cNvSpPr>
            <a:spLocks noGrp="1"/>
          </p:cNvSpPr>
          <p:nvPr/>
        </p:nvSpPr>
        <p:spPr>
          <a:xfrm>
            <a:off x="904875" y="6619113"/>
            <a:ext cx="8591550" cy="38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0F172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 i="0">
                <a:solidFill>
                  <a:srgbClr val="0F172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ADVERSARIAL TRAINING AND CHANNEL-AWARE FINE-TUNING</a:t>
            </a:r>
            <a:endParaRPr sz="1950" b="1" i="0">
              <a:solidFill>
                <a:srgbClr val="0F172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3" name="svg_rect_183"/>
          <p:cNvSpPr>
            <a:spLocks noGrp="1"/>
          </p:cNvSpPr>
          <p:nvPr/>
        </p:nvSpPr>
        <p:spPr>
          <a:xfrm>
            <a:off x="14382750" y="6610350"/>
            <a:ext cx="1762125" cy="381000"/>
          </a:xfrm>
          <a:prstGeom prst="roundRect">
            <a:avLst>
              <a:gd name="adj" fmla="val 22500"/>
            </a:avLst>
          </a:prstGeom>
          <a:solidFill>
            <a:srgbClr val="ECF6FF"/>
          </a:solidFill>
          <a:ln w="14288">
            <a:solidFill>
              <a:srgbClr val="78AFE0"/>
            </a:solidFill>
            <a:prstDash val="solid"/>
          </a:ln>
        </p:spPr>
      </p:sp>
      <p:sp>
        <p:nvSpPr>
          <p:cNvPr id="184" name="svg_text_184"/>
          <p:cNvSpPr>
            <a:spLocks noGrp="1"/>
          </p:cNvSpPr>
          <p:nvPr/>
        </p:nvSpPr>
        <p:spPr>
          <a:xfrm>
            <a:off x="14457616" y="6683121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TRAINING ONLY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5" name="svg_rect_185"/>
          <p:cNvSpPr>
            <a:spLocks noGrp="1"/>
          </p:cNvSpPr>
          <p:nvPr/>
        </p:nvSpPr>
        <p:spPr>
          <a:xfrm>
            <a:off x="333375" y="7143750"/>
            <a:ext cx="9048750" cy="5810250"/>
          </a:xfrm>
          <a:prstGeom prst="roundRect">
            <a:avLst>
              <a:gd name="adj" fmla="val 1639"/>
            </a:avLst>
          </a:prstGeom>
          <a:solidFill>
            <a:srgbClr val="FBFDFF"/>
          </a:solidFill>
          <a:ln w="15240">
            <a:solidFill>
              <a:srgbClr val="A8CBEA"/>
            </a:solidFill>
            <a:prstDash val="dash"/>
          </a:ln>
        </p:spPr>
      </p:sp>
      <p:sp>
        <p:nvSpPr>
          <p:cNvPr id="186" name="svg_rect_186"/>
          <p:cNvSpPr>
            <a:spLocks noGrp="1"/>
          </p:cNvSpPr>
          <p:nvPr/>
        </p:nvSpPr>
        <p:spPr>
          <a:xfrm>
            <a:off x="476250" y="7286625"/>
            <a:ext cx="476250" cy="285750"/>
          </a:xfrm>
          <a:prstGeom prst="roundRect">
            <a:avLst>
              <a:gd name="adj" fmla="val 50000"/>
            </a:avLst>
          </a:prstGeom>
          <a:solidFill>
            <a:srgbClr val="1467B8"/>
          </a:solidFill>
          <a:ln w="0">
            <a:noFill/>
            <a:prstDash val="solid"/>
          </a:ln>
        </p:spPr>
      </p:sp>
      <p:sp>
        <p:nvSpPr>
          <p:cNvPr id="187" name="svg_text_187"/>
          <p:cNvSpPr>
            <a:spLocks noGrp="1"/>
          </p:cNvSpPr>
          <p:nvPr/>
        </p:nvSpPr>
        <p:spPr>
          <a:xfrm>
            <a:off x="518541" y="7321296"/>
            <a:ext cx="391668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5A</a:t>
            </a:r>
            <a:endParaRPr sz="12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8" name="svg_text_188"/>
          <p:cNvSpPr>
            <a:spLocks noGrp="1"/>
          </p:cNvSpPr>
          <p:nvPr/>
        </p:nvSpPr>
        <p:spPr>
          <a:xfrm>
            <a:off x="1095375" y="7308723"/>
            <a:ext cx="3571875" cy="3100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1720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i="0">
                <a:solidFill>
                  <a:srgbClr val="1720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SCIT-Speech-Base Training</a:t>
            </a:r>
            <a:endParaRPr sz="1575" b="1" i="0">
              <a:solidFill>
                <a:srgbClr val="1720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9" name="svg_rect_189"/>
          <p:cNvSpPr>
            <a:spLocks noGrp="1"/>
          </p:cNvSpPr>
          <p:nvPr/>
        </p:nvSpPr>
        <p:spPr>
          <a:xfrm>
            <a:off x="666750" y="8572500"/>
            <a:ext cx="1381125" cy="66675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190" name="svg_text_190"/>
          <p:cNvSpPr>
            <a:spLocks noGrp="1"/>
          </p:cNvSpPr>
          <p:nvPr/>
        </p:nvSpPr>
        <p:spPr>
          <a:xfrm>
            <a:off x="551117" y="8664321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Real Speech x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1" name="svg_text_191"/>
          <p:cNvSpPr>
            <a:spLocks noGrp="1"/>
          </p:cNvSpPr>
          <p:nvPr/>
        </p:nvSpPr>
        <p:spPr>
          <a:xfrm>
            <a:off x="450723" y="8923782"/>
            <a:ext cx="180365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training reference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2" name="svg_rect_192"/>
          <p:cNvSpPr>
            <a:spLocks noGrp="1"/>
          </p:cNvSpPr>
          <p:nvPr/>
        </p:nvSpPr>
        <p:spPr>
          <a:xfrm>
            <a:off x="2762250" y="8572500"/>
            <a:ext cx="2238375" cy="85725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193" name="svg_text_193"/>
          <p:cNvSpPr>
            <a:spLocks noGrp="1"/>
          </p:cNvSpPr>
          <p:nvPr/>
        </p:nvSpPr>
        <p:spPr>
          <a:xfrm>
            <a:off x="2524697" y="8683371"/>
            <a:ext cx="270395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SCIT-Speech Generator G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4" name="svg_text_194"/>
          <p:cNvSpPr>
            <a:spLocks noGrp="1"/>
          </p:cNvSpPr>
          <p:nvPr/>
        </p:nvSpPr>
        <p:spPr>
          <a:xfrm>
            <a:off x="2748153" y="8952357"/>
            <a:ext cx="225704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Encoder + RVQ + Decoder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5" name="svg_text_195"/>
          <p:cNvSpPr>
            <a:spLocks noGrp="1"/>
          </p:cNvSpPr>
          <p:nvPr/>
        </p:nvSpPr>
        <p:spPr>
          <a:xfrm>
            <a:off x="2340102" y="9171432"/>
            <a:ext cx="307314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produces reconstructed speech x̂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6" name="svg_path_196"/>
          <p:cNvSpPr>
            <a:spLocks noGrp="1"/>
          </p:cNvSpPr>
          <p:nvPr/>
        </p:nvSpPr>
        <p:spPr>
          <a:xfrm>
            <a:off x="2047875" y="8905875"/>
            <a:ext cx="714375" cy="9525"/>
          </a:xfrm>
          <a:custGeom>
            <a:avLst/>
            <a:gdLst/>
            <a:ahLst/>
            <a:cxnLst/>
            <a:pathLst>
              <a:path w="714375" h="9525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197" name="svg_arrowhead_197"/>
          <p:cNvSpPr>
            <a:spLocks noGrp="1"/>
          </p:cNvSpPr>
          <p:nvPr/>
        </p:nvSpPr>
        <p:spPr>
          <a:xfrm>
            <a:off x="2657475" y="885348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198" name="svg_rect_198"/>
          <p:cNvSpPr>
            <a:spLocks noGrp="1"/>
          </p:cNvSpPr>
          <p:nvPr/>
        </p:nvSpPr>
        <p:spPr>
          <a:xfrm>
            <a:off x="2381250" y="7620000"/>
            <a:ext cx="1809750" cy="742950"/>
          </a:xfrm>
          <a:prstGeom prst="roundRect">
            <a:avLst>
              <a:gd name="adj" fmla="val 10256"/>
            </a:avLst>
          </a:prstGeom>
          <a:solidFill>
            <a:srgbClr val="F7FBFF"/>
          </a:solidFill>
          <a:ln w="17145">
            <a:solidFill>
              <a:srgbClr val="527CA3"/>
            </a:solidFill>
            <a:prstDash val="dash"/>
          </a:ln>
        </p:spPr>
      </p:sp>
      <p:sp>
        <p:nvSpPr>
          <p:cNvPr id="199" name="svg_text_199"/>
          <p:cNvSpPr>
            <a:spLocks noGrp="1"/>
          </p:cNvSpPr>
          <p:nvPr/>
        </p:nvSpPr>
        <p:spPr>
          <a:xfrm>
            <a:off x="2484692" y="7692771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Frozen HuBERT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0" name="svg_text_200"/>
          <p:cNvSpPr>
            <a:spLocks noGrp="1"/>
          </p:cNvSpPr>
          <p:nvPr/>
        </p:nvSpPr>
        <p:spPr>
          <a:xfrm>
            <a:off x="2815019" y="7911846"/>
            <a:ext cx="942213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Teacher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1" name="svg_text_201"/>
          <p:cNvSpPr>
            <a:spLocks noGrp="1"/>
          </p:cNvSpPr>
          <p:nvPr/>
        </p:nvSpPr>
        <p:spPr>
          <a:xfrm>
            <a:off x="2617470" y="8153781"/>
            <a:ext cx="133731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teacher feature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2" name="svg_path_202"/>
          <p:cNvSpPr>
            <a:spLocks noGrp="1"/>
          </p:cNvSpPr>
          <p:nvPr/>
        </p:nvSpPr>
        <p:spPr>
          <a:xfrm>
            <a:off x="1352550" y="7991475"/>
            <a:ext cx="1028700" cy="581025"/>
          </a:xfrm>
          <a:custGeom>
            <a:avLst/>
            <a:gdLst/>
            <a:ahLst/>
            <a:cxnLst/>
            <a:pathLst>
              <a:path w="1028700" h="581025">
                <a:moveTo>
                  <a:pt x="0" y="581025"/>
                </a:moveTo>
                <a:lnTo>
                  <a:pt x="0" y="0"/>
                </a:lnTo>
                <a:lnTo>
                  <a:pt x="1028700" y="0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203" name="svg_arrowhead_203"/>
          <p:cNvSpPr>
            <a:spLocks noGrp="1"/>
          </p:cNvSpPr>
          <p:nvPr/>
        </p:nvSpPr>
        <p:spPr>
          <a:xfrm>
            <a:off x="2276475" y="793908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204" name="svg_path_204"/>
          <p:cNvSpPr>
            <a:spLocks noGrp="1"/>
          </p:cNvSpPr>
          <p:nvPr/>
        </p:nvSpPr>
        <p:spPr>
          <a:xfrm>
            <a:off x="4191000" y="7991475"/>
            <a:ext cx="476250" cy="581025"/>
          </a:xfrm>
          <a:custGeom>
            <a:avLst/>
            <a:gdLst/>
            <a:ahLst/>
            <a:cxnLst/>
            <a:pathLst>
              <a:path w="476250" h="581025">
                <a:moveTo>
                  <a:pt x="0" y="0"/>
                </a:moveTo>
                <a:lnTo>
                  <a:pt x="476250" y="0"/>
                </a:lnTo>
                <a:lnTo>
                  <a:pt x="476250" y="581025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205" name="svg_arrowhead_205"/>
          <p:cNvSpPr>
            <a:spLocks noGrp="1"/>
          </p:cNvSpPr>
          <p:nvPr/>
        </p:nvSpPr>
        <p:spPr>
          <a:xfrm>
            <a:off x="4614863" y="846772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206" name="svg_text_206"/>
          <p:cNvSpPr>
            <a:spLocks noGrp="1"/>
          </p:cNvSpPr>
          <p:nvPr/>
        </p:nvSpPr>
        <p:spPr>
          <a:xfrm>
            <a:off x="4194048" y="7687056"/>
            <a:ext cx="180365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Semantic Distillation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7" name="svg_text_207"/>
          <p:cNvSpPr>
            <a:spLocks noGrp="1"/>
          </p:cNvSpPr>
          <p:nvPr/>
        </p:nvSpPr>
        <p:spPr>
          <a:xfrm>
            <a:off x="4815840" y="7858506"/>
            <a:ext cx="56007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 Q1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8" name="svg_rect_208"/>
          <p:cNvSpPr>
            <a:spLocks noGrp="1"/>
          </p:cNvSpPr>
          <p:nvPr/>
        </p:nvSpPr>
        <p:spPr>
          <a:xfrm>
            <a:off x="5476875" y="8572500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09" name="svg_text_209"/>
          <p:cNvSpPr>
            <a:spLocks noGrp="1"/>
          </p:cNvSpPr>
          <p:nvPr/>
        </p:nvSpPr>
        <p:spPr>
          <a:xfrm>
            <a:off x="5437442" y="8664321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Reconstructed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0" name="svg_text_210"/>
          <p:cNvSpPr>
            <a:spLocks noGrp="1"/>
          </p:cNvSpPr>
          <p:nvPr/>
        </p:nvSpPr>
        <p:spPr>
          <a:xfrm>
            <a:off x="5657660" y="8892921"/>
            <a:ext cx="116243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Speech x̂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1" name="svg_path_211"/>
          <p:cNvSpPr>
            <a:spLocks noGrp="1"/>
          </p:cNvSpPr>
          <p:nvPr/>
        </p:nvSpPr>
        <p:spPr>
          <a:xfrm>
            <a:off x="5000625" y="8905875"/>
            <a:ext cx="476250" cy="9525"/>
          </a:xfrm>
          <a:custGeom>
            <a:avLst/>
            <a:gdLst/>
            <a:ahLst/>
            <a:cxnLst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212" name="svg_arrowhead_212"/>
          <p:cNvSpPr>
            <a:spLocks noGrp="1"/>
          </p:cNvSpPr>
          <p:nvPr/>
        </p:nvSpPr>
        <p:spPr>
          <a:xfrm>
            <a:off x="5372100" y="885348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13" name="svg_rect_213"/>
          <p:cNvSpPr>
            <a:spLocks noGrp="1"/>
          </p:cNvSpPr>
          <p:nvPr/>
        </p:nvSpPr>
        <p:spPr>
          <a:xfrm>
            <a:off x="5476875" y="9906000"/>
            <a:ext cx="1571625" cy="1190625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14" name="svg_text_214"/>
          <p:cNvSpPr>
            <a:spLocks noGrp="1"/>
          </p:cNvSpPr>
          <p:nvPr/>
        </p:nvSpPr>
        <p:spPr>
          <a:xfrm>
            <a:off x="5346383" y="10016871"/>
            <a:ext cx="1823085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Multi-Scale GAN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5" name="svg_text_215"/>
          <p:cNvSpPr>
            <a:spLocks noGrp="1"/>
          </p:cNvSpPr>
          <p:nvPr/>
        </p:nvSpPr>
        <p:spPr>
          <a:xfrm>
            <a:off x="5401437" y="10254996"/>
            <a:ext cx="1712976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Discriminators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6" name="svg_text_216"/>
          <p:cNvSpPr>
            <a:spLocks noGrp="1"/>
          </p:cNvSpPr>
          <p:nvPr/>
        </p:nvSpPr>
        <p:spPr>
          <a:xfrm>
            <a:off x="5310759" y="10543032"/>
            <a:ext cx="189433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waveform · periodic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7" name="svg_text_217"/>
          <p:cNvSpPr>
            <a:spLocks noGrp="1"/>
          </p:cNvSpPr>
          <p:nvPr/>
        </p:nvSpPr>
        <p:spPr>
          <a:xfrm>
            <a:off x="5537454" y="10762107"/>
            <a:ext cx="144094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time-frequency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8" name="svg_path_218"/>
          <p:cNvSpPr>
            <a:spLocks noGrp="1"/>
          </p:cNvSpPr>
          <p:nvPr/>
        </p:nvSpPr>
        <p:spPr>
          <a:xfrm>
            <a:off x="1352550" y="9239250"/>
            <a:ext cx="4124325" cy="1238250"/>
          </a:xfrm>
          <a:custGeom>
            <a:avLst/>
            <a:gdLst/>
            <a:ahLst/>
            <a:cxnLst/>
            <a:pathLst>
              <a:path w="4124325" h="1238250">
                <a:moveTo>
                  <a:pt x="0" y="0"/>
                </a:moveTo>
                <a:lnTo>
                  <a:pt x="0" y="1238250"/>
                </a:lnTo>
                <a:lnTo>
                  <a:pt x="4124325" y="123825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19" name="svg_arrowhead_219"/>
          <p:cNvSpPr>
            <a:spLocks noGrp="1"/>
          </p:cNvSpPr>
          <p:nvPr/>
        </p:nvSpPr>
        <p:spPr>
          <a:xfrm>
            <a:off x="5372100" y="1042511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20" name="svg_text_220"/>
          <p:cNvSpPr>
            <a:spLocks noGrp="1"/>
          </p:cNvSpPr>
          <p:nvPr/>
        </p:nvSpPr>
        <p:spPr>
          <a:xfrm>
            <a:off x="2642616" y="10209657"/>
            <a:ext cx="715518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Real x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1" name="svg_path_221"/>
          <p:cNvSpPr>
            <a:spLocks noGrp="1"/>
          </p:cNvSpPr>
          <p:nvPr/>
        </p:nvSpPr>
        <p:spPr>
          <a:xfrm>
            <a:off x="6238875" y="9239250"/>
            <a:ext cx="9525" cy="666750"/>
          </a:xfrm>
          <a:custGeom>
            <a:avLst/>
            <a:gdLst/>
            <a:ahLst/>
            <a:cxnLst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22" name="svg_arrowhead_222"/>
          <p:cNvSpPr>
            <a:spLocks noGrp="1"/>
          </p:cNvSpPr>
          <p:nvPr/>
        </p:nvSpPr>
        <p:spPr>
          <a:xfrm>
            <a:off x="6186488" y="980122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23" name="svg_text_223"/>
          <p:cNvSpPr>
            <a:spLocks noGrp="1"/>
          </p:cNvSpPr>
          <p:nvPr/>
        </p:nvSpPr>
        <p:spPr>
          <a:xfrm>
            <a:off x="6132957" y="9552432"/>
            <a:ext cx="125958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Generated x̂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4" name="svg_rect_224"/>
          <p:cNvSpPr>
            <a:spLocks noGrp="1"/>
          </p:cNvSpPr>
          <p:nvPr/>
        </p:nvSpPr>
        <p:spPr>
          <a:xfrm>
            <a:off x="7524750" y="9858375"/>
            <a:ext cx="1476375" cy="552450"/>
          </a:xfrm>
          <a:prstGeom prst="roundRect">
            <a:avLst>
              <a:gd name="adj" fmla="val 13793"/>
            </a:avLst>
          </a:prstGeom>
          <a:solidFill>
            <a:srgbClr val="FFF8EA"/>
          </a:solidFill>
          <a:ln w="17145">
            <a:solidFill>
              <a:srgbClr val="D89A33"/>
            </a:solidFill>
            <a:prstDash val="solid"/>
          </a:ln>
        </p:spPr>
      </p:sp>
      <p:sp>
        <p:nvSpPr>
          <p:cNvPr id="225" name="svg_text_225"/>
          <p:cNvSpPr>
            <a:spLocks noGrp="1"/>
          </p:cNvSpPr>
          <p:nvPr/>
        </p:nvSpPr>
        <p:spPr>
          <a:xfrm>
            <a:off x="7291578" y="10016871"/>
            <a:ext cx="1933194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Adversarial Loss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6" name="svg_rect_226"/>
          <p:cNvSpPr>
            <a:spLocks noGrp="1"/>
          </p:cNvSpPr>
          <p:nvPr/>
        </p:nvSpPr>
        <p:spPr>
          <a:xfrm>
            <a:off x="7524750" y="10572750"/>
            <a:ext cx="1476375" cy="590550"/>
          </a:xfrm>
          <a:prstGeom prst="roundRect">
            <a:avLst>
              <a:gd name="adj" fmla="val 12903"/>
            </a:avLst>
          </a:prstGeom>
          <a:solidFill>
            <a:srgbClr val="FFF8EA"/>
          </a:solidFill>
          <a:ln w="17145">
            <a:solidFill>
              <a:srgbClr val="D89A33"/>
            </a:solidFill>
            <a:prstDash val="solid"/>
          </a:ln>
        </p:spPr>
      </p:sp>
      <p:sp>
        <p:nvSpPr>
          <p:cNvPr id="227" name="svg_text_227"/>
          <p:cNvSpPr>
            <a:spLocks noGrp="1"/>
          </p:cNvSpPr>
          <p:nvPr/>
        </p:nvSpPr>
        <p:spPr>
          <a:xfrm>
            <a:off x="7291578" y="10664571"/>
            <a:ext cx="1933194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Feature-Matching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8" name="svg_text_228"/>
          <p:cNvSpPr>
            <a:spLocks noGrp="1"/>
          </p:cNvSpPr>
          <p:nvPr/>
        </p:nvSpPr>
        <p:spPr>
          <a:xfrm>
            <a:off x="7952232" y="10874121"/>
            <a:ext cx="611886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Loss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9" name="svg_path_229"/>
          <p:cNvSpPr>
            <a:spLocks noGrp="1"/>
          </p:cNvSpPr>
          <p:nvPr/>
        </p:nvSpPr>
        <p:spPr>
          <a:xfrm>
            <a:off x="7048500" y="10191750"/>
            <a:ext cx="476250" cy="9525"/>
          </a:xfrm>
          <a:custGeom>
            <a:avLst/>
            <a:gdLst/>
            <a:ahLst/>
            <a:cxnLst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30" name="svg_arrowhead_230"/>
          <p:cNvSpPr>
            <a:spLocks noGrp="1"/>
          </p:cNvSpPr>
          <p:nvPr/>
        </p:nvSpPr>
        <p:spPr>
          <a:xfrm>
            <a:off x="7419975" y="101393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31" name="svg_path_231"/>
          <p:cNvSpPr>
            <a:spLocks noGrp="1"/>
          </p:cNvSpPr>
          <p:nvPr/>
        </p:nvSpPr>
        <p:spPr>
          <a:xfrm>
            <a:off x="7048500" y="10839450"/>
            <a:ext cx="476250" cy="9525"/>
          </a:xfrm>
          <a:custGeom>
            <a:avLst/>
            <a:gdLst/>
            <a:ahLst/>
            <a:cxnLst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32" name="svg_arrowhead_232"/>
          <p:cNvSpPr>
            <a:spLocks noGrp="1"/>
          </p:cNvSpPr>
          <p:nvPr/>
        </p:nvSpPr>
        <p:spPr>
          <a:xfrm>
            <a:off x="7419975" y="107870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33" name="svg_path_233"/>
          <p:cNvSpPr>
            <a:spLocks noGrp="1"/>
          </p:cNvSpPr>
          <p:nvPr/>
        </p:nvSpPr>
        <p:spPr>
          <a:xfrm>
            <a:off x="4476750" y="9429750"/>
            <a:ext cx="3048000" cy="2095500"/>
          </a:xfrm>
          <a:custGeom>
            <a:avLst/>
            <a:gdLst/>
            <a:ahLst/>
            <a:cxnLst/>
            <a:pathLst>
              <a:path w="3048000" h="2095500">
                <a:moveTo>
                  <a:pt x="3048000" y="714375"/>
                </a:moveTo>
                <a:lnTo>
                  <a:pt x="2809875" y="714375"/>
                </a:lnTo>
                <a:lnTo>
                  <a:pt x="2809875" y="2095500"/>
                </a:lnTo>
                <a:lnTo>
                  <a:pt x="0" y="20955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234" name="svg_arrowhead_234"/>
          <p:cNvSpPr>
            <a:spLocks noGrp="1"/>
          </p:cNvSpPr>
          <p:nvPr/>
        </p:nvSpPr>
        <p:spPr>
          <a:xfrm>
            <a:off x="4424363" y="9429750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235" name="svg_path_235"/>
          <p:cNvSpPr>
            <a:spLocks noGrp="1"/>
          </p:cNvSpPr>
          <p:nvPr/>
        </p:nvSpPr>
        <p:spPr>
          <a:xfrm>
            <a:off x="4191000" y="9429750"/>
            <a:ext cx="3333750" cy="2333625"/>
          </a:xfrm>
          <a:custGeom>
            <a:avLst/>
            <a:gdLst/>
            <a:ahLst/>
            <a:cxnLst/>
            <a:pathLst>
              <a:path w="3333750" h="2333625">
                <a:moveTo>
                  <a:pt x="3333750" y="1428750"/>
                </a:moveTo>
                <a:lnTo>
                  <a:pt x="2952750" y="1428750"/>
                </a:lnTo>
                <a:lnTo>
                  <a:pt x="2952750" y="2333625"/>
                </a:lnTo>
                <a:lnTo>
                  <a:pt x="0" y="233362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236" name="svg_arrowhead_236"/>
          <p:cNvSpPr>
            <a:spLocks noGrp="1"/>
          </p:cNvSpPr>
          <p:nvPr/>
        </p:nvSpPr>
        <p:spPr>
          <a:xfrm>
            <a:off x="4138613" y="9429750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237" name="svg_rect_237"/>
          <p:cNvSpPr>
            <a:spLocks noGrp="1"/>
          </p:cNvSpPr>
          <p:nvPr/>
        </p:nvSpPr>
        <p:spPr>
          <a:xfrm>
            <a:off x="2714625" y="11858625"/>
            <a:ext cx="2762250" cy="857250"/>
          </a:xfrm>
          <a:prstGeom prst="roundRect">
            <a:avLst>
              <a:gd name="adj" fmla="val 8889"/>
            </a:avLst>
          </a:prstGeom>
          <a:solidFill>
            <a:srgbClr val="FFF8EA"/>
          </a:solidFill>
          <a:ln w="17145">
            <a:solidFill>
              <a:srgbClr val="D89A33"/>
            </a:solidFill>
            <a:prstDash val="solid"/>
          </a:ln>
        </p:spPr>
      </p:sp>
      <p:sp>
        <p:nvSpPr>
          <p:cNvPr id="238" name="svg_text_238"/>
          <p:cNvSpPr>
            <a:spLocks noGrp="1"/>
          </p:cNvSpPr>
          <p:nvPr/>
        </p:nvSpPr>
        <p:spPr>
          <a:xfrm>
            <a:off x="3239262" y="11950446"/>
            <a:ext cx="1712976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Waveform + Mel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9" name="svg_text_239"/>
          <p:cNvSpPr>
            <a:spLocks noGrp="1"/>
          </p:cNvSpPr>
          <p:nvPr/>
        </p:nvSpPr>
        <p:spPr>
          <a:xfrm>
            <a:off x="2963990" y="12179046"/>
            <a:ext cx="226352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Reconstruction Loss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0" name="svg_text_240"/>
          <p:cNvSpPr>
            <a:spLocks noGrp="1"/>
          </p:cNvSpPr>
          <p:nvPr/>
        </p:nvSpPr>
        <p:spPr>
          <a:xfrm>
            <a:off x="2831211" y="12438507"/>
            <a:ext cx="2529078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compares x and x̂ directly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1" name="svg_path_241"/>
          <p:cNvSpPr>
            <a:spLocks noGrp="1"/>
          </p:cNvSpPr>
          <p:nvPr/>
        </p:nvSpPr>
        <p:spPr>
          <a:xfrm>
            <a:off x="571500" y="9239250"/>
            <a:ext cx="3524250" cy="3571875"/>
          </a:xfrm>
          <a:custGeom>
            <a:avLst/>
            <a:gdLst/>
            <a:ahLst/>
            <a:cxnLst/>
            <a:pathLst>
              <a:path w="3524250" h="3571875">
                <a:moveTo>
                  <a:pt x="781050" y="0"/>
                </a:moveTo>
                <a:lnTo>
                  <a:pt x="0" y="0"/>
                </a:lnTo>
                <a:lnTo>
                  <a:pt x="0" y="3571875"/>
                </a:lnTo>
                <a:lnTo>
                  <a:pt x="3524250" y="3571875"/>
                </a:lnTo>
                <a:lnTo>
                  <a:pt x="3524250" y="3476625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242" name="svg_arrowhead_242"/>
          <p:cNvSpPr>
            <a:spLocks noGrp="1"/>
          </p:cNvSpPr>
          <p:nvPr/>
        </p:nvSpPr>
        <p:spPr>
          <a:xfrm>
            <a:off x="4043363" y="1271587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243" name="svg_path_243"/>
          <p:cNvSpPr>
            <a:spLocks noGrp="1"/>
          </p:cNvSpPr>
          <p:nvPr/>
        </p:nvSpPr>
        <p:spPr>
          <a:xfrm>
            <a:off x="5476875" y="9239250"/>
            <a:ext cx="762000" cy="3048000"/>
          </a:xfrm>
          <a:custGeom>
            <a:avLst/>
            <a:gdLst/>
            <a:ahLst/>
            <a:cxnLst/>
            <a:pathLst>
              <a:path w="762000" h="3048000">
                <a:moveTo>
                  <a:pt x="762000" y="0"/>
                </a:moveTo>
                <a:lnTo>
                  <a:pt x="762000" y="2428875"/>
                </a:lnTo>
                <a:lnTo>
                  <a:pt x="0" y="2428875"/>
                </a:lnTo>
                <a:lnTo>
                  <a:pt x="0" y="3048000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244" name="svg_arrowhead_244"/>
          <p:cNvSpPr>
            <a:spLocks noGrp="1"/>
          </p:cNvSpPr>
          <p:nvPr/>
        </p:nvSpPr>
        <p:spPr>
          <a:xfrm>
            <a:off x="5424488" y="1218247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245" name="svg_path_245"/>
          <p:cNvSpPr>
            <a:spLocks noGrp="1"/>
          </p:cNvSpPr>
          <p:nvPr/>
        </p:nvSpPr>
        <p:spPr>
          <a:xfrm>
            <a:off x="3905250" y="9429750"/>
            <a:ext cx="190500" cy="2428875"/>
          </a:xfrm>
          <a:custGeom>
            <a:avLst/>
            <a:gdLst/>
            <a:ahLst/>
            <a:cxnLst/>
            <a:pathLst>
              <a:path w="190500" h="2428875">
                <a:moveTo>
                  <a:pt x="190500" y="2428875"/>
                </a:moveTo>
                <a:lnTo>
                  <a:pt x="190500" y="1952625"/>
                </a:lnTo>
                <a:lnTo>
                  <a:pt x="0" y="195262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246" name="svg_arrowhead_246"/>
          <p:cNvSpPr>
            <a:spLocks noGrp="1"/>
          </p:cNvSpPr>
          <p:nvPr/>
        </p:nvSpPr>
        <p:spPr>
          <a:xfrm>
            <a:off x="3852863" y="9429750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247" name="svg_rect_247"/>
          <p:cNvSpPr>
            <a:spLocks noGrp="1"/>
          </p:cNvSpPr>
          <p:nvPr/>
        </p:nvSpPr>
        <p:spPr>
          <a:xfrm>
            <a:off x="762000" y="12001500"/>
            <a:ext cx="1476375" cy="619125"/>
          </a:xfrm>
          <a:prstGeom prst="roundRect">
            <a:avLst>
              <a:gd name="adj" fmla="val 12308"/>
            </a:avLst>
          </a:prstGeom>
          <a:solidFill>
            <a:srgbClr val="FFF8EA"/>
          </a:solidFill>
          <a:ln w="17145">
            <a:solidFill>
              <a:srgbClr val="D89A33"/>
            </a:solidFill>
            <a:prstDash val="solid"/>
          </a:ln>
        </p:spPr>
      </p:sp>
      <p:sp>
        <p:nvSpPr>
          <p:cNvPr id="248" name="svg_text_248"/>
          <p:cNvSpPr>
            <a:spLocks noGrp="1"/>
          </p:cNvSpPr>
          <p:nvPr/>
        </p:nvSpPr>
        <p:spPr>
          <a:xfrm>
            <a:off x="638937" y="12093321"/>
            <a:ext cx="1712976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RVQ Commitment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9" name="svg_text_249"/>
          <p:cNvSpPr>
            <a:spLocks noGrp="1"/>
          </p:cNvSpPr>
          <p:nvPr/>
        </p:nvSpPr>
        <p:spPr>
          <a:xfrm>
            <a:off x="684276" y="12352782"/>
            <a:ext cx="1622298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updates RVQ only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0" name="svg_path_250"/>
          <p:cNvSpPr>
            <a:spLocks noGrp="1"/>
          </p:cNvSpPr>
          <p:nvPr/>
        </p:nvSpPr>
        <p:spPr>
          <a:xfrm>
            <a:off x="1495425" y="9429750"/>
            <a:ext cx="1838325" cy="2571750"/>
          </a:xfrm>
          <a:custGeom>
            <a:avLst/>
            <a:gdLst/>
            <a:ahLst/>
            <a:cxnLst/>
            <a:pathLst>
              <a:path w="1838325" h="2571750">
                <a:moveTo>
                  <a:pt x="0" y="2571750"/>
                </a:moveTo>
                <a:lnTo>
                  <a:pt x="0" y="1762125"/>
                </a:lnTo>
                <a:lnTo>
                  <a:pt x="1838325" y="1762125"/>
                </a:lnTo>
                <a:lnTo>
                  <a:pt x="1838325" y="0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251" name="svg_arrowhead_251"/>
          <p:cNvSpPr>
            <a:spLocks noGrp="1"/>
          </p:cNvSpPr>
          <p:nvPr/>
        </p:nvSpPr>
        <p:spPr>
          <a:xfrm>
            <a:off x="3281363" y="9429750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252" name="svg_rect_252"/>
          <p:cNvSpPr>
            <a:spLocks noGrp="1"/>
          </p:cNvSpPr>
          <p:nvPr/>
        </p:nvSpPr>
        <p:spPr>
          <a:xfrm>
            <a:off x="9572625" y="7143750"/>
            <a:ext cx="6715125" cy="5810250"/>
          </a:xfrm>
          <a:prstGeom prst="roundRect">
            <a:avLst>
              <a:gd name="adj" fmla="val 1639"/>
            </a:avLst>
          </a:prstGeom>
          <a:solidFill>
            <a:srgbClr val="FBFDFF"/>
          </a:solidFill>
          <a:ln w="15240">
            <a:solidFill>
              <a:srgbClr val="A8CBEA"/>
            </a:solidFill>
            <a:prstDash val="dash"/>
          </a:ln>
        </p:spPr>
      </p:sp>
      <p:sp>
        <p:nvSpPr>
          <p:cNvPr id="253" name="svg_rect_253"/>
          <p:cNvSpPr>
            <a:spLocks noGrp="1"/>
          </p:cNvSpPr>
          <p:nvPr/>
        </p:nvSpPr>
        <p:spPr>
          <a:xfrm>
            <a:off x="9715500" y="7286625"/>
            <a:ext cx="476250" cy="285750"/>
          </a:xfrm>
          <a:prstGeom prst="roundRect">
            <a:avLst>
              <a:gd name="adj" fmla="val 50000"/>
            </a:avLst>
          </a:prstGeom>
          <a:solidFill>
            <a:srgbClr val="1467B8"/>
          </a:solidFill>
          <a:ln w="0">
            <a:noFill/>
            <a:prstDash val="solid"/>
          </a:ln>
        </p:spPr>
      </p:sp>
      <p:sp>
        <p:nvSpPr>
          <p:cNvPr id="254" name="svg_text_254"/>
          <p:cNvSpPr>
            <a:spLocks noGrp="1"/>
          </p:cNvSpPr>
          <p:nvPr/>
        </p:nvSpPr>
        <p:spPr>
          <a:xfrm>
            <a:off x="9757791" y="7321296"/>
            <a:ext cx="391668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5B</a:t>
            </a:r>
            <a:endParaRPr sz="12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5" name="svg_text_255"/>
          <p:cNvSpPr>
            <a:spLocks noGrp="1"/>
          </p:cNvSpPr>
          <p:nvPr/>
        </p:nvSpPr>
        <p:spPr>
          <a:xfrm>
            <a:off x="10334625" y="7308723"/>
            <a:ext cx="3571875" cy="3100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1720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i="0">
                <a:solidFill>
                  <a:srgbClr val="1720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Channel-Aware Fine-Tuning</a:t>
            </a:r>
            <a:endParaRPr sz="1575" b="1" i="0">
              <a:solidFill>
                <a:srgbClr val="1720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6" name="svg_rect_256"/>
          <p:cNvSpPr>
            <a:spLocks noGrp="1"/>
          </p:cNvSpPr>
          <p:nvPr/>
        </p:nvSpPr>
        <p:spPr>
          <a:xfrm>
            <a:off x="9810750" y="9429750"/>
            <a:ext cx="1190625" cy="76200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57" name="svg_text_257"/>
          <p:cNvSpPr>
            <a:spLocks noGrp="1"/>
          </p:cNvSpPr>
          <p:nvPr/>
        </p:nvSpPr>
        <p:spPr>
          <a:xfrm>
            <a:off x="9765030" y="9540621"/>
            <a:ext cx="127254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Base Model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8" name="svg_text_258"/>
          <p:cNvSpPr>
            <a:spLocks noGrp="1"/>
          </p:cNvSpPr>
          <p:nvPr/>
        </p:nvSpPr>
        <p:spPr>
          <a:xfrm>
            <a:off x="9765030" y="9778746"/>
            <a:ext cx="127254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Checkpoint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9" name="svg_path_259"/>
          <p:cNvSpPr>
            <a:spLocks noGrp="1"/>
          </p:cNvSpPr>
          <p:nvPr/>
        </p:nvSpPr>
        <p:spPr>
          <a:xfrm>
            <a:off x="11001375" y="9810750"/>
            <a:ext cx="333375" cy="9525"/>
          </a:xfrm>
          <a:custGeom>
            <a:avLst/>
            <a:gdLst/>
            <a:ahLst/>
            <a:cxnLst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260" name="svg_arrowhead_260"/>
          <p:cNvSpPr>
            <a:spLocks noGrp="1"/>
          </p:cNvSpPr>
          <p:nvPr/>
        </p:nvSpPr>
        <p:spPr>
          <a:xfrm>
            <a:off x="11229975" y="97583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61" name="svg_rect_261"/>
          <p:cNvSpPr>
            <a:spLocks noGrp="1"/>
          </p:cNvSpPr>
          <p:nvPr/>
        </p:nvSpPr>
        <p:spPr>
          <a:xfrm>
            <a:off x="11334750" y="7905750"/>
            <a:ext cx="3476625" cy="4429125"/>
          </a:xfrm>
          <a:prstGeom prst="roundRect">
            <a:avLst>
              <a:gd name="adj" fmla="val 2192"/>
            </a:avLst>
          </a:prstGeom>
          <a:solidFill>
            <a:srgbClr val="F7FBFF"/>
          </a:solidFill>
          <a:ln w="17145">
            <a:solidFill>
              <a:srgbClr val="527CA3"/>
            </a:solidFill>
            <a:prstDash val="dash"/>
          </a:ln>
        </p:spPr>
      </p:sp>
      <p:sp>
        <p:nvSpPr>
          <p:cNvPr id="262" name="svg_text_262"/>
          <p:cNvSpPr>
            <a:spLocks noGrp="1"/>
          </p:cNvSpPr>
          <p:nvPr/>
        </p:nvSpPr>
        <p:spPr>
          <a:xfrm>
            <a:off x="11275886" y="8016621"/>
            <a:ext cx="3584829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CHANNEL-AWARE FINE-TUNING BLOCK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3" name="svg_rect_263"/>
          <p:cNvSpPr>
            <a:spLocks noGrp="1"/>
          </p:cNvSpPr>
          <p:nvPr/>
        </p:nvSpPr>
        <p:spPr>
          <a:xfrm>
            <a:off x="12001500" y="8429625"/>
            <a:ext cx="2143125" cy="523875"/>
          </a:xfrm>
          <a:prstGeom prst="roundRect">
            <a:avLst>
              <a:gd name="adj" fmla="val 14545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64" name="svg_text_264"/>
          <p:cNvSpPr>
            <a:spLocks noGrp="1"/>
          </p:cNvSpPr>
          <p:nvPr/>
        </p:nvSpPr>
        <p:spPr>
          <a:xfrm>
            <a:off x="11606213" y="8492871"/>
            <a:ext cx="2924175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Random RVQ-Depth Sampling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5" name="svg_text_265"/>
          <p:cNvSpPr>
            <a:spLocks noGrp="1"/>
          </p:cNvSpPr>
          <p:nvPr/>
        </p:nvSpPr>
        <p:spPr>
          <a:xfrm>
            <a:off x="11972163" y="8744331"/>
            <a:ext cx="219227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training augmentation only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6" name="svg_path_266"/>
          <p:cNvSpPr>
            <a:spLocks noGrp="1"/>
          </p:cNvSpPr>
          <p:nvPr/>
        </p:nvSpPr>
        <p:spPr>
          <a:xfrm>
            <a:off x="11906250" y="8953500"/>
            <a:ext cx="1162050" cy="285750"/>
          </a:xfrm>
          <a:custGeom>
            <a:avLst/>
            <a:gdLst/>
            <a:ahLst/>
            <a:cxnLst/>
            <a:pathLst>
              <a:path w="1162050" h="285750">
                <a:moveTo>
                  <a:pt x="1162050" y="0"/>
                </a:moveTo>
                <a:lnTo>
                  <a:pt x="1162050" y="285750"/>
                </a:lnTo>
                <a:lnTo>
                  <a:pt x="0" y="28575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67" name="svg_arrowhead_267"/>
          <p:cNvSpPr>
            <a:spLocks noGrp="1"/>
          </p:cNvSpPr>
          <p:nvPr/>
        </p:nvSpPr>
        <p:spPr>
          <a:xfrm>
            <a:off x="11906250" y="91868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68" name="svg_rect_268"/>
          <p:cNvSpPr>
            <a:spLocks noGrp="1"/>
          </p:cNvSpPr>
          <p:nvPr/>
        </p:nvSpPr>
        <p:spPr>
          <a:xfrm>
            <a:off x="11525250" y="9239250"/>
            <a:ext cx="1143000" cy="571500"/>
          </a:xfrm>
          <a:prstGeom prst="roundRect">
            <a:avLst>
              <a:gd name="adj" fmla="val 13333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69" name="svg_text_269"/>
          <p:cNvSpPr>
            <a:spLocks noGrp="1"/>
          </p:cNvSpPr>
          <p:nvPr/>
        </p:nvSpPr>
        <p:spPr>
          <a:xfrm>
            <a:off x="11295316" y="9321546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Clean Indices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0" name="svg_text_270"/>
          <p:cNvSpPr>
            <a:spLocks noGrp="1"/>
          </p:cNvSpPr>
          <p:nvPr/>
        </p:nvSpPr>
        <p:spPr>
          <a:xfrm>
            <a:off x="11570589" y="9540621"/>
            <a:ext cx="1052322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i₁,i₂,i₃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71" name="svg_path_271"/>
          <p:cNvSpPr>
            <a:spLocks noGrp="1"/>
          </p:cNvSpPr>
          <p:nvPr/>
        </p:nvSpPr>
        <p:spPr>
          <a:xfrm>
            <a:off x="12668250" y="9525000"/>
            <a:ext cx="285750" cy="9525"/>
          </a:xfrm>
          <a:custGeom>
            <a:avLst/>
            <a:gdLst/>
            <a:ahLst/>
            <a:cxnLst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72" name="svg_arrowhead_272"/>
          <p:cNvSpPr>
            <a:spLocks noGrp="1"/>
          </p:cNvSpPr>
          <p:nvPr/>
        </p:nvSpPr>
        <p:spPr>
          <a:xfrm>
            <a:off x="12849225" y="947261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73" name="svg_rect_273"/>
          <p:cNvSpPr>
            <a:spLocks noGrp="1"/>
          </p:cNvSpPr>
          <p:nvPr/>
        </p:nvSpPr>
        <p:spPr>
          <a:xfrm>
            <a:off x="12954000" y="9239250"/>
            <a:ext cx="1190625" cy="571500"/>
          </a:xfrm>
          <a:prstGeom prst="roundRect">
            <a:avLst>
              <a:gd name="adj" fmla="val 13333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74" name="svg_text_274"/>
          <p:cNvSpPr>
            <a:spLocks noGrp="1"/>
          </p:cNvSpPr>
          <p:nvPr/>
        </p:nvSpPr>
        <p:spPr>
          <a:xfrm>
            <a:off x="12908280" y="9312021"/>
            <a:ext cx="127254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Decoder Dθ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5" name="svg_text_275"/>
          <p:cNvSpPr>
            <a:spLocks noGrp="1"/>
          </p:cNvSpPr>
          <p:nvPr/>
        </p:nvSpPr>
        <p:spPr>
          <a:xfrm>
            <a:off x="13070205" y="9573006"/>
            <a:ext cx="94869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clean pass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6" name="svg_path_276"/>
          <p:cNvSpPr>
            <a:spLocks noGrp="1"/>
          </p:cNvSpPr>
          <p:nvPr/>
        </p:nvSpPr>
        <p:spPr>
          <a:xfrm>
            <a:off x="14144625" y="9525000"/>
            <a:ext cx="142875" cy="9525"/>
          </a:xfrm>
          <a:custGeom>
            <a:avLst/>
            <a:gdLst/>
            <a:ahLst/>
            <a:cxnLst/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77" name="svg_arrowhead_277"/>
          <p:cNvSpPr>
            <a:spLocks noGrp="1"/>
          </p:cNvSpPr>
          <p:nvPr/>
        </p:nvSpPr>
        <p:spPr>
          <a:xfrm>
            <a:off x="14182725" y="947261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78" name="svg_rect_278"/>
          <p:cNvSpPr>
            <a:spLocks noGrp="1"/>
          </p:cNvSpPr>
          <p:nvPr/>
        </p:nvSpPr>
        <p:spPr>
          <a:xfrm>
            <a:off x="14287500" y="9239250"/>
            <a:ext cx="428625" cy="571500"/>
          </a:xfrm>
          <a:prstGeom prst="roundRect">
            <a:avLst>
              <a:gd name="adj" fmla="val 17778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79" name="svg_text_279"/>
          <p:cNvSpPr>
            <a:spLocks noGrp="1"/>
          </p:cNvSpPr>
          <p:nvPr/>
        </p:nvSpPr>
        <p:spPr>
          <a:xfrm>
            <a:off x="14217015" y="9363456"/>
            <a:ext cx="56007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Clean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0" name="svg_text_280"/>
          <p:cNvSpPr>
            <a:spLocks noGrp="1"/>
          </p:cNvSpPr>
          <p:nvPr/>
        </p:nvSpPr>
        <p:spPr>
          <a:xfrm>
            <a:off x="14294739" y="9534906"/>
            <a:ext cx="40462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Mel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1" name="svg_path_281"/>
          <p:cNvSpPr>
            <a:spLocks noGrp="1"/>
          </p:cNvSpPr>
          <p:nvPr/>
        </p:nvSpPr>
        <p:spPr>
          <a:xfrm>
            <a:off x="12096750" y="9810750"/>
            <a:ext cx="9525" cy="476250"/>
          </a:xfrm>
          <a:custGeom>
            <a:avLst/>
            <a:gdLst/>
            <a:ahLst/>
            <a:cxnLst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82" name="svg_arrowhead_282"/>
          <p:cNvSpPr>
            <a:spLocks noGrp="1"/>
          </p:cNvSpPr>
          <p:nvPr/>
        </p:nvSpPr>
        <p:spPr>
          <a:xfrm>
            <a:off x="12044363" y="1018222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83" name="svg_rect_283"/>
          <p:cNvSpPr>
            <a:spLocks noGrp="1"/>
          </p:cNvSpPr>
          <p:nvPr/>
        </p:nvSpPr>
        <p:spPr>
          <a:xfrm>
            <a:off x="11525250" y="10287000"/>
            <a:ext cx="1381125" cy="571500"/>
          </a:xfrm>
          <a:prstGeom prst="roundRect">
            <a:avLst>
              <a:gd name="adj" fmla="val 13333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84" name="svg_text_284"/>
          <p:cNvSpPr>
            <a:spLocks noGrp="1"/>
          </p:cNvSpPr>
          <p:nvPr/>
        </p:nvSpPr>
        <p:spPr>
          <a:xfrm>
            <a:off x="11134344" y="10445496"/>
            <a:ext cx="2153412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Index Perturbation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5" name="svg_path_285"/>
          <p:cNvSpPr>
            <a:spLocks noGrp="1"/>
          </p:cNvSpPr>
          <p:nvPr/>
        </p:nvSpPr>
        <p:spPr>
          <a:xfrm>
            <a:off x="12906375" y="10572750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86" name="svg_arrowhead_286"/>
          <p:cNvSpPr>
            <a:spLocks noGrp="1"/>
          </p:cNvSpPr>
          <p:nvPr/>
        </p:nvSpPr>
        <p:spPr>
          <a:xfrm>
            <a:off x="13039725" y="105203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87" name="svg_rect_287"/>
          <p:cNvSpPr>
            <a:spLocks noGrp="1"/>
          </p:cNvSpPr>
          <p:nvPr/>
        </p:nvSpPr>
        <p:spPr>
          <a:xfrm>
            <a:off x="13144500" y="10287000"/>
            <a:ext cx="1238250" cy="571500"/>
          </a:xfrm>
          <a:prstGeom prst="roundRect">
            <a:avLst>
              <a:gd name="adj" fmla="val 13333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88" name="svg_text_288"/>
          <p:cNvSpPr>
            <a:spLocks noGrp="1"/>
          </p:cNvSpPr>
          <p:nvPr/>
        </p:nvSpPr>
        <p:spPr>
          <a:xfrm>
            <a:off x="13182410" y="10350246"/>
            <a:ext cx="116243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Perturbed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9" name="svg_text_289"/>
          <p:cNvSpPr>
            <a:spLocks noGrp="1"/>
          </p:cNvSpPr>
          <p:nvPr/>
        </p:nvSpPr>
        <p:spPr>
          <a:xfrm>
            <a:off x="13237464" y="10569321"/>
            <a:ext cx="1052322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ĩ₁,ĩ₂,ĩ₃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90" name="svg_path_290"/>
          <p:cNvSpPr>
            <a:spLocks noGrp="1"/>
          </p:cNvSpPr>
          <p:nvPr/>
        </p:nvSpPr>
        <p:spPr>
          <a:xfrm>
            <a:off x="13763625" y="10858500"/>
            <a:ext cx="9525" cy="285750"/>
          </a:xfrm>
          <a:custGeom>
            <a:avLst/>
            <a:gdLst/>
            <a:ahLst/>
            <a:cxnLst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91" name="svg_arrowhead_291"/>
          <p:cNvSpPr>
            <a:spLocks noGrp="1"/>
          </p:cNvSpPr>
          <p:nvPr/>
        </p:nvSpPr>
        <p:spPr>
          <a:xfrm>
            <a:off x="13711238" y="1103947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92" name="svg_rect_292"/>
          <p:cNvSpPr>
            <a:spLocks noGrp="1"/>
          </p:cNvSpPr>
          <p:nvPr/>
        </p:nvSpPr>
        <p:spPr>
          <a:xfrm>
            <a:off x="13144500" y="11144250"/>
            <a:ext cx="1190625" cy="571500"/>
          </a:xfrm>
          <a:prstGeom prst="roundRect">
            <a:avLst>
              <a:gd name="adj" fmla="val 13333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93" name="svg_text_293"/>
          <p:cNvSpPr>
            <a:spLocks noGrp="1"/>
          </p:cNvSpPr>
          <p:nvPr/>
        </p:nvSpPr>
        <p:spPr>
          <a:xfrm>
            <a:off x="13098780" y="11217021"/>
            <a:ext cx="127254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Decoder Dθ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4" name="svg_text_294"/>
          <p:cNvSpPr>
            <a:spLocks noGrp="1"/>
          </p:cNvSpPr>
          <p:nvPr/>
        </p:nvSpPr>
        <p:spPr>
          <a:xfrm>
            <a:off x="13182981" y="11478006"/>
            <a:ext cx="1104138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same weights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5" name="svg_path_295"/>
          <p:cNvSpPr>
            <a:spLocks noGrp="1"/>
          </p:cNvSpPr>
          <p:nvPr/>
        </p:nvSpPr>
        <p:spPr>
          <a:xfrm>
            <a:off x="14335125" y="11430000"/>
            <a:ext cx="95250" cy="9525"/>
          </a:xfrm>
          <a:custGeom>
            <a:avLst/>
            <a:gdLst/>
            <a:ahLst/>
            <a:cxnLst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296" name="svg_arrowhead_296"/>
          <p:cNvSpPr>
            <a:spLocks noGrp="1"/>
          </p:cNvSpPr>
          <p:nvPr/>
        </p:nvSpPr>
        <p:spPr>
          <a:xfrm>
            <a:off x="14325600" y="1137761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297" name="svg_rect_297"/>
          <p:cNvSpPr>
            <a:spLocks noGrp="1"/>
          </p:cNvSpPr>
          <p:nvPr/>
        </p:nvSpPr>
        <p:spPr>
          <a:xfrm>
            <a:off x="14430375" y="11144250"/>
            <a:ext cx="381000" cy="571500"/>
          </a:xfrm>
          <a:prstGeom prst="roundRect">
            <a:avLst>
              <a:gd name="adj" fmla="val 20000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298" name="svg_text_298"/>
          <p:cNvSpPr>
            <a:spLocks noGrp="1"/>
          </p:cNvSpPr>
          <p:nvPr/>
        </p:nvSpPr>
        <p:spPr>
          <a:xfrm>
            <a:off x="14340840" y="11268456"/>
            <a:ext cx="56007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Pert.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9" name="svg_text_299"/>
          <p:cNvSpPr>
            <a:spLocks noGrp="1"/>
          </p:cNvSpPr>
          <p:nvPr/>
        </p:nvSpPr>
        <p:spPr>
          <a:xfrm>
            <a:off x="14418564" y="11439906"/>
            <a:ext cx="40462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Mel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0" name="svg_rect_300"/>
          <p:cNvSpPr>
            <a:spLocks noGrp="1"/>
          </p:cNvSpPr>
          <p:nvPr/>
        </p:nvSpPr>
        <p:spPr>
          <a:xfrm>
            <a:off x="11858625" y="11906250"/>
            <a:ext cx="2428875" cy="571500"/>
          </a:xfrm>
          <a:prstGeom prst="roundRect">
            <a:avLst>
              <a:gd name="adj" fmla="val 13333"/>
            </a:avLst>
          </a:prstGeom>
          <a:solidFill>
            <a:srgbClr val="FFF8EA"/>
          </a:solidFill>
          <a:ln w="17145">
            <a:solidFill>
              <a:srgbClr val="D89A33"/>
            </a:solidFill>
            <a:prstDash val="solid"/>
          </a:ln>
        </p:spPr>
      </p:sp>
      <p:sp>
        <p:nvSpPr>
          <p:cNvPr id="301" name="svg_text_301"/>
          <p:cNvSpPr>
            <a:spLocks noGrp="1"/>
          </p:cNvSpPr>
          <p:nvPr/>
        </p:nvSpPr>
        <p:spPr>
          <a:xfrm>
            <a:off x="11936540" y="11988546"/>
            <a:ext cx="226352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Clean–Perturbed Mel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2" name="svg_text_302"/>
          <p:cNvSpPr>
            <a:spLocks noGrp="1"/>
          </p:cNvSpPr>
          <p:nvPr/>
        </p:nvSpPr>
        <p:spPr>
          <a:xfrm>
            <a:off x="12101703" y="12207621"/>
            <a:ext cx="1933194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Consistency Loss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3" name="svg_path_303"/>
          <p:cNvSpPr>
            <a:spLocks noGrp="1"/>
          </p:cNvSpPr>
          <p:nvPr/>
        </p:nvSpPr>
        <p:spPr>
          <a:xfrm>
            <a:off x="14287500" y="9810750"/>
            <a:ext cx="209550" cy="2381250"/>
          </a:xfrm>
          <a:custGeom>
            <a:avLst/>
            <a:gdLst/>
            <a:ahLst/>
            <a:cxnLst/>
            <a:pathLst>
              <a:path w="209550" h="2381250">
                <a:moveTo>
                  <a:pt x="209550" y="0"/>
                </a:moveTo>
                <a:lnTo>
                  <a:pt x="209550" y="2381250"/>
                </a:lnTo>
                <a:lnTo>
                  <a:pt x="0" y="2381250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304" name="svg_arrowhead_304"/>
          <p:cNvSpPr>
            <a:spLocks noGrp="1"/>
          </p:cNvSpPr>
          <p:nvPr/>
        </p:nvSpPr>
        <p:spPr>
          <a:xfrm>
            <a:off x="14287500" y="1213961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305" name="svg_path_305"/>
          <p:cNvSpPr>
            <a:spLocks noGrp="1"/>
          </p:cNvSpPr>
          <p:nvPr/>
        </p:nvSpPr>
        <p:spPr>
          <a:xfrm>
            <a:off x="14287500" y="11715750"/>
            <a:ext cx="333375" cy="476250"/>
          </a:xfrm>
          <a:custGeom>
            <a:avLst/>
            <a:gdLst/>
            <a:ahLst/>
            <a:cxnLst/>
            <a:pathLst>
              <a:path w="333375" h="476250">
                <a:moveTo>
                  <a:pt x="333375" y="0"/>
                </a:moveTo>
                <a:lnTo>
                  <a:pt x="333375" y="476250"/>
                </a:lnTo>
                <a:lnTo>
                  <a:pt x="0" y="476250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306" name="svg_arrowhead_306"/>
          <p:cNvSpPr>
            <a:spLocks noGrp="1"/>
          </p:cNvSpPr>
          <p:nvPr/>
        </p:nvSpPr>
        <p:spPr>
          <a:xfrm>
            <a:off x="14287500" y="1213961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0" y="52388"/>
                </a:moveTo>
                <a:lnTo>
                  <a:pt x="104775" y="0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307" name="svg_path_307"/>
          <p:cNvSpPr>
            <a:spLocks noGrp="1"/>
          </p:cNvSpPr>
          <p:nvPr/>
        </p:nvSpPr>
        <p:spPr>
          <a:xfrm>
            <a:off x="14811375" y="8572500"/>
            <a:ext cx="781050" cy="762000"/>
          </a:xfrm>
          <a:custGeom>
            <a:avLst/>
            <a:gdLst/>
            <a:ahLst/>
            <a:cxnLst/>
            <a:pathLst>
              <a:path w="781050" h="762000">
                <a:moveTo>
                  <a:pt x="0" y="0"/>
                </a:moveTo>
                <a:lnTo>
                  <a:pt x="781050" y="0"/>
                </a:lnTo>
                <a:lnTo>
                  <a:pt x="781050" y="76200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308" name="svg_arrowhead_308"/>
          <p:cNvSpPr>
            <a:spLocks noGrp="1"/>
          </p:cNvSpPr>
          <p:nvPr/>
        </p:nvSpPr>
        <p:spPr>
          <a:xfrm>
            <a:off x="15540038" y="922972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09" name="svg_text_309"/>
          <p:cNvSpPr>
            <a:spLocks noGrp="1"/>
          </p:cNvSpPr>
          <p:nvPr/>
        </p:nvSpPr>
        <p:spPr>
          <a:xfrm>
            <a:off x="14493621" y="8353806"/>
            <a:ext cx="1492758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optimized weights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0" name="svg_rect_310"/>
          <p:cNvSpPr>
            <a:spLocks noGrp="1"/>
          </p:cNvSpPr>
          <p:nvPr/>
        </p:nvSpPr>
        <p:spPr>
          <a:xfrm>
            <a:off x="15097125" y="9334500"/>
            <a:ext cx="1000125" cy="9525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311" name="svg_text_311"/>
          <p:cNvSpPr>
            <a:spLocks noGrp="1"/>
          </p:cNvSpPr>
          <p:nvPr/>
        </p:nvSpPr>
        <p:spPr>
          <a:xfrm>
            <a:off x="14901101" y="9492996"/>
            <a:ext cx="1382649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SCIT-Speech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2" name="svg_text_312"/>
          <p:cNvSpPr>
            <a:spLocks noGrp="1"/>
          </p:cNvSpPr>
          <p:nvPr/>
        </p:nvSpPr>
        <p:spPr>
          <a:xfrm>
            <a:off x="15341537" y="9731121"/>
            <a:ext cx="50177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LCA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3" name="svg_text_313"/>
          <p:cNvSpPr>
            <a:spLocks noGrp="1"/>
          </p:cNvSpPr>
          <p:nvPr/>
        </p:nvSpPr>
        <p:spPr>
          <a:xfrm>
            <a:off x="14884908" y="10001631"/>
            <a:ext cx="141503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final checkpoint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4" name="svg_rect_314"/>
          <p:cNvSpPr>
            <a:spLocks noGrp="1"/>
          </p:cNvSpPr>
          <p:nvPr/>
        </p:nvSpPr>
        <p:spPr>
          <a:xfrm>
            <a:off x="16668750" y="6477000"/>
            <a:ext cx="6000750" cy="66675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9050">
            <a:solidFill>
              <a:srgbClr val="7DB5E8"/>
            </a:solidFill>
            <a:prstDash val="dash"/>
          </a:ln>
        </p:spPr>
      </p:sp>
      <p:sp>
        <p:nvSpPr>
          <p:cNvPr id="315" name="svg_circle_315"/>
          <p:cNvSpPr>
            <a:spLocks noGrp="1"/>
          </p:cNvSpPr>
          <p:nvPr/>
        </p:nvSpPr>
        <p:spPr>
          <a:xfrm>
            <a:off x="16735425" y="6543675"/>
            <a:ext cx="533400" cy="533400"/>
          </a:xfrm>
          <a:prstGeom prst="ellipse">
            <a:avLst/>
          </a:prstGeom>
          <a:solidFill>
            <a:srgbClr val="080B0E"/>
          </a:solidFill>
          <a:ln w="0">
            <a:noFill/>
            <a:prstDash val="solid"/>
          </a:ln>
        </p:spPr>
      </p:sp>
      <p:sp>
        <p:nvSpPr>
          <p:cNvPr id="316" name="svg_text_316"/>
          <p:cNvSpPr>
            <a:spLocks noGrp="1"/>
          </p:cNvSpPr>
          <p:nvPr/>
        </p:nvSpPr>
        <p:spPr>
          <a:xfrm>
            <a:off x="16719233" y="6611064"/>
            <a:ext cx="565785" cy="39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endParaRPr sz="202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7" name="svg_text_317"/>
          <p:cNvSpPr>
            <a:spLocks noGrp="1"/>
          </p:cNvSpPr>
          <p:nvPr/>
        </p:nvSpPr>
        <p:spPr>
          <a:xfrm>
            <a:off x="17383125" y="6536436"/>
            <a:ext cx="3021330" cy="3248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OPTIONAL TOKEN–AUDIO</a:t>
            </a:r>
            <a:endParaRPr sz="1650" b="1" i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8" name="svg_text_318"/>
          <p:cNvSpPr>
            <a:spLocks noGrp="1"/>
          </p:cNvSpPr>
          <p:nvPr/>
        </p:nvSpPr>
        <p:spPr>
          <a:xfrm>
            <a:off x="17383125" y="6784086"/>
            <a:ext cx="3306318" cy="3248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SPEAKER CLASSIFICATION</a:t>
            </a:r>
            <a:endParaRPr sz="1650" b="1" i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9" name="svg_text_319"/>
          <p:cNvSpPr>
            <a:spLocks noGrp="1"/>
          </p:cNvSpPr>
          <p:nvPr/>
        </p:nvSpPr>
        <p:spPr>
          <a:xfrm>
            <a:off x="16243935" y="7492746"/>
            <a:ext cx="237363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Received RVQ Indices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0" name="svg_text_320"/>
          <p:cNvSpPr>
            <a:spLocks noGrp="1"/>
          </p:cNvSpPr>
          <p:nvPr/>
        </p:nvSpPr>
        <p:spPr>
          <a:xfrm>
            <a:off x="16794480" y="7730871"/>
            <a:ext cx="127254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i₁, i₂, i₃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321" name="svg_rect_321"/>
          <p:cNvSpPr>
            <a:spLocks noGrp="1"/>
          </p:cNvSpPr>
          <p:nvPr/>
        </p:nvSpPr>
        <p:spPr>
          <a:xfrm>
            <a:off x="16906875" y="8096250"/>
            <a:ext cx="1047750" cy="171450"/>
          </a:xfrm>
          <a:prstGeom prst="rect">
            <a:avLst/>
          </a:prstGeom>
          <a:solidFill>
            <a:srgbClr val="FB923C"/>
          </a:solidFill>
          <a:ln w="0">
            <a:noFill/>
            <a:prstDash val="solid"/>
          </a:ln>
        </p:spPr>
      </p:sp>
      <p:sp>
        <p:nvSpPr>
          <p:cNvPr id="322" name="svg_rect_322"/>
          <p:cNvSpPr>
            <a:spLocks noGrp="1"/>
          </p:cNvSpPr>
          <p:nvPr/>
        </p:nvSpPr>
        <p:spPr>
          <a:xfrm>
            <a:off x="16906875" y="8401050"/>
            <a:ext cx="1047750" cy="171450"/>
          </a:xfrm>
          <a:prstGeom prst="rect">
            <a:avLst/>
          </a:prstGeom>
          <a:solidFill>
            <a:srgbClr val="70BD92"/>
          </a:solidFill>
          <a:ln w="0">
            <a:noFill/>
            <a:prstDash val="solid"/>
          </a:ln>
        </p:spPr>
      </p:sp>
      <p:sp>
        <p:nvSpPr>
          <p:cNvPr id="323" name="svg_rect_323"/>
          <p:cNvSpPr>
            <a:spLocks noGrp="1"/>
          </p:cNvSpPr>
          <p:nvPr/>
        </p:nvSpPr>
        <p:spPr>
          <a:xfrm>
            <a:off x="16906875" y="8705850"/>
            <a:ext cx="1047750" cy="171450"/>
          </a:xfrm>
          <a:prstGeom prst="rect">
            <a:avLst/>
          </a:prstGeom>
          <a:solidFill>
            <a:srgbClr val="8588E8"/>
          </a:solidFill>
          <a:ln w="0">
            <a:noFill/>
            <a:prstDash val="solid"/>
          </a:ln>
        </p:spPr>
      </p:sp>
      <p:sp>
        <p:nvSpPr>
          <p:cNvPr id="324" name="svg_path_324"/>
          <p:cNvSpPr>
            <a:spLocks noGrp="1"/>
          </p:cNvSpPr>
          <p:nvPr/>
        </p:nvSpPr>
        <p:spPr>
          <a:xfrm>
            <a:off x="17954625" y="8477250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325" name="svg_arrowhead_325"/>
          <p:cNvSpPr>
            <a:spLocks noGrp="1"/>
          </p:cNvSpPr>
          <p:nvPr/>
        </p:nvSpPr>
        <p:spPr>
          <a:xfrm>
            <a:off x="18087975" y="84248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26" name="svg_rect_326"/>
          <p:cNvSpPr>
            <a:spLocks noGrp="1"/>
          </p:cNvSpPr>
          <p:nvPr/>
        </p:nvSpPr>
        <p:spPr>
          <a:xfrm>
            <a:off x="18192750" y="8048625"/>
            <a:ext cx="1381125" cy="85725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327" name="svg_text_327"/>
          <p:cNvSpPr>
            <a:spLocks noGrp="1"/>
          </p:cNvSpPr>
          <p:nvPr/>
        </p:nvSpPr>
        <p:spPr>
          <a:xfrm>
            <a:off x="18077117" y="8188071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Trainable RVQ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8" name="svg_text_328"/>
          <p:cNvSpPr>
            <a:spLocks noGrp="1"/>
          </p:cNvSpPr>
          <p:nvPr/>
        </p:nvSpPr>
        <p:spPr>
          <a:xfrm>
            <a:off x="18077117" y="8426196"/>
            <a:ext cx="1602867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Token Encoder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9" name="svg_text_329"/>
          <p:cNvSpPr>
            <a:spLocks noGrp="1"/>
          </p:cNvSpPr>
          <p:nvPr/>
        </p:nvSpPr>
        <p:spPr>
          <a:xfrm>
            <a:off x="18384774" y="8666607"/>
            <a:ext cx="98755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 e_token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0" name="svg_text_330"/>
          <p:cNvSpPr>
            <a:spLocks noGrp="1"/>
          </p:cNvSpPr>
          <p:nvPr/>
        </p:nvSpPr>
        <p:spPr>
          <a:xfrm>
            <a:off x="16243935" y="9778746"/>
            <a:ext cx="237363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Reconstructed Speech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1" name="svg_rect_331"/>
          <p:cNvSpPr>
            <a:spLocks noGrp="1"/>
          </p:cNvSpPr>
          <p:nvPr/>
        </p:nvSpPr>
        <p:spPr>
          <a:xfrm>
            <a:off x="16906875" y="10191750"/>
            <a:ext cx="1047750" cy="66675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332" name="svg_text_332"/>
          <p:cNvSpPr>
            <a:spLocks noGrp="1"/>
          </p:cNvSpPr>
          <p:nvPr/>
        </p:nvSpPr>
        <p:spPr>
          <a:xfrm>
            <a:off x="16849535" y="10283571"/>
            <a:ext cx="116243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Speech x̂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3" name="svg_text_333"/>
          <p:cNvSpPr>
            <a:spLocks noGrp="1"/>
          </p:cNvSpPr>
          <p:nvPr/>
        </p:nvSpPr>
        <p:spPr>
          <a:xfrm>
            <a:off x="16800957" y="10543032"/>
            <a:ext cx="125958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from Panel 4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4" name="svg_path_334"/>
          <p:cNvSpPr>
            <a:spLocks noGrp="1"/>
          </p:cNvSpPr>
          <p:nvPr/>
        </p:nvSpPr>
        <p:spPr>
          <a:xfrm>
            <a:off x="17954625" y="10525125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335" name="svg_arrowhead_335"/>
          <p:cNvSpPr>
            <a:spLocks noGrp="1"/>
          </p:cNvSpPr>
          <p:nvPr/>
        </p:nvSpPr>
        <p:spPr>
          <a:xfrm>
            <a:off x="18087975" y="104727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36" name="svg_rect_336"/>
          <p:cNvSpPr>
            <a:spLocks noGrp="1"/>
          </p:cNvSpPr>
          <p:nvPr/>
        </p:nvSpPr>
        <p:spPr>
          <a:xfrm>
            <a:off x="18192750" y="10191750"/>
            <a:ext cx="1190625" cy="66675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337" name="svg_text_337"/>
          <p:cNvSpPr>
            <a:spLocks noGrp="1"/>
          </p:cNvSpPr>
          <p:nvPr/>
        </p:nvSpPr>
        <p:spPr>
          <a:xfrm>
            <a:off x="18367248" y="10283571"/>
            <a:ext cx="832104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Frozen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8" name="svg_text_338"/>
          <p:cNvSpPr>
            <a:spLocks noGrp="1"/>
          </p:cNvSpPr>
          <p:nvPr/>
        </p:nvSpPr>
        <p:spPr>
          <a:xfrm>
            <a:off x="18147030" y="10512171"/>
            <a:ext cx="127254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ECAPA-TDNN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9" name="svg_path_339"/>
          <p:cNvSpPr>
            <a:spLocks noGrp="1"/>
          </p:cNvSpPr>
          <p:nvPr/>
        </p:nvSpPr>
        <p:spPr>
          <a:xfrm>
            <a:off x="19383375" y="10525125"/>
            <a:ext cx="190500" cy="9525"/>
          </a:xfrm>
          <a:custGeom>
            <a:avLst/>
            <a:gdLst/>
            <a:ahLst/>
            <a:cxnLst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340" name="svg_arrowhead_340"/>
          <p:cNvSpPr>
            <a:spLocks noGrp="1"/>
          </p:cNvSpPr>
          <p:nvPr/>
        </p:nvSpPr>
        <p:spPr>
          <a:xfrm>
            <a:off x="19469100" y="104727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41" name="svg_rect_341"/>
          <p:cNvSpPr>
            <a:spLocks noGrp="1"/>
          </p:cNvSpPr>
          <p:nvPr/>
        </p:nvSpPr>
        <p:spPr>
          <a:xfrm>
            <a:off x="19573875" y="10191750"/>
            <a:ext cx="1143000" cy="666750"/>
          </a:xfrm>
          <a:prstGeom prst="roundRect">
            <a:avLst>
              <a:gd name="adj" fmla="val 11429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342" name="svg_text_342"/>
          <p:cNvSpPr>
            <a:spLocks noGrp="1"/>
          </p:cNvSpPr>
          <p:nvPr/>
        </p:nvSpPr>
        <p:spPr>
          <a:xfrm>
            <a:off x="19564160" y="10283571"/>
            <a:ext cx="116243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Trainable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3" name="svg_text_343"/>
          <p:cNvSpPr>
            <a:spLocks noGrp="1"/>
          </p:cNvSpPr>
          <p:nvPr/>
        </p:nvSpPr>
        <p:spPr>
          <a:xfrm>
            <a:off x="19509105" y="10512171"/>
            <a:ext cx="1272540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Projection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4" name="svg_text_344"/>
          <p:cNvSpPr>
            <a:spLocks noGrp="1"/>
          </p:cNvSpPr>
          <p:nvPr/>
        </p:nvSpPr>
        <p:spPr>
          <a:xfrm>
            <a:off x="19651599" y="10924032"/>
            <a:ext cx="98755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 e_audio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5" name="svg_rect_345"/>
          <p:cNvSpPr>
            <a:spLocks noGrp="1"/>
          </p:cNvSpPr>
          <p:nvPr/>
        </p:nvSpPr>
        <p:spPr>
          <a:xfrm>
            <a:off x="20002500" y="8191500"/>
            <a:ext cx="1571625" cy="1905000"/>
          </a:xfrm>
          <a:prstGeom prst="roundRect">
            <a:avLst>
              <a:gd name="adj" fmla="val 4848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346" name="svg_text_346"/>
          <p:cNvSpPr>
            <a:spLocks noGrp="1"/>
          </p:cNvSpPr>
          <p:nvPr/>
        </p:nvSpPr>
        <p:spPr>
          <a:xfrm>
            <a:off x="19927062" y="8349996"/>
            <a:ext cx="1712976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Learned Gate g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7" name="svg_text_347"/>
          <p:cNvSpPr>
            <a:spLocks noGrp="1"/>
          </p:cNvSpPr>
          <p:nvPr/>
        </p:nvSpPr>
        <p:spPr>
          <a:xfrm>
            <a:off x="20202335" y="8921496"/>
            <a:ext cx="1162431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e_fused =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348" name="svg_text_348"/>
          <p:cNvSpPr>
            <a:spLocks noGrp="1"/>
          </p:cNvSpPr>
          <p:nvPr/>
        </p:nvSpPr>
        <p:spPr>
          <a:xfrm>
            <a:off x="20092226" y="9226296"/>
            <a:ext cx="1382649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g e_token +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349" name="svg_text_349"/>
          <p:cNvSpPr>
            <a:spLocks noGrp="1"/>
          </p:cNvSpPr>
          <p:nvPr/>
        </p:nvSpPr>
        <p:spPr>
          <a:xfrm>
            <a:off x="20037171" y="9531096"/>
            <a:ext cx="1492758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275" b="0" i="1">
                <a:solidFill>
                  <a:srgbClr val="111827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(1−g)e_audio</a:t>
            </a:r>
            <a:endParaRPr sz="1275" b="0" i="1">
              <a:solidFill>
                <a:srgbClr val="111827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350" name="svg_path_350"/>
          <p:cNvSpPr>
            <a:spLocks noGrp="1"/>
          </p:cNvSpPr>
          <p:nvPr/>
        </p:nvSpPr>
        <p:spPr>
          <a:xfrm>
            <a:off x="19573875" y="8477250"/>
            <a:ext cx="428625" cy="9525"/>
          </a:xfrm>
          <a:custGeom>
            <a:avLst/>
            <a:gdLst/>
            <a:ahLst/>
            <a:cxnLst/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351" name="svg_arrowhead_351"/>
          <p:cNvSpPr>
            <a:spLocks noGrp="1"/>
          </p:cNvSpPr>
          <p:nvPr/>
        </p:nvSpPr>
        <p:spPr>
          <a:xfrm>
            <a:off x="19897725" y="842486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52" name="svg_path_352"/>
          <p:cNvSpPr>
            <a:spLocks noGrp="1"/>
          </p:cNvSpPr>
          <p:nvPr/>
        </p:nvSpPr>
        <p:spPr>
          <a:xfrm>
            <a:off x="20716875" y="10096500"/>
            <a:ext cx="66675" cy="428625"/>
          </a:xfrm>
          <a:custGeom>
            <a:avLst/>
            <a:gdLst/>
            <a:ahLst/>
            <a:cxnLst/>
            <a:pathLst>
              <a:path w="66675" h="428625">
                <a:moveTo>
                  <a:pt x="0" y="428625"/>
                </a:moveTo>
                <a:lnTo>
                  <a:pt x="66675" y="428625"/>
                </a:lnTo>
                <a:lnTo>
                  <a:pt x="66675" y="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353" name="svg_arrowhead_353"/>
          <p:cNvSpPr>
            <a:spLocks noGrp="1"/>
          </p:cNvSpPr>
          <p:nvPr/>
        </p:nvSpPr>
        <p:spPr>
          <a:xfrm>
            <a:off x="20731163" y="10096500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0"/>
                </a:moveTo>
                <a:lnTo>
                  <a:pt x="104775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54" name="svg_path_354"/>
          <p:cNvSpPr>
            <a:spLocks noGrp="1"/>
          </p:cNvSpPr>
          <p:nvPr/>
        </p:nvSpPr>
        <p:spPr>
          <a:xfrm>
            <a:off x="21574125" y="9144000"/>
            <a:ext cx="142875" cy="9525"/>
          </a:xfrm>
          <a:custGeom>
            <a:avLst/>
            <a:gdLst/>
            <a:ahLst/>
            <a:cxnLst/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355" name="svg_arrowhead_355"/>
          <p:cNvSpPr>
            <a:spLocks noGrp="1"/>
          </p:cNvSpPr>
          <p:nvPr/>
        </p:nvSpPr>
        <p:spPr>
          <a:xfrm>
            <a:off x="21612225" y="9091613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56" name="svg_rect_356"/>
          <p:cNvSpPr>
            <a:spLocks noGrp="1"/>
          </p:cNvSpPr>
          <p:nvPr/>
        </p:nvSpPr>
        <p:spPr>
          <a:xfrm>
            <a:off x="21717000" y="8572500"/>
            <a:ext cx="809625" cy="1143000"/>
          </a:xfrm>
          <a:prstGeom prst="roundRect">
            <a:avLst>
              <a:gd name="adj" fmla="val 9412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357" name="svg_text_357"/>
          <p:cNvSpPr>
            <a:spLocks noGrp="1"/>
          </p:cNvSpPr>
          <p:nvPr/>
        </p:nvSpPr>
        <p:spPr>
          <a:xfrm>
            <a:off x="21675090" y="8831580"/>
            <a:ext cx="88392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7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110-Speaker</a:t>
            </a:r>
            <a:endParaRPr sz="750" b="1" i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8" name="svg_text_358"/>
          <p:cNvSpPr>
            <a:spLocks noGrp="1"/>
          </p:cNvSpPr>
          <p:nvPr/>
        </p:nvSpPr>
        <p:spPr>
          <a:xfrm>
            <a:off x="21707475" y="9041130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7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Closed-Set</a:t>
            </a:r>
            <a:endParaRPr sz="750" b="1" i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9" name="svg_text_359"/>
          <p:cNvSpPr>
            <a:spLocks noGrp="1"/>
          </p:cNvSpPr>
          <p:nvPr/>
        </p:nvSpPr>
        <p:spPr>
          <a:xfrm>
            <a:off x="21707475" y="9250680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7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Classifier</a:t>
            </a:r>
            <a:endParaRPr sz="750" b="1" i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0" name="svg_path_360"/>
          <p:cNvSpPr>
            <a:spLocks noGrp="1"/>
          </p:cNvSpPr>
          <p:nvPr/>
        </p:nvSpPr>
        <p:spPr>
          <a:xfrm>
            <a:off x="21669375" y="9715500"/>
            <a:ext cx="447675" cy="1333500"/>
          </a:xfrm>
          <a:custGeom>
            <a:avLst/>
            <a:gdLst/>
            <a:ahLst/>
            <a:cxnLst/>
            <a:pathLst>
              <a:path w="447675" h="1333500">
                <a:moveTo>
                  <a:pt x="447675" y="0"/>
                </a:moveTo>
                <a:lnTo>
                  <a:pt x="447675" y="1190625"/>
                </a:lnTo>
                <a:lnTo>
                  <a:pt x="0" y="1190625"/>
                </a:lnTo>
                <a:lnTo>
                  <a:pt x="0" y="1333500"/>
                </a:lnTo>
              </a:path>
            </a:pathLst>
          </a:custGeom>
          <a:noFill/>
          <a:ln w="19050">
            <a:solidFill>
              <a:srgbClr val="2386D8"/>
            </a:solidFill>
            <a:prstDash val="solid"/>
          </a:ln>
        </p:spPr>
      </p:sp>
      <p:sp>
        <p:nvSpPr>
          <p:cNvPr id="361" name="svg_arrowhead_361"/>
          <p:cNvSpPr>
            <a:spLocks noGrp="1"/>
          </p:cNvSpPr>
          <p:nvPr/>
        </p:nvSpPr>
        <p:spPr>
          <a:xfrm>
            <a:off x="21616988" y="1094422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62" name="svg_rect_362"/>
          <p:cNvSpPr>
            <a:spLocks noGrp="1"/>
          </p:cNvSpPr>
          <p:nvPr/>
        </p:nvSpPr>
        <p:spPr>
          <a:xfrm>
            <a:off x="20859750" y="11049000"/>
            <a:ext cx="1619250" cy="619125"/>
          </a:xfrm>
          <a:prstGeom prst="roundRect">
            <a:avLst>
              <a:gd name="adj" fmla="val 12308"/>
            </a:avLst>
          </a:prstGeom>
          <a:solidFill>
            <a:srgbClr val="F7FBFF"/>
          </a:solidFill>
          <a:ln w="19050">
            <a:solidFill>
              <a:srgbClr val="408FD2"/>
            </a:solidFill>
            <a:prstDash val="solid"/>
          </a:ln>
        </p:spPr>
      </p:sp>
      <p:sp>
        <p:nvSpPr>
          <p:cNvPr id="363" name="svg_text_363"/>
          <p:cNvSpPr>
            <a:spLocks noGrp="1"/>
          </p:cNvSpPr>
          <p:nvPr/>
        </p:nvSpPr>
        <p:spPr>
          <a:xfrm>
            <a:off x="20676870" y="11162157"/>
            <a:ext cx="198501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Predicted Speaker ID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4" name="svg_text_364"/>
          <p:cNvSpPr>
            <a:spLocks noGrp="1"/>
          </p:cNvSpPr>
          <p:nvPr/>
        </p:nvSpPr>
        <p:spPr>
          <a:xfrm>
            <a:off x="21363432" y="11369421"/>
            <a:ext cx="611886" cy="250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p225</a:t>
            </a:r>
            <a:endParaRPr sz="1275" b="1" i="0">
              <a:solidFill>
                <a:srgbClr val="1823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5" name="svg_rect_365"/>
          <p:cNvSpPr>
            <a:spLocks noGrp="1"/>
          </p:cNvSpPr>
          <p:nvPr/>
        </p:nvSpPr>
        <p:spPr>
          <a:xfrm>
            <a:off x="16906875" y="12096750"/>
            <a:ext cx="1571625" cy="457200"/>
          </a:xfrm>
          <a:prstGeom prst="roundRect">
            <a:avLst>
              <a:gd name="adj" fmla="val 18750"/>
            </a:avLst>
          </a:prstGeom>
          <a:solidFill>
            <a:srgbClr val="ECF6FF"/>
          </a:solidFill>
          <a:ln w="14288">
            <a:solidFill>
              <a:srgbClr val="78AFE0"/>
            </a:solidFill>
            <a:prstDash val="solid"/>
          </a:ln>
        </p:spPr>
      </p:sp>
      <p:sp>
        <p:nvSpPr>
          <p:cNvPr id="366" name="svg_text_366"/>
          <p:cNvSpPr>
            <a:spLocks noGrp="1"/>
          </p:cNvSpPr>
          <p:nvPr/>
        </p:nvSpPr>
        <p:spPr>
          <a:xfrm>
            <a:off x="16740759" y="12228957"/>
            <a:ext cx="189433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Frozen Speech Codec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7" name="svg_rect_367"/>
          <p:cNvSpPr>
            <a:spLocks noGrp="1"/>
          </p:cNvSpPr>
          <p:nvPr/>
        </p:nvSpPr>
        <p:spPr>
          <a:xfrm>
            <a:off x="18573750" y="12096750"/>
            <a:ext cx="2190750" cy="457200"/>
          </a:xfrm>
          <a:prstGeom prst="roundRect">
            <a:avLst>
              <a:gd name="adj" fmla="val 18750"/>
            </a:avLst>
          </a:prstGeom>
          <a:solidFill>
            <a:srgbClr val="ECF6FF"/>
          </a:solidFill>
          <a:ln w="14288">
            <a:solidFill>
              <a:srgbClr val="78AFE0"/>
            </a:solidFill>
            <a:prstDash val="solid"/>
          </a:ln>
        </p:spPr>
      </p:sp>
      <p:sp>
        <p:nvSpPr>
          <p:cNvPr id="368" name="svg_text_368"/>
          <p:cNvSpPr>
            <a:spLocks noGrp="1"/>
          </p:cNvSpPr>
          <p:nvPr/>
        </p:nvSpPr>
        <p:spPr>
          <a:xfrm>
            <a:off x="18268569" y="12228957"/>
            <a:ext cx="280111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Separately Trained Classifier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9" name="svg_rect_369"/>
          <p:cNvSpPr>
            <a:spLocks noGrp="1"/>
          </p:cNvSpPr>
          <p:nvPr/>
        </p:nvSpPr>
        <p:spPr>
          <a:xfrm>
            <a:off x="20859750" y="12096750"/>
            <a:ext cx="1571625" cy="457200"/>
          </a:xfrm>
          <a:prstGeom prst="roundRect">
            <a:avLst>
              <a:gd name="adj" fmla="val 18750"/>
            </a:avLst>
          </a:prstGeom>
          <a:solidFill>
            <a:srgbClr val="ECF6FF"/>
          </a:solidFill>
          <a:ln w="14288">
            <a:solidFill>
              <a:srgbClr val="78AFE0"/>
            </a:solidFill>
            <a:prstDash val="solid"/>
          </a:ln>
        </p:spPr>
      </p:sp>
      <p:sp>
        <p:nvSpPr>
          <p:cNvPr id="370" name="svg_text_370"/>
          <p:cNvSpPr>
            <a:spLocks noGrp="1"/>
          </p:cNvSpPr>
          <p:nvPr/>
        </p:nvSpPr>
        <p:spPr>
          <a:xfrm>
            <a:off x="20816697" y="12163806"/>
            <a:ext cx="164820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Receiver-side only;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1" name="svg_text_371"/>
          <p:cNvSpPr>
            <a:spLocks noGrp="1"/>
          </p:cNvSpPr>
          <p:nvPr/>
        </p:nvSpPr>
        <p:spPr>
          <a:xfrm>
            <a:off x="20544663" y="12335256"/>
            <a:ext cx="219227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 i="0">
                <a:solidFill>
                  <a:srgbClr val="4154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 additional transmission</a:t>
            </a:r>
            <a:endParaRPr sz="900" b="0" i="0">
              <a:solidFill>
                <a:srgbClr val="41546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2" name="svg_path_372"/>
          <p:cNvSpPr>
            <a:spLocks noGrp="1"/>
          </p:cNvSpPr>
          <p:nvPr/>
        </p:nvSpPr>
        <p:spPr>
          <a:xfrm>
            <a:off x="17259300" y="5143500"/>
            <a:ext cx="28575" cy="1333500"/>
          </a:xfrm>
          <a:custGeom>
            <a:avLst/>
            <a:gdLst/>
            <a:ahLst/>
            <a:cxnLst/>
            <a:pathLst>
              <a:path w="28575" h="1333500">
                <a:moveTo>
                  <a:pt x="0" y="0"/>
                </a:moveTo>
                <a:lnTo>
                  <a:pt x="0" y="1238250"/>
                </a:lnTo>
                <a:lnTo>
                  <a:pt x="28575" y="1238250"/>
                </a:lnTo>
                <a:lnTo>
                  <a:pt x="28575" y="1333500"/>
                </a:lnTo>
              </a:path>
            </a:pathLst>
          </a:custGeom>
          <a:noFill/>
          <a:ln w="19050">
            <a:solidFill>
              <a:srgbClr val="2386D8"/>
            </a:solidFill>
            <a:prstDash val="dash"/>
          </a:ln>
        </p:spPr>
      </p:sp>
      <p:sp>
        <p:nvSpPr>
          <p:cNvPr id="373" name="svg_arrowhead_373"/>
          <p:cNvSpPr>
            <a:spLocks noGrp="1"/>
          </p:cNvSpPr>
          <p:nvPr/>
        </p:nvSpPr>
        <p:spPr>
          <a:xfrm>
            <a:off x="17235488" y="637222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74" name="svg_path_374"/>
          <p:cNvSpPr>
            <a:spLocks noGrp="1"/>
          </p:cNvSpPr>
          <p:nvPr/>
        </p:nvSpPr>
        <p:spPr>
          <a:xfrm>
            <a:off x="22288500" y="4905375"/>
            <a:ext cx="95250" cy="1571625"/>
          </a:xfrm>
          <a:custGeom>
            <a:avLst/>
            <a:gdLst/>
            <a:ahLst/>
            <a:cxnLst/>
            <a:pathLst>
              <a:path w="95250" h="1571625">
                <a:moveTo>
                  <a:pt x="95250" y="0"/>
                </a:moveTo>
                <a:lnTo>
                  <a:pt x="95250" y="1428750"/>
                </a:lnTo>
                <a:lnTo>
                  <a:pt x="0" y="1428750"/>
                </a:lnTo>
                <a:lnTo>
                  <a:pt x="0" y="1571625"/>
                </a:lnTo>
              </a:path>
            </a:pathLst>
          </a:custGeom>
          <a:noFill/>
          <a:ln w="19050">
            <a:solidFill>
              <a:srgbClr val="2386D8"/>
            </a:solidFill>
            <a:prstDash val="dash"/>
          </a:ln>
        </p:spPr>
      </p:sp>
      <p:sp>
        <p:nvSpPr>
          <p:cNvPr id="375" name="svg_arrowhead_375"/>
          <p:cNvSpPr>
            <a:spLocks noGrp="1"/>
          </p:cNvSpPr>
          <p:nvPr/>
        </p:nvSpPr>
        <p:spPr>
          <a:xfrm>
            <a:off x="22236113" y="6372225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52388" y="104775"/>
                </a:moveTo>
                <a:lnTo>
                  <a:pt x="0" y="0"/>
                </a:lnTo>
                <a:lnTo>
                  <a:pt x="104775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76" name="svg_rect_376"/>
          <p:cNvSpPr>
            <a:spLocks noGrp="1"/>
          </p:cNvSpPr>
          <p:nvPr/>
        </p:nvSpPr>
        <p:spPr>
          <a:xfrm>
            <a:off x="9858375" y="12687300"/>
            <a:ext cx="6477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7D6E5"/>
            </a:solidFill>
            <a:prstDash val="solid"/>
          </a:ln>
        </p:spPr>
      </p:sp>
      <p:sp>
        <p:nvSpPr>
          <p:cNvPr id="377" name="svg_path_377"/>
          <p:cNvSpPr>
            <a:spLocks noGrp="1"/>
          </p:cNvSpPr>
          <p:nvPr/>
        </p:nvSpPr>
        <p:spPr>
          <a:xfrm>
            <a:off x="10096500" y="12887325"/>
            <a:ext cx="476250" cy="9525"/>
          </a:xfrm>
          <a:custGeom>
            <a:avLst/>
            <a:gdLst/>
            <a:ahLst/>
            <a:cxnLst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3813">
            <a:solidFill>
              <a:srgbClr val="2386D8"/>
            </a:solidFill>
            <a:prstDash val="solid"/>
          </a:ln>
        </p:spPr>
      </p:sp>
      <p:sp>
        <p:nvSpPr>
          <p:cNvPr id="378" name="svg_arrowhead_378"/>
          <p:cNvSpPr>
            <a:spLocks noGrp="1"/>
          </p:cNvSpPr>
          <p:nvPr/>
        </p:nvSpPr>
        <p:spPr>
          <a:xfrm>
            <a:off x="10467975" y="128349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2386D8"/>
          </a:solidFill>
          <a:ln w="4763">
            <a:solidFill>
              <a:srgbClr val="2386D8"/>
            </a:solidFill>
            <a:prstDash val="solid"/>
          </a:ln>
        </p:spPr>
      </p:sp>
      <p:sp>
        <p:nvSpPr>
          <p:cNvPr id="379" name="svg_text_379"/>
          <p:cNvSpPr>
            <a:spLocks noGrp="1"/>
          </p:cNvSpPr>
          <p:nvPr/>
        </p:nvSpPr>
        <p:spPr>
          <a:xfrm>
            <a:off x="10573512" y="12790932"/>
            <a:ext cx="171297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forward data flow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0" name="svg_path_380"/>
          <p:cNvSpPr>
            <a:spLocks noGrp="1"/>
          </p:cNvSpPr>
          <p:nvPr/>
        </p:nvSpPr>
        <p:spPr>
          <a:xfrm>
            <a:off x="12573000" y="12887325"/>
            <a:ext cx="476250" cy="9525"/>
          </a:xfrm>
          <a:custGeom>
            <a:avLst/>
            <a:gdLst/>
            <a:ahLst/>
            <a:cxnLst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19050">
            <a:solidFill>
              <a:srgbClr val="3D6285"/>
            </a:solidFill>
            <a:prstDash val="dash"/>
          </a:ln>
        </p:spPr>
      </p:sp>
      <p:sp>
        <p:nvSpPr>
          <p:cNvPr id="381" name="svg_arrowhead_381"/>
          <p:cNvSpPr>
            <a:spLocks noGrp="1"/>
          </p:cNvSpPr>
          <p:nvPr/>
        </p:nvSpPr>
        <p:spPr>
          <a:xfrm>
            <a:off x="12944475" y="12834938"/>
            <a:ext cx="104775" cy="104775"/>
          </a:xfrm>
          <a:custGeom>
            <a:avLst/>
            <a:gdLst/>
            <a:ahLst/>
            <a:cxnLst/>
            <a:pathLst>
              <a:path w="104775" h="104775">
                <a:moveTo>
                  <a:pt x="104775" y="52388"/>
                </a:move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3D6285"/>
          </a:solidFill>
          <a:ln w="4763">
            <a:solidFill>
              <a:srgbClr val="3D6285"/>
            </a:solidFill>
            <a:prstDash val="solid"/>
          </a:ln>
        </p:spPr>
      </p:sp>
      <p:sp>
        <p:nvSpPr>
          <p:cNvPr id="382" name="svg_text_382"/>
          <p:cNvSpPr>
            <a:spLocks noGrp="1"/>
          </p:cNvSpPr>
          <p:nvPr/>
        </p:nvSpPr>
        <p:spPr>
          <a:xfrm>
            <a:off x="12519660" y="12790932"/>
            <a:ext cx="334518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training supervision / optimization</a:t>
            </a:r>
            <a:endParaRPr sz="1050" b="0" i="0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3691870" y="979170"/>
            <a:ext cx="3476625" cy="1000125"/>
            <a:chOff x="13370" y="1424"/>
            <a:chExt cx="5475" cy="1575"/>
          </a:xfrm>
        </p:grpSpPr>
        <p:sp>
          <p:nvSpPr>
            <p:cNvPr id="17" name="svg_rect_019"/>
            <p:cNvSpPr>
              <a:spLocks noGrp="1"/>
            </p:cNvSpPr>
            <p:nvPr/>
          </p:nvSpPr>
          <p:spPr>
            <a:xfrm>
              <a:off x="13370" y="1424"/>
              <a:ext cx="5475" cy="1575"/>
            </a:xfrm>
            <a:prstGeom prst="roundRect">
              <a:avLst>
                <a:gd name="adj" fmla="val 7619"/>
              </a:avLst>
            </a:prstGeom>
            <a:solidFill>
              <a:srgbClr val="F7FBFF"/>
            </a:solidFill>
            <a:ln w="19050">
              <a:solidFill>
                <a:srgbClr val="408FD2"/>
              </a:solidFill>
              <a:prstDash val="solid"/>
            </a:ln>
          </p:spPr>
        </p:sp>
        <p:sp>
          <p:nvSpPr>
            <p:cNvPr id="18" name="svg_text_020"/>
            <p:cNvSpPr>
              <a:spLocks noGrp="1"/>
            </p:cNvSpPr>
            <p:nvPr/>
          </p:nvSpPr>
          <p:spPr>
            <a:xfrm>
              <a:off x="13371" y="1645"/>
              <a:ext cx="5472" cy="39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/>
            <a:lstStyle/>
            <a:p>
              <a:pPr algn="ctr">
                <a:defRPr sz="1275" b="1" i="0">
                  <a:solidFill>
                    <a:srgbClr val="18232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lang="en-US" altLang="zh-CN" sz="1600" b="1" i="0">
                  <a:solidFill>
                    <a:srgbClr val="18232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Pareto Selection</a:t>
              </a:r>
              <a:endParaRPr lang="en-US" altLang="zh-CN" sz="1600" b="1" i="0">
                <a:solidFill>
                  <a:srgbClr val="18232E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87" name="svg_text_021"/>
            <p:cNvSpPr>
              <a:spLocks noGrp="1"/>
            </p:cNvSpPr>
            <p:nvPr/>
          </p:nvSpPr>
          <p:spPr>
            <a:xfrm>
              <a:off x="13402" y="2068"/>
              <a:ext cx="5411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/>
            <a:lstStyle/>
            <a:p>
              <a:pPr algn="ctr">
                <a:defRPr sz="1050" b="0" i="0">
                  <a:solidFill>
                    <a:srgbClr val="33415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200">
                  <a:sym typeface="+mn-ea"/>
                </a:rPr>
                <a:t>quality versus resource cost</a:t>
              </a:r>
              <a:endParaRPr sz="1200" b="0" i="0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4950</Words>
  <Application>WPS 演示</Application>
  <PresentationFormat>Converted Presentation</PresentationFormat>
  <Paragraphs>678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Arial</vt:lpstr>
      <vt:lpstr>Georgia</vt:lpstr>
      <vt:lpstr>微软雅黑</vt:lpstr>
      <vt:lpstr>Arial Unicode MS</vt:lpstr>
      <vt:lpstr>Calibri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章报晖</cp:lastModifiedBy>
  <cp:revision>1</cp:revision>
  <dcterms:created xsi:type="dcterms:W3CDTF">2026-09-08T11:06:53Z</dcterms:created>
  <dcterms:modified xsi:type="dcterms:W3CDTF">2026-09-08T11:06:53Z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27D081CDA3C243F1B3FCFA84874F6F28_12</vt:lpwstr>
  </property>
</Properties>
</file>