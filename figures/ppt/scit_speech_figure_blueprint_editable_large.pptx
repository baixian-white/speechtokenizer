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3289f3270c4d4b" /><Relationship Type="http://schemas.openxmlformats.org/officeDocument/2006/relationships/extended-properties" Target="/docProps/app.xml" Id="R8444850cfc064402" /><Relationship Type="http://schemas.openxmlformats.org/officeDocument/2006/relationships/officeDocument" Target="/ppt/presentation.xml" Id="Radb98bf4392e4c57" /></Relationships>
</file>

<file path=ppt/presentation.xml><?xml version="1.0" encoding="utf-8"?>
<p:presentation xmlns:p="http://schemas.openxmlformats.org/presentationml/2006/main">
  <p:sldMasterIdLst>
    <p:sldMasterId xmlns:r="http://schemas.openxmlformats.org/officeDocument/2006/relationships" id="2147483648" r:id="Red9c6245da434734"/>
  </p:sldMasterIdLst>
  <p:notesMasterIdLst>
    <p:notesMasterId xmlns:r="http://schemas.openxmlformats.org/officeDocument/2006/relationships" r:id="R652f7fef272e420b"/>
  </p:notesMasterIdLst>
  <p:sldIdLst>
    <p:sldId xmlns:r="http://schemas.openxmlformats.org/officeDocument/2006/relationships" id="256" r:id="Rd491eaec3d2241ef"/>
  </p:sldIdLst>
  <p:sldSz cx="22860000" cy="13335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4a95f26f6441f0" /><Relationship Type="http://schemas.openxmlformats.org/officeDocument/2006/relationships/slideMaster" Target="/ppt/slideMasters/slideMaster1.xml" Id="Red9c6245da434734" /><Relationship Type="http://schemas.openxmlformats.org/officeDocument/2006/relationships/notesMaster" Target="/ppt/notesMasters/notesMaster1.xml" Id="R652f7fef272e420b" /><Relationship Type="http://schemas.openxmlformats.org/officeDocument/2006/relationships/presProps" Target="/ppt/presProps.xml" Id="R6557a3acc3fd42e3" /><Relationship Type="http://schemas.openxmlformats.org/officeDocument/2006/relationships/tableStyles" Target="/ppt/tableStyles.xml" Id="Rb1bfabaa93674d39" /><Relationship Type="http://schemas.openxmlformats.org/officeDocument/2006/relationships/slide" Target="/ppt/slides/slide1.xml" Id="Rd491eaec3d2241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dee752e0ea4f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727a93b06344b7" /><Relationship Type="http://schemas.openxmlformats.org/officeDocument/2006/relationships/notesMaster" Target="/ppt/notesMasters/notesMaster1.xml" Id="R14e89534b88a4e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Large-text revision copied from the editable PPT design. Native PowerPoint shapes were retained, typography was enlarged, module fills and outlines were strengthened, and text boxes were constrained to their parent boxes.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25e05777fe47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39241cd87249ee" /><Relationship Type="http://schemas.openxmlformats.org/officeDocument/2006/relationships/slideLayout" Target="/ppt/slideLayouts/slideLayout1.xml" Id="R503df0ec58b84a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3df0ec58b84a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0d3e961e4d4267" /><Relationship Type="http://schemas.openxmlformats.org/officeDocument/2006/relationships/notesSlide" Target="/ppt/notesSlides/notesSlide1.xml" Id="R40f683d3e34c46b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3" name="svg_rect_001">
            <a:extLst xmlns:a="http://schemas.openxmlformats.org/drawingml/2006/main">
              <a:ext uri="{FF2B5EF4-FFF2-40B4-BE49-F238E27FC236}">
                <a16:creationId xmlns:a16="http://schemas.microsoft.com/office/drawing/2014/main" id="{5933904C-EF86-46A8-A016-86AE3E58DFE4}"/>
              </a:ext>
            </a:extLst>
          </p:cNvPr>
          <p:cNvSpPr>
            <a:spLocks xmlns:a="http://schemas.openxmlformats.org/drawingml/2006/main" noGrp="1"/>
          </p:cNvSpPr>
          <p:nvPr/>
        </p:nvSpPr>
        <p:spPr>
          <a:xfrm xmlns:a="http://schemas.openxmlformats.org/drawingml/2006/main">
            <a:off x="0" y="0"/>
            <a:ext cx="22860000" cy="13335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svg_rect_002">
            <a:extLst xmlns:a="http://schemas.openxmlformats.org/drawingml/2006/main">
              <a:ext uri="{FF2B5EF4-FFF2-40B4-BE49-F238E27FC236}">
                <a16:creationId xmlns:a16="http://schemas.microsoft.com/office/drawing/2014/main" id="{FCC41DA2-0ADD-45B2-95AA-24C7C3FFCE53}"/>
              </a:ext>
            </a:extLst>
          </p:cNvPr>
          <p:cNvSpPr>
            <a:spLocks xmlns:a="http://schemas.openxmlformats.org/drawingml/2006/main" noGrp="1"/>
          </p:cNvSpPr>
          <p:nvPr/>
        </p:nvSpPr>
        <p:spPr>
          <a:xfrm xmlns:a="http://schemas.openxmlformats.org/drawingml/2006/main">
            <a:off x="190500" y="190500"/>
            <a:ext cx="2247900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24765">
            <a:solidFill>
              <a:srgbClr val="7DB5E8"/>
            </a:solidFill>
            <a:prstDash val="dash"/>
          </a:ln>
        </p:spPr>
      </p:sp>
      <p:sp>
        <p:nvSpPr>
          <p:cNvPr id="3" name="svg_circle_003">
            <a:extLst xmlns:a="http://schemas.openxmlformats.org/drawingml/2006/main">
              <a:ext uri="{FF2B5EF4-FFF2-40B4-BE49-F238E27FC236}">
                <a16:creationId xmlns:a16="http://schemas.microsoft.com/office/drawing/2014/main" id="{4A1A9C0D-D373-4C42-ABD8-A2C32D304354}"/>
              </a:ext>
            </a:extLst>
          </p:cNvPr>
          <p:cNvSpPr>
            <a:spLocks xmlns:a="http://schemas.openxmlformats.org/drawingml/2006/main" noGrp="1"/>
          </p:cNvSpPr>
          <p:nvPr/>
        </p:nvSpPr>
        <p:spPr>
          <a:xfrm xmlns:a="http://schemas.openxmlformats.org/drawingml/2006/main">
            <a:off x="257175" y="257175"/>
            <a:ext cx="533400" cy="533400"/>
          </a:xfrm>
          <a:prstGeom xmlns:a="http://schemas.openxmlformats.org/drawingml/2006/main" prst="ellipse">
            <a:avLst/>
          </a:prstGeom>
          <a:solidFill xmlns:a="http://schemas.openxmlformats.org/drawingml/2006/main">
            <a:srgbClr val="080B0E"/>
          </a:solidFill>
          <a:ln xmlns:a="http://schemas.openxmlformats.org/drawingml/2006/main" w="0">
            <a:noFill/>
            <a:prstDash val="solid"/>
          </a:ln>
        </p:spPr>
      </p:sp>
      <p:sp>
        <p:nvSpPr>
          <p:cNvPr id="4" name="svg_text_004">
            <a:extLst xmlns:a="http://schemas.openxmlformats.org/drawingml/2006/main">
              <a:ext uri="{FF2B5EF4-FFF2-40B4-BE49-F238E27FC236}">
                <a16:creationId xmlns:a16="http://schemas.microsoft.com/office/drawing/2014/main" id="{BED4734B-1BA1-489E-8EB6-BCE882F3220F}"/>
              </a:ext>
            </a:extLst>
          </p:cNvPr>
          <p:cNvSpPr>
            <a:spLocks xmlns:a="http://schemas.openxmlformats.org/drawingml/2006/main" noGrp="1"/>
          </p:cNvSpPr>
          <p:nvPr/>
        </p:nvSpPr>
        <p:spPr>
          <a:xfrm xmlns:a="http://schemas.openxmlformats.org/drawingml/2006/main">
            <a:off x="285750" y="2857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87" b="1" i="0">
                <a:solidFill>
                  <a:srgbClr val="FFFFFF"/>
                </a:solidFill>
                <a:latin typeface="Arial"/>
                <a:ea typeface="Arial"/>
                <a:cs typeface="Arial"/>
              </a:defRPr>
            </a:pPr>
            <a:r>
              <a:rPr sz="2187" b="1" i="0">
                <a:solidFill>
                  <a:srgbClr val="FFFFFF"/>
                </a:solidFill>
                <a:latin typeface="Arial"/>
                <a:ea typeface="Arial"/>
                <a:cs typeface="Arial"/>
              </a:rPr>
              <a:t>1</a:t>
            </a:r>
          </a:p>
        </p:txBody>
      </p:sp>
      <p:sp>
        <p:nvSpPr>
          <p:cNvPr id="5" name="svg_text_005">
            <a:extLst xmlns:a="http://schemas.openxmlformats.org/drawingml/2006/main">
              <a:ext uri="{FF2B5EF4-FFF2-40B4-BE49-F238E27FC236}">
                <a16:creationId xmlns:a16="http://schemas.microsoft.com/office/drawing/2014/main" id="{5ED52988-B888-48DD-96F2-3784CB8D441B}"/>
              </a:ext>
            </a:extLst>
          </p:cNvPr>
          <p:cNvSpPr>
            <a:spLocks xmlns:a="http://schemas.openxmlformats.org/drawingml/2006/main" noGrp="1"/>
          </p:cNvSpPr>
          <p:nvPr/>
        </p:nvSpPr>
        <p:spPr>
          <a:xfrm xmlns:a="http://schemas.openxmlformats.org/drawingml/2006/main">
            <a:off x="904875" y="285064"/>
            <a:ext cx="7244334" cy="4398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2340" b="1" i="0">
                <a:solidFill>
                  <a:srgbClr val="0F1720"/>
                </a:solidFill>
                <a:latin typeface="Arial"/>
                <a:ea typeface="Arial"/>
                <a:cs typeface="Arial"/>
              </a:defRPr>
            </a:pPr>
            <a:r>
              <a:rPr sz="2340" b="1" i="0">
                <a:solidFill>
                  <a:srgbClr val="0F1720"/>
                </a:solidFill>
                <a:latin typeface="Arial"/>
                <a:ea typeface="Arial"/>
                <a:cs typeface="Arial"/>
              </a:rPr>
              <a:t>OFFLINE ENCODER ARCHITECTURE SEARCH</a:t>
            </a:r>
          </a:p>
        </p:txBody>
      </p:sp>
      <p:sp>
        <p:nvSpPr>
          <p:cNvPr id="6" name="svg_rect_006">
            <a:extLst xmlns:a="http://schemas.openxmlformats.org/drawingml/2006/main">
              <a:ext uri="{FF2B5EF4-FFF2-40B4-BE49-F238E27FC236}">
                <a16:creationId xmlns:a16="http://schemas.microsoft.com/office/drawing/2014/main" id="{E0AF7303-84D3-41D5-A492-E60FFC416197}"/>
              </a:ext>
            </a:extLst>
          </p:cNvPr>
          <p:cNvSpPr>
            <a:spLocks xmlns:a="http://schemas.openxmlformats.org/drawingml/2006/main" noGrp="1"/>
          </p:cNvSpPr>
          <p:nvPr/>
        </p:nvSpPr>
        <p:spPr>
          <a:xfrm xmlns:a="http://schemas.openxmlformats.org/drawingml/2006/main">
            <a:off x="20634960" y="316230"/>
            <a:ext cx="1783080" cy="396240"/>
          </a:xfrm>
          <a:prstGeom xmlns:a="http://schemas.openxmlformats.org/drawingml/2006/main" prst="roundRect">
            <a:avLst>
              <a:gd name="adj" fmla="val 21635"/>
            </a:avLst>
          </a:prstGeom>
          <a:solidFill xmlns:a="http://schemas.openxmlformats.org/drawingml/2006/main">
            <a:srgbClr val="E4F2FF"/>
          </a:solidFill>
          <a:ln xmlns:a="http://schemas.openxmlformats.org/drawingml/2006/main" w="18574">
            <a:solidFill>
              <a:srgbClr val="78AFE0"/>
            </a:solidFill>
            <a:prstDash val="solid"/>
          </a:ln>
        </p:spPr>
      </p:sp>
      <p:sp>
        <p:nvSpPr>
          <p:cNvPr id="7" name="svg_text_007">
            <a:extLst xmlns:a="http://schemas.openxmlformats.org/drawingml/2006/main">
              <a:ext uri="{FF2B5EF4-FFF2-40B4-BE49-F238E27FC236}">
                <a16:creationId xmlns:a16="http://schemas.microsoft.com/office/drawing/2014/main" id="{D1B5400D-8801-4B04-85AC-AB9B2CB0EC91}"/>
              </a:ext>
            </a:extLst>
          </p:cNvPr>
          <p:cNvSpPr>
            <a:spLocks xmlns:a="http://schemas.openxmlformats.org/drawingml/2006/main" noGrp="1"/>
          </p:cNvSpPr>
          <p:nvPr/>
        </p:nvSpPr>
        <p:spPr>
          <a:xfrm xmlns:a="http://schemas.openxmlformats.org/drawingml/2006/main">
            <a:off x="20697368" y="368964"/>
            <a:ext cx="165826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588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Encoder Search Only</a:t>
            </a:r>
          </a:p>
        </p:txBody>
      </p:sp>
      <p:sp>
        <p:nvSpPr>
          <p:cNvPr id="8" name="svg_rect_008">
            <a:extLst xmlns:a="http://schemas.openxmlformats.org/drawingml/2006/main">
              <a:ext uri="{FF2B5EF4-FFF2-40B4-BE49-F238E27FC236}">
                <a16:creationId xmlns:a16="http://schemas.microsoft.com/office/drawing/2014/main" id="{2255BE87-9A4D-496D-976D-6682EB059A20}"/>
              </a:ext>
            </a:extLst>
          </p:cNvPr>
          <p:cNvSpPr>
            <a:spLocks xmlns:a="http://schemas.openxmlformats.org/drawingml/2006/main" noGrp="1"/>
          </p:cNvSpPr>
          <p:nvPr/>
        </p:nvSpPr>
        <p:spPr>
          <a:xfrm xmlns:a="http://schemas.openxmlformats.org/drawingml/2006/main">
            <a:off x="609600" y="983933"/>
            <a:ext cx="2971800" cy="842010"/>
          </a:xfrm>
          <a:prstGeom xmlns:a="http://schemas.openxmlformats.org/drawingml/2006/main" prst="roundRect">
            <a:avLst>
              <a:gd name="adj" fmla="val 9050"/>
            </a:avLst>
          </a:prstGeom>
          <a:solidFill xmlns:a="http://schemas.openxmlformats.org/drawingml/2006/main">
            <a:srgbClr val="EDF6FF"/>
          </a:solidFill>
          <a:ln xmlns:a="http://schemas.openxmlformats.org/drawingml/2006/main" w="24765">
            <a:solidFill>
              <a:srgbClr val="408FD2"/>
            </a:solidFill>
            <a:prstDash val="solid"/>
          </a:ln>
        </p:spPr>
      </p:sp>
      <p:sp>
        <p:nvSpPr>
          <p:cNvPr id="9" name="svg_text_009">
            <a:extLst xmlns:a="http://schemas.openxmlformats.org/drawingml/2006/main">
              <a:ext uri="{FF2B5EF4-FFF2-40B4-BE49-F238E27FC236}">
                <a16:creationId xmlns:a16="http://schemas.microsoft.com/office/drawing/2014/main" id="{41CE9C5A-E258-4001-8C79-7031C7DA19C0}"/>
              </a:ext>
            </a:extLst>
          </p:cNvPr>
          <p:cNvSpPr>
            <a:spLocks xmlns:a="http://schemas.openxmlformats.org/drawingml/2006/main" noGrp="1"/>
          </p:cNvSpPr>
          <p:nvPr/>
        </p:nvSpPr>
        <p:spPr>
          <a:xfrm xmlns:a="http://schemas.openxmlformats.org/drawingml/2006/main">
            <a:off x="704850" y="1102389"/>
            <a:ext cx="278130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Candidate Encoder Space</a:t>
            </a:r>
          </a:p>
        </p:txBody>
      </p:sp>
      <p:sp>
        <p:nvSpPr>
          <p:cNvPr id="10" name="svg_text_010">
            <a:extLst xmlns:a="http://schemas.openxmlformats.org/drawingml/2006/main">
              <a:ext uri="{FF2B5EF4-FFF2-40B4-BE49-F238E27FC236}">
                <a16:creationId xmlns:a16="http://schemas.microsoft.com/office/drawing/2014/main" id="{40AD78BB-4864-4A06-BBF1-B96687369CA3}"/>
              </a:ext>
            </a:extLst>
          </p:cNvPr>
          <p:cNvSpPr>
            <a:spLocks xmlns:a="http://schemas.openxmlformats.org/drawingml/2006/main" noGrp="1"/>
          </p:cNvSpPr>
          <p:nvPr/>
        </p:nvSpPr>
        <p:spPr>
          <a:xfrm xmlns:a="http://schemas.openxmlformats.org/drawingml/2006/main">
            <a:off x="704850" y="1390021"/>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candidate blocks, widths and depths</a:t>
            </a:r>
          </a:p>
        </p:txBody>
      </p:sp>
      <p:sp>
        <p:nvSpPr>
          <p:cNvPr id="11" name="svg_path_011">
            <a:extLst xmlns:a="http://schemas.openxmlformats.org/drawingml/2006/main">
              <a:ext uri="{FF2B5EF4-FFF2-40B4-BE49-F238E27FC236}">
                <a16:creationId xmlns:a16="http://schemas.microsoft.com/office/drawing/2014/main" id="{2A87AD44-3916-4361-B183-1D4AE601368A}"/>
              </a:ext>
            </a:extLst>
          </p:cNvPr>
          <p:cNvSpPr>
            <a:spLocks xmlns:a="http://schemas.openxmlformats.org/drawingml/2006/main" noGrp="1"/>
          </p:cNvSpPr>
          <p:nvPr/>
        </p:nvSpPr>
        <p:spPr>
          <a:xfrm xmlns:a="http://schemas.openxmlformats.org/drawingml/2006/main">
            <a:off x="3524250" y="1400175"/>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30956">
            <a:solidFill>
              <a:srgbClr val="2386D8"/>
            </a:solidFill>
            <a:prstDash val="solid"/>
          </a:ln>
        </p:spPr>
      </p:sp>
      <p:sp>
        <p:nvSpPr>
          <p:cNvPr id="12" name="svg_arrowhead_012">
            <a:extLst xmlns:a="http://schemas.openxmlformats.org/drawingml/2006/main">
              <a:ext uri="{FF2B5EF4-FFF2-40B4-BE49-F238E27FC236}">
                <a16:creationId xmlns:a16="http://schemas.microsoft.com/office/drawing/2014/main" id="{B80FAE8A-870C-4500-A3B9-BC7AFB8758BC}"/>
              </a:ext>
            </a:extLst>
          </p:cNvPr>
          <p:cNvSpPr>
            <a:spLocks xmlns:a="http://schemas.openxmlformats.org/drawingml/2006/main" noGrp="1"/>
          </p:cNvSpPr>
          <p:nvPr/>
        </p:nvSpPr>
        <p:spPr>
          <a:xfrm xmlns:a="http://schemas.openxmlformats.org/drawingml/2006/main">
            <a:off x="4152900" y="13335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3" name="svg_rect_013">
            <a:extLst xmlns:a="http://schemas.openxmlformats.org/drawingml/2006/main">
              <a:ext uri="{FF2B5EF4-FFF2-40B4-BE49-F238E27FC236}">
                <a16:creationId xmlns:a16="http://schemas.microsoft.com/office/drawing/2014/main" id="{1D16ABBF-1402-4759-AA81-4A4512A2C615}"/>
              </a:ext>
            </a:extLst>
          </p:cNvPr>
          <p:cNvSpPr>
            <a:spLocks xmlns:a="http://schemas.openxmlformats.org/drawingml/2006/main" noGrp="1"/>
          </p:cNvSpPr>
          <p:nvPr/>
        </p:nvSpPr>
        <p:spPr>
          <a:xfrm xmlns:a="http://schemas.openxmlformats.org/drawingml/2006/main">
            <a:off x="4216718" y="884872"/>
            <a:ext cx="3615690" cy="1040130"/>
          </a:xfrm>
          <a:prstGeom xmlns:a="http://schemas.openxmlformats.org/drawingml/2006/main" prst="roundRect">
            <a:avLst>
              <a:gd name="adj" fmla="val 7326"/>
            </a:avLst>
          </a:prstGeom>
          <a:solidFill xmlns:a="http://schemas.openxmlformats.org/drawingml/2006/main">
            <a:srgbClr val="EDF6FF"/>
          </a:solidFill>
          <a:ln xmlns:a="http://schemas.openxmlformats.org/drawingml/2006/main" w="24765">
            <a:solidFill>
              <a:srgbClr val="408FD2"/>
            </a:solidFill>
            <a:prstDash val="solid"/>
          </a:ln>
        </p:spPr>
      </p:sp>
      <p:sp>
        <p:nvSpPr>
          <p:cNvPr id="14" name="svg_text_014">
            <a:extLst xmlns:a="http://schemas.openxmlformats.org/drawingml/2006/main">
              <a:ext uri="{FF2B5EF4-FFF2-40B4-BE49-F238E27FC236}">
                <a16:creationId xmlns:a16="http://schemas.microsoft.com/office/drawing/2014/main" id="{9C15E9CE-5E60-42D0-BED7-7E433DE7ECCE}"/>
              </a:ext>
            </a:extLst>
          </p:cNvPr>
          <p:cNvSpPr>
            <a:spLocks xmlns:a="http://schemas.openxmlformats.org/drawingml/2006/main" noGrp="1"/>
          </p:cNvSpPr>
          <p:nvPr/>
        </p:nvSpPr>
        <p:spPr>
          <a:xfrm xmlns:a="http://schemas.openxmlformats.org/drawingml/2006/main">
            <a:off x="4311968" y="1016664"/>
            <a:ext cx="342519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Teacher-Guided Proxy Training</a:t>
            </a:r>
          </a:p>
        </p:txBody>
      </p:sp>
      <p:sp>
        <p:nvSpPr>
          <p:cNvPr id="15" name="svg_text_015">
            <a:extLst xmlns:a="http://schemas.openxmlformats.org/drawingml/2006/main">
              <a:ext uri="{FF2B5EF4-FFF2-40B4-BE49-F238E27FC236}">
                <a16:creationId xmlns:a16="http://schemas.microsoft.com/office/drawing/2014/main" id="{1DB0A473-3990-4564-9691-1082583D9339}"/>
              </a:ext>
            </a:extLst>
          </p:cNvPr>
          <p:cNvSpPr>
            <a:spLocks xmlns:a="http://schemas.openxmlformats.org/drawingml/2006/main" noGrp="1"/>
          </p:cNvSpPr>
          <p:nvPr/>
        </p:nvSpPr>
        <p:spPr>
          <a:xfrm xmlns:a="http://schemas.openxmlformats.org/drawingml/2006/main">
            <a:off x="4311968" y="1294771"/>
            <a:ext cx="34251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Teacher → distillation → Student</a:t>
            </a:r>
          </a:p>
        </p:txBody>
      </p:sp>
      <p:sp>
        <p:nvSpPr>
          <p:cNvPr id="16" name="svg_text_016">
            <a:extLst xmlns:a="http://schemas.openxmlformats.org/drawingml/2006/main">
              <a:ext uri="{FF2B5EF4-FFF2-40B4-BE49-F238E27FC236}">
                <a16:creationId xmlns:a16="http://schemas.microsoft.com/office/drawing/2014/main" id="{BF07A43B-6F34-42F0-A2F8-CF151AB87A34}"/>
              </a:ext>
            </a:extLst>
          </p:cNvPr>
          <p:cNvSpPr>
            <a:spLocks xmlns:a="http://schemas.openxmlformats.org/drawingml/2006/main" noGrp="1"/>
          </p:cNvSpPr>
          <p:nvPr/>
        </p:nvSpPr>
        <p:spPr>
          <a:xfrm xmlns:a="http://schemas.openxmlformats.org/drawingml/2006/main">
            <a:off x="4311968" y="1523371"/>
            <a:ext cx="34251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short proxy training for every candidate</a:t>
            </a:r>
          </a:p>
        </p:txBody>
      </p:sp>
      <p:sp>
        <p:nvSpPr>
          <p:cNvPr id="17" name="svg_path_017">
            <a:extLst xmlns:a="http://schemas.openxmlformats.org/drawingml/2006/main">
              <a:ext uri="{FF2B5EF4-FFF2-40B4-BE49-F238E27FC236}">
                <a16:creationId xmlns:a16="http://schemas.microsoft.com/office/drawing/2014/main" id="{8CD3D771-7329-47DD-8C80-5CDE7B9DE5A4}"/>
              </a:ext>
            </a:extLst>
          </p:cNvPr>
          <p:cNvSpPr>
            <a:spLocks xmlns:a="http://schemas.openxmlformats.org/drawingml/2006/main" noGrp="1"/>
          </p:cNvSpPr>
          <p:nvPr/>
        </p:nvSpPr>
        <p:spPr>
          <a:xfrm xmlns:a="http://schemas.openxmlformats.org/drawingml/2006/main">
            <a:off x="7762875" y="1400175"/>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30956">
            <a:solidFill>
              <a:srgbClr val="2386D8"/>
            </a:solidFill>
            <a:prstDash val="solid"/>
          </a:ln>
        </p:spPr>
      </p:sp>
      <p:sp>
        <p:nvSpPr>
          <p:cNvPr id="18" name="svg_arrowhead_018">
            <a:extLst xmlns:a="http://schemas.openxmlformats.org/drawingml/2006/main">
              <a:ext uri="{FF2B5EF4-FFF2-40B4-BE49-F238E27FC236}">
                <a16:creationId xmlns:a16="http://schemas.microsoft.com/office/drawing/2014/main" id="{E5A8BF49-7861-4DCA-A933-C1462E739A6B}"/>
              </a:ext>
            </a:extLst>
          </p:cNvPr>
          <p:cNvSpPr>
            <a:spLocks xmlns:a="http://schemas.openxmlformats.org/drawingml/2006/main" noGrp="1"/>
          </p:cNvSpPr>
          <p:nvPr/>
        </p:nvSpPr>
        <p:spPr>
          <a:xfrm xmlns:a="http://schemas.openxmlformats.org/drawingml/2006/main">
            <a:off x="8391525" y="13335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9" name="svg_rect_019">
            <a:extLst xmlns:a="http://schemas.openxmlformats.org/drawingml/2006/main">
              <a:ext uri="{FF2B5EF4-FFF2-40B4-BE49-F238E27FC236}">
                <a16:creationId xmlns:a16="http://schemas.microsoft.com/office/drawing/2014/main" id="{C16FFA5F-B2BD-4D70-8382-F4BF0E893323}"/>
              </a:ext>
            </a:extLst>
          </p:cNvPr>
          <p:cNvSpPr>
            <a:spLocks xmlns:a="http://schemas.openxmlformats.org/drawingml/2006/main" noGrp="1"/>
          </p:cNvSpPr>
          <p:nvPr/>
        </p:nvSpPr>
        <p:spPr>
          <a:xfrm xmlns:a="http://schemas.openxmlformats.org/drawingml/2006/main">
            <a:off x="8455343" y="884872"/>
            <a:ext cx="3615690" cy="1040130"/>
          </a:xfrm>
          <a:prstGeom xmlns:a="http://schemas.openxmlformats.org/drawingml/2006/main" prst="roundRect">
            <a:avLst>
              <a:gd name="adj" fmla="val 7326"/>
            </a:avLst>
          </a:prstGeom>
          <a:solidFill xmlns:a="http://schemas.openxmlformats.org/drawingml/2006/main">
            <a:srgbClr val="EDF6FF"/>
          </a:solidFill>
          <a:ln xmlns:a="http://schemas.openxmlformats.org/drawingml/2006/main" w="24765">
            <a:solidFill>
              <a:srgbClr val="408FD2"/>
            </a:solidFill>
            <a:prstDash val="solid"/>
          </a:ln>
        </p:spPr>
      </p:sp>
      <p:sp>
        <p:nvSpPr>
          <p:cNvPr id="20" name="svg_text_020">
            <a:extLst xmlns:a="http://schemas.openxmlformats.org/drawingml/2006/main">
              <a:ext uri="{FF2B5EF4-FFF2-40B4-BE49-F238E27FC236}">
                <a16:creationId xmlns:a16="http://schemas.microsoft.com/office/drawing/2014/main" id="{889D2EC5-94FB-4576-B2D3-E5DB6895F7C1}"/>
              </a:ext>
            </a:extLst>
          </p:cNvPr>
          <p:cNvSpPr>
            <a:spLocks xmlns:a="http://schemas.openxmlformats.org/drawingml/2006/main" noGrp="1"/>
          </p:cNvSpPr>
          <p:nvPr/>
        </p:nvSpPr>
        <p:spPr>
          <a:xfrm xmlns:a="http://schemas.openxmlformats.org/drawingml/2006/main">
            <a:off x="8550593" y="1016664"/>
            <a:ext cx="342519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Resource and Quality Profiling</a:t>
            </a:r>
          </a:p>
        </p:txBody>
      </p:sp>
      <p:sp>
        <p:nvSpPr>
          <p:cNvPr id="21" name="svg_text_021">
            <a:extLst xmlns:a="http://schemas.openxmlformats.org/drawingml/2006/main">
              <a:ext uri="{FF2B5EF4-FFF2-40B4-BE49-F238E27FC236}">
                <a16:creationId xmlns:a16="http://schemas.microsoft.com/office/drawing/2014/main" id="{AC2F7506-E4FB-410C-8CD1-D8DB5D67A121}"/>
              </a:ext>
            </a:extLst>
          </p:cNvPr>
          <p:cNvSpPr>
            <a:spLocks xmlns:a="http://schemas.openxmlformats.org/drawingml/2006/main" noGrp="1"/>
          </p:cNvSpPr>
          <p:nvPr/>
        </p:nvSpPr>
        <p:spPr>
          <a:xfrm xmlns:a="http://schemas.openxmlformats.org/drawingml/2006/main">
            <a:off x="8550593" y="1294771"/>
            <a:ext cx="34251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quality ↑ · latency ↓ · model size ↓</a:t>
            </a:r>
          </a:p>
        </p:txBody>
      </p:sp>
      <p:sp>
        <p:nvSpPr>
          <p:cNvPr id="22" name="svg_text_022">
            <a:extLst xmlns:a="http://schemas.openxmlformats.org/drawingml/2006/main">
              <a:ext uri="{FF2B5EF4-FFF2-40B4-BE49-F238E27FC236}">
                <a16:creationId xmlns:a16="http://schemas.microsoft.com/office/drawing/2014/main" id="{C524557B-F42F-41D4-9611-DD9A53E96FFA}"/>
              </a:ext>
            </a:extLst>
          </p:cNvPr>
          <p:cNvSpPr>
            <a:spLocks xmlns:a="http://schemas.openxmlformats.org/drawingml/2006/main" noGrp="1"/>
          </p:cNvSpPr>
          <p:nvPr/>
        </p:nvSpPr>
        <p:spPr>
          <a:xfrm xmlns:a="http://schemas.openxmlformats.org/drawingml/2006/main">
            <a:off x="8550593" y="1523371"/>
            <a:ext cx="34251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one point per candidate encoder</a:t>
            </a:r>
          </a:p>
        </p:txBody>
      </p:sp>
      <p:sp>
        <p:nvSpPr>
          <p:cNvPr id="23" name="svg_path_023">
            <a:extLst xmlns:a="http://schemas.openxmlformats.org/drawingml/2006/main">
              <a:ext uri="{FF2B5EF4-FFF2-40B4-BE49-F238E27FC236}">
                <a16:creationId xmlns:a16="http://schemas.microsoft.com/office/drawing/2014/main" id="{FC9A312B-5B6F-46BB-ADB7-B8FE208E4557}"/>
              </a:ext>
            </a:extLst>
          </p:cNvPr>
          <p:cNvSpPr>
            <a:spLocks xmlns:a="http://schemas.openxmlformats.org/drawingml/2006/main" noGrp="1"/>
          </p:cNvSpPr>
          <p:nvPr/>
        </p:nvSpPr>
        <p:spPr>
          <a:xfrm xmlns:a="http://schemas.openxmlformats.org/drawingml/2006/main">
            <a:off x="12001500" y="1400175"/>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30956">
            <a:solidFill>
              <a:srgbClr val="2386D8"/>
            </a:solidFill>
            <a:prstDash val="solid"/>
          </a:ln>
        </p:spPr>
      </p:sp>
      <p:sp>
        <p:nvSpPr>
          <p:cNvPr id="24" name="svg_arrowhead_024">
            <a:extLst xmlns:a="http://schemas.openxmlformats.org/drawingml/2006/main">
              <a:ext uri="{FF2B5EF4-FFF2-40B4-BE49-F238E27FC236}">
                <a16:creationId xmlns:a16="http://schemas.microsoft.com/office/drawing/2014/main" id="{88E8946A-D4D5-424A-B262-D6DDC446FAD9}"/>
              </a:ext>
            </a:extLst>
          </p:cNvPr>
          <p:cNvSpPr>
            <a:spLocks xmlns:a="http://schemas.openxmlformats.org/drawingml/2006/main" noGrp="1"/>
          </p:cNvSpPr>
          <p:nvPr/>
        </p:nvSpPr>
        <p:spPr>
          <a:xfrm xmlns:a="http://schemas.openxmlformats.org/drawingml/2006/main">
            <a:off x="12630150" y="13335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5" name="svg_rect_025">
            <a:extLst xmlns:a="http://schemas.openxmlformats.org/drawingml/2006/main">
              <a:ext uri="{FF2B5EF4-FFF2-40B4-BE49-F238E27FC236}">
                <a16:creationId xmlns:a16="http://schemas.microsoft.com/office/drawing/2014/main" id="{F7C418BD-3A2E-4180-9DEA-9ABA28EE5024}"/>
              </a:ext>
            </a:extLst>
          </p:cNvPr>
          <p:cNvSpPr>
            <a:spLocks xmlns:a="http://schemas.openxmlformats.org/drawingml/2006/main" noGrp="1"/>
          </p:cNvSpPr>
          <p:nvPr/>
        </p:nvSpPr>
        <p:spPr>
          <a:xfrm xmlns:a="http://schemas.openxmlformats.org/drawingml/2006/main">
            <a:off x="12708255" y="983933"/>
            <a:ext cx="2872740" cy="842010"/>
          </a:xfrm>
          <a:prstGeom xmlns:a="http://schemas.openxmlformats.org/drawingml/2006/main" prst="roundRect">
            <a:avLst>
              <a:gd name="adj" fmla="val 9050"/>
            </a:avLst>
          </a:prstGeom>
          <a:solidFill xmlns:a="http://schemas.openxmlformats.org/drawingml/2006/main">
            <a:srgbClr val="EDF6FF"/>
          </a:solidFill>
          <a:ln xmlns:a="http://schemas.openxmlformats.org/drawingml/2006/main" w="24765">
            <a:solidFill>
              <a:srgbClr val="408FD2"/>
            </a:solidFill>
            <a:prstDash val="solid"/>
          </a:ln>
        </p:spPr>
      </p:sp>
      <p:sp>
        <p:nvSpPr>
          <p:cNvPr id="26" name="svg_text_026">
            <a:extLst xmlns:a="http://schemas.openxmlformats.org/drawingml/2006/main">
              <a:ext uri="{FF2B5EF4-FFF2-40B4-BE49-F238E27FC236}">
                <a16:creationId xmlns:a16="http://schemas.microsoft.com/office/drawing/2014/main" id="{1454D157-DEA6-4243-82A6-23D63783BBB7}"/>
              </a:ext>
            </a:extLst>
          </p:cNvPr>
          <p:cNvSpPr>
            <a:spLocks xmlns:a="http://schemas.openxmlformats.org/drawingml/2006/main" noGrp="1"/>
          </p:cNvSpPr>
          <p:nvPr/>
        </p:nvSpPr>
        <p:spPr>
          <a:xfrm xmlns:a="http://schemas.openxmlformats.org/drawingml/2006/main">
            <a:off x="12803505" y="1102389"/>
            <a:ext cx="268224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Pareto Selection</a:t>
            </a:r>
          </a:p>
        </p:txBody>
      </p:sp>
      <p:sp>
        <p:nvSpPr>
          <p:cNvPr id="27" name="svg_text_027">
            <a:extLst xmlns:a="http://schemas.openxmlformats.org/drawingml/2006/main">
              <a:ext uri="{FF2B5EF4-FFF2-40B4-BE49-F238E27FC236}">
                <a16:creationId xmlns:a16="http://schemas.microsoft.com/office/drawing/2014/main" id="{44AD6E62-F2FA-4C60-A970-775D8E67F4BD}"/>
              </a:ext>
            </a:extLst>
          </p:cNvPr>
          <p:cNvSpPr>
            <a:spLocks xmlns:a="http://schemas.openxmlformats.org/drawingml/2006/main" noGrp="1"/>
          </p:cNvSpPr>
          <p:nvPr/>
        </p:nvSpPr>
        <p:spPr>
          <a:xfrm xmlns:a="http://schemas.openxmlformats.org/drawingml/2006/main">
            <a:off x="12803505" y="1390021"/>
            <a:ext cx="26822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quality versus resource cost</a:t>
            </a:r>
          </a:p>
        </p:txBody>
      </p:sp>
      <p:sp>
        <p:nvSpPr>
          <p:cNvPr id="28" name="svg_path_028">
            <a:extLst xmlns:a="http://schemas.openxmlformats.org/drawingml/2006/main">
              <a:ext uri="{FF2B5EF4-FFF2-40B4-BE49-F238E27FC236}">
                <a16:creationId xmlns:a16="http://schemas.microsoft.com/office/drawing/2014/main" id="{12DA8A74-55BE-470B-8E3F-9DDBC8578214}"/>
              </a:ext>
            </a:extLst>
          </p:cNvPr>
          <p:cNvSpPr>
            <a:spLocks xmlns:a="http://schemas.openxmlformats.org/drawingml/2006/main" noGrp="1"/>
          </p:cNvSpPr>
          <p:nvPr/>
        </p:nvSpPr>
        <p:spPr>
          <a:xfrm xmlns:a="http://schemas.openxmlformats.org/drawingml/2006/main">
            <a:off x="15525750" y="1400175"/>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30956">
            <a:solidFill>
              <a:srgbClr val="2386D8"/>
            </a:solidFill>
            <a:prstDash val="solid"/>
          </a:ln>
        </p:spPr>
      </p:sp>
      <p:sp>
        <p:nvSpPr>
          <p:cNvPr id="29" name="svg_arrowhead_029">
            <a:extLst xmlns:a="http://schemas.openxmlformats.org/drawingml/2006/main">
              <a:ext uri="{FF2B5EF4-FFF2-40B4-BE49-F238E27FC236}">
                <a16:creationId xmlns:a16="http://schemas.microsoft.com/office/drawing/2014/main" id="{4AB5C7D3-9926-4451-8191-1574909276ED}"/>
              </a:ext>
            </a:extLst>
          </p:cNvPr>
          <p:cNvSpPr>
            <a:spLocks xmlns:a="http://schemas.openxmlformats.org/drawingml/2006/main" noGrp="1"/>
          </p:cNvSpPr>
          <p:nvPr/>
        </p:nvSpPr>
        <p:spPr>
          <a:xfrm xmlns:a="http://schemas.openxmlformats.org/drawingml/2006/main">
            <a:off x="16154400" y="13335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0" name="svg_rect_030">
            <a:extLst xmlns:a="http://schemas.openxmlformats.org/drawingml/2006/main">
              <a:ext uri="{FF2B5EF4-FFF2-40B4-BE49-F238E27FC236}">
                <a16:creationId xmlns:a16="http://schemas.microsoft.com/office/drawing/2014/main" id="{44C0429C-0C3B-4315-88C1-C3BFE76DA4C8}"/>
              </a:ext>
            </a:extLst>
          </p:cNvPr>
          <p:cNvSpPr>
            <a:spLocks xmlns:a="http://schemas.openxmlformats.org/drawingml/2006/main" noGrp="1"/>
          </p:cNvSpPr>
          <p:nvPr/>
        </p:nvSpPr>
        <p:spPr>
          <a:xfrm xmlns:a="http://schemas.openxmlformats.org/drawingml/2006/main">
            <a:off x="16218218" y="884872"/>
            <a:ext cx="3615690" cy="1040130"/>
          </a:xfrm>
          <a:prstGeom xmlns:a="http://schemas.openxmlformats.org/drawingml/2006/main" prst="roundRect">
            <a:avLst>
              <a:gd name="adj" fmla="val 7326"/>
            </a:avLst>
          </a:prstGeom>
          <a:solidFill xmlns:a="http://schemas.openxmlformats.org/drawingml/2006/main">
            <a:srgbClr val="EDF6FF"/>
          </a:solidFill>
          <a:ln xmlns:a="http://schemas.openxmlformats.org/drawingml/2006/main" w="24765">
            <a:solidFill>
              <a:srgbClr val="408FD2"/>
            </a:solidFill>
            <a:prstDash val="solid"/>
          </a:ln>
        </p:spPr>
      </p:sp>
      <p:sp>
        <p:nvSpPr>
          <p:cNvPr id="31" name="svg_text_031">
            <a:extLst xmlns:a="http://schemas.openxmlformats.org/drawingml/2006/main">
              <a:ext uri="{FF2B5EF4-FFF2-40B4-BE49-F238E27FC236}">
                <a16:creationId xmlns:a16="http://schemas.microsoft.com/office/drawing/2014/main" id="{F1D5EFB6-5E62-4000-9A2E-B2491ACA4EFC}"/>
              </a:ext>
            </a:extLst>
          </p:cNvPr>
          <p:cNvSpPr>
            <a:spLocks xmlns:a="http://schemas.openxmlformats.org/drawingml/2006/main" noGrp="1"/>
          </p:cNvSpPr>
          <p:nvPr/>
        </p:nvSpPr>
        <p:spPr>
          <a:xfrm xmlns:a="http://schemas.openxmlformats.org/drawingml/2006/main">
            <a:off x="16313468" y="1016664"/>
            <a:ext cx="342519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NAS-Selected Encoder</a:t>
            </a:r>
          </a:p>
        </p:txBody>
      </p:sp>
      <p:sp>
        <p:nvSpPr>
          <p:cNvPr id="32" name="svg_text_032">
            <a:extLst xmlns:a="http://schemas.openxmlformats.org/drawingml/2006/main">
              <a:ext uri="{FF2B5EF4-FFF2-40B4-BE49-F238E27FC236}">
                <a16:creationId xmlns:a16="http://schemas.microsoft.com/office/drawing/2014/main" id="{280E266D-D71B-4F67-881B-FCCF90D17648}"/>
              </a:ext>
            </a:extLst>
          </p:cNvPr>
          <p:cNvSpPr>
            <a:spLocks xmlns:a="http://schemas.openxmlformats.org/drawingml/2006/main" noGrp="1"/>
          </p:cNvSpPr>
          <p:nvPr/>
        </p:nvSpPr>
        <p:spPr>
          <a:xfrm xmlns:a="http://schemas.openxmlformats.org/drawingml/2006/main">
            <a:off x="16313468" y="1294771"/>
            <a:ext cx="34251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selected architecture only</a:t>
            </a:r>
          </a:p>
        </p:txBody>
      </p:sp>
      <p:sp>
        <p:nvSpPr>
          <p:cNvPr id="33" name="svg_text_033">
            <a:extLst xmlns:a="http://schemas.openxmlformats.org/drawingml/2006/main">
              <a:ext uri="{FF2B5EF4-FFF2-40B4-BE49-F238E27FC236}">
                <a16:creationId xmlns:a16="http://schemas.microsoft.com/office/drawing/2014/main" id="{51F0285A-8F48-45FB-8844-A0DCFD959861}"/>
              </a:ext>
            </a:extLst>
          </p:cNvPr>
          <p:cNvSpPr>
            <a:spLocks xmlns:a="http://schemas.openxmlformats.org/drawingml/2006/main" noGrp="1"/>
          </p:cNvSpPr>
          <p:nvPr/>
        </p:nvSpPr>
        <p:spPr>
          <a:xfrm xmlns:a="http://schemas.openxmlformats.org/drawingml/2006/main">
            <a:off x="16313468" y="1523371"/>
            <a:ext cx="34251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used for full codec training</a:t>
            </a:r>
          </a:p>
        </p:txBody>
      </p:sp>
      <p:sp>
        <p:nvSpPr>
          <p:cNvPr id="34" name="svg_path_034">
            <a:extLst xmlns:a="http://schemas.openxmlformats.org/drawingml/2006/main">
              <a:ext uri="{FF2B5EF4-FFF2-40B4-BE49-F238E27FC236}">
                <a16:creationId xmlns:a16="http://schemas.microsoft.com/office/drawing/2014/main" id="{59FB2B62-72E8-49D5-B16A-9A57A59634E8}"/>
              </a:ext>
            </a:extLst>
          </p:cNvPr>
          <p:cNvSpPr>
            <a:spLocks xmlns:a="http://schemas.openxmlformats.org/drawingml/2006/main" noGrp="1"/>
          </p:cNvSpPr>
          <p:nvPr/>
        </p:nvSpPr>
        <p:spPr>
          <a:xfrm xmlns:a="http://schemas.openxmlformats.org/drawingml/2006/main">
            <a:off x="2762250" y="1905000"/>
            <a:ext cx="15259050" cy="1857375"/>
          </a:xfrm>
          <a:custGeom xmlns:a="http://schemas.openxmlformats.org/drawingml/2006/main">
            <a:pathLst>
              <a:path w="15259050" h="1857375">
                <a:moveTo>
                  <a:pt x="15259050" y="0"/>
                </a:moveTo>
                <a:lnTo>
                  <a:pt x="15259050" y="361950"/>
                </a:lnTo>
                <a:lnTo>
                  <a:pt x="0" y="361950"/>
                </a:lnTo>
                <a:lnTo>
                  <a:pt x="0" y="1857375"/>
                </a:lnTo>
              </a:path>
            </a:pathLst>
          </a:custGeom>
          <a:noFill xmlns:a="http://schemas.openxmlformats.org/drawingml/2006/main"/>
          <a:ln xmlns:a="http://schemas.openxmlformats.org/drawingml/2006/main" w="24765">
            <a:solidFill>
              <a:srgbClr val="2386D8"/>
            </a:solidFill>
            <a:prstDash val="dash"/>
          </a:ln>
        </p:spPr>
      </p:sp>
      <p:sp>
        <p:nvSpPr>
          <p:cNvPr id="35" name="svg_arrowhead_035">
            <a:extLst xmlns:a="http://schemas.openxmlformats.org/drawingml/2006/main">
              <a:ext uri="{FF2B5EF4-FFF2-40B4-BE49-F238E27FC236}">
                <a16:creationId xmlns:a16="http://schemas.microsoft.com/office/drawing/2014/main" id="{B547CAC5-1888-4E02-896E-24FA52860A5D}"/>
              </a:ext>
            </a:extLst>
          </p:cNvPr>
          <p:cNvSpPr>
            <a:spLocks xmlns:a="http://schemas.openxmlformats.org/drawingml/2006/main" noGrp="1"/>
          </p:cNvSpPr>
          <p:nvPr/>
        </p:nvSpPr>
        <p:spPr>
          <a:xfrm xmlns:a="http://schemas.openxmlformats.org/drawingml/2006/main">
            <a:off x="2695575" y="3629025"/>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6" name="svg_rect_036">
            <a:extLst xmlns:a="http://schemas.openxmlformats.org/drawingml/2006/main">
              <a:ext uri="{FF2B5EF4-FFF2-40B4-BE49-F238E27FC236}">
                <a16:creationId xmlns:a16="http://schemas.microsoft.com/office/drawing/2014/main" id="{BC447EC2-FE8F-4B48-8231-4064BC4092D1}"/>
              </a:ext>
            </a:extLst>
          </p:cNvPr>
          <p:cNvSpPr>
            <a:spLocks xmlns:a="http://schemas.openxmlformats.org/drawingml/2006/main" noGrp="1"/>
          </p:cNvSpPr>
          <p:nvPr/>
        </p:nvSpPr>
        <p:spPr>
          <a:xfrm xmlns:a="http://schemas.openxmlformats.org/drawingml/2006/main">
            <a:off x="190500" y="2619375"/>
            <a:ext cx="11144250" cy="3667125"/>
          </a:xfrm>
          <a:prstGeom xmlns:a="http://schemas.openxmlformats.org/drawingml/2006/main" prst="roundRect">
            <a:avLst>
              <a:gd name="adj" fmla="val 3117"/>
            </a:avLst>
          </a:prstGeom>
          <a:solidFill xmlns:a="http://schemas.openxmlformats.org/drawingml/2006/main">
            <a:srgbClr val="FFFFFF"/>
          </a:solidFill>
          <a:ln xmlns:a="http://schemas.openxmlformats.org/drawingml/2006/main" w="24765">
            <a:solidFill>
              <a:srgbClr val="7DB5E8"/>
            </a:solidFill>
            <a:prstDash val="dash"/>
          </a:ln>
        </p:spPr>
      </p:sp>
      <p:sp>
        <p:nvSpPr>
          <p:cNvPr id="37" name="svg_circle_037">
            <a:extLst xmlns:a="http://schemas.openxmlformats.org/drawingml/2006/main">
              <a:ext uri="{FF2B5EF4-FFF2-40B4-BE49-F238E27FC236}">
                <a16:creationId xmlns:a16="http://schemas.microsoft.com/office/drawing/2014/main" id="{6877D90D-4C66-4D01-8228-E03DE179153F}"/>
              </a:ext>
            </a:extLst>
          </p:cNvPr>
          <p:cNvSpPr>
            <a:spLocks xmlns:a="http://schemas.openxmlformats.org/drawingml/2006/main" noGrp="1"/>
          </p:cNvSpPr>
          <p:nvPr/>
        </p:nvSpPr>
        <p:spPr>
          <a:xfrm xmlns:a="http://schemas.openxmlformats.org/drawingml/2006/main">
            <a:off x="257175" y="2686050"/>
            <a:ext cx="533400" cy="533400"/>
          </a:xfrm>
          <a:prstGeom xmlns:a="http://schemas.openxmlformats.org/drawingml/2006/main" prst="ellipse">
            <a:avLst/>
          </a:prstGeom>
          <a:solidFill xmlns:a="http://schemas.openxmlformats.org/drawingml/2006/main">
            <a:srgbClr val="080B0E"/>
          </a:solidFill>
          <a:ln xmlns:a="http://schemas.openxmlformats.org/drawingml/2006/main" w="0">
            <a:noFill/>
            <a:prstDash val="solid"/>
          </a:ln>
        </p:spPr>
      </p:sp>
      <p:sp>
        <p:nvSpPr>
          <p:cNvPr id="38" name="svg_text_038">
            <a:extLst xmlns:a="http://schemas.openxmlformats.org/drawingml/2006/main">
              <a:ext uri="{FF2B5EF4-FFF2-40B4-BE49-F238E27FC236}">
                <a16:creationId xmlns:a16="http://schemas.microsoft.com/office/drawing/2014/main" id="{E332065A-EC11-4799-AE68-A677C316D3C4}"/>
              </a:ext>
            </a:extLst>
          </p:cNvPr>
          <p:cNvSpPr>
            <a:spLocks xmlns:a="http://schemas.openxmlformats.org/drawingml/2006/main" noGrp="1"/>
          </p:cNvSpPr>
          <p:nvPr/>
        </p:nvSpPr>
        <p:spPr>
          <a:xfrm xmlns:a="http://schemas.openxmlformats.org/drawingml/2006/main">
            <a:off x="285750" y="27146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87" b="1" i="0">
                <a:solidFill>
                  <a:srgbClr val="FFFFFF"/>
                </a:solidFill>
                <a:latin typeface="Arial"/>
                <a:ea typeface="Arial"/>
                <a:cs typeface="Arial"/>
              </a:defRPr>
            </a:pPr>
            <a:r>
              <a:rPr sz="2187" b="1" i="0">
                <a:solidFill>
                  <a:srgbClr val="FFFFFF"/>
                </a:solidFill>
                <a:latin typeface="Arial"/>
                <a:ea typeface="Arial"/>
                <a:cs typeface="Arial"/>
              </a:rPr>
              <a:t>2</a:t>
            </a:r>
          </a:p>
        </p:txBody>
      </p:sp>
      <p:sp>
        <p:nvSpPr>
          <p:cNvPr id="39" name="svg_text_039">
            <a:extLst xmlns:a="http://schemas.openxmlformats.org/drawingml/2006/main">
              <a:ext uri="{FF2B5EF4-FFF2-40B4-BE49-F238E27FC236}">
                <a16:creationId xmlns:a16="http://schemas.microsoft.com/office/drawing/2014/main" id="{750396E9-288C-4F5D-BC4B-8170CC26040A}"/>
              </a:ext>
            </a:extLst>
          </p:cNvPr>
          <p:cNvSpPr>
            <a:spLocks xmlns:a="http://schemas.openxmlformats.org/drawingml/2006/main" noGrp="1"/>
          </p:cNvSpPr>
          <p:nvPr/>
        </p:nvSpPr>
        <p:spPr>
          <a:xfrm xmlns:a="http://schemas.openxmlformats.org/drawingml/2006/main">
            <a:off x="904875" y="2713939"/>
            <a:ext cx="7244334" cy="4398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2340" b="1" i="0">
                <a:solidFill>
                  <a:srgbClr val="0F1720"/>
                </a:solidFill>
                <a:latin typeface="Arial"/>
                <a:ea typeface="Arial"/>
                <a:cs typeface="Arial"/>
              </a:defRPr>
            </a:pPr>
            <a:r>
              <a:rPr sz="2340" b="1" i="0">
                <a:solidFill>
                  <a:srgbClr val="0F1720"/>
                </a:solidFill>
                <a:latin typeface="Arial"/>
                <a:ea typeface="Arial"/>
                <a:cs typeface="Arial"/>
              </a:rPr>
              <a:t>SPEECH ENCODING AND THREE-LAYER RVQ</a:t>
            </a:r>
          </a:p>
        </p:txBody>
      </p:sp>
      <p:sp>
        <p:nvSpPr>
          <p:cNvPr id="40" name="svg_rect_040">
            <a:extLst xmlns:a="http://schemas.openxmlformats.org/drawingml/2006/main">
              <a:ext uri="{FF2B5EF4-FFF2-40B4-BE49-F238E27FC236}">
                <a16:creationId xmlns:a16="http://schemas.microsoft.com/office/drawing/2014/main" id="{3BA0E8F7-E77A-4675-B7D7-28E3B3BDBFDB}"/>
              </a:ext>
            </a:extLst>
          </p:cNvPr>
          <p:cNvSpPr>
            <a:spLocks xmlns:a="http://schemas.openxmlformats.org/drawingml/2006/main" noGrp="1"/>
          </p:cNvSpPr>
          <p:nvPr/>
        </p:nvSpPr>
        <p:spPr>
          <a:xfrm xmlns:a="http://schemas.openxmlformats.org/drawingml/2006/main">
            <a:off x="404813" y="3837623"/>
            <a:ext cx="1238250" cy="1040130"/>
          </a:xfrm>
          <a:prstGeom xmlns:a="http://schemas.openxmlformats.org/drawingml/2006/main" prst="roundRect">
            <a:avLst>
              <a:gd name="adj" fmla="val 7326"/>
            </a:avLst>
          </a:prstGeom>
          <a:solidFill xmlns:a="http://schemas.openxmlformats.org/drawingml/2006/main">
            <a:srgbClr val="EDF6FF"/>
          </a:solidFill>
          <a:ln xmlns:a="http://schemas.openxmlformats.org/drawingml/2006/main" w="24765">
            <a:solidFill>
              <a:srgbClr val="408FD2"/>
            </a:solidFill>
            <a:prstDash val="solid"/>
          </a:ln>
        </p:spPr>
      </p:sp>
      <p:sp>
        <p:nvSpPr>
          <p:cNvPr id="41" name="svg_text_041">
            <a:extLst xmlns:a="http://schemas.openxmlformats.org/drawingml/2006/main">
              <a:ext uri="{FF2B5EF4-FFF2-40B4-BE49-F238E27FC236}">
                <a16:creationId xmlns:a16="http://schemas.microsoft.com/office/drawing/2014/main" id="{3DD48F41-41AF-4D58-9EA6-4F3EA76400FD}"/>
              </a:ext>
            </a:extLst>
          </p:cNvPr>
          <p:cNvSpPr>
            <a:spLocks xmlns:a="http://schemas.openxmlformats.org/drawingml/2006/main" noGrp="1"/>
          </p:cNvSpPr>
          <p:nvPr/>
        </p:nvSpPr>
        <p:spPr>
          <a:xfrm xmlns:a="http://schemas.openxmlformats.org/drawingml/2006/main">
            <a:off x="448151" y="4036089"/>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16 kHz</a:t>
            </a:r>
          </a:p>
        </p:txBody>
      </p:sp>
      <p:sp>
        <p:nvSpPr>
          <p:cNvPr id="42" name="svg_text_042">
            <a:extLst xmlns:a="http://schemas.openxmlformats.org/drawingml/2006/main">
              <a:ext uri="{FF2B5EF4-FFF2-40B4-BE49-F238E27FC236}">
                <a16:creationId xmlns:a16="http://schemas.microsoft.com/office/drawing/2014/main" id="{8C2A75D4-9530-404A-AB48-81F3EFD55D61}"/>
              </a:ext>
            </a:extLst>
          </p:cNvPr>
          <p:cNvSpPr>
            <a:spLocks xmlns:a="http://schemas.openxmlformats.org/drawingml/2006/main" noGrp="1"/>
          </p:cNvSpPr>
          <p:nvPr/>
        </p:nvSpPr>
        <p:spPr>
          <a:xfrm xmlns:a="http://schemas.openxmlformats.org/drawingml/2006/main">
            <a:off x="448151" y="429326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5838"/>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Input Speech</a:t>
            </a:r>
          </a:p>
        </p:txBody>
      </p:sp>
      <p:sp>
        <p:nvSpPr>
          <p:cNvPr id="43" name="svg_path_043">
            <a:extLst xmlns:a="http://schemas.openxmlformats.org/drawingml/2006/main">
              <a:ext uri="{FF2B5EF4-FFF2-40B4-BE49-F238E27FC236}">
                <a16:creationId xmlns:a16="http://schemas.microsoft.com/office/drawing/2014/main" id="{FFDAF3A2-A203-4B49-9DBC-66D0F94C91D5}"/>
              </a:ext>
            </a:extLst>
          </p:cNvPr>
          <p:cNvSpPr>
            <a:spLocks xmlns:a="http://schemas.openxmlformats.org/drawingml/2006/main" noGrp="1"/>
          </p:cNvSpPr>
          <p:nvPr/>
        </p:nvSpPr>
        <p:spPr>
          <a:xfrm xmlns:a="http://schemas.openxmlformats.org/drawingml/2006/main">
            <a:off x="590550" y="4438650"/>
            <a:ext cx="866775" cy="428625"/>
          </a:xfrm>
          <a:custGeom xmlns:a="http://schemas.openxmlformats.org/drawingml/2006/main">
            <a:pathLst>
              <a:path w="866775" h="428625">
                <a:moveTo>
                  <a:pt x="0" y="257175"/>
                </a:moveTo>
                <a:lnTo>
                  <a:pt x="76200" y="85725"/>
                </a:lnTo>
                <a:lnTo>
                  <a:pt x="152400" y="381000"/>
                </a:lnTo>
                <a:lnTo>
                  <a:pt x="238125" y="0"/>
                </a:lnTo>
                <a:lnTo>
                  <a:pt x="323850" y="428625"/>
                </a:lnTo>
                <a:lnTo>
                  <a:pt x="409575" y="133350"/>
                </a:lnTo>
                <a:lnTo>
                  <a:pt x="495300" y="352425"/>
                </a:lnTo>
                <a:lnTo>
                  <a:pt x="581025" y="38100"/>
                </a:lnTo>
                <a:lnTo>
                  <a:pt x="666750" y="400050"/>
                </a:lnTo>
                <a:lnTo>
                  <a:pt x="771525" y="190500"/>
                </a:lnTo>
                <a:lnTo>
                  <a:pt x="866775" y="285750"/>
                </a:lnTo>
              </a:path>
            </a:pathLst>
          </a:custGeom>
          <a:noFill xmlns:a="http://schemas.openxmlformats.org/drawingml/2006/main"/>
          <a:ln xmlns:a="http://schemas.openxmlformats.org/drawingml/2006/main" w="49530">
            <a:solidFill>
              <a:srgbClr val="13AD95"/>
            </a:solidFill>
            <a:prstDash val="solid"/>
          </a:ln>
        </p:spPr>
      </p:sp>
      <p:sp>
        <p:nvSpPr>
          <p:cNvPr id="44" name="svg_path_044">
            <a:extLst xmlns:a="http://schemas.openxmlformats.org/drawingml/2006/main">
              <a:ext uri="{FF2B5EF4-FFF2-40B4-BE49-F238E27FC236}">
                <a16:creationId xmlns:a16="http://schemas.microsoft.com/office/drawing/2014/main" id="{96E38347-9B44-4DAB-A5CE-67111E1E780F}"/>
              </a:ext>
            </a:extLst>
          </p:cNvPr>
          <p:cNvSpPr>
            <a:spLocks xmlns:a="http://schemas.openxmlformats.org/drawingml/2006/main" noGrp="1"/>
          </p:cNvSpPr>
          <p:nvPr/>
        </p:nvSpPr>
        <p:spPr>
          <a:xfrm xmlns:a="http://schemas.openxmlformats.org/drawingml/2006/main">
            <a:off x="1619250" y="4352925"/>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30956">
            <a:solidFill>
              <a:srgbClr val="2386D8"/>
            </a:solidFill>
            <a:prstDash val="solid"/>
          </a:ln>
        </p:spPr>
      </p:sp>
      <p:sp>
        <p:nvSpPr>
          <p:cNvPr id="45" name="svg_arrowhead_045">
            <a:extLst xmlns:a="http://schemas.openxmlformats.org/drawingml/2006/main">
              <a:ext uri="{FF2B5EF4-FFF2-40B4-BE49-F238E27FC236}">
                <a16:creationId xmlns:a16="http://schemas.microsoft.com/office/drawing/2014/main" id="{B6CAB922-6771-4C50-818F-A13FE81F8338}"/>
              </a:ext>
            </a:extLst>
          </p:cNvPr>
          <p:cNvSpPr>
            <a:spLocks xmlns:a="http://schemas.openxmlformats.org/drawingml/2006/main" noGrp="1"/>
          </p:cNvSpPr>
          <p:nvPr/>
        </p:nvSpPr>
        <p:spPr>
          <a:xfrm xmlns:a="http://schemas.openxmlformats.org/drawingml/2006/main">
            <a:off x="1819275" y="42862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46" name="svg_rect_046">
            <a:extLst xmlns:a="http://schemas.openxmlformats.org/drawingml/2006/main">
              <a:ext uri="{FF2B5EF4-FFF2-40B4-BE49-F238E27FC236}">
                <a16:creationId xmlns:a16="http://schemas.microsoft.com/office/drawing/2014/main" id="{32AC7ACE-C194-44E7-A138-2376DE652EB1}"/>
              </a:ext>
            </a:extLst>
          </p:cNvPr>
          <p:cNvSpPr>
            <a:spLocks xmlns:a="http://schemas.openxmlformats.org/drawingml/2006/main" noGrp="1"/>
          </p:cNvSpPr>
          <p:nvPr/>
        </p:nvSpPr>
        <p:spPr>
          <a:xfrm xmlns:a="http://schemas.openxmlformats.org/drawingml/2006/main">
            <a:off x="1920240" y="3738563"/>
            <a:ext cx="1684020" cy="1238250"/>
          </a:xfrm>
          <a:prstGeom xmlns:a="http://schemas.openxmlformats.org/drawingml/2006/main" prst="roundRect">
            <a:avLst>
              <a:gd name="adj" fmla="val 6154"/>
            </a:avLst>
          </a:prstGeom>
          <a:solidFill xmlns:a="http://schemas.openxmlformats.org/drawingml/2006/main">
            <a:srgbClr val="EDF6FF"/>
          </a:solidFill>
          <a:ln xmlns:a="http://schemas.openxmlformats.org/drawingml/2006/main" w="24765">
            <a:solidFill>
              <a:srgbClr val="408FD2"/>
            </a:solidFill>
            <a:prstDash val="solid"/>
          </a:ln>
        </p:spPr>
      </p:sp>
      <p:sp>
        <p:nvSpPr>
          <p:cNvPr id="47" name="svg_text_047">
            <a:extLst xmlns:a="http://schemas.openxmlformats.org/drawingml/2006/main">
              <a:ext uri="{FF2B5EF4-FFF2-40B4-BE49-F238E27FC236}">
                <a16:creationId xmlns:a16="http://schemas.microsoft.com/office/drawing/2014/main" id="{B81F387C-0DFE-4CC6-B30C-C2F236ED041C}"/>
              </a:ext>
            </a:extLst>
          </p:cNvPr>
          <p:cNvSpPr>
            <a:spLocks xmlns:a="http://schemas.openxmlformats.org/drawingml/2006/main" noGrp="1"/>
          </p:cNvSpPr>
          <p:nvPr/>
        </p:nvSpPr>
        <p:spPr>
          <a:xfrm xmlns:a="http://schemas.openxmlformats.org/drawingml/2006/main">
            <a:off x="1979181" y="3969414"/>
            <a:ext cx="1566139"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NAS-Selected</a:t>
            </a:r>
          </a:p>
        </p:txBody>
      </p:sp>
      <p:sp>
        <p:nvSpPr>
          <p:cNvPr id="48" name="svg_text_048">
            <a:extLst xmlns:a="http://schemas.openxmlformats.org/drawingml/2006/main">
              <a:ext uri="{FF2B5EF4-FFF2-40B4-BE49-F238E27FC236}">
                <a16:creationId xmlns:a16="http://schemas.microsoft.com/office/drawing/2014/main" id="{5E04FDE5-6745-433A-9741-C2991A9E86B3}"/>
              </a:ext>
            </a:extLst>
          </p:cNvPr>
          <p:cNvSpPr>
            <a:spLocks xmlns:a="http://schemas.openxmlformats.org/drawingml/2006/main" noGrp="1"/>
          </p:cNvSpPr>
          <p:nvPr/>
        </p:nvSpPr>
        <p:spPr>
          <a:xfrm xmlns:a="http://schemas.openxmlformats.org/drawingml/2006/main">
            <a:off x="1979181" y="4226589"/>
            <a:ext cx="1566139"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SEANet Encoder</a:t>
            </a:r>
          </a:p>
        </p:txBody>
      </p:sp>
      <p:sp>
        <p:nvSpPr>
          <p:cNvPr id="49" name="svg_text_049">
            <a:extLst xmlns:a="http://schemas.openxmlformats.org/drawingml/2006/main">
              <a:ext uri="{FF2B5EF4-FFF2-40B4-BE49-F238E27FC236}">
                <a16:creationId xmlns:a16="http://schemas.microsoft.com/office/drawing/2014/main" id="{37562739-2755-439A-A5B6-A44A3A25DC0A}"/>
              </a:ext>
            </a:extLst>
          </p:cNvPr>
          <p:cNvSpPr>
            <a:spLocks xmlns:a="http://schemas.openxmlformats.org/drawingml/2006/main" noGrp="1"/>
          </p:cNvSpPr>
          <p:nvPr/>
        </p:nvSpPr>
        <p:spPr>
          <a:xfrm xmlns:a="http://schemas.openxmlformats.org/drawingml/2006/main">
            <a:off x="1979181" y="4523746"/>
            <a:ext cx="156613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383"/>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architecture from Panel 1</a:t>
            </a:r>
          </a:p>
        </p:txBody>
      </p:sp>
      <p:sp>
        <p:nvSpPr>
          <p:cNvPr id="50" name="svg_path_050">
            <a:extLst xmlns:a="http://schemas.openxmlformats.org/drawingml/2006/main">
              <a:ext uri="{FF2B5EF4-FFF2-40B4-BE49-F238E27FC236}">
                <a16:creationId xmlns:a16="http://schemas.microsoft.com/office/drawing/2014/main" id="{252ED8BE-E24F-435D-9E71-B4CC3F1DBAAB}"/>
              </a:ext>
            </a:extLst>
          </p:cNvPr>
          <p:cNvSpPr>
            <a:spLocks xmlns:a="http://schemas.openxmlformats.org/drawingml/2006/main" noGrp="1"/>
          </p:cNvSpPr>
          <p:nvPr/>
        </p:nvSpPr>
        <p:spPr>
          <a:xfrm xmlns:a="http://schemas.openxmlformats.org/drawingml/2006/main">
            <a:off x="3571875" y="4352925"/>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30956">
            <a:solidFill>
              <a:srgbClr val="2386D8"/>
            </a:solidFill>
            <a:prstDash val="solid"/>
          </a:ln>
        </p:spPr>
      </p:sp>
      <p:sp>
        <p:nvSpPr>
          <p:cNvPr id="51" name="svg_arrowhead_051">
            <a:extLst xmlns:a="http://schemas.openxmlformats.org/drawingml/2006/main">
              <a:ext uri="{FF2B5EF4-FFF2-40B4-BE49-F238E27FC236}">
                <a16:creationId xmlns:a16="http://schemas.microsoft.com/office/drawing/2014/main" id="{5817CD0F-B954-4039-9C6B-EA3C7D669193}"/>
              </a:ext>
            </a:extLst>
          </p:cNvPr>
          <p:cNvSpPr>
            <a:spLocks xmlns:a="http://schemas.openxmlformats.org/drawingml/2006/main" noGrp="1"/>
          </p:cNvSpPr>
          <p:nvPr/>
        </p:nvSpPr>
        <p:spPr>
          <a:xfrm xmlns:a="http://schemas.openxmlformats.org/drawingml/2006/main">
            <a:off x="3771900" y="42862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52" name="svg_rect_052">
            <a:extLst xmlns:a="http://schemas.openxmlformats.org/drawingml/2006/main">
              <a:ext uri="{FF2B5EF4-FFF2-40B4-BE49-F238E27FC236}">
                <a16:creationId xmlns:a16="http://schemas.microsoft.com/office/drawing/2014/main" id="{5B8750B2-81B2-45E1-838E-85F5F25DA335}"/>
              </a:ext>
            </a:extLst>
          </p:cNvPr>
          <p:cNvSpPr>
            <a:spLocks xmlns:a="http://schemas.openxmlformats.org/drawingml/2006/main" noGrp="1"/>
          </p:cNvSpPr>
          <p:nvPr/>
        </p:nvSpPr>
        <p:spPr>
          <a:xfrm xmlns:a="http://schemas.openxmlformats.org/drawingml/2006/main">
            <a:off x="3877628" y="3837623"/>
            <a:ext cx="1436370" cy="1040130"/>
          </a:xfrm>
          <a:prstGeom xmlns:a="http://schemas.openxmlformats.org/drawingml/2006/main" prst="roundRect">
            <a:avLst>
              <a:gd name="adj" fmla="val 7326"/>
            </a:avLst>
          </a:prstGeom>
          <a:solidFill xmlns:a="http://schemas.openxmlformats.org/drawingml/2006/main">
            <a:srgbClr val="EDF6FF"/>
          </a:solidFill>
          <a:ln xmlns:a="http://schemas.openxmlformats.org/drawingml/2006/main" w="24765">
            <a:solidFill>
              <a:srgbClr val="408FD2"/>
            </a:solidFill>
            <a:prstDash val="solid"/>
          </a:ln>
        </p:spPr>
      </p:sp>
      <p:sp>
        <p:nvSpPr>
          <p:cNvPr id="53" name="svg_text_053">
            <a:extLst xmlns:a="http://schemas.openxmlformats.org/drawingml/2006/main">
              <a:ext uri="{FF2B5EF4-FFF2-40B4-BE49-F238E27FC236}">
                <a16:creationId xmlns:a16="http://schemas.microsoft.com/office/drawing/2014/main" id="{20F7D805-81D3-4C33-8CC0-05B856CA5C66}"/>
              </a:ext>
            </a:extLst>
          </p:cNvPr>
          <p:cNvSpPr>
            <a:spLocks xmlns:a="http://schemas.openxmlformats.org/drawingml/2006/main" noGrp="1"/>
          </p:cNvSpPr>
          <p:nvPr/>
        </p:nvSpPr>
        <p:spPr>
          <a:xfrm xmlns:a="http://schemas.openxmlformats.org/drawingml/2006/main">
            <a:off x="3927900" y="4036089"/>
            <a:ext cx="133582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Continuous</a:t>
            </a:r>
          </a:p>
        </p:txBody>
      </p:sp>
      <p:sp>
        <p:nvSpPr>
          <p:cNvPr id="54" name="svg_text_054">
            <a:extLst xmlns:a="http://schemas.openxmlformats.org/drawingml/2006/main">
              <a:ext uri="{FF2B5EF4-FFF2-40B4-BE49-F238E27FC236}">
                <a16:creationId xmlns:a16="http://schemas.microsoft.com/office/drawing/2014/main" id="{4D0D7855-FEF1-4ECF-BB64-F0AA3D7EAE99}"/>
              </a:ext>
            </a:extLst>
          </p:cNvPr>
          <p:cNvSpPr>
            <a:spLocks xmlns:a="http://schemas.openxmlformats.org/drawingml/2006/main" noGrp="1"/>
          </p:cNvSpPr>
          <p:nvPr/>
        </p:nvSpPr>
        <p:spPr>
          <a:xfrm xmlns:a="http://schemas.openxmlformats.org/drawingml/2006/main">
            <a:off x="3927900" y="4274214"/>
            <a:ext cx="133582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Latent z</a:t>
            </a:r>
          </a:p>
        </p:txBody>
      </p:sp>
      <p:sp>
        <p:nvSpPr>
          <p:cNvPr id="55" name="svg_text_055">
            <a:extLst xmlns:a="http://schemas.openxmlformats.org/drawingml/2006/main">
              <a:ext uri="{FF2B5EF4-FFF2-40B4-BE49-F238E27FC236}">
                <a16:creationId xmlns:a16="http://schemas.microsoft.com/office/drawing/2014/main" id="{675AE198-A31B-4C54-90FF-3830525F3140}"/>
              </a:ext>
            </a:extLst>
          </p:cNvPr>
          <p:cNvSpPr>
            <a:spLocks xmlns:a="http://schemas.openxmlformats.org/drawingml/2006/main" noGrp="1"/>
          </p:cNvSpPr>
          <p:nvPr/>
        </p:nvSpPr>
        <p:spPr>
          <a:xfrm xmlns:a="http://schemas.openxmlformats.org/drawingml/2006/main">
            <a:off x="3927900" y="4542796"/>
            <a:ext cx="133582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50 Hz, d = 1024</a:t>
            </a:r>
          </a:p>
        </p:txBody>
      </p:sp>
      <p:sp>
        <p:nvSpPr>
          <p:cNvPr id="56" name="svg_path_056">
            <a:extLst xmlns:a="http://schemas.openxmlformats.org/drawingml/2006/main">
              <a:ext uri="{FF2B5EF4-FFF2-40B4-BE49-F238E27FC236}">
                <a16:creationId xmlns:a16="http://schemas.microsoft.com/office/drawing/2014/main" id="{A15DF680-81DA-4677-9EC9-76A44D34160B}"/>
              </a:ext>
            </a:extLst>
          </p:cNvPr>
          <p:cNvSpPr>
            <a:spLocks xmlns:a="http://schemas.openxmlformats.org/drawingml/2006/main" noGrp="1"/>
          </p:cNvSpPr>
          <p:nvPr/>
        </p:nvSpPr>
        <p:spPr>
          <a:xfrm xmlns:a="http://schemas.openxmlformats.org/drawingml/2006/main">
            <a:off x="5286375" y="4352925"/>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30956">
            <a:solidFill>
              <a:srgbClr val="2386D8"/>
            </a:solidFill>
            <a:prstDash val="solid"/>
          </a:ln>
        </p:spPr>
      </p:sp>
      <p:sp>
        <p:nvSpPr>
          <p:cNvPr id="57" name="svg_arrowhead_057">
            <a:extLst xmlns:a="http://schemas.openxmlformats.org/drawingml/2006/main">
              <a:ext uri="{FF2B5EF4-FFF2-40B4-BE49-F238E27FC236}">
                <a16:creationId xmlns:a16="http://schemas.microsoft.com/office/drawing/2014/main" id="{8BB26327-094E-499C-B76A-FB1AE16C49AF}"/>
              </a:ext>
            </a:extLst>
          </p:cNvPr>
          <p:cNvSpPr>
            <a:spLocks xmlns:a="http://schemas.openxmlformats.org/drawingml/2006/main" noGrp="1"/>
          </p:cNvSpPr>
          <p:nvPr/>
        </p:nvSpPr>
        <p:spPr>
          <a:xfrm xmlns:a="http://schemas.openxmlformats.org/drawingml/2006/main">
            <a:off x="5486400" y="42862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58" name="svg_rect_058">
            <a:extLst xmlns:a="http://schemas.openxmlformats.org/drawingml/2006/main">
              <a:ext uri="{FF2B5EF4-FFF2-40B4-BE49-F238E27FC236}">
                <a16:creationId xmlns:a16="http://schemas.microsoft.com/office/drawing/2014/main" id="{1EDE91F9-3292-4A0A-AAD7-8C54DC3B373C}"/>
              </a:ext>
            </a:extLst>
          </p:cNvPr>
          <p:cNvSpPr>
            <a:spLocks xmlns:a="http://schemas.openxmlformats.org/drawingml/2006/main" noGrp="1"/>
          </p:cNvSpPr>
          <p:nvPr/>
        </p:nvSpPr>
        <p:spPr>
          <a:xfrm xmlns:a="http://schemas.openxmlformats.org/drawingml/2006/main">
            <a:off x="5619750" y="3733800"/>
            <a:ext cx="1571625" cy="1238250"/>
          </a:xfrm>
          <a:prstGeom xmlns:a="http://schemas.openxmlformats.org/drawingml/2006/main" prst="roundRect">
            <a:avLst>
              <a:gd name="adj" fmla="val 6154"/>
            </a:avLst>
          </a:prstGeom>
          <a:solidFill xmlns:a="http://schemas.openxmlformats.org/drawingml/2006/main">
            <a:srgbClr val="FFF1E2"/>
          </a:solidFill>
          <a:ln xmlns:a="http://schemas.openxmlformats.org/drawingml/2006/main" w="24765">
            <a:solidFill>
              <a:srgbClr val="EF8D32"/>
            </a:solidFill>
            <a:prstDash val="solid"/>
          </a:ln>
        </p:spPr>
      </p:sp>
      <p:sp>
        <p:nvSpPr>
          <p:cNvPr id="59" name="svg_text_059">
            <a:extLst xmlns:a="http://schemas.openxmlformats.org/drawingml/2006/main">
              <a:ext uri="{FF2B5EF4-FFF2-40B4-BE49-F238E27FC236}">
                <a16:creationId xmlns:a16="http://schemas.microsoft.com/office/drawing/2014/main" id="{6BAF5957-A612-4C49-BD00-647BC09A0A52}"/>
              </a:ext>
            </a:extLst>
          </p:cNvPr>
          <p:cNvSpPr>
            <a:spLocks xmlns:a="http://schemas.openxmlformats.org/drawingml/2006/main" noGrp="1"/>
          </p:cNvSpPr>
          <p:nvPr/>
        </p:nvSpPr>
        <p:spPr>
          <a:xfrm xmlns:a="http://schemas.openxmlformats.org/drawingml/2006/main">
            <a:off x="5674757" y="3893214"/>
            <a:ext cx="1461611"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8841"/>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Q1 / Codebook C1</a:t>
            </a:r>
          </a:p>
        </p:txBody>
      </p:sp>
      <p:sp>
        <p:nvSpPr>
          <p:cNvPr id="60" name="svg_text_060">
            <a:extLst xmlns:a="http://schemas.openxmlformats.org/drawingml/2006/main">
              <a:ext uri="{FF2B5EF4-FFF2-40B4-BE49-F238E27FC236}">
                <a16:creationId xmlns:a16="http://schemas.microsoft.com/office/drawing/2014/main" id="{BE83172D-0DDA-4819-95E5-9B3949D65511}"/>
              </a:ext>
            </a:extLst>
          </p:cNvPr>
          <p:cNvSpPr>
            <a:spLocks xmlns:a="http://schemas.openxmlformats.org/drawingml/2006/main" noGrp="1"/>
          </p:cNvSpPr>
          <p:nvPr/>
        </p:nvSpPr>
        <p:spPr>
          <a:xfrm xmlns:a="http://schemas.openxmlformats.org/drawingml/2006/main">
            <a:off x="5674757" y="4180846"/>
            <a:ext cx="1461611"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Coarse Content</a:t>
            </a:r>
          </a:p>
        </p:txBody>
      </p:sp>
      <p:sp>
        <p:nvSpPr>
          <p:cNvPr id="61" name="svg_text_061">
            <a:extLst xmlns:a="http://schemas.openxmlformats.org/drawingml/2006/main">
              <a:ext uri="{FF2B5EF4-FFF2-40B4-BE49-F238E27FC236}">
                <a16:creationId xmlns:a16="http://schemas.microsoft.com/office/drawing/2014/main" id="{4982F7C6-9451-4FF3-A499-8849D35B693F}"/>
              </a:ext>
            </a:extLst>
          </p:cNvPr>
          <p:cNvSpPr>
            <a:spLocks xmlns:a="http://schemas.openxmlformats.org/drawingml/2006/main" noGrp="1"/>
          </p:cNvSpPr>
          <p:nvPr/>
        </p:nvSpPr>
        <p:spPr>
          <a:xfrm xmlns:a="http://schemas.openxmlformats.org/drawingml/2006/main">
            <a:off x="5674757" y="4409446"/>
            <a:ext cx="1461611"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1,024 entries</a:t>
            </a:r>
          </a:p>
        </p:txBody>
      </p:sp>
      <p:sp>
        <p:nvSpPr>
          <p:cNvPr id="62" name="svg_text_062">
            <a:extLst xmlns:a="http://schemas.openxmlformats.org/drawingml/2006/main">
              <a:ext uri="{FF2B5EF4-FFF2-40B4-BE49-F238E27FC236}">
                <a16:creationId xmlns:a16="http://schemas.microsoft.com/office/drawing/2014/main" id="{8C8CD5B8-9DDC-4B3E-B095-FA4C09D568C1}"/>
              </a:ext>
            </a:extLst>
          </p:cNvPr>
          <p:cNvSpPr>
            <a:spLocks xmlns:a="http://schemas.openxmlformats.org/drawingml/2006/main" noGrp="1"/>
          </p:cNvSpPr>
          <p:nvPr/>
        </p:nvSpPr>
        <p:spPr>
          <a:xfrm xmlns:a="http://schemas.openxmlformats.org/drawingml/2006/main">
            <a:off x="5674757" y="4631788"/>
            <a:ext cx="1461611"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index i₁ → q₁</a:t>
            </a:r>
          </a:p>
        </p:txBody>
      </p:sp>
      <p:sp>
        <p:nvSpPr>
          <p:cNvPr id="63" name="svg_path_063">
            <a:extLst xmlns:a="http://schemas.openxmlformats.org/drawingml/2006/main">
              <a:ext uri="{FF2B5EF4-FFF2-40B4-BE49-F238E27FC236}">
                <a16:creationId xmlns:a16="http://schemas.microsoft.com/office/drawing/2014/main" id="{29263DB8-319C-4D06-88E1-363CD408166D}"/>
              </a:ext>
            </a:extLst>
          </p:cNvPr>
          <p:cNvSpPr>
            <a:spLocks xmlns:a="http://schemas.openxmlformats.org/drawingml/2006/main" noGrp="1"/>
          </p:cNvSpPr>
          <p:nvPr/>
        </p:nvSpPr>
        <p:spPr>
          <a:xfrm xmlns:a="http://schemas.openxmlformats.org/drawingml/2006/main">
            <a:off x="7191375" y="435292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30956">
            <a:solidFill>
              <a:srgbClr val="2386D8"/>
            </a:solidFill>
            <a:prstDash val="solid"/>
          </a:ln>
        </p:spPr>
      </p:sp>
      <p:sp>
        <p:nvSpPr>
          <p:cNvPr id="64" name="svg_arrowhead_064">
            <a:extLst xmlns:a="http://schemas.openxmlformats.org/drawingml/2006/main">
              <a:ext uri="{FF2B5EF4-FFF2-40B4-BE49-F238E27FC236}">
                <a16:creationId xmlns:a16="http://schemas.microsoft.com/office/drawing/2014/main" id="{7B946D87-A891-4B9C-BD4B-DD9090C64987}"/>
              </a:ext>
            </a:extLst>
          </p:cNvPr>
          <p:cNvSpPr>
            <a:spLocks xmlns:a="http://schemas.openxmlformats.org/drawingml/2006/main" noGrp="1"/>
          </p:cNvSpPr>
          <p:nvPr/>
        </p:nvSpPr>
        <p:spPr>
          <a:xfrm xmlns:a="http://schemas.openxmlformats.org/drawingml/2006/main">
            <a:off x="7343775" y="42862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65" name="svg_text_065">
            <a:extLst xmlns:a="http://schemas.openxmlformats.org/drawingml/2006/main">
              <a:ext uri="{FF2B5EF4-FFF2-40B4-BE49-F238E27FC236}">
                <a16:creationId xmlns:a16="http://schemas.microsoft.com/office/drawing/2014/main" id="{1B142BC2-DC3B-4DB1-829C-B71215C04316}"/>
              </a:ext>
            </a:extLst>
          </p:cNvPr>
          <p:cNvSpPr>
            <a:spLocks xmlns:a="http://schemas.openxmlformats.org/drawingml/2006/main" noGrp="1"/>
          </p:cNvSpPr>
          <p:nvPr/>
        </p:nvSpPr>
        <p:spPr>
          <a:xfrm xmlns:a="http://schemas.openxmlformats.org/drawingml/2006/main">
            <a:off x="7144245" y="4028446"/>
            <a:ext cx="38000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r₁</a:t>
            </a:r>
          </a:p>
        </p:txBody>
      </p:sp>
      <p:sp>
        <p:nvSpPr>
          <p:cNvPr id="66" name="svg_rect_066">
            <a:extLst xmlns:a="http://schemas.openxmlformats.org/drawingml/2006/main">
              <a:ext uri="{FF2B5EF4-FFF2-40B4-BE49-F238E27FC236}">
                <a16:creationId xmlns:a16="http://schemas.microsoft.com/office/drawing/2014/main" id="{ECFAD71F-51E8-4AC9-8EFB-0442C02BFE66}"/>
              </a:ext>
            </a:extLst>
          </p:cNvPr>
          <p:cNvSpPr>
            <a:spLocks xmlns:a="http://schemas.openxmlformats.org/drawingml/2006/main" noGrp="1"/>
          </p:cNvSpPr>
          <p:nvPr/>
        </p:nvSpPr>
        <p:spPr>
          <a:xfrm xmlns:a="http://schemas.openxmlformats.org/drawingml/2006/main">
            <a:off x="7477125" y="3733800"/>
            <a:ext cx="1571625" cy="1238250"/>
          </a:xfrm>
          <a:prstGeom xmlns:a="http://schemas.openxmlformats.org/drawingml/2006/main" prst="roundRect">
            <a:avLst>
              <a:gd name="adj" fmla="val 6154"/>
            </a:avLst>
          </a:prstGeom>
          <a:solidFill xmlns:a="http://schemas.openxmlformats.org/drawingml/2006/main">
            <a:srgbClr val="E7F7EE"/>
          </a:solidFill>
          <a:ln xmlns:a="http://schemas.openxmlformats.org/drawingml/2006/main" w="24765">
            <a:solidFill>
              <a:srgbClr val="4CA873"/>
            </a:solidFill>
            <a:prstDash val="solid"/>
          </a:ln>
        </p:spPr>
      </p:sp>
      <p:sp>
        <p:nvSpPr>
          <p:cNvPr id="67" name="svg_text_067">
            <a:extLst xmlns:a="http://schemas.openxmlformats.org/drawingml/2006/main">
              <a:ext uri="{FF2B5EF4-FFF2-40B4-BE49-F238E27FC236}">
                <a16:creationId xmlns:a16="http://schemas.microsoft.com/office/drawing/2014/main" id="{F2C8F5F7-7339-4599-8162-D781D7492A83}"/>
              </a:ext>
            </a:extLst>
          </p:cNvPr>
          <p:cNvSpPr>
            <a:spLocks xmlns:a="http://schemas.openxmlformats.org/drawingml/2006/main" noGrp="1"/>
          </p:cNvSpPr>
          <p:nvPr/>
        </p:nvSpPr>
        <p:spPr>
          <a:xfrm xmlns:a="http://schemas.openxmlformats.org/drawingml/2006/main">
            <a:off x="7532132" y="3893214"/>
            <a:ext cx="1461611"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8841"/>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Q2 / Codebook C2</a:t>
            </a:r>
          </a:p>
        </p:txBody>
      </p:sp>
      <p:sp>
        <p:nvSpPr>
          <p:cNvPr id="68" name="svg_text_068">
            <a:extLst xmlns:a="http://schemas.openxmlformats.org/drawingml/2006/main">
              <a:ext uri="{FF2B5EF4-FFF2-40B4-BE49-F238E27FC236}">
                <a16:creationId xmlns:a16="http://schemas.microsoft.com/office/drawing/2014/main" id="{2C86E6CD-C401-4DE6-BEC1-28AABE7E989B}"/>
              </a:ext>
            </a:extLst>
          </p:cNvPr>
          <p:cNvSpPr>
            <a:spLocks xmlns:a="http://schemas.openxmlformats.org/drawingml/2006/main" noGrp="1"/>
          </p:cNvSpPr>
          <p:nvPr/>
        </p:nvSpPr>
        <p:spPr>
          <a:xfrm xmlns:a="http://schemas.openxmlformats.org/drawingml/2006/main">
            <a:off x="7532132" y="4180846"/>
            <a:ext cx="1461611"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Acoustic Refinement</a:t>
            </a:r>
          </a:p>
        </p:txBody>
      </p:sp>
      <p:sp>
        <p:nvSpPr>
          <p:cNvPr id="69" name="svg_text_069">
            <a:extLst xmlns:a="http://schemas.openxmlformats.org/drawingml/2006/main">
              <a:ext uri="{FF2B5EF4-FFF2-40B4-BE49-F238E27FC236}">
                <a16:creationId xmlns:a16="http://schemas.microsoft.com/office/drawing/2014/main" id="{98BA87F5-EF15-4223-AE7C-6798858295C0}"/>
              </a:ext>
            </a:extLst>
          </p:cNvPr>
          <p:cNvSpPr>
            <a:spLocks xmlns:a="http://schemas.openxmlformats.org/drawingml/2006/main" noGrp="1"/>
          </p:cNvSpPr>
          <p:nvPr/>
        </p:nvSpPr>
        <p:spPr>
          <a:xfrm xmlns:a="http://schemas.openxmlformats.org/drawingml/2006/main">
            <a:off x="7532132" y="4409446"/>
            <a:ext cx="1461611"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1,024 entries</a:t>
            </a:r>
          </a:p>
        </p:txBody>
      </p:sp>
      <p:sp>
        <p:nvSpPr>
          <p:cNvPr id="70" name="svg_text_070">
            <a:extLst xmlns:a="http://schemas.openxmlformats.org/drawingml/2006/main">
              <a:ext uri="{FF2B5EF4-FFF2-40B4-BE49-F238E27FC236}">
                <a16:creationId xmlns:a16="http://schemas.microsoft.com/office/drawing/2014/main" id="{58B185E5-2A1D-44F9-8036-CC69DBA4ABE5}"/>
              </a:ext>
            </a:extLst>
          </p:cNvPr>
          <p:cNvSpPr>
            <a:spLocks xmlns:a="http://schemas.openxmlformats.org/drawingml/2006/main" noGrp="1"/>
          </p:cNvSpPr>
          <p:nvPr/>
        </p:nvSpPr>
        <p:spPr>
          <a:xfrm xmlns:a="http://schemas.openxmlformats.org/drawingml/2006/main">
            <a:off x="7532132" y="4631788"/>
            <a:ext cx="1461611"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index i₂ → q₂</a:t>
            </a:r>
          </a:p>
        </p:txBody>
      </p:sp>
      <p:sp>
        <p:nvSpPr>
          <p:cNvPr id="71" name="svg_path_071">
            <a:extLst xmlns:a="http://schemas.openxmlformats.org/drawingml/2006/main">
              <a:ext uri="{FF2B5EF4-FFF2-40B4-BE49-F238E27FC236}">
                <a16:creationId xmlns:a16="http://schemas.microsoft.com/office/drawing/2014/main" id="{E079918F-CDC7-4733-8032-D8D1CA3425AF}"/>
              </a:ext>
            </a:extLst>
          </p:cNvPr>
          <p:cNvSpPr>
            <a:spLocks xmlns:a="http://schemas.openxmlformats.org/drawingml/2006/main" noGrp="1"/>
          </p:cNvSpPr>
          <p:nvPr/>
        </p:nvSpPr>
        <p:spPr>
          <a:xfrm xmlns:a="http://schemas.openxmlformats.org/drawingml/2006/main">
            <a:off x="9048750" y="435292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30956">
            <a:solidFill>
              <a:srgbClr val="2386D8"/>
            </a:solidFill>
            <a:prstDash val="solid"/>
          </a:ln>
        </p:spPr>
      </p:sp>
      <p:sp>
        <p:nvSpPr>
          <p:cNvPr id="72" name="svg_arrowhead_072">
            <a:extLst xmlns:a="http://schemas.openxmlformats.org/drawingml/2006/main">
              <a:ext uri="{FF2B5EF4-FFF2-40B4-BE49-F238E27FC236}">
                <a16:creationId xmlns:a16="http://schemas.microsoft.com/office/drawing/2014/main" id="{992B40C1-6F78-49A4-A516-1EF3699A5509}"/>
              </a:ext>
            </a:extLst>
          </p:cNvPr>
          <p:cNvSpPr>
            <a:spLocks xmlns:a="http://schemas.openxmlformats.org/drawingml/2006/main" noGrp="1"/>
          </p:cNvSpPr>
          <p:nvPr/>
        </p:nvSpPr>
        <p:spPr>
          <a:xfrm xmlns:a="http://schemas.openxmlformats.org/drawingml/2006/main">
            <a:off x="9201150" y="42862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73" name="svg_text_073">
            <a:extLst xmlns:a="http://schemas.openxmlformats.org/drawingml/2006/main">
              <a:ext uri="{FF2B5EF4-FFF2-40B4-BE49-F238E27FC236}">
                <a16:creationId xmlns:a16="http://schemas.microsoft.com/office/drawing/2014/main" id="{D2B57974-0F86-4529-897F-F7D5B44B2665}"/>
              </a:ext>
            </a:extLst>
          </p:cNvPr>
          <p:cNvSpPr>
            <a:spLocks xmlns:a="http://schemas.openxmlformats.org/drawingml/2006/main" noGrp="1"/>
          </p:cNvSpPr>
          <p:nvPr/>
        </p:nvSpPr>
        <p:spPr>
          <a:xfrm xmlns:a="http://schemas.openxmlformats.org/drawingml/2006/main">
            <a:off x="9001620" y="4028446"/>
            <a:ext cx="38000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r₂</a:t>
            </a:r>
          </a:p>
        </p:txBody>
      </p:sp>
      <p:sp>
        <p:nvSpPr>
          <p:cNvPr id="74" name="svg_rect_074">
            <a:extLst xmlns:a="http://schemas.openxmlformats.org/drawingml/2006/main">
              <a:ext uri="{FF2B5EF4-FFF2-40B4-BE49-F238E27FC236}">
                <a16:creationId xmlns:a16="http://schemas.microsoft.com/office/drawing/2014/main" id="{FB4A9320-517E-40AF-8942-4078BE329958}"/>
              </a:ext>
            </a:extLst>
          </p:cNvPr>
          <p:cNvSpPr>
            <a:spLocks xmlns:a="http://schemas.openxmlformats.org/drawingml/2006/main" noGrp="1"/>
          </p:cNvSpPr>
          <p:nvPr/>
        </p:nvSpPr>
        <p:spPr>
          <a:xfrm xmlns:a="http://schemas.openxmlformats.org/drawingml/2006/main">
            <a:off x="9334500" y="3733800"/>
            <a:ext cx="1714500" cy="1238250"/>
          </a:xfrm>
          <a:prstGeom xmlns:a="http://schemas.openxmlformats.org/drawingml/2006/main" prst="roundRect">
            <a:avLst>
              <a:gd name="adj" fmla="val 6154"/>
            </a:avLst>
          </a:prstGeom>
          <a:solidFill xmlns:a="http://schemas.openxmlformats.org/drawingml/2006/main">
            <a:srgbClr val="ECEAFF"/>
          </a:solidFill>
          <a:ln xmlns:a="http://schemas.openxmlformats.org/drawingml/2006/main" w="24765">
            <a:solidFill>
              <a:srgbClr val="7374D8"/>
            </a:solidFill>
            <a:prstDash val="solid"/>
          </a:ln>
        </p:spPr>
      </p:sp>
      <p:sp>
        <p:nvSpPr>
          <p:cNvPr id="75" name="svg_text_075">
            <a:extLst xmlns:a="http://schemas.openxmlformats.org/drawingml/2006/main">
              <a:ext uri="{FF2B5EF4-FFF2-40B4-BE49-F238E27FC236}">
                <a16:creationId xmlns:a16="http://schemas.microsoft.com/office/drawing/2014/main" id="{87111DDE-98CA-4259-B3D4-0FF26EA4BB77}"/>
              </a:ext>
            </a:extLst>
          </p:cNvPr>
          <p:cNvSpPr>
            <a:spLocks xmlns:a="http://schemas.openxmlformats.org/drawingml/2006/main" noGrp="1"/>
          </p:cNvSpPr>
          <p:nvPr/>
        </p:nvSpPr>
        <p:spPr>
          <a:xfrm xmlns:a="http://schemas.openxmlformats.org/drawingml/2006/main">
            <a:off x="9394508" y="3893214"/>
            <a:ext cx="1594485"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7129"/>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Q3 / Codebook C3</a:t>
            </a:r>
          </a:p>
        </p:txBody>
      </p:sp>
      <p:sp>
        <p:nvSpPr>
          <p:cNvPr id="76" name="svg_text_076">
            <a:extLst xmlns:a="http://schemas.openxmlformats.org/drawingml/2006/main">
              <a:ext uri="{FF2B5EF4-FFF2-40B4-BE49-F238E27FC236}">
                <a16:creationId xmlns:a16="http://schemas.microsoft.com/office/drawing/2014/main" id="{5F37684F-1C49-4DC3-A68D-B7D3ADBA3908}"/>
              </a:ext>
            </a:extLst>
          </p:cNvPr>
          <p:cNvSpPr>
            <a:spLocks xmlns:a="http://schemas.openxmlformats.org/drawingml/2006/main" noGrp="1"/>
          </p:cNvSpPr>
          <p:nvPr/>
        </p:nvSpPr>
        <p:spPr>
          <a:xfrm xmlns:a="http://schemas.openxmlformats.org/drawingml/2006/main">
            <a:off x="9394508" y="4180846"/>
            <a:ext cx="159448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364"/>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Fine Acoustic Refinement</a:t>
            </a:r>
          </a:p>
        </p:txBody>
      </p:sp>
      <p:sp>
        <p:nvSpPr>
          <p:cNvPr id="77" name="svg_text_077">
            <a:extLst xmlns:a="http://schemas.openxmlformats.org/drawingml/2006/main">
              <a:ext uri="{FF2B5EF4-FFF2-40B4-BE49-F238E27FC236}">
                <a16:creationId xmlns:a16="http://schemas.microsoft.com/office/drawing/2014/main" id="{29734CA8-2AB8-465C-9F67-03402152B04A}"/>
              </a:ext>
            </a:extLst>
          </p:cNvPr>
          <p:cNvSpPr>
            <a:spLocks xmlns:a="http://schemas.openxmlformats.org/drawingml/2006/main" noGrp="1"/>
          </p:cNvSpPr>
          <p:nvPr/>
        </p:nvSpPr>
        <p:spPr>
          <a:xfrm xmlns:a="http://schemas.openxmlformats.org/drawingml/2006/main">
            <a:off x="9394508" y="4409446"/>
            <a:ext cx="159448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1,024 entries</a:t>
            </a:r>
          </a:p>
        </p:txBody>
      </p:sp>
      <p:sp>
        <p:nvSpPr>
          <p:cNvPr id="78" name="svg_text_078">
            <a:extLst xmlns:a="http://schemas.openxmlformats.org/drawingml/2006/main">
              <a:ext uri="{FF2B5EF4-FFF2-40B4-BE49-F238E27FC236}">
                <a16:creationId xmlns:a16="http://schemas.microsoft.com/office/drawing/2014/main" id="{E15BED6E-5FEE-4B04-BF10-C8AB1AD71D34}"/>
              </a:ext>
            </a:extLst>
          </p:cNvPr>
          <p:cNvSpPr>
            <a:spLocks xmlns:a="http://schemas.openxmlformats.org/drawingml/2006/main" noGrp="1"/>
          </p:cNvSpPr>
          <p:nvPr/>
        </p:nvSpPr>
        <p:spPr>
          <a:xfrm xmlns:a="http://schemas.openxmlformats.org/drawingml/2006/main">
            <a:off x="9394508" y="4631788"/>
            <a:ext cx="1594485"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index i₃ → q₃</a:t>
            </a:r>
          </a:p>
        </p:txBody>
      </p:sp>
      <p:sp>
        <p:nvSpPr>
          <p:cNvPr id="79" name="svg_rect_079">
            <a:extLst xmlns:a="http://schemas.openxmlformats.org/drawingml/2006/main">
              <a:ext uri="{FF2B5EF4-FFF2-40B4-BE49-F238E27FC236}">
                <a16:creationId xmlns:a16="http://schemas.microsoft.com/office/drawing/2014/main" id="{C2066D33-27DA-4CD7-AD09-1E18B580032C}"/>
              </a:ext>
            </a:extLst>
          </p:cNvPr>
          <p:cNvSpPr>
            <a:spLocks xmlns:a="http://schemas.openxmlformats.org/drawingml/2006/main" noGrp="1"/>
          </p:cNvSpPr>
          <p:nvPr/>
        </p:nvSpPr>
        <p:spPr>
          <a:xfrm xmlns:a="http://schemas.openxmlformats.org/drawingml/2006/main">
            <a:off x="5715000" y="5191125"/>
            <a:ext cx="333375" cy="209550"/>
          </a:xfrm>
          <a:prstGeom xmlns:a="http://schemas.openxmlformats.org/drawingml/2006/main" prst="rect">
            <a:avLst/>
          </a:prstGeom>
          <a:solidFill xmlns:a="http://schemas.openxmlformats.org/drawingml/2006/main">
            <a:srgbClr val="FB923C"/>
          </a:solidFill>
          <a:ln xmlns:a="http://schemas.openxmlformats.org/drawingml/2006/main" w="0">
            <a:noFill/>
            <a:prstDash val="solid"/>
          </a:ln>
        </p:spPr>
      </p:sp>
      <p:sp>
        <p:nvSpPr>
          <p:cNvPr id="80" name="svg_rect_080">
            <a:extLst xmlns:a="http://schemas.openxmlformats.org/drawingml/2006/main">
              <a:ext uri="{FF2B5EF4-FFF2-40B4-BE49-F238E27FC236}">
                <a16:creationId xmlns:a16="http://schemas.microsoft.com/office/drawing/2014/main" id="{F73DCA03-057F-4D6C-A00A-BFDDD1B7028B}"/>
              </a:ext>
            </a:extLst>
          </p:cNvPr>
          <p:cNvSpPr>
            <a:spLocks xmlns:a="http://schemas.openxmlformats.org/drawingml/2006/main" noGrp="1"/>
          </p:cNvSpPr>
          <p:nvPr/>
        </p:nvSpPr>
        <p:spPr>
          <a:xfrm xmlns:a="http://schemas.openxmlformats.org/drawingml/2006/main">
            <a:off x="6115050" y="5191125"/>
            <a:ext cx="333375" cy="209550"/>
          </a:xfrm>
          <a:prstGeom xmlns:a="http://schemas.openxmlformats.org/drawingml/2006/main" prst="rect">
            <a:avLst/>
          </a:prstGeom>
          <a:solidFill xmlns:a="http://schemas.openxmlformats.org/drawingml/2006/main">
            <a:srgbClr val="FB923C"/>
          </a:solidFill>
          <a:ln xmlns:a="http://schemas.openxmlformats.org/drawingml/2006/main" w="0">
            <a:noFill/>
            <a:prstDash val="solid"/>
          </a:ln>
        </p:spPr>
      </p:sp>
      <p:sp>
        <p:nvSpPr>
          <p:cNvPr id="81" name="svg_rect_081">
            <a:extLst xmlns:a="http://schemas.openxmlformats.org/drawingml/2006/main">
              <a:ext uri="{FF2B5EF4-FFF2-40B4-BE49-F238E27FC236}">
                <a16:creationId xmlns:a16="http://schemas.microsoft.com/office/drawing/2014/main" id="{FAEAB27E-5314-4706-A44A-7E36C467B44F}"/>
              </a:ext>
            </a:extLst>
          </p:cNvPr>
          <p:cNvSpPr>
            <a:spLocks xmlns:a="http://schemas.openxmlformats.org/drawingml/2006/main" noGrp="1"/>
          </p:cNvSpPr>
          <p:nvPr/>
        </p:nvSpPr>
        <p:spPr>
          <a:xfrm xmlns:a="http://schemas.openxmlformats.org/drawingml/2006/main">
            <a:off x="6515100" y="5191125"/>
            <a:ext cx="333375" cy="209550"/>
          </a:xfrm>
          <a:prstGeom xmlns:a="http://schemas.openxmlformats.org/drawingml/2006/main" prst="rect">
            <a:avLst/>
          </a:prstGeom>
          <a:solidFill xmlns:a="http://schemas.openxmlformats.org/drawingml/2006/main">
            <a:srgbClr val="FB923C"/>
          </a:solidFill>
          <a:ln xmlns:a="http://schemas.openxmlformats.org/drawingml/2006/main" w="0">
            <a:noFill/>
            <a:prstDash val="solid"/>
          </a:ln>
        </p:spPr>
      </p:sp>
      <p:sp>
        <p:nvSpPr>
          <p:cNvPr id="82" name="svg_text_082">
            <a:extLst xmlns:a="http://schemas.openxmlformats.org/drawingml/2006/main">
              <a:ext uri="{FF2B5EF4-FFF2-40B4-BE49-F238E27FC236}">
                <a16:creationId xmlns:a16="http://schemas.microsoft.com/office/drawing/2014/main" id="{B8FE3D46-2344-42C5-856C-EC8A433CB83B}"/>
              </a:ext>
            </a:extLst>
          </p:cNvPr>
          <p:cNvSpPr>
            <a:spLocks xmlns:a="http://schemas.openxmlformats.org/drawingml/2006/main" noGrp="1"/>
          </p:cNvSpPr>
          <p:nvPr/>
        </p:nvSpPr>
        <p:spPr>
          <a:xfrm xmlns:a="http://schemas.openxmlformats.org/drawingml/2006/main">
            <a:off x="6788525" y="5155663"/>
            <a:ext cx="424701"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i₁</a:t>
            </a:r>
          </a:p>
        </p:txBody>
      </p:sp>
      <p:sp>
        <p:nvSpPr>
          <p:cNvPr id="83" name="svg_rect_083">
            <a:extLst xmlns:a="http://schemas.openxmlformats.org/drawingml/2006/main">
              <a:ext uri="{FF2B5EF4-FFF2-40B4-BE49-F238E27FC236}">
                <a16:creationId xmlns:a16="http://schemas.microsoft.com/office/drawing/2014/main" id="{DC5374BF-E957-464A-88F1-C93D3B7069A5}"/>
              </a:ext>
            </a:extLst>
          </p:cNvPr>
          <p:cNvSpPr>
            <a:spLocks xmlns:a="http://schemas.openxmlformats.org/drawingml/2006/main" noGrp="1"/>
          </p:cNvSpPr>
          <p:nvPr/>
        </p:nvSpPr>
        <p:spPr>
          <a:xfrm xmlns:a="http://schemas.openxmlformats.org/drawingml/2006/main">
            <a:off x="7572375" y="5191125"/>
            <a:ext cx="333375" cy="209550"/>
          </a:xfrm>
          <a:prstGeom xmlns:a="http://schemas.openxmlformats.org/drawingml/2006/main" prst="rect">
            <a:avLst/>
          </a:prstGeom>
          <a:solidFill xmlns:a="http://schemas.openxmlformats.org/drawingml/2006/main">
            <a:srgbClr val="70BD92"/>
          </a:solidFill>
          <a:ln xmlns:a="http://schemas.openxmlformats.org/drawingml/2006/main" w="0">
            <a:noFill/>
            <a:prstDash val="solid"/>
          </a:ln>
        </p:spPr>
      </p:sp>
      <p:sp>
        <p:nvSpPr>
          <p:cNvPr id="84" name="svg_rect_084">
            <a:extLst xmlns:a="http://schemas.openxmlformats.org/drawingml/2006/main">
              <a:ext uri="{FF2B5EF4-FFF2-40B4-BE49-F238E27FC236}">
                <a16:creationId xmlns:a16="http://schemas.microsoft.com/office/drawing/2014/main" id="{AD54A1C2-A00A-4913-91FD-37C5CBDC8B9B}"/>
              </a:ext>
            </a:extLst>
          </p:cNvPr>
          <p:cNvSpPr>
            <a:spLocks xmlns:a="http://schemas.openxmlformats.org/drawingml/2006/main" noGrp="1"/>
          </p:cNvSpPr>
          <p:nvPr/>
        </p:nvSpPr>
        <p:spPr>
          <a:xfrm xmlns:a="http://schemas.openxmlformats.org/drawingml/2006/main">
            <a:off x="7972425" y="5191125"/>
            <a:ext cx="333375" cy="209550"/>
          </a:xfrm>
          <a:prstGeom xmlns:a="http://schemas.openxmlformats.org/drawingml/2006/main" prst="rect">
            <a:avLst/>
          </a:prstGeom>
          <a:solidFill xmlns:a="http://schemas.openxmlformats.org/drawingml/2006/main">
            <a:srgbClr val="70BD92"/>
          </a:solidFill>
          <a:ln xmlns:a="http://schemas.openxmlformats.org/drawingml/2006/main" w="0">
            <a:noFill/>
            <a:prstDash val="solid"/>
          </a:ln>
        </p:spPr>
      </p:sp>
      <p:sp>
        <p:nvSpPr>
          <p:cNvPr id="85" name="svg_rect_085">
            <a:extLst xmlns:a="http://schemas.openxmlformats.org/drawingml/2006/main">
              <a:ext uri="{FF2B5EF4-FFF2-40B4-BE49-F238E27FC236}">
                <a16:creationId xmlns:a16="http://schemas.microsoft.com/office/drawing/2014/main" id="{367DE2DA-30A0-4C60-9B02-33498DC45779}"/>
              </a:ext>
            </a:extLst>
          </p:cNvPr>
          <p:cNvSpPr>
            <a:spLocks xmlns:a="http://schemas.openxmlformats.org/drawingml/2006/main" noGrp="1"/>
          </p:cNvSpPr>
          <p:nvPr/>
        </p:nvSpPr>
        <p:spPr>
          <a:xfrm xmlns:a="http://schemas.openxmlformats.org/drawingml/2006/main">
            <a:off x="8372475" y="5191125"/>
            <a:ext cx="333375" cy="209550"/>
          </a:xfrm>
          <a:prstGeom xmlns:a="http://schemas.openxmlformats.org/drawingml/2006/main" prst="rect">
            <a:avLst/>
          </a:prstGeom>
          <a:solidFill xmlns:a="http://schemas.openxmlformats.org/drawingml/2006/main">
            <a:srgbClr val="70BD92"/>
          </a:solidFill>
          <a:ln xmlns:a="http://schemas.openxmlformats.org/drawingml/2006/main" w="0">
            <a:noFill/>
            <a:prstDash val="solid"/>
          </a:ln>
        </p:spPr>
      </p:sp>
      <p:sp>
        <p:nvSpPr>
          <p:cNvPr id="86" name="svg_text_086">
            <a:extLst xmlns:a="http://schemas.openxmlformats.org/drawingml/2006/main">
              <a:ext uri="{FF2B5EF4-FFF2-40B4-BE49-F238E27FC236}">
                <a16:creationId xmlns:a16="http://schemas.microsoft.com/office/drawing/2014/main" id="{B01BEF21-877C-47F7-9343-0558BD9FDF30}"/>
              </a:ext>
            </a:extLst>
          </p:cNvPr>
          <p:cNvSpPr>
            <a:spLocks xmlns:a="http://schemas.openxmlformats.org/drawingml/2006/main" noGrp="1"/>
          </p:cNvSpPr>
          <p:nvPr/>
        </p:nvSpPr>
        <p:spPr>
          <a:xfrm xmlns:a="http://schemas.openxmlformats.org/drawingml/2006/main">
            <a:off x="8645900" y="5155663"/>
            <a:ext cx="424701"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i₂</a:t>
            </a:r>
          </a:p>
        </p:txBody>
      </p:sp>
      <p:sp>
        <p:nvSpPr>
          <p:cNvPr id="87" name="svg_rect_087">
            <a:extLst xmlns:a="http://schemas.openxmlformats.org/drawingml/2006/main">
              <a:ext uri="{FF2B5EF4-FFF2-40B4-BE49-F238E27FC236}">
                <a16:creationId xmlns:a16="http://schemas.microsoft.com/office/drawing/2014/main" id="{2CBC8353-9395-4CD4-B508-27EEAB18502C}"/>
              </a:ext>
            </a:extLst>
          </p:cNvPr>
          <p:cNvSpPr>
            <a:spLocks xmlns:a="http://schemas.openxmlformats.org/drawingml/2006/main" noGrp="1"/>
          </p:cNvSpPr>
          <p:nvPr/>
        </p:nvSpPr>
        <p:spPr>
          <a:xfrm xmlns:a="http://schemas.openxmlformats.org/drawingml/2006/main">
            <a:off x="9477375" y="5191125"/>
            <a:ext cx="333375" cy="209550"/>
          </a:xfrm>
          <a:prstGeom xmlns:a="http://schemas.openxmlformats.org/drawingml/2006/main" prst="rect">
            <a:avLst/>
          </a:prstGeom>
          <a:solidFill xmlns:a="http://schemas.openxmlformats.org/drawingml/2006/main">
            <a:srgbClr val="8588E8"/>
          </a:solidFill>
          <a:ln xmlns:a="http://schemas.openxmlformats.org/drawingml/2006/main" w="0">
            <a:noFill/>
            <a:prstDash val="solid"/>
          </a:ln>
        </p:spPr>
      </p:sp>
      <p:sp>
        <p:nvSpPr>
          <p:cNvPr id="88" name="svg_rect_088">
            <a:extLst xmlns:a="http://schemas.openxmlformats.org/drawingml/2006/main">
              <a:ext uri="{FF2B5EF4-FFF2-40B4-BE49-F238E27FC236}">
                <a16:creationId xmlns:a16="http://schemas.microsoft.com/office/drawing/2014/main" id="{C75EEDA3-1D3B-4B6F-9148-8ADDEFD97273}"/>
              </a:ext>
            </a:extLst>
          </p:cNvPr>
          <p:cNvSpPr>
            <a:spLocks xmlns:a="http://schemas.openxmlformats.org/drawingml/2006/main" noGrp="1"/>
          </p:cNvSpPr>
          <p:nvPr/>
        </p:nvSpPr>
        <p:spPr>
          <a:xfrm xmlns:a="http://schemas.openxmlformats.org/drawingml/2006/main">
            <a:off x="9877425" y="5191125"/>
            <a:ext cx="333375" cy="209550"/>
          </a:xfrm>
          <a:prstGeom xmlns:a="http://schemas.openxmlformats.org/drawingml/2006/main" prst="rect">
            <a:avLst/>
          </a:prstGeom>
          <a:solidFill xmlns:a="http://schemas.openxmlformats.org/drawingml/2006/main">
            <a:srgbClr val="8588E8"/>
          </a:solidFill>
          <a:ln xmlns:a="http://schemas.openxmlformats.org/drawingml/2006/main" w="0">
            <a:noFill/>
            <a:prstDash val="solid"/>
          </a:ln>
        </p:spPr>
      </p:sp>
      <p:sp>
        <p:nvSpPr>
          <p:cNvPr id="89" name="svg_rect_089">
            <a:extLst xmlns:a="http://schemas.openxmlformats.org/drawingml/2006/main">
              <a:ext uri="{FF2B5EF4-FFF2-40B4-BE49-F238E27FC236}">
                <a16:creationId xmlns:a16="http://schemas.microsoft.com/office/drawing/2014/main" id="{3C3CD4FE-E620-41DA-A4E1-A20DC22E02C7}"/>
              </a:ext>
            </a:extLst>
          </p:cNvPr>
          <p:cNvSpPr>
            <a:spLocks xmlns:a="http://schemas.openxmlformats.org/drawingml/2006/main" noGrp="1"/>
          </p:cNvSpPr>
          <p:nvPr/>
        </p:nvSpPr>
        <p:spPr>
          <a:xfrm xmlns:a="http://schemas.openxmlformats.org/drawingml/2006/main">
            <a:off x="10277475" y="5191125"/>
            <a:ext cx="333375" cy="209550"/>
          </a:xfrm>
          <a:prstGeom xmlns:a="http://schemas.openxmlformats.org/drawingml/2006/main" prst="rect">
            <a:avLst/>
          </a:prstGeom>
          <a:solidFill xmlns:a="http://schemas.openxmlformats.org/drawingml/2006/main">
            <a:srgbClr val="8588E8"/>
          </a:solidFill>
          <a:ln xmlns:a="http://schemas.openxmlformats.org/drawingml/2006/main" w="0">
            <a:noFill/>
            <a:prstDash val="solid"/>
          </a:ln>
        </p:spPr>
      </p:sp>
      <p:sp>
        <p:nvSpPr>
          <p:cNvPr id="90" name="svg_text_090">
            <a:extLst xmlns:a="http://schemas.openxmlformats.org/drawingml/2006/main">
              <a:ext uri="{FF2B5EF4-FFF2-40B4-BE49-F238E27FC236}">
                <a16:creationId xmlns:a16="http://schemas.microsoft.com/office/drawing/2014/main" id="{AF41353E-ADBA-4A90-ADB7-23FE3CFA1F9B}"/>
              </a:ext>
            </a:extLst>
          </p:cNvPr>
          <p:cNvSpPr>
            <a:spLocks xmlns:a="http://schemas.openxmlformats.org/drawingml/2006/main" noGrp="1"/>
          </p:cNvSpPr>
          <p:nvPr/>
        </p:nvSpPr>
        <p:spPr>
          <a:xfrm xmlns:a="http://schemas.openxmlformats.org/drawingml/2006/main">
            <a:off x="10550900" y="5155663"/>
            <a:ext cx="424701"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i₃</a:t>
            </a:r>
          </a:p>
        </p:txBody>
      </p:sp>
      <p:sp>
        <p:nvSpPr>
          <p:cNvPr id="91" name="svg_path_091">
            <a:extLst xmlns:a="http://schemas.openxmlformats.org/drawingml/2006/main">
              <a:ext uri="{FF2B5EF4-FFF2-40B4-BE49-F238E27FC236}">
                <a16:creationId xmlns:a16="http://schemas.microsoft.com/office/drawing/2014/main" id="{B1E7D554-7616-4458-A4C9-6DAD65BAB09D}"/>
              </a:ext>
            </a:extLst>
          </p:cNvPr>
          <p:cNvSpPr>
            <a:spLocks xmlns:a="http://schemas.openxmlformats.org/drawingml/2006/main" noGrp="1"/>
          </p:cNvSpPr>
          <p:nvPr/>
        </p:nvSpPr>
        <p:spPr>
          <a:xfrm xmlns:a="http://schemas.openxmlformats.org/drawingml/2006/main">
            <a:off x="5619750" y="5619750"/>
            <a:ext cx="5429250" cy="190500"/>
          </a:xfrm>
          <a:custGeom xmlns:a="http://schemas.openxmlformats.org/drawingml/2006/main">
            <a:pathLst>
              <a:path w="5429250" h="190500">
                <a:moveTo>
                  <a:pt x="0" y="0"/>
                </a:moveTo>
                <a:lnTo>
                  <a:pt x="0" y="190500"/>
                </a:lnTo>
                <a:lnTo>
                  <a:pt x="5429250" y="190500"/>
                </a:lnTo>
                <a:lnTo>
                  <a:pt x="5429250" y="0"/>
                </a:lnTo>
              </a:path>
            </a:pathLst>
          </a:custGeom>
          <a:noFill xmlns:a="http://schemas.openxmlformats.org/drawingml/2006/main"/>
          <a:ln xmlns:a="http://schemas.openxmlformats.org/drawingml/2006/main" w="19812">
            <a:solidFill>
              <a:srgbClr val="506070"/>
            </a:solidFill>
            <a:prstDash val="solid"/>
          </a:ln>
        </p:spPr>
      </p:sp>
      <p:sp>
        <p:nvSpPr>
          <p:cNvPr id="92" name="svg_text_092">
            <a:extLst xmlns:a="http://schemas.openxmlformats.org/drawingml/2006/main">
              <a:ext uri="{FF2B5EF4-FFF2-40B4-BE49-F238E27FC236}">
                <a16:creationId xmlns:a16="http://schemas.microsoft.com/office/drawing/2014/main" id="{0BA9A4BA-464D-44BB-A9A7-0781886B33D9}"/>
              </a:ext>
            </a:extLst>
          </p:cNvPr>
          <p:cNvSpPr>
            <a:spLocks xmlns:a="http://schemas.openxmlformats.org/drawingml/2006/main" noGrp="1"/>
          </p:cNvSpPr>
          <p:nvPr/>
        </p:nvSpPr>
        <p:spPr>
          <a:xfrm xmlns:a="http://schemas.openxmlformats.org/drawingml/2006/main">
            <a:off x="6039863" y="5912514"/>
            <a:ext cx="458902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Quantized Latent zq = q₁ + q₂ + q₃</a:t>
            </a:r>
          </a:p>
        </p:txBody>
      </p:sp>
      <p:sp>
        <p:nvSpPr>
          <p:cNvPr id="93" name="svg_rect_093">
            <a:extLst xmlns:a="http://schemas.openxmlformats.org/drawingml/2006/main">
              <a:ext uri="{FF2B5EF4-FFF2-40B4-BE49-F238E27FC236}">
                <a16:creationId xmlns:a16="http://schemas.microsoft.com/office/drawing/2014/main" id="{F60456F6-740C-4C23-B3CD-0F91D45C00B7}"/>
              </a:ext>
            </a:extLst>
          </p:cNvPr>
          <p:cNvSpPr>
            <a:spLocks xmlns:a="http://schemas.openxmlformats.org/drawingml/2006/main" noGrp="1"/>
          </p:cNvSpPr>
          <p:nvPr/>
        </p:nvSpPr>
        <p:spPr>
          <a:xfrm xmlns:a="http://schemas.openxmlformats.org/drawingml/2006/main">
            <a:off x="11525250" y="2619375"/>
            <a:ext cx="4953000" cy="3667125"/>
          </a:xfrm>
          <a:prstGeom xmlns:a="http://schemas.openxmlformats.org/drawingml/2006/main" prst="roundRect">
            <a:avLst>
              <a:gd name="adj" fmla="val 3117"/>
            </a:avLst>
          </a:prstGeom>
          <a:solidFill xmlns:a="http://schemas.openxmlformats.org/drawingml/2006/main">
            <a:srgbClr val="FFFFFF"/>
          </a:solidFill>
          <a:ln xmlns:a="http://schemas.openxmlformats.org/drawingml/2006/main" w="24765">
            <a:solidFill>
              <a:srgbClr val="7DB5E8"/>
            </a:solidFill>
            <a:prstDash val="dash"/>
          </a:ln>
        </p:spPr>
      </p:sp>
      <p:sp>
        <p:nvSpPr>
          <p:cNvPr id="94" name="svg_circle_094">
            <a:extLst xmlns:a="http://schemas.openxmlformats.org/drawingml/2006/main">
              <a:ext uri="{FF2B5EF4-FFF2-40B4-BE49-F238E27FC236}">
                <a16:creationId xmlns:a16="http://schemas.microsoft.com/office/drawing/2014/main" id="{6FCCACC2-9093-4DFE-A8F1-C566E15AEFB7}"/>
              </a:ext>
            </a:extLst>
          </p:cNvPr>
          <p:cNvSpPr>
            <a:spLocks xmlns:a="http://schemas.openxmlformats.org/drawingml/2006/main" noGrp="1"/>
          </p:cNvSpPr>
          <p:nvPr/>
        </p:nvSpPr>
        <p:spPr>
          <a:xfrm xmlns:a="http://schemas.openxmlformats.org/drawingml/2006/main">
            <a:off x="11591925" y="2686050"/>
            <a:ext cx="533400" cy="533400"/>
          </a:xfrm>
          <a:prstGeom xmlns:a="http://schemas.openxmlformats.org/drawingml/2006/main" prst="ellipse">
            <a:avLst/>
          </a:prstGeom>
          <a:solidFill xmlns:a="http://schemas.openxmlformats.org/drawingml/2006/main">
            <a:srgbClr val="080B0E"/>
          </a:solidFill>
          <a:ln xmlns:a="http://schemas.openxmlformats.org/drawingml/2006/main" w="0">
            <a:noFill/>
            <a:prstDash val="solid"/>
          </a:ln>
        </p:spPr>
      </p:sp>
      <p:sp>
        <p:nvSpPr>
          <p:cNvPr id="95" name="svg_text_095">
            <a:extLst xmlns:a="http://schemas.openxmlformats.org/drawingml/2006/main">
              <a:ext uri="{FF2B5EF4-FFF2-40B4-BE49-F238E27FC236}">
                <a16:creationId xmlns:a16="http://schemas.microsoft.com/office/drawing/2014/main" id="{C6D14E03-1825-4C0B-BD7A-6B5AC337B3F5}"/>
              </a:ext>
            </a:extLst>
          </p:cNvPr>
          <p:cNvSpPr>
            <a:spLocks xmlns:a="http://schemas.openxmlformats.org/drawingml/2006/main" noGrp="1"/>
          </p:cNvSpPr>
          <p:nvPr/>
        </p:nvSpPr>
        <p:spPr>
          <a:xfrm xmlns:a="http://schemas.openxmlformats.org/drawingml/2006/main">
            <a:off x="11620500" y="27146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87" b="1" i="0">
                <a:solidFill>
                  <a:srgbClr val="FFFFFF"/>
                </a:solidFill>
                <a:latin typeface="Arial"/>
                <a:ea typeface="Arial"/>
                <a:cs typeface="Arial"/>
              </a:defRPr>
            </a:pPr>
            <a:r>
              <a:rPr sz="2187" b="1" i="0">
                <a:solidFill>
                  <a:srgbClr val="FFFFFF"/>
                </a:solidFill>
                <a:latin typeface="Arial"/>
                <a:ea typeface="Arial"/>
                <a:cs typeface="Arial"/>
              </a:rPr>
              <a:t>3</a:t>
            </a:r>
          </a:p>
        </p:txBody>
      </p:sp>
      <p:sp>
        <p:nvSpPr>
          <p:cNvPr id="96" name="svg_text_096">
            <a:extLst xmlns:a="http://schemas.openxmlformats.org/drawingml/2006/main">
              <a:ext uri="{FF2B5EF4-FFF2-40B4-BE49-F238E27FC236}">
                <a16:creationId xmlns:a16="http://schemas.microsoft.com/office/drawing/2014/main" id="{1836E48A-55AC-4491-8769-DBA41D891B2A}"/>
              </a:ext>
            </a:extLst>
          </p:cNvPr>
          <p:cNvSpPr>
            <a:spLocks xmlns:a="http://schemas.openxmlformats.org/drawingml/2006/main" noGrp="1"/>
          </p:cNvSpPr>
          <p:nvPr/>
        </p:nvSpPr>
        <p:spPr>
          <a:xfrm xmlns:a="http://schemas.openxmlformats.org/drawingml/2006/main">
            <a:off x="12239625" y="2686050"/>
            <a:ext cx="3857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726"/>
          </a:bodyPr>
          <a:lstStyle xmlns:a="http://schemas.openxmlformats.org/drawingml/2006/main"/>
          <a:p xmlns:a="http://schemas.openxmlformats.org/drawingml/2006/main">
            <a:pPr algn="l">
              <a:defRPr sz="2100" b="1" i="0">
                <a:solidFill>
                  <a:srgbClr val="0F1720"/>
                </a:solidFill>
                <a:latin typeface="Arial"/>
                <a:ea typeface="Arial"/>
                <a:cs typeface="Arial"/>
              </a:defRPr>
            </a:pPr>
            <a:r>
              <a:rPr sz="2100" b="1" i="0">
                <a:solidFill>
                  <a:srgbClr val="0F1720"/>
                </a:solidFill>
                <a:latin typeface="Arial"/>
                <a:ea typeface="Arial"/>
                <a:cs typeface="Arial"/>
              </a:rPr>
              <a:t>DISCRETE INDEX</a:t>
            </a:r>
          </a:p>
          <a:p xmlns:a="http://schemas.openxmlformats.org/drawingml/2006/main">
            <a:pPr algn="l">
              <a:defRPr sz="2100" b="1" i="0">
                <a:solidFill>
                  <a:srgbClr val="0F1720"/>
                </a:solidFill>
                <a:latin typeface="Arial"/>
                <a:ea typeface="Arial"/>
                <a:cs typeface="Arial"/>
              </a:defRPr>
            </a:pPr>
            <a:r>
              <a:rPr sz="2100" b="1" i="0">
                <a:solidFill>
                  <a:srgbClr val="0F1720"/>
                </a:solidFill>
                <a:latin typeface="Arial"/>
                <a:ea typeface="Arial"/>
                <a:cs typeface="Arial"/>
              </a:rPr>
              <a:t>TRANSMISSION</a:t>
            </a:r>
          </a:p>
        </p:txBody>
      </p:sp>
      <p:sp>
        <p:nvSpPr>
          <p:cNvPr id="97" name="svg_rect_097">
            <a:extLst xmlns:a="http://schemas.openxmlformats.org/drawingml/2006/main">
              <a:ext uri="{FF2B5EF4-FFF2-40B4-BE49-F238E27FC236}">
                <a16:creationId xmlns:a16="http://schemas.microsoft.com/office/drawing/2014/main" id="{5957B66F-50CD-4A5A-86A4-66047AB8B190}"/>
              </a:ext>
            </a:extLst>
          </p:cNvPr>
          <p:cNvSpPr>
            <a:spLocks xmlns:a="http://schemas.openxmlformats.org/drawingml/2006/main" noGrp="1"/>
          </p:cNvSpPr>
          <p:nvPr/>
        </p:nvSpPr>
        <p:spPr>
          <a:xfrm xmlns:a="http://schemas.openxmlformats.org/drawingml/2006/main">
            <a:off x="11771948" y="3681413"/>
            <a:ext cx="1040130" cy="1733550"/>
          </a:xfrm>
          <a:prstGeom xmlns:a="http://schemas.openxmlformats.org/drawingml/2006/main" prst="roundRect">
            <a:avLst>
              <a:gd name="adj" fmla="val 7326"/>
            </a:avLst>
          </a:prstGeom>
          <a:solidFill xmlns:a="http://schemas.openxmlformats.org/drawingml/2006/main">
            <a:srgbClr val="EDF6FF"/>
          </a:solidFill>
          <a:ln xmlns:a="http://schemas.openxmlformats.org/drawingml/2006/main" w="24765">
            <a:solidFill>
              <a:srgbClr val="408FD2"/>
            </a:solidFill>
            <a:prstDash val="solid"/>
          </a:ln>
        </p:spPr>
      </p:sp>
      <p:sp>
        <p:nvSpPr>
          <p:cNvPr id="98" name="svg_text_098">
            <a:extLst xmlns:a="http://schemas.openxmlformats.org/drawingml/2006/main">
              <a:ext uri="{FF2B5EF4-FFF2-40B4-BE49-F238E27FC236}">
                <a16:creationId xmlns:a16="http://schemas.microsoft.com/office/drawing/2014/main" id="{53331D24-C6DE-4CE0-A6C4-13F4445F33C5}"/>
              </a:ext>
            </a:extLst>
          </p:cNvPr>
          <p:cNvSpPr>
            <a:spLocks xmlns:a="http://schemas.openxmlformats.org/drawingml/2006/main" noGrp="1"/>
          </p:cNvSpPr>
          <p:nvPr/>
        </p:nvSpPr>
        <p:spPr>
          <a:xfrm xmlns:a="http://schemas.openxmlformats.org/drawingml/2006/main">
            <a:off x="11810048" y="3818896"/>
            <a:ext cx="96393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i₁</a:t>
            </a:r>
          </a:p>
        </p:txBody>
      </p:sp>
      <p:sp>
        <p:nvSpPr>
          <p:cNvPr id="99" name="svg_rect_099">
            <a:extLst xmlns:a="http://schemas.openxmlformats.org/drawingml/2006/main">
              <a:ext uri="{FF2B5EF4-FFF2-40B4-BE49-F238E27FC236}">
                <a16:creationId xmlns:a16="http://schemas.microsoft.com/office/drawing/2014/main" id="{9E48625A-848C-448E-A07D-C34044ECDD7E}"/>
              </a:ext>
            </a:extLst>
          </p:cNvPr>
          <p:cNvSpPr>
            <a:spLocks xmlns:a="http://schemas.openxmlformats.org/drawingml/2006/main" noGrp="1"/>
          </p:cNvSpPr>
          <p:nvPr/>
        </p:nvSpPr>
        <p:spPr>
          <a:xfrm xmlns:a="http://schemas.openxmlformats.org/drawingml/2006/main">
            <a:off x="11953875" y="4095750"/>
            <a:ext cx="666750" cy="152400"/>
          </a:xfrm>
          <a:prstGeom xmlns:a="http://schemas.openxmlformats.org/drawingml/2006/main" prst="rect">
            <a:avLst/>
          </a:prstGeom>
          <a:solidFill xmlns:a="http://schemas.openxmlformats.org/drawingml/2006/main">
            <a:srgbClr val="FB923C"/>
          </a:solidFill>
          <a:ln xmlns:a="http://schemas.openxmlformats.org/drawingml/2006/main" w="0">
            <a:noFill/>
            <a:prstDash val="solid"/>
          </a:ln>
        </p:spPr>
      </p:sp>
      <p:sp>
        <p:nvSpPr>
          <p:cNvPr id="100" name="svg_text_100">
            <a:extLst xmlns:a="http://schemas.openxmlformats.org/drawingml/2006/main">
              <a:ext uri="{FF2B5EF4-FFF2-40B4-BE49-F238E27FC236}">
                <a16:creationId xmlns:a16="http://schemas.microsoft.com/office/drawing/2014/main" id="{063D40B9-372C-4E29-87F8-CB9B294CD954}"/>
              </a:ext>
            </a:extLst>
          </p:cNvPr>
          <p:cNvSpPr>
            <a:spLocks xmlns:a="http://schemas.openxmlformats.org/drawingml/2006/main" noGrp="1"/>
          </p:cNvSpPr>
          <p:nvPr/>
        </p:nvSpPr>
        <p:spPr>
          <a:xfrm xmlns:a="http://schemas.openxmlformats.org/drawingml/2006/main">
            <a:off x="11810048" y="4314196"/>
            <a:ext cx="96393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i₂</a:t>
            </a:r>
          </a:p>
        </p:txBody>
      </p:sp>
      <p:sp>
        <p:nvSpPr>
          <p:cNvPr id="101" name="svg_rect_101">
            <a:extLst xmlns:a="http://schemas.openxmlformats.org/drawingml/2006/main">
              <a:ext uri="{FF2B5EF4-FFF2-40B4-BE49-F238E27FC236}">
                <a16:creationId xmlns:a16="http://schemas.microsoft.com/office/drawing/2014/main" id="{CD33A87A-332F-4A10-A902-96B7A57CD985}"/>
              </a:ext>
            </a:extLst>
          </p:cNvPr>
          <p:cNvSpPr>
            <a:spLocks xmlns:a="http://schemas.openxmlformats.org/drawingml/2006/main" noGrp="1"/>
          </p:cNvSpPr>
          <p:nvPr/>
        </p:nvSpPr>
        <p:spPr>
          <a:xfrm xmlns:a="http://schemas.openxmlformats.org/drawingml/2006/main">
            <a:off x="11953875" y="4591050"/>
            <a:ext cx="666750" cy="152400"/>
          </a:xfrm>
          <a:prstGeom xmlns:a="http://schemas.openxmlformats.org/drawingml/2006/main" prst="rect">
            <a:avLst/>
          </a:prstGeom>
          <a:solidFill xmlns:a="http://schemas.openxmlformats.org/drawingml/2006/main">
            <a:srgbClr val="70BD92"/>
          </a:solidFill>
          <a:ln xmlns:a="http://schemas.openxmlformats.org/drawingml/2006/main" w="0">
            <a:noFill/>
            <a:prstDash val="solid"/>
          </a:ln>
        </p:spPr>
      </p:sp>
      <p:sp>
        <p:nvSpPr>
          <p:cNvPr id="102" name="svg_text_102">
            <a:extLst xmlns:a="http://schemas.openxmlformats.org/drawingml/2006/main">
              <a:ext uri="{FF2B5EF4-FFF2-40B4-BE49-F238E27FC236}">
                <a16:creationId xmlns:a16="http://schemas.microsoft.com/office/drawing/2014/main" id="{E2EBF62F-0225-4DDA-B06D-BBD3E115D139}"/>
              </a:ext>
            </a:extLst>
          </p:cNvPr>
          <p:cNvSpPr>
            <a:spLocks xmlns:a="http://schemas.openxmlformats.org/drawingml/2006/main" noGrp="1"/>
          </p:cNvSpPr>
          <p:nvPr/>
        </p:nvSpPr>
        <p:spPr>
          <a:xfrm xmlns:a="http://schemas.openxmlformats.org/drawingml/2006/main">
            <a:off x="11810048" y="4809496"/>
            <a:ext cx="96393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i₃</a:t>
            </a:r>
          </a:p>
        </p:txBody>
      </p:sp>
      <p:sp>
        <p:nvSpPr>
          <p:cNvPr id="103" name="svg_rect_103">
            <a:extLst xmlns:a="http://schemas.openxmlformats.org/drawingml/2006/main">
              <a:ext uri="{FF2B5EF4-FFF2-40B4-BE49-F238E27FC236}">
                <a16:creationId xmlns:a16="http://schemas.microsoft.com/office/drawing/2014/main" id="{D0A232CE-72BC-4221-B330-94B4856A2017}"/>
              </a:ext>
            </a:extLst>
          </p:cNvPr>
          <p:cNvSpPr>
            <a:spLocks xmlns:a="http://schemas.openxmlformats.org/drawingml/2006/main" noGrp="1"/>
          </p:cNvSpPr>
          <p:nvPr/>
        </p:nvSpPr>
        <p:spPr>
          <a:xfrm xmlns:a="http://schemas.openxmlformats.org/drawingml/2006/main">
            <a:off x="11953875" y="5086350"/>
            <a:ext cx="666750" cy="152400"/>
          </a:xfrm>
          <a:prstGeom xmlns:a="http://schemas.openxmlformats.org/drawingml/2006/main" prst="rect">
            <a:avLst/>
          </a:prstGeom>
          <a:solidFill xmlns:a="http://schemas.openxmlformats.org/drawingml/2006/main">
            <a:srgbClr val="8588E8"/>
          </a:solidFill>
          <a:ln xmlns:a="http://schemas.openxmlformats.org/drawingml/2006/main" w="0">
            <a:noFill/>
            <a:prstDash val="solid"/>
          </a:ln>
        </p:spPr>
      </p:sp>
      <p:sp>
        <p:nvSpPr>
          <p:cNvPr id="104" name="svg_path_104">
            <a:extLst xmlns:a="http://schemas.openxmlformats.org/drawingml/2006/main">
              <a:ext uri="{FF2B5EF4-FFF2-40B4-BE49-F238E27FC236}">
                <a16:creationId xmlns:a16="http://schemas.microsoft.com/office/drawing/2014/main" id="{FA0EBE36-B6E4-4EBE-B88B-039B9B7DB76B}"/>
              </a:ext>
            </a:extLst>
          </p:cNvPr>
          <p:cNvSpPr>
            <a:spLocks xmlns:a="http://schemas.openxmlformats.org/drawingml/2006/main" noGrp="1"/>
          </p:cNvSpPr>
          <p:nvPr/>
        </p:nvSpPr>
        <p:spPr>
          <a:xfrm xmlns:a="http://schemas.openxmlformats.org/drawingml/2006/main">
            <a:off x="12792075" y="4476750"/>
            <a:ext cx="257175" cy="9525"/>
          </a:xfrm>
          <a:custGeom xmlns:a="http://schemas.openxmlformats.org/drawingml/2006/main">
            <a:pathLst>
              <a:path w="257175" h="9525">
                <a:moveTo>
                  <a:pt x="0" y="0"/>
                </a:moveTo>
                <a:lnTo>
                  <a:pt x="257175" y="0"/>
                </a:lnTo>
              </a:path>
            </a:pathLst>
          </a:custGeom>
          <a:noFill xmlns:a="http://schemas.openxmlformats.org/drawingml/2006/main"/>
          <a:ln xmlns:a="http://schemas.openxmlformats.org/drawingml/2006/main" w="30956">
            <a:solidFill>
              <a:srgbClr val="2386D8"/>
            </a:solidFill>
            <a:prstDash val="solid"/>
          </a:ln>
        </p:spPr>
      </p:sp>
      <p:sp>
        <p:nvSpPr>
          <p:cNvPr id="105" name="svg_arrowhead_105">
            <a:extLst xmlns:a="http://schemas.openxmlformats.org/drawingml/2006/main">
              <a:ext uri="{FF2B5EF4-FFF2-40B4-BE49-F238E27FC236}">
                <a16:creationId xmlns:a16="http://schemas.microsoft.com/office/drawing/2014/main" id="{5DFB2DB5-503D-4448-8B2B-65C509EFD45D}"/>
              </a:ext>
            </a:extLst>
          </p:cNvPr>
          <p:cNvSpPr>
            <a:spLocks xmlns:a="http://schemas.openxmlformats.org/drawingml/2006/main" noGrp="1"/>
          </p:cNvSpPr>
          <p:nvPr/>
        </p:nvSpPr>
        <p:spPr>
          <a:xfrm xmlns:a="http://schemas.openxmlformats.org/drawingml/2006/main">
            <a:off x="12915900" y="4410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06" name="svg_rect_106">
            <a:extLst xmlns:a="http://schemas.openxmlformats.org/drawingml/2006/main">
              <a:ext uri="{FF2B5EF4-FFF2-40B4-BE49-F238E27FC236}">
                <a16:creationId xmlns:a16="http://schemas.microsoft.com/office/drawing/2014/main" id="{6B5F693E-E98F-466F-9BC0-7A57C4C0E57A}"/>
              </a:ext>
            </a:extLst>
          </p:cNvPr>
          <p:cNvSpPr>
            <a:spLocks xmlns:a="http://schemas.openxmlformats.org/drawingml/2006/main" noGrp="1"/>
          </p:cNvSpPr>
          <p:nvPr/>
        </p:nvSpPr>
        <p:spPr>
          <a:xfrm xmlns:a="http://schemas.openxmlformats.org/drawingml/2006/main">
            <a:off x="13025438" y="3882390"/>
            <a:ext cx="1238250" cy="1188720"/>
          </a:xfrm>
          <a:prstGeom xmlns:a="http://schemas.openxmlformats.org/drawingml/2006/main" prst="roundRect">
            <a:avLst>
              <a:gd name="adj" fmla="val 6410"/>
            </a:avLst>
          </a:prstGeom>
          <a:solidFill xmlns:a="http://schemas.openxmlformats.org/drawingml/2006/main">
            <a:srgbClr val="EDF6FF"/>
          </a:solidFill>
          <a:ln xmlns:a="http://schemas.openxmlformats.org/drawingml/2006/main" w="24765">
            <a:solidFill>
              <a:srgbClr val="408FD2"/>
            </a:solidFill>
            <a:prstDash val="solid"/>
          </a:ln>
        </p:spPr>
      </p:sp>
      <p:sp>
        <p:nvSpPr>
          <p:cNvPr id="107" name="svg_text_107">
            <a:extLst xmlns:a="http://schemas.openxmlformats.org/drawingml/2006/main">
              <a:ext uri="{FF2B5EF4-FFF2-40B4-BE49-F238E27FC236}">
                <a16:creationId xmlns:a16="http://schemas.microsoft.com/office/drawing/2014/main" id="{96982FA3-CBAB-49AC-94CA-CFE4DEE88BEA}"/>
              </a:ext>
            </a:extLst>
          </p:cNvPr>
          <p:cNvSpPr>
            <a:spLocks xmlns:a="http://schemas.openxmlformats.org/drawingml/2006/main" noGrp="1"/>
          </p:cNvSpPr>
          <p:nvPr/>
        </p:nvSpPr>
        <p:spPr>
          <a:xfrm xmlns:a="http://schemas.openxmlformats.org/drawingml/2006/main">
            <a:off x="13068776" y="400751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906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Index Packing</a:t>
            </a:r>
          </a:p>
        </p:txBody>
      </p:sp>
      <p:sp>
        <p:nvSpPr>
          <p:cNvPr id="108" name="svg_text_108">
            <a:extLst xmlns:a="http://schemas.openxmlformats.org/drawingml/2006/main">
              <a:ext uri="{FF2B5EF4-FFF2-40B4-BE49-F238E27FC236}">
                <a16:creationId xmlns:a16="http://schemas.microsoft.com/office/drawing/2014/main" id="{28F8F735-50BF-4244-B633-07E3CB05748C}"/>
              </a:ext>
            </a:extLst>
          </p:cNvPr>
          <p:cNvSpPr>
            <a:spLocks xmlns:a="http://schemas.openxmlformats.org/drawingml/2006/main" noGrp="1"/>
          </p:cNvSpPr>
          <p:nvPr/>
        </p:nvSpPr>
        <p:spPr>
          <a:xfrm xmlns:a="http://schemas.openxmlformats.org/drawingml/2006/main">
            <a:off x="13068776" y="4276096"/>
            <a:ext cx="115157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and</a:t>
            </a:r>
          </a:p>
        </p:txBody>
      </p:sp>
      <p:sp>
        <p:nvSpPr>
          <p:cNvPr id="109" name="svg_text_109">
            <a:extLst xmlns:a="http://schemas.openxmlformats.org/drawingml/2006/main">
              <a:ext uri="{FF2B5EF4-FFF2-40B4-BE49-F238E27FC236}">
                <a16:creationId xmlns:a16="http://schemas.microsoft.com/office/drawing/2014/main" id="{7B182239-2BCC-49C9-BD21-780B709BB1D5}"/>
              </a:ext>
            </a:extLst>
          </p:cNvPr>
          <p:cNvSpPr>
            <a:spLocks xmlns:a="http://schemas.openxmlformats.org/drawingml/2006/main" noGrp="1"/>
          </p:cNvSpPr>
          <p:nvPr/>
        </p:nvSpPr>
        <p:spPr>
          <a:xfrm xmlns:a="http://schemas.openxmlformats.org/drawingml/2006/main">
            <a:off x="13068776" y="446471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4019"/>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Packetization</a:t>
            </a:r>
          </a:p>
        </p:txBody>
      </p:sp>
      <p:sp>
        <p:nvSpPr>
          <p:cNvPr id="110" name="svg_text_110">
            <a:extLst xmlns:a="http://schemas.openxmlformats.org/drawingml/2006/main">
              <a:ext uri="{FF2B5EF4-FFF2-40B4-BE49-F238E27FC236}">
                <a16:creationId xmlns:a16="http://schemas.microsoft.com/office/drawing/2014/main" id="{7C52B993-0A86-4340-91FB-F7FB3A1B7F7B}"/>
              </a:ext>
            </a:extLst>
          </p:cNvPr>
          <p:cNvSpPr>
            <a:spLocks xmlns:a="http://schemas.openxmlformats.org/drawingml/2006/main" noGrp="1"/>
          </p:cNvSpPr>
          <p:nvPr/>
        </p:nvSpPr>
        <p:spPr>
          <a:xfrm xmlns:a="http://schemas.openxmlformats.org/drawingml/2006/main">
            <a:off x="13068776" y="4761871"/>
            <a:ext cx="115157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9618"/>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3 × 10 bits × 50 Hz</a:t>
            </a:r>
          </a:p>
        </p:txBody>
      </p:sp>
      <p:sp>
        <p:nvSpPr>
          <p:cNvPr id="111" name="svg_path_111">
            <a:extLst xmlns:a="http://schemas.openxmlformats.org/drawingml/2006/main">
              <a:ext uri="{FF2B5EF4-FFF2-40B4-BE49-F238E27FC236}">
                <a16:creationId xmlns:a16="http://schemas.microsoft.com/office/drawing/2014/main" id="{B8E03AE3-0A3E-4426-BF43-0DB6A88AE2F1}"/>
              </a:ext>
            </a:extLst>
          </p:cNvPr>
          <p:cNvSpPr>
            <a:spLocks xmlns:a="http://schemas.openxmlformats.org/drawingml/2006/main" noGrp="1"/>
          </p:cNvSpPr>
          <p:nvPr/>
        </p:nvSpPr>
        <p:spPr>
          <a:xfrm xmlns:a="http://schemas.openxmlformats.org/drawingml/2006/main">
            <a:off x="14239875" y="44767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30956">
            <a:solidFill>
              <a:srgbClr val="2386D8"/>
            </a:solidFill>
            <a:prstDash val="solid"/>
          </a:ln>
        </p:spPr>
      </p:sp>
      <p:sp>
        <p:nvSpPr>
          <p:cNvPr id="112" name="svg_arrowhead_112">
            <a:extLst xmlns:a="http://schemas.openxmlformats.org/drawingml/2006/main">
              <a:ext uri="{FF2B5EF4-FFF2-40B4-BE49-F238E27FC236}">
                <a16:creationId xmlns:a16="http://schemas.microsoft.com/office/drawing/2014/main" id="{BCD91A7F-6B93-4C3C-B8D4-0E4B32FD3CB3}"/>
              </a:ext>
            </a:extLst>
          </p:cNvPr>
          <p:cNvSpPr>
            <a:spLocks xmlns:a="http://schemas.openxmlformats.org/drawingml/2006/main" noGrp="1"/>
          </p:cNvSpPr>
          <p:nvPr/>
        </p:nvSpPr>
        <p:spPr>
          <a:xfrm xmlns:a="http://schemas.openxmlformats.org/drawingml/2006/main">
            <a:off x="14344650" y="4410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13" name="svg_rect_113">
            <a:extLst xmlns:a="http://schemas.openxmlformats.org/drawingml/2006/main">
              <a:ext uri="{FF2B5EF4-FFF2-40B4-BE49-F238E27FC236}">
                <a16:creationId xmlns:a16="http://schemas.microsoft.com/office/drawing/2014/main" id="{8913E920-14E8-4DF2-B2B1-8AF2F9B26F5D}"/>
              </a:ext>
            </a:extLst>
          </p:cNvPr>
          <p:cNvSpPr>
            <a:spLocks xmlns:a="http://schemas.openxmlformats.org/drawingml/2006/main" noGrp="1"/>
          </p:cNvSpPr>
          <p:nvPr/>
        </p:nvSpPr>
        <p:spPr>
          <a:xfrm xmlns:a="http://schemas.openxmlformats.org/drawingml/2006/main">
            <a:off x="14460855" y="3882390"/>
            <a:ext cx="891540" cy="1188720"/>
          </a:xfrm>
          <a:prstGeom xmlns:a="http://schemas.openxmlformats.org/drawingml/2006/main" prst="roundRect">
            <a:avLst>
              <a:gd name="adj" fmla="val 8547"/>
            </a:avLst>
          </a:prstGeom>
          <a:solidFill xmlns:a="http://schemas.openxmlformats.org/drawingml/2006/main">
            <a:srgbClr val="EDF6FF"/>
          </a:solidFill>
          <a:ln xmlns:a="http://schemas.openxmlformats.org/drawingml/2006/main" w="24765">
            <a:solidFill>
              <a:srgbClr val="408FD2"/>
            </a:solidFill>
            <a:prstDash val="solid"/>
          </a:ln>
        </p:spPr>
      </p:sp>
      <p:sp>
        <p:nvSpPr>
          <p:cNvPr id="114" name="svg_text_114">
            <a:extLst xmlns:a="http://schemas.openxmlformats.org/drawingml/2006/main">
              <a:ext uri="{FF2B5EF4-FFF2-40B4-BE49-F238E27FC236}">
                <a16:creationId xmlns:a16="http://schemas.microsoft.com/office/drawing/2014/main" id="{51C7DCF5-05C3-4649-8DCC-B18913A6F0DF}"/>
              </a:ext>
            </a:extLst>
          </p:cNvPr>
          <p:cNvSpPr>
            <a:spLocks xmlns:a="http://schemas.openxmlformats.org/drawingml/2006/main" noGrp="1"/>
          </p:cNvSpPr>
          <p:nvPr/>
        </p:nvSpPr>
        <p:spPr>
          <a:xfrm xmlns:a="http://schemas.openxmlformats.org/drawingml/2006/main">
            <a:off x="14498955" y="4102764"/>
            <a:ext cx="81534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Discrete</a:t>
            </a:r>
          </a:p>
        </p:txBody>
      </p:sp>
      <p:sp>
        <p:nvSpPr>
          <p:cNvPr id="115" name="svg_text_115">
            <a:extLst xmlns:a="http://schemas.openxmlformats.org/drawingml/2006/main">
              <a:ext uri="{FF2B5EF4-FFF2-40B4-BE49-F238E27FC236}">
                <a16:creationId xmlns:a16="http://schemas.microsoft.com/office/drawing/2014/main" id="{54FFDA36-8398-4D81-8527-0B1BCCC77B7F}"/>
              </a:ext>
            </a:extLst>
          </p:cNvPr>
          <p:cNvSpPr>
            <a:spLocks xmlns:a="http://schemas.openxmlformats.org/drawingml/2006/main" noGrp="1"/>
          </p:cNvSpPr>
          <p:nvPr/>
        </p:nvSpPr>
        <p:spPr>
          <a:xfrm xmlns:a="http://schemas.openxmlformats.org/drawingml/2006/main">
            <a:off x="14498955" y="4350414"/>
            <a:ext cx="81534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2564"/>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Bitstream</a:t>
            </a:r>
          </a:p>
        </p:txBody>
      </p:sp>
      <p:sp>
        <p:nvSpPr>
          <p:cNvPr id="116" name="svg_path_116">
            <a:extLst xmlns:a="http://schemas.openxmlformats.org/drawingml/2006/main">
              <a:ext uri="{FF2B5EF4-FFF2-40B4-BE49-F238E27FC236}">
                <a16:creationId xmlns:a16="http://schemas.microsoft.com/office/drawing/2014/main" id="{BBAA99DF-B7A9-407F-9967-0705CF8F35CA}"/>
              </a:ext>
            </a:extLst>
          </p:cNvPr>
          <p:cNvSpPr>
            <a:spLocks xmlns:a="http://schemas.openxmlformats.org/drawingml/2006/main" noGrp="1"/>
          </p:cNvSpPr>
          <p:nvPr/>
        </p:nvSpPr>
        <p:spPr>
          <a:xfrm xmlns:a="http://schemas.openxmlformats.org/drawingml/2006/main">
            <a:off x="15335250" y="44767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30956">
            <a:solidFill>
              <a:srgbClr val="2386D8"/>
            </a:solidFill>
            <a:prstDash val="solid"/>
          </a:ln>
        </p:spPr>
      </p:sp>
      <p:sp>
        <p:nvSpPr>
          <p:cNvPr id="117" name="svg_arrowhead_117">
            <a:extLst xmlns:a="http://schemas.openxmlformats.org/drawingml/2006/main">
              <a:ext uri="{FF2B5EF4-FFF2-40B4-BE49-F238E27FC236}">
                <a16:creationId xmlns:a16="http://schemas.microsoft.com/office/drawing/2014/main" id="{DEB4CD2F-91E3-4003-9396-155CCF778055}"/>
              </a:ext>
            </a:extLst>
          </p:cNvPr>
          <p:cNvSpPr>
            <a:spLocks xmlns:a="http://schemas.openxmlformats.org/drawingml/2006/main" noGrp="1"/>
          </p:cNvSpPr>
          <p:nvPr/>
        </p:nvSpPr>
        <p:spPr>
          <a:xfrm xmlns:a="http://schemas.openxmlformats.org/drawingml/2006/main">
            <a:off x="15440025" y="4410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18" name="svg_rect_118">
            <a:extLst xmlns:a="http://schemas.openxmlformats.org/drawingml/2006/main">
              <a:ext uri="{FF2B5EF4-FFF2-40B4-BE49-F238E27FC236}">
                <a16:creationId xmlns:a16="http://schemas.microsoft.com/office/drawing/2014/main" id="{8345C497-E2B3-4587-9AA5-68BA258BC4FF}"/>
              </a:ext>
            </a:extLst>
          </p:cNvPr>
          <p:cNvSpPr>
            <a:spLocks xmlns:a="http://schemas.openxmlformats.org/drawingml/2006/main" noGrp="1"/>
          </p:cNvSpPr>
          <p:nvPr/>
        </p:nvSpPr>
        <p:spPr>
          <a:xfrm xmlns:a="http://schemas.openxmlformats.org/drawingml/2006/main">
            <a:off x="15560040" y="3882390"/>
            <a:ext cx="693420" cy="1188720"/>
          </a:xfrm>
          <a:prstGeom xmlns:a="http://schemas.openxmlformats.org/drawingml/2006/main" prst="roundRect">
            <a:avLst>
              <a:gd name="adj" fmla="val 10989"/>
            </a:avLst>
          </a:prstGeom>
          <a:solidFill xmlns:a="http://schemas.openxmlformats.org/drawingml/2006/main">
            <a:srgbClr val="EDF6FF"/>
          </a:solidFill>
          <a:ln xmlns:a="http://schemas.openxmlformats.org/drawingml/2006/main" w="24765">
            <a:solidFill>
              <a:srgbClr val="408FD2"/>
            </a:solidFill>
            <a:prstDash val="solid"/>
          </a:ln>
        </p:spPr>
      </p:sp>
      <p:sp>
        <p:nvSpPr>
          <p:cNvPr id="119" name="svg_text_119">
            <a:extLst xmlns:a="http://schemas.openxmlformats.org/drawingml/2006/main">
              <a:ext uri="{FF2B5EF4-FFF2-40B4-BE49-F238E27FC236}">
                <a16:creationId xmlns:a16="http://schemas.microsoft.com/office/drawing/2014/main" id="{59CE7335-8BBA-4CB3-9595-9608B6A9C8B0}"/>
              </a:ext>
            </a:extLst>
          </p:cNvPr>
          <p:cNvSpPr>
            <a:spLocks xmlns:a="http://schemas.openxmlformats.org/drawingml/2006/main" noGrp="1"/>
          </p:cNvSpPr>
          <p:nvPr/>
        </p:nvSpPr>
        <p:spPr>
          <a:xfrm xmlns:a="http://schemas.openxmlformats.org/drawingml/2006/main">
            <a:off x="15598140" y="4159914"/>
            <a:ext cx="61722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482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Comm.</a:t>
            </a:r>
          </a:p>
        </p:txBody>
      </p:sp>
      <p:sp>
        <p:nvSpPr>
          <p:cNvPr id="120" name="svg_text_120">
            <a:extLst xmlns:a="http://schemas.openxmlformats.org/drawingml/2006/main">
              <a:ext uri="{FF2B5EF4-FFF2-40B4-BE49-F238E27FC236}">
                <a16:creationId xmlns:a16="http://schemas.microsoft.com/office/drawing/2014/main" id="{70DF0BC8-6841-4BB2-A766-074E0228BC48}"/>
              </a:ext>
            </a:extLst>
          </p:cNvPr>
          <p:cNvSpPr>
            <a:spLocks xmlns:a="http://schemas.openxmlformats.org/drawingml/2006/main" noGrp="1"/>
          </p:cNvSpPr>
          <p:nvPr/>
        </p:nvSpPr>
        <p:spPr>
          <a:xfrm xmlns:a="http://schemas.openxmlformats.org/drawingml/2006/main">
            <a:off x="15598140" y="4407564"/>
            <a:ext cx="61722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2228"/>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Channel</a:t>
            </a:r>
          </a:p>
        </p:txBody>
      </p:sp>
      <p:sp>
        <p:nvSpPr>
          <p:cNvPr id="121" name="svg_text_121">
            <a:extLst xmlns:a="http://schemas.openxmlformats.org/drawingml/2006/main">
              <a:ext uri="{FF2B5EF4-FFF2-40B4-BE49-F238E27FC236}">
                <a16:creationId xmlns:a16="http://schemas.microsoft.com/office/drawing/2014/main" id="{631DA9B9-BC58-4376-B178-379513DCF819}"/>
              </a:ext>
            </a:extLst>
          </p:cNvPr>
          <p:cNvSpPr>
            <a:spLocks xmlns:a="http://schemas.openxmlformats.org/drawingml/2006/main" noGrp="1"/>
          </p:cNvSpPr>
          <p:nvPr/>
        </p:nvSpPr>
        <p:spPr>
          <a:xfrm xmlns:a="http://schemas.openxmlformats.org/drawingml/2006/main">
            <a:off x="11772203" y="5321964"/>
            <a:ext cx="445909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Nominal Index Payload: 1.5 kbit/s</a:t>
            </a:r>
          </a:p>
        </p:txBody>
      </p:sp>
      <p:sp>
        <p:nvSpPr>
          <p:cNvPr id="122" name="svg_rect_122">
            <a:extLst xmlns:a="http://schemas.openxmlformats.org/drawingml/2006/main">
              <a:ext uri="{FF2B5EF4-FFF2-40B4-BE49-F238E27FC236}">
                <a16:creationId xmlns:a16="http://schemas.microsoft.com/office/drawing/2014/main" id="{0F31FBA6-6658-463E-BE95-15BC824D699F}"/>
              </a:ext>
            </a:extLst>
          </p:cNvPr>
          <p:cNvSpPr>
            <a:spLocks xmlns:a="http://schemas.openxmlformats.org/drawingml/2006/main" noGrp="1"/>
          </p:cNvSpPr>
          <p:nvPr/>
        </p:nvSpPr>
        <p:spPr>
          <a:xfrm xmlns:a="http://schemas.openxmlformats.org/drawingml/2006/main">
            <a:off x="12416790" y="5726049"/>
            <a:ext cx="3169920" cy="416052"/>
          </a:xfrm>
          <a:prstGeom xmlns:a="http://schemas.openxmlformats.org/drawingml/2006/main" prst="roundRect">
            <a:avLst>
              <a:gd name="adj" fmla="val 20604"/>
            </a:avLst>
          </a:prstGeom>
          <a:solidFill xmlns:a="http://schemas.openxmlformats.org/drawingml/2006/main">
            <a:srgbClr val="E4F2FF"/>
          </a:solidFill>
          <a:ln xmlns:a="http://schemas.openxmlformats.org/drawingml/2006/main" w="18574">
            <a:solidFill>
              <a:srgbClr val="78AFE0"/>
            </a:solidFill>
            <a:prstDash val="solid"/>
          </a:ln>
        </p:spPr>
      </p:sp>
      <p:sp>
        <p:nvSpPr>
          <p:cNvPr id="123" name="svg_text_123">
            <a:extLst xmlns:a="http://schemas.openxmlformats.org/drawingml/2006/main">
              <a:ext uri="{FF2B5EF4-FFF2-40B4-BE49-F238E27FC236}">
                <a16:creationId xmlns:a16="http://schemas.microsoft.com/office/drawing/2014/main" id="{CB1AE42A-C9D1-4CAA-9461-15FC531567F8}"/>
              </a:ext>
            </a:extLst>
          </p:cNvPr>
          <p:cNvSpPr>
            <a:spLocks xmlns:a="http://schemas.openxmlformats.org/drawingml/2006/main" noGrp="1"/>
          </p:cNvSpPr>
          <p:nvPr/>
        </p:nvSpPr>
        <p:spPr>
          <a:xfrm xmlns:a="http://schemas.openxmlformats.org/drawingml/2006/main">
            <a:off x="12512040" y="5798214"/>
            <a:ext cx="297942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70243"/>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ONLY DISCRETE INDICES ARE TRANSMITTED</a:t>
            </a:r>
          </a:p>
        </p:txBody>
      </p:sp>
      <p:sp>
        <p:nvSpPr>
          <p:cNvPr id="124" name="svg_rect_124">
            <a:extLst xmlns:a="http://schemas.openxmlformats.org/drawingml/2006/main">
              <a:ext uri="{FF2B5EF4-FFF2-40B4-BE49-F238E27FC236}">
                <a16:creationId xmlns:a16="http://schemas.microsoft.com/office/drawing/2014/main" id="{44DD010B-1E31-4763-A2EA-D305E1BF0381}"/>
              </a:ext>
            </a:extLst>
          </p:cNvPr>
          <p:cNvSpPr>
            <a:spLocks xmlns:a="http://schemas.openxmlformats.org/drawingml/2006/main" noGrp="1"/>
          </p:cNvSpPr>
          <p:nvPr/>
        </p:nvSpPr>
        <p:spPr>
          <a:xfrm xmlns:a="http://schemas.openxmlformats.org/drawingml/2006/main">
            <a:off x="16668750" y="2619375"/>
            <a:ext cx="6000750" cy="3667125"/>
          </a:xfrm>
          <a:prstGeom xmlns:a="http://schemas.openxmlformats.org/drawingml/2006/main" prst="roundRect">
            <a:avLst>
              <a:gd name="adj" fmla="val 3117"/>
            </a:avLst>
          </a:prstGeom>
          <a:solidFill xmlns:a="http://schemas.openxmlformats.org/drawingml/2006/main">
            <a:srgbClr val="FFFFFF"/>
          </a:solidFill>
          <a:ln xmlns:a="http://schemas.openxmlformats.org/drawingml/2006/main" w="24765">
            <a:solidFill>
              <a:srgbClr val="7DB5E8"/>
            </a:solidFill>
            <a:prstDash val="dash"/>
          </a:ln>
        </p:spPr>
      </p:sp>
      <p:sp>
        <p:nvSpPr>
          <p:cNvPr id="125" name="svg_circle_125">
            <a:extLst xmlns:a="http://schemas.openxmlformats.org/drawingml/2006/main">
              <a:ext uri="{FF2B5EF4-FFF2-40B4-BE49-F238E27FC236}">
                <a16:creationId xmlns:a16="http://schemas.microsoft.com/office/drawing/2014/main" id="{2614380D-70FA-49F4-AE16-08D82408149F}"/>
              </a:ext>
            </a:extLst>
          </p:cNvPr>
          <p:cNvSpPr>
            <a:spLocks xmlns:a="http://schemas.openxmlformats.org/drawingml/2006/main" noGrp="1"/>
          </p:cNvSpPr>
          <p:nvPr/>
        </p:nvSpPr>
        <p:spPr>
          <a:xfrm xmlns:a="http://schemas.openxmlformats.org/drawingml/2006/main">
            <a:off x="16735425" y="2686050"/>
            <a:ext cx="533400" cy="533400"/>
          </a:xfrm>
          <a:prstGeom xmlns:a="http://schemas.openxmlformats.org/drawingml/2006/main" prst="ellipse">
            <a:avLst/>
          </a:prstGeom>
          <a:solidFill xmlns:a="http://schemas.openxmlformats.org/drawingml/2006/main">
            <a:srgbClr val="080B0E"/>
          </a:solidFill>
          <a:ln xmlns:a="http://schemas.openxmlformats.org/drawingml/2006/main" w="0">
            <a:noFill/>
            <a:prstDash val="solid"/>
          </a:ln>
        </p:spPr>
      </p:sp>
      <p:sp>
        <p:nvSpPr>
          <p:cNvPr id="126" name="svg_text_126">
            <a:extLst xmlns:a="http://schemas.openxmlformats.org/drawingml/2006/main">
              <a:ext uri="{FF2B5EF4-FFF2-40B4-BE49-F238E27FC236}">
                <a16:creationId xmlns:a16="http://schemas.microsoft.com/office/drawing/2014/main" id="{C210F34D-BC46-4CEA-B0C3-09B42A9761F4}"/>
              </a:ext>
            </a:extLst>
          </p:cNvPr>
          <p:cNvSpPr>
            <a:spLocks xmlns:a="http://schemas.openxmlformats.org/drawingml/2006/main" noGrp="1"/>
          </p:cNvSpPr>
          <p:nvPr/>
        </p:nvSpPr>
        <p:spPr>
          <a:xfrm xmlns:a="http://schemas.openxmlformats.org/drawingml/2006/main">
            <a:off x="16764000" y="27146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87" b="1" i="0">
                <a:solidFill>
                  <a:srgbClr val="FFFFFF"/>
                </a:solidFill>
                <a:latin typeface="Arial"/>
                <a:ea typeface="Arial"/>
                <a:cs typeface="Arial"/>
              </a:defRPr>
            </a:pPr>
            <a:r>
              <a:rPr sz="2187" b="1" i="0">
                <a:solidFill>
                  <a:srgbClr val="FFFFFF"/>
                </a:solidFill>
                <a:latin typeface="Arial"/>
                <a:ea typeface="Arial"/>
                <a:cs typeface="Arial"/>
              </a:rPr>
              <a:t>4</a:t>
            </a:r>
          </a:p>
        </p:txBody>
      </p:sp>
      <p:sp>
        <p:nvSpPr>
          <p:cNvPr id="127" name="svg_text_127">
            <a:extLst xmlns:a="http://schemas.openxmlformats.org/drawingml/2006/main">
              <a:ext uri="{FF2B5EF4-FFF2-40B4-BE49-F238E27FC236}">
                <a16:creationId xmlns:a16="http://schemas.microsoft.com/office/drawing/2014/main" id="{7B461384-820E-4DA5-955F-C3BA6B3F1310}"/>
              </a:ext>
            </a:extLst>
          </p:cNvPr>
          <p:cNvSpPr>
            <a:spLocks xmlns:a="http://schemas.openxmlformats.org/drawingml/2006/main" noGrp="1"/>
          </p:cNvSpPr>
          <p:nvPr/>
        </p:nvSpPr>
        <p:spPr>
          <a:xfrm xmlns:a="http://schemas.openxmlformats.org/drawingml/2006/main">
            <a:off x="17383125" y="2646822"/>
            <a:ext cx="4959248" cy="34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48" b="1" i="0">
                <a:solidFill>
                  <a:srgbClr val="000000"/>
                </a:solidFill>
                <a:latin typeface="Arial"/>
                <a:ea typeface="Arial"/>
                <a:cs typeface="Arial"/>
              </a:defRPr>
            </a:pPr>
            <a:r>
              <a:rPr sz="1848" b="1" i="0">
                <a:solidFill>
                  <a:srgbClr val="000000"/>
                </a:solidFill>
                <a:latin typeface="Arial"/>
                <a:ea typeface="Arial"/>
                <a:cs typeface="Arial"/>
              </a:rPr>
              <a:t>SHARED-CODEBOOK RECONSTRUCTION</a:t>
            </a:r>
          </a:p>
        </p:txBody>
      </p:sp>
      <p:sp>
        <p:nvSpPr>
          <p:cNvPr id="128" name="svg_text_128">
            <a:extLst xmlns:a="http://schemas.openxmlformats.org/drawingml/2006/main">
              <a:ext uri="{FF2B5EF4-FFF2-40B4-BE49-F238E27FC236}">
                <a16:creationId xmlns:a16="http://schemas.microsoft.com/office/drawing/2014/main" id="{A110A9BC-B330-4CD4-A643-AFA1B0FB0908}"/>
              </a:ext>
            </a:extLst>
          </p:cNvPr>
          <p:cNvSpPr>
            <a:spLocks xmlns:a="http://schemas.openxmlformats.org/drawingml/2006/main" noGrp="1"/>
          </p:cNvSpPr>
          <p:nvPr/>
        </p:nvSpPr>
        <p:spPr>
          <a:xfrm xmlns:a="http://schemas.openxmlformats.org/drawingml/2006/main">
            <a:off x="17383125" y="2894472"/>
            <a:ext cx="2086569" cy="34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48" b="1" i="0">
                <a:solidFill>
                  <a:srgbClr val="000000"/>
                </a:solidFill>
                <a:latin typeface="Arial"/>
                <a:ea typeface="Arial"/>
                <a:cs typeface="Arial"/>
              </a:defRPr>
            </a:pPr>
            <a:r>
              <a:rPr sz="1848" b="1" i="0">
                <a:solidFill>
                  <a:srgbClr val="000000"/>
                </a:solidFill>
                <a:latin typeface="Arial"/>
                <a:ea typeface="Arial"/>
                <a:cs typeface="Arial"/>
              </a:rPr>
              <a:t>AND DECODING</a:t>
            </a:r>
          </a:p>
        </p:txBody>
      </p:sp>
      <p:sp>
        <p:nvSpPr>
          <p:cNvPr id="129" name="svg_rect_129">
            <a:extLst xmlns:a="http://schemas.openxmlformats.org/drawingml/2006/main">
              <a:ext uri="{FF2B5EF4-FFF2-40B4-BE49-F238E27FC236}">
                <a16:creationId xmlns:a16="http://schemas.microsoft.com/office/drawing/2014/main" id="{C0E7A600-A18E-4A3C-8CF8-C04F921542B1}"/>
              </a:ext>
            </a:extLst>
          </p:cNvPr>
          <p:cNvSpPr>
            <a:spLocks xmlns:a="http://schemas.openxmlformats.org/drawingml/2006/main" noGrp="1"/>
          </p:cNvSpPr>
          <p:nvPr/>
        </p:nvSpPr>
        <p:spPr>
          <a:xfrm xmlns:a="http://schemas.openxmlformats.org/drawingml/2006/main">
            <a:off x="16892588" y="3929063"/>
            <a:ext cx="742950" cy="1238250"/>
          </a:xfrm>
          <a:prstGeom xmlns:a="http://schemas.openxmlformats.org/drawingml/2006/main" prst="roundRect">
            <a:avLst>
              <a:gd name="adj" fmla="val 10256"/>
            </a:avLst>
          </a:prstGeom>
          <a:solidFill xmlns:a="http://schemas.openxmlformats.org/drawingml/2006/main">
            <a:srgbClr val="EDF6FF"/>
          </a:solidFill>
          <a:ln xmlns:a="http://schemas.openxmlformats.org/drawingml/2006/main" w="24765">
            <a:solidFill>
              <a:srgbClr val="408FD2"/>
            </a:solidFill>
            <a:prstDash val="solid"/>
          </a:ln>
        </p:spPr>
      </p:sp>
      <p:sp>
        <p:nvSpPr>
          <p:cNvPr id="130" name="svg_text_130">
            <a:extLst xmlns:a="http://schemas.openxmlformats.org/drawingml/2006/main">
              <a:ext uri="{FF2B5EF4-FFF2-40B4-BE49-F238E27FC236}">
                <a16:creationId xmlns:a16="http://schemas.microsoft.com/office/drawing/2014/main" id="{3A17E176-6384-4C9F-8C44-78C341ACD783}"/>
              </a:ext>
            </a:extLst>
          </p:cNvPr>
          <p:cNvSpPr>
            <a:spLocks xmlns:a="http://schemas.openxmlformats.org/drawingml/2006/main" noGrp="1"/>
          </p:cNvSpPr>
          <p:nvPr/>
        </p:nvSpPr>
        <p:spPr>
          <a:xfrm xmlns:a="http://schemas.openxmlformats.org/drawingml/2006/main">
            <a:off x="16756456" y="3647446"/>
            <a:ext cx="100568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Received</a:t>
            </a:r>
          </a:p>
        </p:txBody>
      </p:sp>
      <p:sp>
        <p:nvSpPr>
          <p:cNvPr id="131" name="svg_rect_131">
            <a:extLst xmlns:a="http://schemas.openxmlformats.org/drawingml/2006/main">
              <a:ext uri="{FF2B5EF4-FFF2-40B4-BE49-F238E27FC236}">
                <a16:creationId xmlns:a16="http://schemas.microsoft.com/office/drawing/2014/main" id="{89836145-13D9-4754-9513-421B3CE7D6EB}"/>
              </a:ext>
            </a:extLst>
          </p:cNvPr>
          <p:cNvSpPr>
            <a:spLocks xmlns:a="http://schemas.openxmlformats.org/drawingml/2006/main" noGrp="1"/>
          </p:cNvSpPr>
          <p:nvPr/>
        </p:nvSpPr>
        <p:spPr>
          <a:xfrm xmlns:a="http://schemas.openxmlformats.org/drawingml/2006/main">
            <a:off x="17049750" y="4143375"/>
            <a:ext cx="428625" cy="142875"/>
          </a:xfrm>
          <a:prstGeom xmlns:a="http://schemas.openxmlformats.org/drawingml/2006/main" prst="rect">
            <a:avLst/>
          </a:prstGeom>
          <a:solidFill xmlns:a="http://schemas.openxmlformats.org/drawingml/2006/main">
            <a:srgbClr val="FB923C"/>
          </a:solidFill>
          <a:ln xmlns:a="http://schemas.openxmlformats.org/drawingml/2006/main" w="0">
            <a:noFill/>
            <a:prstDash val="solid"/>
          </a:ln>
        </p:spPr>
      </p:sp>
      <p:sp>
        <p:nvSpPr>
          <p:cNvPr id="132" name="svg_rect_132">
            <a:extLst xmlns:a="http://schemas.openxmlformats.org/drawingml/2006/main">
              <a:ext uri="{FF2B5EF4-FFF2-40B4-BE49-F238E27FC236}">
                <a16:creationId xmlns:a16="http://schemas.microsoft.com/office/drawing/2014/main" id="{E8B2D67E-E666-48C0-96D0-98E5F0A18E85}"/>
              </a:ext>
            </a:extLst>
          </p:cNvPr>
          <p:cNvSpPr>
            <a:spLocks xmlns:a="http://schemas.openxmlformats.org/drawingml/2006/main" noGrp="1"/>
          </p:cNvSpPr>
          <p:nvPr/>
        </p:nvSpPr>
        <p:spPr>
          <a:xfrm xmlns:a="http://schemas.openxmlformats.org/drawingml/2006/main">
            <a:off x="17049750" y="4457700"/>
            <a:ext cx="428625" cy="142875"/>
          </a:xfrm>
          <a:prstGeom xmlns:a="http://schemas.openxmlformats.org/drawingml/2006/main" prst="rect">
            <a:avLst/>
          </a:prstGeom>
          <a:solidFill xmlns:a="http://schemas.openxmlformats.org/drawingml/2006/main">
            <a:srgbClr val="70BD92"/>
          </a:solidFill>
          <a:ln xmlns:a="http://schemas.openxmlformats.org/drawingml/2006/main" w="0">
            <a:noFill/>
            <a:prstDash val="solid"/>
          </a:ln>
        </p:spPr>
      </p:sp>
      <p:sp>
        <p:nvSpPr>
          <p:cNvPr id="133" name="svg_rect_133">
            <a:extLst xmlns:a="http://schemas.openxmlformats.org/drawingml/2006/main">
              <a:ext uri="{FF2B5EF4-FFF2-40B4-BE49-F238E27FC236}">
                <a16:creationId xmlns:a16="http://schemas.microsoft.com/office/drawing/2014/main" id="{3F5899B8-0ABE-40BF-AD0B-944C82FFADE7}"/>
              </a:ext>
            </a:extLst>
          </p:cNvPr>
          <p:cNvSpPr>
            <a:spLocks xmlns:a="http://schemas.openxmlformats.org/drawingml/2006/main" noGrp="1"/>
          </p:cNvSpPr>
          <p:nvPr/>
        </p:nvSpPr>
        <p:spPr>
          <a:xfrm xmlns:a="http://schemas.openxmlformats.org/drawingml/2006/main">
            <a:off x="17049750" y="4772025"/>
            <a:ext cx="428625" cy="142875"/>
          </a:xfrm>
          <a:prstGeom xmlns:a="http://schemas.openxmlformats.org/drawingml/2006/main" prst="rect">
            <a:avLst/>
          </a:prstGeom>
          <a:solidFill xmlns:a="http://schemas.openxmlformats.org/drawingml/2006/main">
            <a:srgbClr val="8588E8"/>
          </a:solidFill>
          <a:ln xmlns:a="http://schemas.openxmlformats.org/drawingml/2006/main" w="0">
            <a:noFill/>
            <a:prstDash val="solid"/>
          </a:ln>
        </p:spPr>
      </p:sp>
      <p:sp>
        <p:nvSpPr>
          <p:cNvPr id="134" name="svg_path_134">
            <a:extLst xmlns:a="http://schemas.openxmlformats.org/drawingml/2006/main">
              <a:ext uri="{FF2B5EF4-FFF2-40B4-BE49-F238E27FC236}">
                <a16:creationId xmlns:a16="http://schemas.microsoft.com/office/drawing/2014/main" id="{631FB061-9125-4AB2-B8F8-090D23D353FF}"/>
              </a:ext>
            </a:extLst>
          </p:cNvPr>
          <p:cNvSpPr>
            <a:spLocks xmlns:a="http://schemas.openxmlformats.org/drawingml/2006/main" noGrp="1"/>
          </p:cNvSpPr>
          <p:nvPr/>
        </p:nvSpPr>
        <p:spPr>
          <a:xfrm xmlns:a="http://schemas.openxmlformats.org/drawingml/2006/main">
            <a:off x="17621250" y="4238625"/>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4765">
            <a:solidFill>
              <a:srgbClr val="2386D8"/>
            </a:solidFill>
            <a:prstDash val="solid"/>
          </a:ln>
        </p:spPr>
      </p:sp>
      <p:sp>
        <p:nvSpPr>
          <p:cNvPr id="135" name="svg_arrowhead_135">
            <a:extLst xmlns:a="http://schemas.openxmlformats.org/drawingml/2006/main">
              <a:ext uri="{FF2B5EF4-FFF2-40B4-BE49-F238E27FC236}">
                <a16:creationId xmlns:a16="http://schemas.microsoft.com/office/drawing/2014/main" id="{2981A974-C06C-445B-BF0F-435DA8E3EC13}"/>
              </a:ext>
            </a:extLst>
          </p:cNvPr>
          <p:cNvSpPr>
            <a:spLocks xmlns:a="http://schemas.openxmlformats.org/drawingml/2006/main" noGrp="1"/>
          </p:cNvSpPr>
          <p:nvPr/>
        </p:nvSpPr>
        <p:spPr>
          <a:xfrm xmlns:a="http://schemas.openxmlformats.org/drawingml/2006/main">
            <a:off x="17726025" y="41719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36" name="svg_path_136">
            <a:extLst xmlns:a="http://schemas.openxmlformats.org/drawingml/2006/main">
              <a:ext uri="{FF2B5EF4-FFF2-40B4-BE49-F238E27FC236}">
                <a16:creationId xmlns:a16="http://schemas.microsoft.com/office/drawing/2014/main" id="{E837EE95-D638-4021-B0A0-5FE9A45CF9AD}"/>
              </a:ext>
            </a:extLst>
          </p:cNvPr>
          <p:cNvSpPr>
            <a:spLocks xmlns:a="http://schemas.openxmlformats.org/drawingml/2006/main" noGrp="1"/>
          </p:cNvSpPr>
          <p:nvPr/>
        </p:nvSpPr>
        <p:spPr>
          <a:xfrm xmlns:a="http://schemas.openxmlformats.org/drawingml/2006/main">
            <a:off x="17621250" y="4543425"/>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4765">
            <a:solidFill>
              <a:srgbClr val="2386D8"/>
            </a:solidFill>
            <a:prstDash val="solid"/>
          </a:ln>
        </p:spPr>
      </p:sp>
      <p:sp>
        <p:nvSpPr>
          <p:cNvPr id="137" name="svg_arrowhead_137">
            <a:extLst xmlns:a="http://schemas.openxmlformats.org/drawingml/2006/main">
              <a:ext uri="{FF2B5EF4-FFF2-40B4-BE49-F238E27FC236}">
                <a16:creationId xmlns:a16="http://schemas.microsoft.com/office/drawing/2014/main" id="{C5905DFE-42F0-4829-AB82-98F695D9FCE8}"/>
              </a:ext>
            </a:extLst>
          </p:cNvPr>
          <p:cNvSpPr>
            <a:spLocks xmlns:a="http://schemas.openxmlformats.org/drawingml/2006/main" noGrp="1"/>
          </p:cNvSpPr>
          <p:nvPr/>
        </p:nvSpPr>
        <p:spPr>
          <a:xfrm xmlns:a="http://schemas.openxmlformats.org/drawingml/2006/main">
            <a:off x="17726025" y="44767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38" name="svg_path_138">
            <a:extLst xmlns:a="http://schemas.openxmlformats.org/drawingml/2006/main">
              <a:ext uri="{FF2B5EF4-FFF2-40B4-BE49-F238E27FC236}">
                <a16:creationId xmlns:a16="http://schemas.microsoft.com/office/drawing/2014/main" id="{7FF28FF3-8AA3-4402-9970-1EA16BF796BF}"/>
              </a:ext>
            </a:extLst>
          </p:cNvPr>
          <p:cNvSpPr>
            <a:spLocks xmlns:a="http://schemas.openxmlformats.org/drawingml/2006/main" noGrp="1"/>
          </p:cNvSpPr>
          <p:nvPr/>
        </p:nvSpPr>
        <p:spPr>
          <a:xfrm xmlns:a="http://schemas.openxmlformats.org/drawingml/2006/main">
            <a:off x="17621250" y="48577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4765">
            <a:solidFill>
              <a:srgbClr val="2386D8"/>
            </a:solidFill>
            <a:prstDash val="solid"/>
          </a:ln>
        </p:spPr>
      </p:sp>
      <p:sp>
        <p:nvSpPr>
          <p:cNvPr id="139" name="svg_arrowhead_139">
            <a:extLst xmlns:a="http://schemas.openxmlformats.org/drawingml/2006/main">
              <a:ext uri="{FF2B5EF4-FFF2-40B4-BE49-F238E27FC236}">
                <a16:creationId xmlns:a16="http://schemas.microsoft.com/office/drawing/2014/main" id="{C1E45749-DABB-4139-A203-C052EA309F5A}"/>
              </a:ext>
            </a:extLst>
          </p:cNvPr>
          <p:cNvSpPr>
            <a:spLocks xmlns:a="http://schemas.openxmlformats.org/drawingml/2006/main" noGrp="1"/>
          </p:cNvSpPr>
          <p:nvPr/>
        </p:nvSpPr>
        <p:spPr>
          <a:xfrm xmlns:a="http://schemas.openxmlformats.org/drawingml/2006/main">
            <a:off x="17726025" y="4791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40" name="svg_rect_140">
            <a:extLst xmlns:a="http://schemas.openxmlformats.org/drawingml/2006/main">
              <a:ext uri="{FF2B5EF4-FFF2-40B4-BE49-F238E27FC236}">
                <a16:creationId xmlns:a16="http://schemas.microsoft.com/office/drawing/2014/main" id="{C10A4A6E-E665-4C49-A3A5-EF0AB9D280AA}"/>
              </a:ext>
            </a:extLst>
          </p:cNvPr>
          <p:cNvSpPr>
            <a:spLocks xmlns:a="http://schemas.openxmlformats.org/drawingml/2006/main" noGrp="1"/>
          </p:cNvSpPr>
          <p:nvPr/>
        </p:nvSpPr>
        <p:spPr>
          <a:xfrm xmlns:a="http://schemas.openxmlformats.org/drawingml/2006/main">
            <a:off x="17859375" y="3857625"/>
            <a:ext cx="1285875" cy="666750"/>
          </a:xfrm>
          <a:prstGeom xmlns:a="http://schemas.openxmlformats.org/drawingml/2006/main" prst="roundRect">
            <a:avLst>
              <a:gd name="adj" fmla="val 10000"/>
            </a:avLst>
          </a:prstGeom>
          <a:solidFill xmlns:a="http://schemas.openxmlformats.org/drawingml/2006/main">
            <a:srgbClr val="FFF1E2"/>
          </a:solidFill>
          <a:ln xmlns:a="http://schemas.openxmlformats.org/drawingml/2006/main" w="12383">
            <a:solidFill>
              <a:srgbClr val="EF8D32"/>
            </a:solidFill>
            <a:prstDash val="solid"/>
          </a:ln>
        </p:spPr>
      </p:sp>
      <p:sp>
        <p:nvSpPr>
          <p:cNvPr id="141" name="svg_text_141">
            <a:extLst xmlns:a="http://schemas.openxmlformats.org/drawingml/2006/main">
              <a:ext uri="{FF2B5EF4-FFF2-40B4-BE49-F238E27FC236}">
                <a16:creationId xmlns:a16="http://schemas.microsoft.com/office/drawing/2014/main" id="{1222FE55-04BD-4F24-8B67-808BEC4D1BF8}"/>
              </a:ext>
            </a:extLst>
          </p:cNvPr>
          <p:cNvSpPr>
            <a:spLocks xmlns:a="http://schemas.openxmlformats.org/drawingml/2006/main" noGrp="1"/>
          </p:cNvSpPr>
          <p:nvPr/>
        </p:nvSpPr>
        <p:spPr>
          <a:xfrm xmlns:a="http://schemas.openxmlformats.org/drawingml/2006/main">
            <a:off x="17904381" y="3905159"/>
            <a:ext cx="119586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Pre-Shared</a:t>
            </a:r>
          </a:p>
        </p:txBody>
      </p:sp>
      <p:sp>
        <p:nvSpPr>
          <p:cNvPr id="142" name="svg_text_142">
            <a:extLst xmlns:a="http://schemas.openxmlformats.org/drawingml/2006/main">
              <a:ext uri="{FF2B5EF4-FFF2-40B4-BE49-F238E27FC236}">
                <a16:creationId xmlns:a16="http://schemas.microsoft.com/office/drawing/2014/main" id="{5DB044F4-02BA-424A-A197-97F430D2180B}"/>
              </a:ext>
            </a:extLst>
          </p:cNvPr>
          <p:cNvSpPr>
            <a:spLocks xmlns:a="http://schemas.openxmlformats.org/drawingml/2006/main" noGrp="1"/>
          </p:cNvSpPr>
          <p:nvPr/>
        </p:nvSpPr>
        <p:spPr>
          <a:xfrm xmlns:a="http://schemas.openxmlformats.org/drawingml/2006/main">
            <a:off x="17904381" y="4067084"/>
            <a:ext cx="119586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Codebook C1</a:t>
            </a:r>
          </a:p>
        </p:txBody>
      </p:sp>
      <p:sp>
        <p:nvSpPr>
          <p:cNvPr id="143" name="svg_text_143">
            <a:extLst xmlns:a="http://schemas.openxmlformats.org/drawingml/2006/main">
              <a:ext uri="{FF2B5EF4-FFF2-40B4-BE49-F238E27FC236}">
                <a16:creationId xmlns:a16="http://schemas.microsoft.com/office/drawing/2014/main" id="{365CFCB5-5BE4-44E0-A600-42D955BE32E5}"/>
              </a:ext>
            </a:extLst>
          </p:cNvPr>
          <p:cNvSpPr>
            <a:spLocks xmlns:a="http://schemas.openxmlformats.org/drawingml/2006/main" noGrp="1"/>
          </p:cNvSpPr>
          <p:nvPr/>
        </p:nvSpPr>
        <p:spPr>
          <a:xfrm xmlns:a="http://schemas.openxmlformats.org/drawingml/2006/main">
            <a:off x="17904381" y="4220204"/>
            <a:ext cx="1195864"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i₁ → q₁</a:t>
            </a:r>
          </a:p>
        </p:txBody>
      </p:sp>
      <p:sp>
        <p:nvSpPr>
          <p:cNvPr id="144" name="svg_rect_144">
            <a:extLst xmlns:a="http://schemas.openxmlformats.org/drawingml/2006/main">
              <a:ext uri="{FF2B5EF4-FFF2-40B4-BE49-F238E27FC236}">
                <a16:creationId xmlns:a16="http://schemas.microsoft.com/office/drawing/2014/main" id="{2544A7DB-F444-4BB8-B2AB-9984FD3BAB85}"/>
              </a:ext>
            </a:extLst>
          </p:cNvPr>
          <p:cNvSpPr>
            <a:spLocks xmlns:a="http://schemas.openxmlformats.org/drawingml/2006/main" noGrp="1"/>
          </p:cNvSpPr>
          <p:nvPr/>
        </p:nvSpPr>
        <p:spPr>
          <a:xfrm xmlns:a="http://schemas.openxmlformats.org/drawingml/2006/main">
            <a:off x="17859375" y="4572000"/>
            <a:ext cx="1285875" cy="666750"/>
          </a:xfrm>
          <a:prstGeom xmlns:a="http://schemas.openxmlformats.org/drawingml/2006/main" prst="roundRect">
            <a:avLst>
              <a:gd name="adj" fmla="val 10000"/>
            </a:avLst>
          </a:prstGeom>
          <a:solidFill xmlns:a="http://schemas.openxmlformats.org/drawingml/2006/main">
            <a:srgbClr val="E7F7EE"/>
          </a:solidFill>
          <a:ln xmlns:a="http://schemas.openxmlformats.org/drawingml/2006/main" w="12383">
            <a:solidFill>
              <a:srgbClr val="4CA873"/>
            </a:solidFill>
            <a:prstDash val="solid"/>
          </a:ln>
        </p:spPr>
      </p:sp>
      <p:sp>
        <p:nvSpPr>
          <p:cNvPr id="145" name="svg_text_145">
            <a:extLst xmlns:a="http://schemas.openxmlformats.org/drawingml/2006/main">
              <a:ext uri="{FF2B5EF4-FFF2-40B4-BE49-F238E27FC236}">
                <a16:creationId xmlns:a16="http://schemas.microsoft.com/office/drawing/2014/main" id="{EA9F4242-DB84-47C1-A3F2-46CEA532E7F3}"/>
              </a:ext>
            </a:extLst>
          </p:cNvPr>
          <p:cNvSpPr>
            <a:spLocks xmlns:a="http://schemas.openxmlformats.org/drawingml/2006/main" noGrp="1"/>
          </p:cNvSpPr>
          <p:nvPr/>
        </p:nvSpPr>
        <p:spPr>
          <a:xfrm xmlns:a="http://schemas.openxmlformats.org/drawingml/2006/main">
            <a:off x="17904381" y="4619534"/>
            <a:ext cx="119586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Pre-Shared</a:t>
            </a:r>
          </a:p>
        </p:txBody>
      </p:sp>
      <p:sp>
        <p:nvSpPr>
          <p:cNvPr id="146" name="svg_text_146">
            <a:extLst xmlns:a="http://schemas.openxmlformats.org/drawingml/2006/main">
              <a:ext uri="{FF2B5EF4-FFF2-40B4-BE49-F238E27FC236}">
                <a16:creationId xmlns:a16="http://schemas.microsoft.com/office/drawing/2014/main" id="{399B8533-5E95-467F-9AC4-FF4E14656637}"/>
              </a:ext>
            </a:extLst>
          </p:cNvPr>
          <p:cNvSpPr>
            <a:spLocks xmlns:a="http://schemas.openxmlformats.org/drawingml/2006/main" noGrp="1"/>
          </p:cNvSpPr>
          <p:nvPr/>
        </p:nvSpPr>
        <p:spPr>
          <a:xfrm xmlns:a="http://schemas.openxmlformats.org/drawingml/2006/main">
            <a:off x="17904381" y="4781459"/>
            <a:ext cx="119586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Codebook C2</a:t>
            </a:r>
          </a:p>
        </p:txBody>
      </p:sp>
      <p:sp>
        <p:nvSpPr>
          <p:cNvPr id="147" name="svg_text_147">
            <a:extLst xmlns:a="http://schemas.openxmlformats.org/drawingml/2006/main">
              <a:ext uri="{FF2B5EF4-FFF2-40B4-BE49-F238E27FC236}">
                <a16:creationId xmlns:a16="http://schemas.microsoft.com/office/drawing/2014/main" id="{E363D434-5C3C-4D7F-AE15-202742C9DC5D}"/>
              </a:ext>
            </a:extLst>
          </p:cNvPr>
          <p:cNvSpPr>
            <a:spLocks xmlns:a="http://schemas.openxmlformats.org/drawingml/2006/main" noGrp="1"/>
          </p:cNvSpPr>
          <p:nvPr/>
        </p:nvSpPr>
        <p:spPr>
          <a:xfrm xmlns:a="http://schemas.openxmlformats.org/drawingml/2006/main">
            <a:off x="17904381" y="4934579"/>
            <a:ext cx="1195864"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i₂ → q₂</a:t>
            </a:r>
          </a:p>
        </p:txBody>
      </p:sp>
      <p:sp>
        <p:nvSpPr>
          <p:cNvPr id="148" name="svg_rect_148">
            <a:extLst xmlns:a="http://schemas.openxmlformats.org/drawingml/2006/main">
              <a:ext uri="{FF2B5EF4-FFF2-40B4-BE49-F238E27FC236}">
                <a16:creationId xmlns:a16="http://schemas.microsoft.com/office/drawing/2014/main" id="{5413969E-AC69-4E88-B250-B468C834586E}"/>
              </a:ext>
            </a:extLst>
          </p:cNvPr>
          <p:cNvSpPr>
            <a:spLocks xmlns:a="http://schemas.openxmlformats.org/drawingml/2006/main" noGrp="1"/>
          </p:cNvSpPr>
          <p:nvPr/>
        </p:nvSpPr>
        <p:spPr>
          <a:xfrm xmlns:a="http://schemas.openxmlformats.org/drawingml/2006/main">
            <a:off x="17859375" y="5286375"/>
            <a:ext cx="1285875" cy="666750"/>
          </a:xfrm>
          <a:prstGeom xmlns:a="http://schemas.openxmlformats.org/drawingml/2006/main" prst="roundRect">
            <a:avLst>
              <a:gd name="adj" fmla="val 10000"/>
            </a:avLst>
          </a:prstGeom>
          <a:solidFill xmlns:a="http://schemas.openxmlformats.org/drawingml/2006/main">
            <a:srgbClr val="ECEAFF"/>
          </a:solidFill>
          <a:ln xmlns:a="http://schemas.openxmlformats.org/drawingml/2006/main" w="12383">
            <a:solidFill>
              <a:srgbClr val="7374D8"/>
            </a:solidFill>
            <a:prstDash val="solid"/>
          </a:ln>
        </p:spPr>
      </p:sp>
      <p:sp>
        <p:nvSpPr>
          <p:cNvPr id="149" name="svg_text_149">
            <a:extLst xmlns:a="http://schemas.openxmlformats.org/drawingml/2006/main">
              <a:ext uri="{FF2B5EF4-FFF2-40B4-BE49-F238E27FC236}">
                <a16:creationId xmlns:a16="http://schemas.microsoft.com/office/drawing/2014/main" id="{E7148B71-CEB7-49D8-A715-251BA4BA3F88}"/>
              </a:ext>
            </a:extLst>
          </p:cNvPr>
          <p:cNvSpPr>
            <a:spLocks xmlns:a="http://schemas.openxmlformats.org/drawingml/2006/main" noGrp="1"/>
          </p:cNvSpPr>
          <p:nvPr/>
        </p:nvSpPr>
        <p:spPr>
          <a:xfrm xmlns:a="http://schemas.openxmlformats.org/drawingml/2006/main">
            <a:off x="17904381" y="5333909"/>
            <a:ext cx="119586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Pre-Shared</a:t>
            </a:r>
          </a:p>
        </p:txBody>
      </p:sp>
      <p:sp>
        <p:nvSpPr>
          <p:cNvPr id="150" name="svg_text_150">
            <a:extLst xmlns:a="http://schemas.openxmlformats.org/drawingml/2006/main">
              <a:ext uri="{FF2B5EF4-FFF2-40B4-BE49-F238E27FC236}">
                <a16:creationId xmlns:a16="http://schemas.microsoft.com/office/drawing/2014/main" id="{E1B14C23-73A3-4146-AD4D-6C94695F1350}"/>
              </a:ext>
            </a:extLst>
          </p:cNvPr>
          <p:cNvSpPr>
            <a:spLocks xmlns:a="http://schemas.openxmlformats.org/drawingml/2006/main" noGrp="1"/>
          </p:cNvSpPr>
          <p:nvPr/>
        </p:nvSpPr>
        <p:spPr>
          <a:xfrm xmlns:a="http://schemas.openxmlformats.org/drawingml/2006/main">
            <a:off x="17904381" y="5495834"/>
            <a:ext cx="119586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Codebook C3</a:t>
            </a:r>
          </a:p>
        </p:txBody>
      </p:sp>
      <p:sp>
        <p:nvSpPr>
          <p:cNvPr id="151" name="svg_text_151">
            <a:extLst xmlns:a="http://schemas.openxmlformats.org/drawingml/2006/main">
              <a:ext uri="{FF2B5EF4-FFF2-40B4-BE49-F238E27FC236}">
                <a16:creationId xmlns:a16="http://schemas.microsoft.com/office/drawing/2014/main" id="{81C7FA94-29A7-48E0-AD11-B33DE1C77228}"/>
              </a:ext>
            </a:extLst>
          </p:cNvPr>
          <p:cNvSpPr>
            <a:spLocks xmlns:a="http://schemas.openxmlformats.org/drawingml/2006/main" noGrp="1"/>
          </p:cNvSpPr>
          <p:nvPr/>
        </p:nvSpPr>
        <p:spPr>
          <a:xfrm xmlns:a="http://schemas.openxmlformats.org/drawingml/2006/main">
            <a:off x="17904381" y="5648954"/>
            <a:ext cx="1195864"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i₃ → q₃</a:t>
            </a:r>
          </a:p>
        </p:txBody>
      </p:sp>
      <p:sp>
        <p:nvSpPr>
          <p:cNvPr id="152" name="svg_path_152">
            <a:extLst xmlns:a="http://schemas.openxmlformats.org/drawingml/2006/main">
              <a:ext uri="{FF2B5EF4-FFF2-40B4-BE49-F238E27FC236}">
                <a16:creationId xmlns:a16="http://schemas.microsoft.com/office/drawing/2014/main" id="{A3ABCFCA-D986-4F9F-8417-FACE1A315FCE}"/>
              </a:ext>
            </a:extLst>
          </p:cNvPr>
          <p:cNvSpPr>
            <a:spLocks xmlns:a="http://schemas.openxmlformats.org/drawingml/2006/main" noGrp="1"/>
          </p:cNvSpPr>
          <p:nvPr/>
        </p:nvSpPr>
        <p:spPr>
          <a:xfrm xmlns:a="http://schemas.openxmlformats.org/drawingml/2006/main">
            <a:off x="19145250" y="4191000"/>
            <a:ext cx="285750" cy="619125"/>
          </a:xfrm>
          <a:custGeom xmlns:a="http://schemas.openxmlformats.org/drawingml/2006/main">
            <a:pathLst>
              <a:path w="285750" h="619125">
                <a:moveTo>
                  <a:pt x="0" y="0"/>
                </a:moveTo>
                <a:lnTo>
                  <a:pt x="285750" y="0"/>
                </a:lnTo>
                <a:lnTo>
                  <a:pt x="285750" y="619125"/>
                </a:lnTo>
              </a:path>
            </a:pathLst>
          </a:custGeom>
          <a:noFill xmlns:a="http://schemas.openxmlformats.org/drawingml/2006/main"/>
          <a:ln xmlns:a="http://schemas.openxmlformats.org/drawingml/2006/main" w="24765">
            <a:solidFill>
              <a:srgbClr val="2386D8"/>
            </a:solidFill>
            <a:prstDash val="solid"/>
          </a:ln>
        </p:spPr>
      </p:sp>
      <p:sp>
        <p:nvSpPr>
          <p:cNvPr id="153" name="svg_arrowhead_153">
            <a:extLst xmlns:a="http://schemas.openxmlformats.org/drawingml/2006/main">
              <a:ext uri="{FF2B5EF4-FFF2-40B4-BE49-F238E27FC236}">
                <a16:creationId xmlns:a16="http://schemas.microsoft.com/office/drawing/2014/main" id="{66D02CB2-DC16-40DF-A309-5914EB49BDB3}"/>
              </a:ext>
            </a:extLst>
          </p:cNvPr>
          <p:cNvSpPr>
            <a:spLocks xmlns:a="http://schemas.openxmlformats.org/drawingml/2006/main" noGrp="1"/>
          </p:cNvSpPr>
          <p:nvPr/>
        </p:nvSpPr>
        <p:spPr>
          <a:xfrm xmlns:a="http://schemas.openxmlformats.org/drawingml/2006/main">
            <a:off x="19364325" y="4676775"/>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54" name="svg_path_154">
            <a:extLst xmlns:a="http://schemas.openxmlformats.org/drawingml/2006/main">
              <a:ext uri="{FF2B5EF4-FFF2-40B4-BE49-F238E27FC236}">
                <a16:creationId xmlns:a16="http://schemas.microsoft.com/office/drawing/2014/main" id="{C48C3413-C653-4F45-85FE-A071842F54EC}"/>
              </a:ext>
            </a:extLst>
          </p:cNvPr>
          <p:cNvSpPr>
            <a:spLocks xmlns:a="http://schemas.openxmlformats.org/drawingml/2006/main" noGrp="1"/>
          </p:cNvSpPr>
          <p:nvPr/>
        </p:nvSpPr>
        <p:spPr>
          <a:xfrm xmlns:a="http://schemas.openxmlformats.org/drawingml/2006/main">
            <a:off x="19145250" y="490537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4765">
            <a:solidFill>
              <a:srgbClr val="2386D8"/>
            </a:solidFill>
            <a:prstDash val="solid"/>
          </a:ln>
        </p:spPr>
      </p:sp>
      <p:sp>
        <p:nvSpPr>
          <p:cNvPr id="155" name="svg_arrowhead_155">
            <a:extLst xmlns:a="http://schemas.openxmlformats.org/drawingml/2006/main">
              <a:ext uri="{FF2B5EF4-FFF2-40B4-BE49-F238E27FC236}">
                <a16:creationId xmlns:a16="http://schemas.microsoft.com/office/drawing/2014/main" id="{E7CF0711-85E4-44B7-99AC-73A058388EA7}"/>
              </a:ext>
            </a:extLst>
          </p:cNvPr>
          <p:cNvSpPr>
            <a:spLocks xmlns:a="http://schemas.openxmlformats.org/drawingml/2006/main" noGrp="1"/>
          </p:cNvSpPr>
          <p:nvPr/>
        </p:nvSpPr>
        <p:spPr>
          <a:xfrm xmlns:a="http://schemas.openxmlformats.org/drawingml/2006/main">
            <a:off x="19297650" y="48387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56" name="svg_path_156">
            <a:extLst xmlns:a="http://schemas.openxmlformats.org/drawingml/2006/main">
              <a:ext uri="{FF2B5EF4-FFF2-40B4-BE49-F238E27FC236}">
                <a16:creationId xmlns:a16="http://schemas.microsoft.com/office/drawing/2014/main" id="{EDC5E366-B661-4995-A838-7D68E51F4557}"/>
              </a:ext>
            </a:extLst>
          </p:cNvPr>
          <p:cNvSpPr>
            <a:spLocks xmlns:a="http://schemas.openxmlformats.org/drawingml/2006/main" noGrp="1"/>
          </p:cNvSpPr>
          <p:nvPr/>
        </p:nvSpPr>
        <p:spPr>
          <a:xfrm xmlns:a="http://schemas.openxmlformats.org/drawingml/2006/main">
            <a:off x="19145250" y="5000625"/>
            <a:ext cx="285750" cy="619125"/>
          </a:xfrm>
          <a:custGeom xmlns:a="http://schemas.openxmlformats.org/drawingml/2006/main">
            <a:pathLst>
              <a:path w="285750" h="619125">
                <a:moveTo>
                  <a:pt x="0" y="619125"/>
                </a:moveTo>
                <a:lnTo>
                  <a:pt x="285750" y="619125"/>
                </a:lnTo>
                <a:lnTo>
                  <a:pt x="285750" y="0"/>
                </a:lnTo>
              </a:path>
            </a:pathLst>
          </a:custGeom>
          <a:noFill xmlns:a="http://schemas.openxmlformats.org/drawingml/2006/main"/>
          <a:ln xmlns:a="http://schemas.openxmlformats.org/drawingml/2006/main" w="24765">
            <a:solidFill>
              <a:srgbClr val="2386D8"/>
            </a:solidFill>
            <a:prstDash val="solid"/>
          </a:ln>
        </p:spPr>
      </p:sp>
      <p:sp>
        <p:nvSpPr>
          <p:cNvPr id="157" name="svg_arrowhead_157">
            <a:extLst xmlns:a="http://schemas.openxmlformats.org/drawingml/2006/main">
              <a:ext uri="{FF2B5EF4-FFF2-40B4-BE49-F238E27FC236}">
                <a16:creationId xmlns:a16="http://schemas.microsoft.com/office/drawing/2014/main" id="{2F94EF90-8821-465A-938E-5FE1FB92C362}"/>
              </a:ext>
            </a:extLst>
          </p:cNvPr>
          <p:cNvSpPr>
            <a:spLocks xmlns:a="http://schemas.openxmlformats.org/drawingml/2006/main" noGrp="1"/>
          </p:cNvSpPr>
          <p:nvPr/>
        </p:nvSpPr>
        <p:spPr>
          <a:xfrm xmlns:a="http://schemas.openxmlformats.org/drawingml/2006/main">
            <a:off x="19364325" y="5000625"/>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58" name="svg_circle_158">
            <a:extLst xmlns:a="http://schemas.openxmlformats.org/drawingml/2006/main">
              <a:ext uri="{FF2B5EF4-FFF2-40B4-BE49-F238E27FC236}">
                <a16:creationId xmlns:a16="http://schemas.microsoft.com/office/drawing/2014/main" id="{41E1C51F-0B85-476A-AAF9-2EF1878AEC28}"/>
              </a:ext>
            </a:extLst>
          </p:cNvPr>
          <p:cNvSpPr>
            <a:spLocks xmlns:a="http://schemas.openxmlformats.org/drawingml/2006/main" noGrp="1"/>
          </p:cNvSpPr>
          <p:nvPr/>
        </p:nvSpPr>
        <p:spPr>
          <a:xfrm xmlns:a="http://schemas.openxmlformats.org/drawingml/2006/main">
            <a:off x="19335750" y="4667250"/>
            <a:ext cx="476250" cy="476250"/>
          </a:xfrm>
          <a:prstGeom xmlns:a="http://schemas.openxmlformats.org/drawingml/2006/main" prst="ellipse">
            <a:avLst/>
          </a:prstGeom>
          <a:solidFill xmlns:a="http://schemas.openxmlformats.org/drawingml/2006/main">
            <a:srgbClr val="FFFFFF"/>
          </a:solidFill>
          <a:ln xmlns:a="http://schemas.openxmlformats.org/drawingml/2006/main" w="24765">
            <a:solidFill>
              <a:srgbClr val="5668D2"/>
            </a:solidFill>
            <a:prstDash val="solid"/>
          </a:ln>
        </p:spPr>
      </p:sp>
      <p:sp>
        <p:nvSpPr>
          <p:cNvPr id="159" name="svg_text_159">
            <a:extLst xmlns:a="http://schemas.openxmlformats.org/drawingml/2006/main">
              <a:ext uri="{FF2B5EF4-FFF2-40B4-BE49-F238E27FC236}">
                <a16:creationId xmlns:a16="http://schemas.microsoft.com/office/drawing/2014/main" id="{2064E96D-7FB5-4BD5-88A5-F01851CBA3D6}"/>
              </a:ext>
            </a:extLst>
          </p:cNvPr>
          <p:cNvSpPr>
            <a:spLocks xmlns:a="http://schemas.openxmlformats.org/drawingml/2006/main" noGrp="1"/>
          </p:cNvSpPr>
          <p:nvPr/>
        </p:nvSpPr>
        <p:spPr>
          <a:xfrm xmlns:a="http://schemas.openxmlformats.org/drawingml/2006/main">
            <a:off x="19364325" y="469582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604" b="0" i="0">
                <a:solidFill>
                  <a:srgbClr val="000000"/>
                </a:solidFill>
                <a:latin typeface="Arial"/>
                <a:ea typeface="Arial"/>
                <a:cs typeface="Arial"/>
              </a:defRPr>
            </a:pPr>
            <a:r>
              <a:rPr sz="2604" b="0" i="0">
                <a:solidFill>
                  <a:srgbClr val="000000"/>
                </a:solidFill>
                <a:latin typeface="Arial"/>
                <a:ea typeface="Arial"/>
                <a:cs typeface="Arial"/>
              </a:rPr>
              <a:t>+</a:t>
            </a:r>
          </a:p>
        </p:txBody>
      </p:sp>
      <p:sp>
        <p:nvSpPr>
          <p:cNvPr id="160" name="svg_text_160">
            <a:extLst xmlns:a="http://schemas.openxmlformats.org/drawingml/2006/main">
              <a:ext uri="{FF2B5EF4-FFF2-40B4-BE49-F238E27FC236}">
                <a16:creationId xmlns:a16="http://schemas.microsoft.com/office/drawing/2014/main" id="{28387678-0562-4F48-844A-5C50FFCD3579}"/>
              </a:ext>
            </a:extLst>
          </p:cNvPr>
          <p:cNvSpPr>
            <a:spLocks xmlns:a="http://schemas.openxmlformats.org/drawingml/2006/main" noGrp="1"/>
          </p:cNvSpPr>
          <p:nvPr/>
        </p:nvSpPr>
        <p:spPr>
          <a:xfrm xmlns:a="http://schemas.openxmlformats.org/drawingml/2006/main">
            <a:off x="18728398" y="3441163"/>
            <a:ext cx="1690954"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q₁ + q₂ + q₃</a:t>
            </a:r>
          </a:p>
        </p:txBody>
      </p:sp>
      <p:sp>
        <p:nvSpPr>
          <p:cNvPr id="161" name="svg_path_161">
            <a:extLst xmlns:a="http://schemas.openxmlformats.org/drawingml/2006/main">
              <a:ext uri="{FF2B5EF4-FFF2-40B4-BE49-F238E27FC236}">
                <a16:creationId xmlns:a16="http://schemas.microsoft.com/office/drawing/2014/main" id="{14BE56AA-09D4-452B-B555-DA08F6D7C3FC}"/>
              </a:ext>
            </a:extLst>
          </p:cNvPr>
          <p:cNvSpPr>
            <a:spLocks xmlns:a="http://schemas.openxmlformats.org/drawingml/2006/main" noGrp="1"/>
          </p:cNvSpPr>
          <p:nvPr/>
        </p:nvSpPr>
        <p:spPr>
          <a:xfrm xmlns:a="http://schemas.openxmlformats.org/drawingml/2006/main">
            <a:off x="19812000" y="490537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30956">
            <a:solidFill>
              <a:srgbClr val="2386D8"/>
            </a:solidFill>
            <a:prstDash val="solid"/>
          </a:ln>
        </p:spPr>
      </p:sp>
      <p:sp>
        <p:nvSpPr>
          <p:cNvPr id="162" name="svg_arrowhead_162">
            <a:extLst xmlns:a="http://schemas.openxmlformats.org/drawingml/2006/main">
              <a:ext uri="{FF2B5EF4-FFF2-40B4-BE49-F238E27FC236}">
                <a16:creationId xmlns:a16="http://schemas.microsoft.com/office/drawing/2014/main" id="{85914ED1-AA31-4065-995E-6AF7E4964B41}"/>
              </a:ext>
            </a:extLst>
          </p:cNvPr>
          <p:cNvSpPr>
            <a:spLocks xmlns:a="http://schemas.openxmlformats.org/drawingml/2006/main" noGrp="1"/>
          </p:cNvSpPr>
          <p:nvPr/>
        </p:nvSpPr>
        <p:spPr>
          <a:xfrm xmlns:a="http://schemas.openxmlformats.org/drawingml/2006/main">
            <a:off x="19964400" y="48387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63" name="svg_rect_163">
            <a:extLst xmlns:a="http://schemas.openxmlformats.org/drawingml/2006/main">
              <a:ext uri="{FF2B5EF4-FFF2-40B4-BE49-F238E27FC236}">
                <a16:creationId xmlns:a16="http://schemas.microsoft.com/office/drawing/2014/main" id="{78B77791-043E-4D73-955C-78AD779B85D7}"/>
              </a:ext>
            </a:extLst>
          </p:cNvPr>
          <p:cNvSpPr>
            <a:spLocks xmlns:a="http://schemas.openxmlformats.org/drawingml/2006/main" noGrp="1"/>
          </p:cNvSpPr>
          <p:nvPr/>
        </p:nvSpPr>
        <p:spPr>
          <a:xfrm xmlns:a="http://schemas.openxmlformats.org/drawingml/2006/main">
            <a:off x="20079653" y="4360545"/>
            <a:ext cx="941070" cy="1089660"/>
          </a:xfrm>
          <a:prstGeom xmlns:a="http://schemas.openxmlformats.org/drawingml/2006/main" prst="roundRect">
            <a:avLst>
              <a:gd name="adj" fmla="val 8097"/>
            </a:avLst>
          </a:prstGeom>
          <a:solidFill xmlns:a="http://schemas.openxmlformats.org/drawingml/2006/main">
            <a:srgbClr val="EDF6FF"/>
          </a:solidFill>
          <a:ln xmlns:a="http://schemas.openxmlformats.org/drawingml/2006/main" w="24765">
            <a:solidFill>
              <a:srgbClr val="408FD2"/>
            </a:solidFill>
            <a:prstDash val="solid"/>
          </a:ln>
        </p:spPr>
      </p:sp>
      <p:sp>
        <p:nvSpPr>
          <p:cNvPr id="164" name="svg_text_164">
            <a:extLst xmlns:a="http://schemas.openxmlformats.org/drawingml/2006/main">
              <a:ext uri="{FF2B5EF4-FFF2-40B4-BE49-F238E27FC236}">
                <a16:creationId xmlns:a16="http://schemas.microsoft.com/office/drawing/2014/main" id="{8A17DC68-A7CF-432C-AE1A-E333B27CA461}"/>
              </a:ext>
            </a:extLst>
          </p:cNvPr>
          <p:cNvSpPr>
            <a:spLocks xmlns:a="http://schemas.openxmlformats.org/drawingml/2006/main" noGrp="1"/>
          </p:cNvSpPr>
          <p:nvPr/>
        </p:nvSpPr>
        <p:spPr>
          <a:xfrm xmlns:a="http://schemas.openxmlformats.org/drawingml/2006/main">
            <a:off x="20117753" y="4464714"/>
            <a:ext cx="86487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881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Recovered</a:t>
            </a:r>
          </a:p>
        </p:txBody>
      </p:sp>
      <p:sp>
        <p:nvSpPr>
          <p:cNvPr id="165" name="svg_text_165">
            <a:extLst xmlns:a="http://schemas.openxmlformats.org/drawingml/2006/main">
              <a:ext uri="{FF2B5EF4-FFF2-40B4-BE49-F238E27FC236}">
                <a16:creationId xmlns:a16="http://schemas.microsoft.com/office/drawing/2014/main" id="{CE513F5F-CACA-445D-A8E8-828E2521F891}"/>
              </a:ext>
            </a:extLst>
          </p:cNvPr>
          <p:cNvSpPr>
            <a:spLocks xmlns:a="http://schemas.openxmlformats.org/drawingml/2006/main" noGrp="1"/>
          </p:cNvSpPr>
          <p:nvPr/>
        </p:nvSpPr>
        <p:spPr>
          <a:xfrm xmlns:a="http://schemas.openxmlformats.org/drawingml/2006/main">
            <a:off x="20117753" y="4702839"/>
            <a:ext cx="86487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Latent zq</a:t>
            </a:r>
          </a:p>
        </p:txBody>
      </p:sp>
      <p:sp>
        <p:nvSpPr>
          <p:cNvPr id="166" name="svg_text_166">
            <a:extLst xmlns:a="http://schemas.openxmlformats.org/drawingml/2006/main">
              <a:ext uri="{FF2B5EF4-FFF2-40B4-BE49-F238E27FC236}">
                <a16:creationId xmlns:a16="http://schemas.microsoft.com/office/drawing/2014/main" id="{2841E0E2-12CC-4F72-8D7F-35CDFC5937D2}"/>
              </a:ext>
            </a:extLst>
          </p:cNvPr>
          <p:cNvSpPr>
            <a:spLocks xmlns:a="http://schemas.openxmlformats.org/drawingml/2006/main" noGrp="1"/>
          </p:cNvSpPr>
          <p:nvPr/>
        </p:nvSpPr>
        <p:spPr>
          <a:xfrm xmlns:a="http://schemas.openxmlformats.org/drawingml/2006/main">
            <a:off x="20117753" y="5000534"/>
            <a:ext cx="86487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using shared</a:t>
            </a:r>
          </a:p>
        </p:txBody>
      </p:sp>
      <p:sp>
        <p:nvSpPr>
          <p:cNvPr id="167" name="svg_text_167">
            <a:extLst xmlns:a="http://schemas.openxmlformats.org/drawingml/2006/main">
              <a:ext uri="{FF2B5EF4-FFF2-40B4-BE49-F238E27FC236}">
                <a16:creationId xmlns:a16="http://schemas.microsoft.com/office/drawing/2014/main" id="{8CCC3A98-27B9-4EB6-BE21-797D167C8E76}"/>
              </a:ext>
            </a:extLst>
          </p:cNvPr>
          <p:cNvSpPr>
            <a:spLocks xmlns:a="http://schemas.openxmlformats.org/drawingml/2006/main" noGrp="1"/>
          </p:cNvSpPr>
          <p:nvPr/>
        </p:nvSpPr>
        <p:spPr>
          <a:xfrm xmlns:a="http://schemas.openxmlformats.org/drawingml/2006/main">
            <a:off x="20117753" y="5162459"/>
            <a:ext cx="86487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codebooks</a:t>
            </a:r>
          </a:p>
        </p:txBody>
      </p:sp>
      <p:sp>
        <p:nvSpPr>
          <p:cNvPr id="168" name="svg_path_168">
            <a:extLst xmlns:a="http://schemas.openxmlformats.org/drawingml/2006/main">
              <a:ext uri="{FF2B5EF4-FFF2-40B4-BE49-F238E27FC236}">
                <a16:creationId xmlns:a16="http://schemas.microsoft.com/office/drawing/2014/main" id="{D208DA46-A5DF-4AAA-9FD2-4244E428EEAB}"/>
              </a:ext>
            </a:extLst>
          </p:cNvPr>
          <p:cNvSpPr>
            <a:spLocks xmlns:a="http://schemas.openxmlformats.org/drawingml/2006/main" noGrp="1"/>
          </p:cNvSpPr>
          <p:nvPr/>
        </p:nvSpPr>
        <p:spPr>
          <a:xfrm xmlns:a="http://schemas.openxmlformats.org/drawingml/2006/main">
            <a:off x="21002625" y="490537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30956">
            <a:solidFill>
              <a:srgbClr val="2386D8"/>
            </a:solidFill>
            <a:prstDash val="solid"/>
          </a:ln>
        </p:spPr>
      </p:sp>
      <p:sp>
        <p:nvSpPr>
          <p:cNvPr id="169" name="svg_arrowhead_169">
            <a:extLst xmlns:a="http://schemas.openxmlformats.org/drawingml/2006/main">
              <a:ext uri="{FF2B5EF4-FFF2-40B4-BE49-F238E27FC236}">
                <a16:creationId xmlns:a16="http://schemas.microsoft.com/office/drawing/2014/main" id="{2E14E7E9-6DB4-47B9-B4FB-D8616065CBD4}"/>
              </a:ext>
            </a:extLst>
          </p:cNvPr>
          <p:cNvSpPr>
            <a:spLocks xmlns:a="http://schemas.openxmlformats.org/drawingml/2006/main" noGrp="1"/>
          </p:cNvSpPr>
          <p:nvPr/>
        </p:nvSpPr>
        <p:spPr>
          <a:xfrm xmlns:a="http://schemas.openxmlformats.org/drawingml/2006/main">
            <a:off x="21155025" y="48387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70" name="svg_rect_170">
            <a:extLst xmlns:a="http://schemas.openxmlformats.org/drawingml/2006/main">
              <a:ext uri="{FF2B5EF4-FFF2-40B4-BE49-F238E27FC236}">
                <a16:creationId xmlns:a16="http://schemas.microsoft.com/office/drawing/2014/main" id="{43429002-A6E4-4D43-AF1D-C036B765EBAC}"/>
              </a:ext>
            </a:extLst>
          </p:cNvPr>
          <p:cNvSpPr>
            <a:spLocks xmlns:a="http://schemas.openxmlformats.org/drawingml/2006/main" noGrp="1"/>
          </p:cNvSpPr>
          <p:nvPr/>
        </p:nvSpPr>
        <p:spPr>
          <a:xfrm xmlns:a="http://schemas.openxmlformats.org/drawingml/2006/main">
            <a:off x="21270278" y="4360545"/>
            <a:ext cx="941070" cy="1089660"/>
          </a:xfrm>
          <a:prstGeom xmlns:a="http://schemas.openxmlformats.org/drawingml/2006/main" prst="roundRect">
            <a:avLst>
              <a:gd name="adj" fmla="val 8097"/>
            </a:avLst>
          </a:prstGeom>
          <a:solidFill xmlns:a="http://schemas.openxmlformats.org/drawingml/2006/main">
            <a:srgbClr val="EDF6FF"/>
          </a:solidFill>
          <a:ln xmlns:a="http://schemas.openxmlformats.org/drawingml/2006/main" w="24765">
            <a:solidFill>
              <a:srgbClr val="408FD2"/>
            </a:solidFill>
            <a:prstDash val="solid"/>
          </a:ln>
        </p:spPr>
      </p:sp>
      <p:sp>
        <p:nvSpPr>
          <p:cNvPr id="171" name="svg_text_171">
            <a:extLst xmlns:a="http://schemas.openxmlformats.org/drawingml/2006/main">
              <a:ext uri="{FF2B5EF4-FFF2-40B4-BE49-F238E27FC236}">
                <a16:creationId xmlns:a16="http://schemas.microsoft.com/office/drawing/2014/main" id="{3C75C778-59E1-4979-AC14-52F235B0A2C5}"/>
              </a:ext>
            </a:extLst>
          </p:cNvPr>
          <p:cNvSpPr>
            <a:spLocks xmlns:a="http://schemas.openxmlformats.org/drawingml/2006/main" noGrp="1"/>
          </p:cNvSpPr>
          <p:nvPr/>
        </p:nvSpPr>
        <p:spPr>
          <a:xfrm xmlns:a="http://schemas.openxmlformats.org/drawingml/2006/main">
            <a:off x="21308378" y="4521864"/>
            <a:ext cx="86487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SEANet</a:t>
            </a:r>
          </a:p>
        </p:txBody>
      </p:sp>
      <p:sp>
        <p:nvSpPr>
          <p:cNvPr id="172" name="svg_text_172">
            <a:extLst xmlns:a="http://schemas.openxmlformats.org/drawingml/2006/main">
              <a:ext uri="{FF2B5EF4-FFF2-40B4-BE49-F238E27FC236}">
                <a16:creationId xmlns:a16="http://schemas.microsoft.com/office/drawing/2014/main" id="{E098887B-0829-441E-BD4F-2842ECC99F79}"/>
              </a:ext>
            </a:extLst>
          </p:cNvPr>
          <p:cNvSpPr>
            <a:spLocks xmlns:a="http://schemas.openxmlformats.org/drawingml/2006/main" noGrp="1"/>
          </p:cNvSpPr>
          <p:nvPr/>
        </p:nvSpPr>
        <p:spPr>
          <a:xfrm xmlns:a="http://schemas.openxmlformats.org/drawingml/2006/main">
            <a:off x="21308378" y="4769514"/>
            <a:ext cx="86487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Decoder</a:t>
            </a:r>
          </a:p>
        </p:txBody>
      </p:sp>
      <p:sp>
        <p:nvSpPr>
          <p:cNvPr id="173" name="svg_path_173">
            <a:extLst xmlns:a="http://schemas.openxmlformats.org/drawingml/2006/main">
              <a:ext uri="{FF2B5EF4-FFF2-40B4-BE49-F238E27FC236}">
                <a16:creationId xmlns:a16="http://schemas.microsoft.com/office/drawing/2014/main" id="{4B8C9C6C-83B3-4DBC-AFD7-3CE2A233C1A2}"/>
              </a:ext>
            </a:extLst>
          </p:cNvPr>
          <p:cNvSpPr>
            <a:spLocks xmlns:a="http://schemas.openxmlformats.org/drawingml/2006/main" noGrp="1"/>
          </p:cNvSpPr>
          <p:nvPr/>
        </p:nvSpPr>
        <p:spPr>
          <a:xfrm xmlns:a="http://schemas.openxmlformats.org/drawingml/2006/main">
            <a:off x="22193250" y="490537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30956">
            <a:solidFill>
              <a:srgbClr val="2386D8"/>
            </a:solidFill>
            <a:prstDash val="solid"/>
          </a:ln>
        </p:spPr>
      </p:sp>
      <p:sp>
        <p:nvSpPr>
          <p:cNvPr id="174" name="svg_arrowhead_174">
            <a:extLst xmlns:a="http://schemas.openxmlformats.org/drawingml/2006/main">
              <a:ext uri="{FF2B5EF4-FFF2-40B4-BE49-F238E27FC236}">
                <a16:creationId xmlns:a16="http://schemas.microsoft.com/office/drawing/2014/main" id="{10F7007B-A01D-4A32-B433-3B2390C85609}"/>
              </a:ext>
            </a:extLst>
          </p:cNvPr>
          <p:cNvSpPr>
            <a:spLocks xmlns:a="http://schemas.openxmlformats.org/drawingml/2006/main" noGrp="1"/>
          </p:cNvSpPr>
          <p:nvPr/>
        </p:nvSpPr>
        <p:spPr>
          <a:xfrm xmlns:a="http://schemas.openxmlformats.org/drawingml/2006/main">
            <a:off x="22250400" y="48387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75" name="svg_text_175">
            <a:extLst xmlns:a="http://schemas.openxmlformats.org/drawingml/2006/main">
              <a:ext uri="{FF2B5EF4-FFF2-40B4-BE49-F238E27FC236}">
                <a16:creationId xmlns:a16="http://schemas.microsoft.com/office/drawing/2014/main" id="{1B200A57-1388-4DA3-B29A-2EA81D7D914E}"/>
              </a:ext>
            </a:extLst>
          </p:cNvPr>
          <p:cNvSpPr>
            <a:spLocks xmlns:a="http://schemas.openxmlformats.org/drawingml/2006/main" noGrp="1"/>
          </p:cNvSpPr>
          <p:nvPr/>
        </p:nvSpPr>
        <p:spPr>
          <a:xfrm xmlns:a="http://schemas.openxmlformats.org/drawingml/2006/main">
            <a:off x="20972507" y="5552446"/>
            <a:ext cx="152708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Reconstructed</a:t>
            </a:r>
          </a:p>
        </p:txBody>
      </p:sp>
      <p:sp>
        <p:nvSpPr>
          <p:cNvPr id="176" name="svg_text_176">
            <a:extLst xmlns:a="http://schemas.openxmlformats.org/drawingml/2006/main">
              <a:ext uri="{FF2B5EF4-FFF2-40B4-BE49-F238E27FC236}">
                <a16:creationId xmlns:a16="http://schemas.microsoft.com/office/drawing/2014/main" id="{690AD1FF-1188-40DA-B8B9-B90B2E505857}"/>
              </a:ext>
            </a:extLst>
          </p:cNvPr>
          <p:cNvSpPr>
            <a:spLocks xmlns:a="http://schemas.openxmlformats.org/drawingml/2006/main" noGrp="1"/>
          </p:cNvSpPr>
          <p:nvPr/>
        </p:nvSpPr>
        <p:spPr>
          <a:xfrm xmlns:a="http://schemas.openxmlformats.org/drawingml/2006/main">
            <a:off x="20868227" y="5742946"/>
            <a:ext cx="173564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Speech output →</a:t>
            </a:r>
          </a:p>
        </p:txBody>
      </p:sp>
      <p:sp>
        <p:nvSpPr>
          <p:cNvPr id="177" name="svg_rect_177">
            <a:extLst xmlns:a="http://schemas.openxmlformats.org/drawingml/2006/main">
              <a:ext uri="{FF2B5EF4-FFF2-40B4-BE49-F238E27FC236}">
                <a16:creationId xmlns:a16="http://schemas.microsoft.com/office/drawing/2014/main" id="{5617945D-989D-4232-8633-40C3C5D5065A}"/>
              </a:ext>
            </a:extLst>
          </p:cNvPr>
          <p:cNvSpPr>
            <a:spLocks xmlns:a="http://schemas.openxmlformats.org/drawingml/2006/main" noGrp="1"/>
          </p:cNvSpPr>
          <p:nvPr/>
        </p:nvSpPr>
        <p:spPr>
          <a:xfrm xmlns:a="http://schemas.openxmlformats.org/drawingml/2006/main">
            <a:off x="17733645" y="5976366"/>
            <a:ext cx="4061460" cy="277368"/>
          </a:xfrm>
          <a:prstGeom xmlns:a="http://schemas.openxmlformats.org/drawingml/2006/main" prst="roundRect">
            <a:avLst>
              <a:gd name="adj" fmla="val 30907"/>
            </a:avLst>
          </a:prstGeom>
          <a:solidFill xmlns:a="http://schemas.openxmlformats.org/drawingml/2006/main">
            <a:srgbClr val="E4F2FF"/>
          </a:solidFill>
          <a:ln xmlns:a="http://schemas.openxmlformats.org/drawingml/2006/main" w="18574">
            <a:solidFill>
              <a:srgbClr val="78AFE0"/>
            </a:solidFill>
            <a:prstDash val="solid"/>
          </a:ln>
        </p:spPr>
      </p:sp>
      <p:sp>
        <p:nvSpPr>
          <p:cNvPr id="178" name="svg_text_178">
            <a:extLst xmlns:a="http://schemas.openxmlformats.org/drawingml/2006/main">
              <a:ext uri="{FF2B5EF4-FFF2-40B4-BE49-F238E27FC236}">
                <a16:creationId xmlns:a16="http://schemas.microsoft.com/office/drawing/2014/main" id="{8B50A535-1FC4-4E2B-BBD2-86C7A7498A4E}"/>
              </a:ext>
            </a:extLst>
          </p:cNvPr>
          <p:cNvSpPr>
            <a:spLocks xmlns:a="http://schemas.openxmlformats.org/drawingml/2006/main" noGrp="1"/>
          </p:cNvSpPr>
          <p:nvPr/>
        </p:nvSpPr>
        <p:spPr>
          <a:xfrm xmlns:a="http://schemas.openxmlformats.org/drawingml/2006/main">
            <a:off x="17828895" y="6004941"/>
            <a:ext cx="3870960" cy="2202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Codebooks and decoder are pre-deployed; never transmitted</a:t>
            </a:r>
          </a:p>
        </p:txBody>
      </p:sp>
      <p:sp>
        <p:nvSpPr>
          <p:cNvPr id="179" name="svg_rect_179">
            <a:extLst xmlns:a="http://schemas.openxmlformats.org/drawingml/2006/main">
              <a:ext uri="{FF2B5EF4-FFF2-40B4-BE49-F238E27FC236}">
                <a16:creationId xmlns:a16="http://schemas.microsoft.com/office/drawing/2014/main" id="{2275C93F-8111-4FB2-9D2F-F4E28320DA7C}"/>
              </a:ext>
            </a:extLst>
          </p:cNvPr>
          <p:cNvSpPr>
            <a:spLocks xmlns:a="http://schemas.openxmlformats.org/drawingml/2006/main" noGrp="1"/>
          </p:cNvSpPr>
          <p:nvPr/>
        </p:nvSpPr>
        <p:spPr>
          <a:xfrm xmlns:a="http://schemas.openxmlformats.org/drawingml/2006/main">
            <a:off x="190500" y="6477000"/>
            <a:ext cx="16287750" cy="6667500"/>
          </a:xfrm>
          <a:prstGeom xmlns:a="http://schemas.openxmlformats.org/drawingml/2006/main" prst="roundRect">
            <a:avLst>
              <a:gd name="adj" fmla="val 1714"/>
            </a:avLst>
          </a:prstGeom>
          <a:solidFill xmlns:a="http://schemas.openxmlformats.org/drawingml/2006/main">
            <a:srgbClr val="FFFFFF"/>
          </a:solidFill>
          <a:ln xmlns:a="http://schemas.openxmlformats.org/drawingml/2006/main" w="24765">
            <a:solidFill>
              <a:srgbClr val="7DB5E8"/>
            </a:solidFill>
            <a:prstDash val="dash"/>
          </a:ln>
        </p:spPr>
      </p:sp>
      <p:sp>
        <p:nvSpPr>
          <p:cNvPr id="180" name="svg_circle_180">
            <a:extLst xmlns:a="http://schemas.openxmlformats.org/drawingml/2006/main">
              <a:ext uri="{FF2B5EF4-FFF2-40B4-BE49-F238E27FC236}">
                <a16:creationId xmlns:a16="http://schemas.microsoft.com/office/drawing/2014/main" id="{FCB81590-D703-4DE6-A7F0-F16D3EF478CF}"/>
              </a:ext>
            </a:extLst>
          </p:cNvPr>
          <p:cNvSpPr>
            <a:spLocks xmlns:a="http://schemas.openxmlformats.org/drawingml/2006/main" noGrp="1"/>
          </p:cNvSpPr>
          <p:nvPr/>
        </p:nvSpPr>
        <p:spPr>
          <a:xfrm xmlns:a="http://schemas.openxmlformats.org/drawingml/2006/main">
            <a:off x="257175" y="6543675"/>
            <a:ext cx="533400" cy="533400"/>
          </a:xfrm>
          <a:prstGeom xmlns:a="http://schemas.openxmlformats.org/drawingml/2006/main" prst="ellipse">
            <a:avLst/>
          </a:prstGeom>
          <a:solidFill xmlns:a="http://schemas.openxmlformats.org/drawingml/2006/main">
            <a:srgbClr val="080B0E"/>
          </a:solidFill>
          <a:ln xmlns:a="http://schemas.openxmlformats.org/drawingml/2006/main" w="0">
            <a:noFill/>
            <a:prstDash val="solid"/>
          </a:ln>
        </p:spPr>
      </p:sp>
      <p:sp>
        <p:nvSpPr>
          <p:cNvPr id="181" name="svg_text_181">
            <a:extLst xmlns:a="http://schemas.openxmlformats.org/drawingml/2006/main">
              <a:ext uri="{FF2B5EF4-FFF2-40B4-BE49-F238E27FC236}">
                <a16:creationId xmlns:a16="http://schemas.microsoft.com/office/drawing/2014/main" id="{304C4502-79B1-4E53-A383-BEB7F86B417D}"/>
              </a:ext>
            </a:extLst>
          </p:cNvPr>
          <p:cNvSpPr>
            <a:spLocks xmlns:a="http://schemas.openxmlformats.org/drawingml/2006/main" noGrp="1"/>
          </p:cNvSpPr>
          <p:nvPr/>
        </p:nvSpPr>
        <p:spPr>
          <a:xfrm xmlns:a="http://schemas.openxmlformats.org/drawingml/2006/main">
            <a:off x="285750" y="65722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87" b="1" i="0">
                <a:solidFill>
                  <a:srgbClr val="FFFFFF"/>
                </a:solidFill>
                <a:latin typeface="Arial"/>
                <a:ea typeface="Arial"/>
                <a:cs typeface="Arial"/>
              </a:defRPr>
            </a:pPr>
            <a:r>
              <a:rPr sz="2187" b="1" i="0">
                <a:solidFill>
                  <a:srgbClr val="FFFFFF"/>
                </a:solidFill>
                <a:latin typeface="Arial"/>
                <a:ea typeface="Arial"/>
                <a:cs typeface="Arial"/>
              </a:rPr>
              <a:t>5</a:t>
            </a:r>
          </a:p>
        </p:txBody>
      </p:sp>
      <p:sp>
        <p:nvSpPr>
          <p:cNvPr id="182" name="svg_text_182">
            <a:extLst xmlns:a="http://schemas.openxmlformats.org/drawingml/2006/main">
              <a:ext uri="{FF2B5EF4-FFF2-40B4-BE49-F238E27FC236}">
                <a16:creationId xmlns:a16="http://schemas.microsoft.com/office/drawing/2014/main" id="{CCEF9F71-7E30-40C8-8419-EF8234325A85}"/>
              </a:ext>
            </a:extLst>
          </p:cNvPr>
          <p:cNvSpPr>
            <a:spLocks xmlns:a="http://schemas.openxmlformats.org/drawingml/2006/main" noGrp="1"/>
          </p:cNvSpPr>
          <p:nvPr/>
        </p:nvSpPr>
        <p:spPr>
          <a:xfrm xmlns:a="http://schemas.openxmlformats.org/drawingml/2006/main">
            <a:off x="904875" y="6571564"/>
            <a:ext cx="9048750" cy="4398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9248"/>
          </a:bodyPr>
          <a:lstStyle xmlns:a="http://schemas.openxmlformats.org/drawingml/2006/main"/>
          <a:p xmlns:a="http://schemas.openxmlformats.org/drawingml/2006/main">
            <a:pPr algn="l">
              <a:defRPr sz="2340" b="1" i="0">
                <a:solidFill>
                  <a:srgbClr val="0F1720"/>
                </a:solidFill>
                <a:latin typeface="Arial"/>
                <a:ea typeface="Arial"/>
                <a:cs typeface="Arial"/>
              </a:defRPr>
            </a:pPr>
            <a:r>
              <a:rPr sz="2340" b="1" i="0">
                <a:solidFill>
                  <a:srgbClr val="0F1720"/>
                </a:solidFill>
                <a:latin typeface="Arial"/>
                <a:ea typeface="Arial"/>
                <a:cs typeface="Arial"/>
              </a:rPr>
              <a:t>ADVERSARIAL TRAINING AND CHANNEL-AWARE FINE-TUNING</a:t>
            </a:r>
          </a:p>
        </p:txBody>
      </p:sp>
      <p:sp>
        <p:nvSpPr>
          <p:cNvPr id="183" name="svg_rect_183">
            <a:extLst xmlns:a="http://schemas.openxmlformats.org/drawingml/2006/main">
              <a:ext uri="{FF2B5EF4-FFF2-40B4-BE49-F238E27FC236}">
                <a16:creationId xmlns:a16="http://schemas.microsoft.com/office/drawing/2014/main" id="{8B33F2C7-A6CC-4091-A002-538BFF8DD026}"/>
              </a:ext>
            </a:extLst>
          </p:cNvPr>
          <p:cNvSpPr>
            <a:spLocks xmlns:a="http://schemas.openxmlformats.org/drawingml/2006/main" noGrp="1"/>
          </p:cNvSpPr>
          <p:nvPr/>
        </p:nvSpPr>
        <p:spPr>
          <a:xfrm xmlns:a="http://schemas.openxmlformats.org/drawingml/2006/main">
            <a:off x="14347508" y="6602730"/>
            <a:ext cx="1832610" cy="396240"/>
          </a:xfrm>
          <a:prstGeom xmlns:a="http://schemas.openxmlformats.org/drawingml/2006/main" prst="roundRect">
            <a:avLst>
              <a:gd name="adj" fmla="val 21635"/>
            </a:avLst>
          </a:prstGeom>
          <a:solidFill xmlns:a="http://schemas.openxmlformats.org/drawingml/2006/main">
            <a:srgbClr val="E4F2FF"/>
          </a:solidFill>
          <a:ln xmlns:a="http://schemas.openxmlformats.org/drawingml/2006/main" w="18574">
            <a:solidFill>
              <a:srgbClr val="78AFE0"/>
            </a:solidFill>
            <a:prstDash val="solid"/>
          </a:ln>
        </p:spPr>
      </p:sp>
      <p:sp>
        <p:nvSpPr>
          <p:cNvPr id="184" name="svg_text_184">
            <a:extLst xmlns:a="http://schemas.openxmlformats.org/drawingml/2006/main">
              <a:ext uri="{FF2B5EF4-FFF2-40B4-BE49-F238E27FC236}">
                <a16:creationId xmlns:a16="http://schemas.microsoft.com/office/drawing/2014/main" id="{3C0EBDF5-EA3F-4A14-97BB-3B346D9C4DC5}"/>
              </a:ext>
            </a:extLst>
          </p:cNvPr>
          <p:cNvSpPr>
            <a:spLocks xmlns:a="http://schemas.openxmlformats.org/drawingml/2006/main" noGrp="1"/>
          </p:cNvSpPr>
          <p:nvPr/>
        </p:nvSpPr>
        <p:spPr>
          <a:xfrm xmlns:a="http://schemas.openxmlformats.org/drawingml/2006/main">
            <a:off x="14411649" y="6655464"/>
            <a:ext cx="1704327"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TRAINING ONLY</a:t>
            </a:r>
          </a:p>
        </p:txBody>
      </p:sp>
      <p:sp>
        <p:nvSpPr>
          <p:cNvPr id="185" name="svg_rect_185">
            <a:extLst xmlns:a="http://schemas.openxmlformats.org/drawingml/2006/main">
              <a:ext uri="{FF2B5EF4-FFF2-40B4-BE49-F238E27FC236}">
                <a16:creationId xmlns:a16="http://schemas.microsoft.com/office/drawing/2014/main" id="{B1FB3CFB-B5DD-4374-9511-4A68661BAD23}"/>
              </a:ext>
            </a:extLst>
          </p:cNvPr>
          <p:cNvSpPr>
            <a:spLocks xmlns:a="http://schemas.openxmlformats.org/drawingml/2006/main" noGrp="1"/>
          </p:cNvSpPr>
          <p:nvPr/>
        </p:nvSpPr>
        <p:spPr>
          <a:xfrm xmlns:a="http://schemas.openxmlformats.org/drawingml/2006/main">
            <a:off x="333375" y="7143750"/>
            <a:ext cx="9048750" cy="5810250"/>
          </a:xfrm>
          <a:prstGeom xmlns:a="http://schemas.openxmlformats.org/drawingml/2006/main" prst="roundRect">
            <a:avLst>
              <a:gd name="adj" fmla="val 1639"/>
            </a:avLst>
          </a:prstGeom>
          <a:solidFill xmlns:a="http://schemas.openxmlformats.org/drawingml/2006/main">
            <a:srgbClr val="F7FBFF"/>
          </a:solidFill>
          <a:ln xmlns:a="http://schemas.openxmlformats.org/drawingml/2006/main" w="19812">
            <a:solidFill>
              <a:srgbClr val="A8CBEA"/>
            </a:solidFill>
            <a:prstDash val="dash"/>
          </a:ln>
        </p:spPr>
      </p:sp>
      <p:sp>
        <p:nvSpPr>
          <p:cNvPr id="186" name="svg_rect_186">
            <a:extLst xmlns:a="http://schemas.openxmlformats.org/drawingml/2006/main">
              <a:ext uri="{FF2B5EF4-FFF2-40B4-BE49-F238E27FC236}">
                <a16:creationId xmlns:a16="http://schemas.microsoft.com/office/drawing/2014/main" id="{7F682BC3-32BF-4255-BF98-B1B83E1CA2FB}"/>
              </a:ext>
            </a:extLst>
          </p:cNvPr>
          <p:cNvSpPr>
            <a:spLocks xmlns:a="http://schemas.openxmlformats.org/drawingml/2006/main" noGrp="1"/>
          </p:cNvSpPr>
          <p:nvPr/>
        </p:nvSpPr>
        <p:spPr>
          <a:xfrm xmlns:a="http://schemas.openxmlformats.org/drawingml/2006/main">
            <a:off x="476250" y="7286625"/>
            <a:ext cx="476250" cy="285750"/>
          </a:xfrm>
          <a:prstGeom xmlns:a="http://schemas.openxmlformats.org/drawingml/2006/main" prst="roundRect">
            <a:avLst>
              <a:gd name="adj" fmla="val 50000"/>
            </a:avLst>
          </a:prstGeom>
          <a:solidFill xmlns:a="http://schemas.openxmlformats.org/drawingml/2006/main">
            <a:srgbClr val="1467B8"/>
          </a:solidFill>
          <a:ln xmlns:a="http://schemas.openxmlformats.org/drawingml/2006/main" w="0">
            <a:noFill/>
            <a:prstDash val="solid"/>
          </a:ln>
        </p:spPr>
      </p:sp>
      <p:sp>
        <p:nvSpPr>
          <p:cNvPr id="187" name="svg_text_187">
            <a:extLst xmlns:a="http://schemas.openxmlformats.org/drawingml/2006/main">
              <a:ext uri="{FF2B5EF4-FFF2-40B4-BE49-F238E27FC236}">
                <a16:creationId xmlns:a16="http://schemas.microsoft.com/office/drawing/2014/main" id="{0FF17189-57D7-44C0-92B4-2A329417CDB1}"/>
              </a:ext>
            </a:extLst>
          </p:cNvPr>
          <p:cNvSpPr>
            <a:spLocks xmlns:a="http://schemas.openxmlformats.org/drawingml/2006/main" noGrp="1"/>
          </p:cNvSpPr>
          <p:nvPr/>
        </p:nvSpPr>
        <p:spPr>
          <a:xfrm xmlns:a="http://schemas.openxmlformats.org/drawingml/2006/main">
            <a:off x="514350" y="73152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28" b="1" i="0">
                <a:solidFill>
                  <a:srgbClr val="FFFFFF"/>
                </a:solidFill>
                <a:latin typeface="Arial"/>
                <a:ea typeface="Arial"/>
                <a:cs typeface="Arial"/>
              </a:defRPr>
            </a:pPr>
            <a:r>
              <a:rPr sz="1428" b="1" i="0">
                <a:solidFill>
                  <a:srgbClr val="FFFFFF"/>
                </a:solidFill>
                <a:latin typeface="Arial"/>
                <a:ea typeface="Arial"/>
                <a:cs typeface="Arial"/>
              </a:rPr>
              <a:t>5A</a:t>
            </a:r>
          </a:p>
        </p:txBody>
      </p:sp>
      <p:sp>
        <p:nvSpPr>
          <p:cNvPr id="188" name="svg_text_188">
            <a:extLst xmlns:a="http://schemas.openxmlformats.org/drawingml/2006/main">
              <a:ext uri="{FF2B5EF4-FFF2-40B4-BE49-F238E27FC236}">
                <a16:creationId xmlns:a16="http://schemas.microsoft.com/office/drawing/2014/main" id="{406A6330-95F7-401D-9E21-91497C54D73E}"/>
              </a:ext>
            </a:extLst>
          </p:cNvPr>
          <p:cNvSpPr>
            <a:spLocks xmlns:a="http://schemas.openxmlformats.org/drawingml/2006/main" noGrp="1"/>
          </p:cNvSpPr>
          <p:nvPr/>
        </p:nvSpPr>
        <p:spPr>
          <a:xfrm xmlns:a="http://schemas.openxmlformats.org/drawingml/2006/main">
            <a:off x="1095375" y="7274559"/>
            <a:ext cx="4183951" cy="3493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58" b="1" i="0">
                <a:solidFill>
                  <a:srgbClr val="17202A"/>
                </a:solidFill>
                <a:latin typeface="Arial"/>
                <a:ea typeface="Arial"/>
                <a:cs typeface="Arial"/>
              </a:defRPr>
            </a:pPr>
            <a:r>
              <a:rPr sz="1858" b="1" i="0">
                <a:solidFill>
                  <a:srgbClr val="17202A"/>
                </a:solidFill>
                <a:latin typeface="Arial"/>
                <a:ea typeface="Arial"/>
                <a:cs typeface="Arial"/>
              </a:rPr>
              <a:t>SCIT-Speech-Base Training</a:t>
            </a:r>
          </a:p>
        </p:txBody>
      </p:sp>
      <p:sp>
        <p:nvSpPr>
          <p:cNvPr id="189" name="svg_rect_189">
            <a:extLst xmlns:a="http://schemas.openxmlformats.org/drawingml/2006/main">
              <a:ext uri="{FF2B5EF4-FFF2-40B4-BE49-F238E27FC236}">
                <a16:creationId xmlns:a16="http://schemas.microsoft.com/office/drawing/2014/main" id="{BD66A475-B284-4AC9-981D-B06B6C9F403D}"/>
              </a:ext>
            </a:extLst>
          </p:cNvPr>
          <p:cNvSpPr>
            <a:spLocks xmlns:a="http://schemas.openxmlformats.org/drawingml/2006/main" noGrp="1"/>
          </p:cNvSpPr>
          <p:nvPr/>
        </p:nvSpPr>
        <p:spPr>
          <a:xfrm xmlns:a="http://schemas.openxmlformats.org/drawingml/2006/main">
            <a:off x="639128" y="8559165"/>
            <a:ext cx="1436370" cy="693420"/>
          </a:xfrm>
          <a:prstGeom xmlns:a="http://schemas.openxmlformats.org/drawingml/2006/main" prst="roundRect">
            <a:avLst>
              <a:gd name="adj" fmla="val 10989"/>
            </a:avLst>
          </a:prstGeom>
          <a:solidFill xmlns:a="http://schemas.openxmlformats.org/drawingml/2006/main">
            <a:srgbClr val="EDF6FF"/>
          </a:solidFill>
          <a:ln xmlns:a="http://schemas.openxmlformats.org/drawingml/2006/main" w="24765">
            <a:solidFill>
              <a:srgbClr val="408FD2"/>
            </a:solidFill>
            <a:prstDash val="solid"/>
          </a:ln>
        </p:spPr>
      </p:sp>
      <p:sp>
        <p:nvSpPr>
          <p:cNvPr id="190" name="svg_text_190">
            <a:extLst xmlns:a="http://schemas.openxmlformats.org/drawingml/2006/main">
              <a:ext uri="{FF2B5EF4-FFF2-40B4-BE49-F238E27FC236}">
                <a16:creationId xmlns:a16="http://schemas.microsoft.com/office/drawing/2014/main" id="{5D33733D-5A82-4140-A73F-B819101C6099}"/>
              </a:ext>
            </a:extLst>
          </p:cNvPr>
          <p:cNvSpPr>
            <a:spLocks xmlns:a="http://schemas.openxmlformats.org/drawingml/2006/main" noGrp="1"/>
          </p:cNvSpPr>
          <p:nvPr/>
        </p:nvSpPr>
        <p:spPr>
          <a:xfrm xmlns:a="http://schemas.openxmlformats.org/drawingml/2006/main">
            <a:off x="689400" y="8636664"/>
            <a:ext cx="133582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Real Speech x</a:t>
            </a:r>
          </a:p>
        </p:txBody>
      </p:sp>
      <p:sp>
        <p:nvSpPr>
          <p:cNvPr id="191" name="svg_text_191">
            <a:extLst xmlns:a="http://schemas.openxmlformats.org/drawingml/2006/main">
              <a:ext uri="{FF2B5EF4-FFF2-40B4-BE49-F238E27FC236}">
                <a16:creationId xmlns:a16="http://schemas.microsoft.com/office/drawing/2014/main" id="{87F777A4-86A5-42BE-AA63-83AD997165EF}"/>
              </a:ext>
            </a:extLst>
          </p:cNvPr>
          <p:cNvSpPr>
            <a:spLocks xmlns:a="http://schemas.openxmlformats.org/drawingml/2006/main" noGrp="1"/>
          </p:cNvSpPr>
          <p:nvPr/>
        </p:nvSpPr>
        <p:spPr>
          <a:xfrm xmlns:a="http://schemas.openxmlformats.org/drawingml/2006/main">
            <a:off x="689400" y="8905246"/>
            <a:ext cx="133582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training reference</a:t>
            </a:r>
          </a:p>
        </p:txBody>
      </p:sp>
      <p:sp>
        <p:nvSpPr>
          <p:cNvPr id="192" name="svg_rect_192">
            <a:extLst xmlns:a="http://schemas.openxmlformats.org/drawingml/2006/main">
              <a:ext uri="{FF2B5EF4-FFF2-40B4-BE49-F238E27FC236}">
                <a16:creationId xmlns:a16="http://schemas.microsoft.com/office/drawing/2014/main" id="{7258AA24-9B55-43E9-9E2D-0A20496C216F}"/>
              </a:ext>
            </a:extLst>
          </p:cNvPr>
          <p:cNvSpPr>
            <a:spLocks xmlns:a="http://schemas.openxmlformats.org/drawingml/2006/main" noGrp="1"/>
          </p:cNvSpPr>
          <p:nvPr/>
        </p:nvSpPr>
        <p:spPr>
          <a:xfrm xmlns:a="http://schemas.openxmlformats.org/drawingml/2006/main">
            <a:off x="2717483" y="8555355"/>
            <a:ext cx="2327910" cy="891540"/>
          </a:xfrm>
          <a:prstGeom xmlns:a="http://schemas.openxmlformats.org/drawingml/2006/main" prst="roundRect">
            <a:avLst>
              <a:gd name="adj" fmla="val 8547"/>
            </a:avLst>
          </a:prstGeom>
          <a:solidFill xmlns:a="http://schemas.openxmlformats.org/drawingml/2006/main">
            <a:srgbClr val="EDF6FF"/>
          </a:solidFill>
          <a:ln xmlns:a="http://schemas.openxmlformats.org/drawingml/2006/main" w="24765">
            <a:solidFill>
              <a:srgbClr val="408FD2"/>
            </a:solidFill>
            <a:prstDash val="solid"/>
          </a:ln>
        </p:spPr>
      </p:sp>
      <p:sp>
        <p:nvSpPr>
          <p:cNvPr id="193" name="svg_text_193">
            <a:extLst xmlns:a="http://schemas.openxmlformats.org/drawingml/2006/main">
              <a:ext uri="{FF2B5EF4-FFF2-40B4-BE49-F238E27FC236}">
                <a16:creationId xmlns:a16="http://schemas.microsoft.com/office/drawing/2014/main" id="{558BF3D8-B8AF-4EBB-913B-F39FAF5E5CEC}"/>
              </a:ext>
            </a:extLst>
          </p:cNvPr>
          <p:cNvSpPr>
            <a:spLocks xmlns:a="http://schemas.openxmlformats.org/drawingml/2006/main" noGrp="1"/>
          </p:cNvSpPr>
          <p:nvPr/>
        </p:nvSpPr>
        <p:spPr>
          <a:xfrm xmlns:a="http://schemas.openxmlformats.org/drawingml/2006/main">
            <a:off x="2798959" y="8655714"/>
            <a:ext cx="2164956"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2758"/>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SCIT-Speech Generator G</a:t>
            </a:r>
          </a:p>
        </p:txBody>
      </p:sp>
      <p:sp>
        <p:nvSpPr>
          <p:cNvPr id="194" name="svg_text_194">
            <a:extLst xmlns:a="http://schemas.openxmlformats.org/drawingml/2006/main">
              <a:ext uri="{FF2B5EF4-FFF2-40B4-BE49-F238E27FC236}">
                <a16:creationId xmlns:a16="http://schemas.microsoft.com/office/drawing/2014/main" id="{4EE12951-C019-4FB8-A54E-8637705DDB9A}"/>
              </a:ext>
            </a:extLst>
          </p:cNvPr>
          <p:cNvSpPr>
            <a:spLocks xmlns:a="http://schemas.openxmlformats.org/drawingml/2006/main" noGrp="1"/>
          </p:cNvSpPr>
          <p:nvPr/>
        </p:nvSpPr>
        <p:spPr>
          <a:xfrm xmlns:a="http://schemas.openxmlformats.org/drawingml/2006/main">
            <a:off x="2798959" y="8933821"/>
            <a:ext cx="216495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Encoder + RVQ + Decoder</a:t>
            </a:r>
          </a:p>
        </p:txBody>
      </p:sp>
      <p:sp>
        <p:nvSpPr>
          <p:cNvPr id="195" name="svg_text_195">
            <a:extLst xmlns:a="http://schemas.openxmlformats.org/drawingml/2006/main">
              <a:ext uri="{FF2B5EF4-FFF2-40B4-BE49-F238E27FC236}">
                <a16:creationId xmlns:a16="http://schemas.microsoft.com/office/drawing/2014/main" id="{BB725345-17A9-4860-9C01-DAF7250BE731}"/>
              </a:ext>
            </a:extLst>
          </p:cNvPr>
          <p:cNvSpPr>
            <a:spLocks xmlns:a="http://schemas.openxmlformats.org/drawingml/2006/main" noGrp="1"/>
          </p:cNvSpPr>
          <p:nvPr/>
        </p:nvSpPr>
        <p:spPr>
          <a:xfrm xmlns:a="http://schemas.openxmlformats.org/drawingml/2006/main">
            <a:off x="2798959" y="9152896"/>
            <a:ext cx="216495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5925"/>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produces reconstructed speech x̂</a:t>
            </a:r>
          </a:p>
        </p:txBody>
      </p:sp>
      <p:sp>
        <p:nvSpPr>
          <p:cNvPr id="196" name="svg_path_196">
            <a:extLst xmlns:a="http://schemas.openxmlformats.org/drawingml/2006/main">
              <a:ext uri="{FF2B5EF4-FFF2-40B4-BE49-F238E27FC236}">
                <a16:creationId xmlns:a16="http://schemas.microsoft.com/office/drawing/2014/main" id="{E1682B39-2449-4503-9DD0-323D530F5B7D}"/>
              </a:ext>
            </a:extLst>
          </p:cNvPr>
          <p:cNvSpPr>
            <a:spLocks xmlns:a="http://schemas.openxmlformats.org/drawingml/2006/main" noGrp="1"/>
          </p:cNvSpPr>
          <p:nvPr/>
        </p:nvSpPr>
        <p:spPr>
          <a:xfrm xmlns:a="http://schemas.openxmlformats.org/drawingml/2006/main">
            <a:off x="2047875" y="8905875"/>
            <a:ext cx="714375" cy="9525"/>
          </a:xfrm>
          <a:custGeom xmlns:a="http://schemas.openxmlformats.org/drawingml/2006/main">
            <a:pathLst>
              <a:path w="714375" h="9525">
                <a:moveTo>
                  <a:pt x="0" y="0"/>
                </a:moveTo>
                <a:lnTo>
                  <a:pt x="714375" y="0"/>
                </a:lnTo>
              </a:path>
            </a:pathLst>
          </a:custGeom>
          <a:noFill xmlns:a="http://schemas.openxmlformats.org/drawingml/2006/main"/>
          <a:ln xmlns:a="http://schemas.openxmlformats.org/drawingml/2006/main" w="30956">
            <a:solidFill>
              <a:srgbClr val="2386D8"/>
            </a:solidFill>
            <a:prstDash val="solid"/>
          </a:ln>
        </p:spPr>
      </p:sp>
      <p:sp>
        <p:nvSpPr>
          <p:cNvPr id="197" name="svg_arrowhead_197">
            <a:extLst xmlns:a="http://schemas.openxmlformats.org/drawingml/2006/main">
              <a:ext uri="{FF2B5EF4-FFF2-40B4-BE49-F238E27FC236}">
                <a16:creationId xmlns:a16="http://schemas.microsoft.com/office/drawing/2014/main" id="{BB37D38A-3ADF-4EE2-A68F-F60FF62FD63F}"/>
              </a:ext>
            </a:extLst>
          </p:cNvPr>
          <p:cNvSpPr>
            <a:spLocks xmlns:a="http://schemas.openxmlformats.org/drawingml/2006/main" noGrp="1"/>
          </p:cNvSpPr>
          <p:nvPr/>
        </p:nvSpPr>
        <p:spPr>
          <a:xfrm xmlns:a="http://schemas.openxmlformats.org/drawingml/2006/main">
            <a:off x="2628900" y="88392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98" name="svg_rect_198">
            <a:extLst xmlns:a="http://schemas.openxmlformats.org/drawingml/2006/main">
              <a:ext uri="{FF2B5EF4-FFF2-40B4-BE49-F238E27FC236}">
                <a16:creationId xmlns:a16="http://schemas.microsoft.com/office/drawing/2014/main" id="{F7E95F04-950D-4B8D-B8D5-11FED2B40793}"/>
              </a:ext>
            </a:extLst>
          </p:cNvPr>
          <p:cNvSpPr>
            <a:spLocks xmlns:a="http://schemas.openxmlformats.org/drawingml/2006/main" noGrp="1"/>
          </p:cNvSpPr>
          <p:nvPr/>
        </p:nvSpPr>
        <p:spPr>
          <a:xfrm xmlns:a="http://schemas.openxmlformats.org/drawingml/2006/main">
            <a:off x="2345055" y="7605141"/>
            <a:ext cx="1882140" cy="772668"/>
          </a:xfrm>
          <a:prstGeom xmlns:a="http://schemas.openxmlformats.org/drawingml/2006/main" prst="roundRect">
            <a:avLst>
              <a:gd name="adj" fmla="val 9862"/>
            </a:avLst>
          </a:prstGeom>
          <a:solidFill xmlns:a="http://schemas.openxmlformats.org/drawingml/2006/main">
            <a:srgbClr val="EDF6FF"/>
          </a:solidFill>
          <a:ln xmlns:a="http://schemas.openxmlformats.org/drawingml/2006/main" w="22289">
            <a:solidFill>
              <a:srgbClr val="527CA3"/>
            </a:solidFill>
            <a:prstDash val="dash"/>
          </a:ln>
        </p:spPr>
      </p:sp>
      <p:sp>
        <p:nvSpPr>
          <p:cNvPr id="199" name="svg_text_199">
            <a:extLst xmlns:a="http://schemas.openxmlformats.org/drawingml/2006/main">
              <a:ext uri="{FF2B5EF4-FFF2-40B4-BE49-F238E27FC236}">
                <a16:creationId xmlns:a16="http://schemas.microsoft.com/office/drawing/2014/main" id="{642DC0B9-FA2A-4394-85A5-ED93B61D492C}"/>
              </a:ext>
            </a:extLst>
          </p:cNvPr>
          <p:cNvSpPr>
            <a:spLocks xmlns:a="http://schemas.openxmlformats.org/drawingml/2006/main" noGrp="1"/>
          </p:cNvSpPr>
          <p:nvPr/>
        </p:nvSpPr>
        <p:spPr>
          <a:xfrm xmlns:a="http://schemas.openxmlformats.org/drawingml/2006/main">
            <a:off x="2410930" y="7665114"/>
            <a:ext cx="175039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Frozen HuBERT</a:t>
            </a:r>
          </a:p>
        </p:txBody>
      </p:sp>
      <p:sp>
        <p:nvSpPr>
          <p:cNvPr id="200" name="svg_text_200">
            <a:extLst xmlns:a="http://schemas.openxmlformats.org/drawingml/2006/main">
              <a:ext uri="{FF2B5EF4-FFF2-40B4-BE49-F238E27FC236}">
                <a16:creationId xmlns:a16="http://schemas.microsoft.com/office/drawing/2014/main" id="{35C7970F-F68D-413D-A03C-2CEA71483C8B}"/>
              </a:ext>
            </a:extLst>
          </p:cNvPr>
          <p:cNvSpPr>
            <a:spLocks xmlns:a="http://schemas.openxmlformats.org/drawingml/2006/main" noGrp="1"/>
          </p:cNvSpPr>
          <p:nvPr/>
        </p:nvSpPr>
        <p:spPr>
          <a:xfrm xmlns:a="http://schemas.openxmlformats.org/drawingml/2006/main">
            <a:off x="2410930" y="7884189"/>
            <a:ext cx="175039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Teacher</a:t>
            </a:r>
          </a:p>
        </p:txBody>
      </p:sp>
      <p:sp>
        <p:nvSpPr>
          <p:cNvPr id="201" name="svg_text_201">
            <a:extLst xmlns:a="http://schemas.openxmlformats.org/drawingml/2006/main">
              <a:ext uri="{FF2B5EF4-FFF2-40B4-BE49-F238E27FC236}">
                <a16:creationId xmlns:a16="http://schemas.microsoft.com/office/drawing/2014/main" id="{3EBADBA2-95B1-4ACE-9C12-CEFE60F97581}"/>
              </a:ext>
            </a:extLst>
          </p:cNvPr>
          <p:cNvSpPr>
            <a:spLocks xmlns:a="http://schemas.openxmlformats.org/drawingml/2006/main" noGrp="1"/>
          </p:cNvSpPr>
          <p:nvPr/>
        </p:nvSpPr>
        <p:spPr>
          <a:xfrm xmlns:a="http://schemas.openxmlformats.org/drawingml/2006/main">
            <a:off x="2410930" y="8120634"/>
            <a:ext cx="17503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teacher feature</a:t>
            </a:r>
          </a:p>
        </p:txBody>
      </p:sp>
      <p:sp>
        <p:nvSpPr>
          <p:cNvPr id="202" name="svg_path_202">
            <a:extLst xmlns:a="http://schemas.openxmlformats.org/drawingml/2006/main">
              <a:ext uri="{FF2B5EF4-FFF2-40B4-BE49-F238E27FC236}">
                <a16:creationId xmlns:a16="http://schemas.microsoft.com/office/drawing/2014/main" id="{683D6C77-0338-4237-AF00-709A354AAC01}"/>
              </a:ext>
            </a:extLst>
          </p:cNvPr>
          <p:cNvSpPr>
            <a:spLocks xmlns:a="http://schemas.openxmlformats.org/drawingml/2006/main" noGrp="1"/>
          </p:cNvSpPr>
          <p:nvPr/>
        </p:nvSpPr>
        <p:spPr>
          <a:xfrm xmlns:a="http://schemas.openxmlformats.org/drawingml/2006/main">
            <a:off x="1352550" y="7991475"/>
            <a:ext cx="1028700" cy="581025"/>
          </a:xfrm>
          <a:custGeom xmlns:a="http://schemas.openxmlformats.org/drawingml/2006/main">
            <a:pathLst>
              <a:path w="1028700" h="581025">
                <a:moveTo>
                  <a:pt x="0" y="581025"/>
                </a:moveTo>
                <a:lnTo>
                  <a:pt x="0" y="0"/>
                </a:lnTo>
                <a:lnTo>
                  <a:pt x="1028700" y="0"/>
                </a:lnTo>
              </a:path>
            </a:pathLst>
          </a:custGeom>
          <a:noFill xmlns:a="http://schemas.openxmlformats.org/drawingml/2006/main"/>
          <a:ln xmlns:a="http://schemas.openxmlformats.org/drawingml/2006/main" w="24765">
            <a:solidFill>
              <a:srgbClr val="3D6285"/>
            </a:solidFill>
            <a:prstDash val="dash"/>
          </a:ln>
        </p:spPr>
      </p:sp>
      <p:sp>
        <p:nvSpPr>
          <p:cNvPr id="203" name="svg_arrowhead_203">
            <a:extLst xmlns:a="http://schemas.openxmlformats.org/drawingml/2006/main">
              <a:ext uri="{FF2B5EF4-FFF2-40B4-BE49-F238E27FC236}">
                <a16:creationId xmlns:a16="http://schemas.microsoft.com/office/drawing/2014/main" id="{C88F6F4C-FA53-41EF-917A-0648042100E1}"/>
              </a:ext>
            </a:extLst>
          </p:cNvPr>
          <p:cNvSpPr>
            <a:spLocks xmlns:a="http://schemas.openxmlformats.org/drawingml/2006/main" noGrp="1"/>
          </p:cNvSpPr>
          <p:nvPr/>
        </p:nvSpPr>
        <p:spPr>
          <a:xfrm xmlns:a="http://schemas.openxmlformats.org/drawingml/2006/main">
            <a:off x="2247900" y="79248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04" name="svg_path_204">
            <a:extLst xmlns:a="http://schemas.openxmlformats.org/drawingml/2006/main">
              <a:ext uri="{FF2B5EF4-FFF2-40B4-BE49-F238E27FC236}">
                <a16:creationId xmlns:a16="http://schemas.microsoft.com/office/drawing/2014/main" id="{F44C73AA-A7EC-43ED-AEE3-503867C7F01E}"/>
              </a:ext>
            </a:extLst>
          </p:cNvPr>
          <p:cNvSpPr>
            <a:spLocks xmlns:a="http://schemas.openxmlformats.org/drawingml/2006/main" noGrp="1"/>
          </p:cNvSpPr>
          <p:nvPr/>
        </p:nvSpPr>
        <p:spPr>
          <a:xfrm xmlns:a="http://schemas.openxmlformats.org/drawingml/2006/main">
            <a:off x="4191000" y="7991475"/>
            <a:ext cx="476250" cy="581025"/>
          </a:xfrm>
          <a:custGeom xmlns:a="http://schemas.openxmlformats.org/drawingml/2006/main">
            <a:pathLst>
              <a:path w="476250" h="581025">
                <a:moveTo>
                  <a:pt x="0" y="0"/>
                </a:moveTo>
                <a:lnTo>
                  <a:pt x="476250" y="0"/>
                </a:lnTo>
                <a:lnTo>
                  <a:pt x="476250" y="581025"/>
                </a:lnTo>
              </a:path>
            </a:pathLst>
          </a:custGeom>
          <a:noFill xmlns:a="http://schemas.openxmlformats.org/drawingml/2006/main"/>
          <a:ln xmlns:a="http://schemas.openxmlformats.org/drawingml/2006/main" w="24765">
            <a:solidFill>
              <a:srgbClr val="3D6285"/>
            </a:solidFill>
            <a:prstDash val="dash"/>
          </a:ln>
        </p:spPr>
      </p:sp>
      <p:sp>
        <p:nvSpPr>
          <p:cNvPr id="205" name="svg_arrowhead_205">
            <a:extLst xmlns:a="http://schemas.openxmlformats.org/drawingml/2006/main">
              <a:ext uri="{FF2B5EF4-FFF2-40B4-BE49-F238E27FC236}">
                <a16:creationId xmlns:a16="http://schemas.microsoft.com/office/drawing/2014/main" id="{80CCD69C-CD40-4F60-BAD4-E0C7E04B5DBB}"/>
              </a:ext>
            </a:extLst>
          </p:cNvPr>
          <p:cNvSpPr>
            <a:spLocks xmlns:a="http://schemas.openxmlformats.org/drawingml/2006/main" noGrp="1"/>
          </p:cNvSpPr>
          <p:nvPr/>
        </p:nvSpPr>
        <p:spPr>
          <a:xfrm xmlns:a="http://schemas.openxmlformats.org/drawingml/2006/main">
            <a:off x="4600575" y="84391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06" name="svg_text_206">
            <a:extLst xmlns:a="http://schemas.openxmlformats.org/drawingml/2006/main">
              <a:ext uri="{FF2B5EF4-FFF2-40B4-BE49-F238E27FC236}">
                <a16:creationId xmlns:a16="http://schemas.microsoft.com/office/drawing/2014/main" id="{8F406B7A-73D8-485D-A82B-EE3B8A571E31}"/>
              </a:ext>
            </a:extLst>
          </p:cNvPr>
          <p:cNvSpPr>
            <a:spLocks xmlns:a="http://schemas.openxmlformats.org/drawingml/2006/main" noGrp="1"/>
          </p:cNvSpPr>
          <p:nvPr/>
        </p:nvSpPr>
        <p:spPr>
          <a:xfrm xmlns:a="http://schemas.openxmlformats.org/drawingml/2006/main">
            <a:off x="4047150" y="7667534"/>
            <a:ext cx="2097451"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Semantic Distillation</a:t>
            </a:r>
          </a:p>
        </p:txBody>
      </p:sp>
      <p:sp>
        <p:nvSpPr>
          <p:cNvPr id="207" name="svg_text_207">
            <a:extLst xmlns:a="http://schemas.openxmlformats.org/drawingml/2006/main">
              <a:ext uri="{FF2B5EF4-FFF2-40B4-BE49-F238E27FC236}">
                <a16:creationId xmlns:a16="http://schemas.microsoft.com/office/drawing/2014/main" id="{E1C4F0F7-CDA6-425A-B749-685B36645C07}"/>
              </a:ext>
            </a:extLst>
          </p:cNvPr>
          <p:cNvSpPr>
            <a:spLocks xmlns:a="http://schemas.openxmlformats.org/drawingml/2006/main" noGrp="1"/>
          </p:cNvSpPr>
          <p:nvPr/>
        </p:nvSpPr>
        <p:spPr>
          <a:xfrm xmlns:a="http://schemas.openxmlformats.org/drawingml/2006/main">
            <a:off x="4780864" y="7838984"/>
            <a:ext cx="630022"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to Q1</a:t>
            </a:r>
          </a:p>
        </p:txBody>
      </p:sp>
      <p:sp>
        <p:nvSpPr>
          <p:cNvPr id="208" name="svg_rect_208">
            <a:extLst xmlns:a="http://schemas.openxmlformats.org/drawingml/2006/main">
              <a:ext uri="{FF2B5EF4-FFF2-40B4-BE49-F238E27FC236}">
                <a16:creationId xmlns:a16="http://schemas.microsoft.com/office/drawing/2014/main" id="{9A5F3D59-C30E-4728-B5AF-A0DC9F1E0DBE}"/>
              </a:ext>
            </a:extLst>
          </p:cNvPr>
          <p:cNvSpPr>
            <a:spLocks xmlns:a="http://schemas.openxmlformats.org/drawingml/2006/main" noGrp="1"/>
          </p:cNvSpPr>
          <p:nvPr/>
        </p:nvSpPr>
        <p:spPr>
          <a:xfrm xmlns:a="http://schemas.openxmlformats.org/drawingml/2006/main">
            <a:off x="5446395" y="8559165"/>
            <a:ext cx="1584960" cy="693420"/>
          </a:xfrm>
          <a:prstGeom xmlns:a="http://schemas.openxmlformats.org/drawingml/2006/main" prst="roundRect">
            <a:avLst>
              <a:gd name="adj" fmla="val 10989"/>
            </a:avLst>
          </a:prstGeom>
          <a:solidFill xmlns:a="http://schemas.openxmlformats.org/drawingml/2006/main">
            <a:srgbClr val="EDF6FF"/>
          </a:solidFill>
          <a:ln xmlns:a="http://schemas.openxmlformats.org/drawingml/2006/main" w="24765">
            <a:solidFill>
              <a:srgbClr val="408FD2"/>
            </a:solidFill>
            <a:prstDash val="solid"/>
          </a:ln>
        </p:spPr>
      </p:sp>
      <p:sp>
        <p:nvSpPr>
          <p:cNvPr id="209" name="svg_text_209">
            <a:extLst xmlns:a="http://schemas.openxmlformats.org/drawingml/2006/main">
              <a:ext uri="{FF2B5EF4-FFF2-40B4-BE49-F238E27FC236}">
                <a16:creationId xmlns:a16="http://schemas.microsoft.com/office/drawing/2014/main" id="{4D7F6A3C-9DFA-47D5-8D27-3BB2653067DD}"/>
              </a:ext>
            </a:extLst>
          </p:cNvPr>
          <p:cNvSpPr>
            <a:spLocks xmlns:a="http://schemas.openxmlformats.org/drawingml/2006/main" noGrp="1"/>
          </p:cNvSpPr>
          <p:nvPr/>
        </p:nvSpPr>
        <p:spPr>
          <a:xfrm xmlns:a="http://schemas.openxmlformats.org/drawingml/2006/main">
            <a:off x="5501869" y="8636664"/>
            <a:ext cx="147401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Reconstructed</a:t>
            </a:r>
          </a:p>
        </p:txBody>
      </p:sp>
      <p:sp>
        <p:nvSpPr>
          <p:cNvPr id="210" name="svg_text_210">
            <a:extLst xmlns:a="http://schemas.openxmlformats.org/drawingml/2006/main">
              <a:ext uri="{FF2B5EF4-FFF2-40B4-BE49-F238E27FC236}">
                <a16:creationId xmlns:a16="http://schemas.microsoft.com/office/drawing/2014/main" id="{97A02DA0-A93C-4261-9E70-853EB7917B75}"/>
              </a:ext>
            </a:extLst>
          </p:cNvPr>
          <p:cNvSpPr>
            <a:spLocks xmlns:a="http://schemas.openxmlformats.org/drawingml/2006/main" noGrp="1"/>
          </p:cNvSpPr>
          <p:nvPr/>
        </p:nvSpPr>
        <p:spPr>
          <a:xfrm xmlns:a="http://schemas.openxmlformats.org/drawingml/2006/main">
            <a:off x="5501869" y="8865264"/>
            <a:ext cx="147401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Speech x̂</a:t>
            </a:r>
          </a:p>
        </p:txBody>
      </p:sp>
      <p:sp>
        <p:nvSpPr>
          <p:cNvPr id="211" name="svg_path_211">
            <a:extLst xmlns:a="http://schemas.openxmlformats.org/drawingml/2006/main">
              <a:ext uri="{FF2B5EF4-FFF2-40B4-BE49-F238E27FC236}">
                <a16:creationId xmlns:a16="http://schemas.microsoft.com/office/drawing/2014/main" id="{A333CB5A-1B28-4810-92FA-43E315A93E23}"/>
              </a:ext>
            </a:extLst>
          </p:cNvPr>
          <p:cNvSpPr>
            <a:spLocks xmlns:a="http://schemas.openxmlformats.org/drawingml/2006/main" noGrp="1"/>
          </p:cNvSpPr>
          <p:nvPr/>
        </p:nvSpPr>
        <p:spPr>
          <a:xfrm xmlns:a="http://schemas.openxmlformats.org/drawingml/2006/main">
            <a:off x="5000625" y="890587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30956">
            <a:solidFill>
              <a:srgbClr val="2386D8"/>
            </a:solidFill>
            <a:prstDash val="solid"/>
          </a:ln>
        </p:spPr>
      </p:sp>
      <p:sp>
        <p:nvSpPr>
          <p:cNvPr id="212" name="svg_arrowhead_212">
            <a:extLst xmlns:a="http://schemas.openxmlformats.org/drawingml/2006/main">
              <a:ext uri="{FF2B5EF4-FFF2-40B4-BE49-F238E27FC236}">
                <a16:creationId xmlns:a16="http://schemas.microsoft.com/office/drawing/2014/main" id="{EE1E38CD-E41B-49D4-827A-1FA0025C52F4}"/>
              </a:ext>
            </a:extLst>
          </p:cNvPr>
          <p:cNvSpPr>
            <a:spLocks xmlns:a="http://schemas.openxmlformats.org/drawingml/2006/main" noGrp="1"/>
          </p:cNvSpPr>
          <p:nvPr/>
        </p:nvSpPr>
        <p:spPr>
          <a:xfrm xmlns:a="http://schemas.openxmlformats.org/drawingml/2006/main">
            <a:off x="5343525" y="88392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13" name="svg_rect_213">
            <a:extLst xmlns:a="http://schemas.openxmlformats.org/drawingml/2006/main">
              <a:ext uri="{FF2B5EF4-FFF2-40B4-BE49-F238E27FC236}">
                <a16:creationId xmlns:a16="http://schemas.microsoft.com/office/drawing/2014/main" id="{61EE191D-B957-41DD-BEB3-CFAEFBA24ADD}"/>
              </a:ext>
            </a:extLst>
          </p:cNvPr>
          <p:cNvSpPr>
            <a:spLocks xmlns:a="http://schemas.openxmlformats.org/drawingml/2006/main" noGrp="1"/>
          </p:cNvSpPr>
          <p:nvPr/>
        </p:nvSpPr>
        <p:spPr>
          <a:xfrm xmlns:a="http://schemas.openxmlformats.org/drawingml/2006/main">
            <a:off x="5445443" y="9882188"/>
            <a:ext cx="1634490" cy="1238250"/>
          </a:xfrm>
          <a:prstGeom xmlns:a="http://schemas.openxmlformats.org/drawingml/2006/main" prst="roundRect">
            <a:avLst>
              <a:gd name="adj" fmla="val 6154"/>
            </a:avLst>
          </a:prstGeom>
          <a:solidFill xmlns:a="http://schemas.openxmlformats.org/drawingml/2006/main">
            <a:srgbClr val="EDF6FF"/>
          </a:solidFill>
          <a:ln xmlns:a="http://schemas.openxmlformats.org/drawingml/2006/main" w="24765">
            <a:solidFill>
              <a:srgbClr val="408FD2"/>
            </a:solidFill>
            <a:prstDash val="solid"/>
          </a:ln>
        </p:spPr>
      </p:sp>
      <p:sp>
        <p:nvSpPr>
          <p:cNvPr id="214" name="svg_text_214">
            <a:extLst xmlns:a="http://schemas.openxmlformats.org/drawingml/2006/main">
              <a:ext uri="{FF2B5EF4-FFF2-40B4-BE49-F238E27FC236}">
                <a16:creationId xmlns:a16="http://schemas.microsoft.com/office/drawing/2014/main" id="{B4C4943C-0AFA-4F08-9F52-A8A417440450}"/>
              </a:ext>
            </a:extLst>
          </p:cNvPr>
          <p:cNvSpPr>
            <a:spLocks xmlns:a="http://schemas.openxmlformats.org/drawingml/2006/main" noGrp="1"/>
          </p:cNvSpPr>
          <p:nvPr/>
        </p:nvSpPr>
        <p:spPr>
          <a:xfrm xmlns:a="http://schemas.openxmlformats.org/drawingml/2006/main">
            <a:off x="5502650" y="9989214"/>
            <a:ext cx="1520076"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Multi-Scale GAN</a:t>
            </a:r>
          </a:p>
        </p:txBody>
      </p:sp>
      <p:sp>
        <p:nvSpPr>
          <p:cNvPr id="215" name="svg_text_215">
            <a:extLst xmlns:a="http://schemas.openxmlformats.org/drawingml/2006/main">
              <a:ext uri="{FF2B5EF4-FFF2-40B4-BE49-F238E27FC236}">
                <a16:creationId xmlns:a16="http://schemas.microsoft.com/office/drawing/2014/main" id="{9BA46F5E-2A60-42D0-81D3-1941AC09E954}"/>
              </a:ext>
            </a:extLst>
          </p:cNvPr>
          <p:cNvSpPr>
            <a:spLocks xmlns:a="http://schemas.openxmlformats.org/drawingml/2006/main" noGrp="1"/>
          </p:cNvSpPr>
          <p:nvPr/>
        </p:nvSpPr>
        <p:spPr>
          <a:xfrm xmlns:a="http://schemas.openxmlformats.org/drawingml/2006/main">
            <a:off x="5502650" y="10227339"/>
            <a:ext cx="1520076"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Discriminators</a:t>
            </a:r>
          </a:p>
        </p:txBody>
      </p:sp>
      <p:sp>
        <p:nvSpPr>
          <p:cNvPr id="216" name="svg_text_216">
            <a:extLst xmlns:a="http://schemas.openxmlformats.org/drawingml/2006/main">
              <a:ext uri="{FF2B5EF4-FFF2-40B4-BE49-F238E27FC236}">
                <a16:creationId xmlns:a16="http://schemas.microsoft.com/office/drawing/2014/main" id="{CA40969E-089D-467D-925D-0CD75A0FEA9D}"/>
              </a:ext>
            </a:extLst>
          </p:cNvPr>
          <p:cNvSpPr>
            <a:spLocks xmlns:a="http://schemas.openxmlformats.org/drawingml/2006/main" noGrp="1"/>
          </p:cNvSpPr>
          <p:nvPr/>
        </p:nvSpPr>
        <p:spPr>
          <a:xfrm xmlns:a="http://schemas.openxmlformats.org/drawingml/2006/main">
            <a:off x="5502650" y="10524496"/>
            <a:ext cx="152007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waveform · periodic</a:t>
            </a:r>
          </a:p>
        </p:txBody>
      </p:sp>
      <p:sp>
        <p:nvSpPr>
          <p:cNvPr id="217" name="svg_text_217">
            <a:extLst xmlns:a="http://schemas.openxmlformats.org/drawingml/2006/main">
              <a:ext uri="{FF2B5EF4-FFF2-40B4-BE49-F238E27FC236}">
                <a16:creationId xmlns:a16="http://schemas.microsoft.com/office/drawing/2014/main" id="{B16517B0-5F2E-4633-B806-D95A862952AE}"/>
              </a:ext>
            </a:extLst>
          </p:cNvPr>
          <p:cNvSpPr>
            <a:spLocks xmlns:a="http://schemas.openxmlformats.org/drawingml/2006/main" noGrp="1"/>
          </p:cNvSpPr>
          <p:nvPr/>
        </p:nvSpPr>
        <p:spPr>
          <a:xfrm xmlns:a="http://schemas.openxmlformats.org/drawingml/2006/main">
            <a:off x="5502650" y="10743571"/>
            <a:ext cx="152007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time-frequency</a:t>
            </a:r>
          </a:p>
        </p:txBody>
      </p:sp>
      <p:sp>
        <p:nvSpPr>
          <p:cNvPr id="218" name="svg_path_218">
            <a:extLst xmlns:a="http://schemas.openxmlformats.org/drawingml/2006/main">
              <a:ext uri="{FF2B5EF4-FFF2-40B4-BE49-F238E27FC236}">
                <a16:creationId xmlns:a16="http://schemas.microsoft.com/office/drawing/2014/main" id="{B14C187C-4394-4381-9FFA-9D28F80AF4AB}"/>
              </a:ext>
            </a:extLst>
          </p:cNvPr>
          <p:cNvSpPr>
            <a:spLocks xmlns:a="http://schemas.openxmlformats.org/drawingml/2006/main" noGrp="1"/>
          </p:cNvSpPr>
          <p:nvPr/>
        </p:nvSpPr>
        <p:spPr>
          <a:xfrm xmlns:a="http://schemas.openxmlformats.org/drawingml/2006/main">
            <a:off x="1352550" y="9239250"/>
            <a:ext cx="4124325" cy="1238250"/>
          </a:xfrm>
          <a:custGeom xmlns:a="http://schemas.openxmlformats.org/drawingml/2006/main">
            <a:pathLst>
              <a:path w="4124325" h="1238250">
                <a:moveTo>
                  <a:pt x="0" y="0"/>
                </a:moveTo>
                <a:lnTo>
                  <a:pt x="0" y="1238250"/>
                </a:lnTo>
                <a:lnTo>
                  <a:pt x="4124325" y="1238250"/>
                </a:lnTo>
              </a:path>
            </a:pathLst>
          </a:custGeom>
          <a:noFill xmlns:a="http://schemas.openxmlformats.org/drawingml/2006/main"/>
          <a:ln xmlns:a="http://schemas.openxmlformats.org/drawingml/2006/main" w="24765">
            <a:solidFill>
              <a:srgbClr val="2386D8"/>
            </a:solidFill>
            <a:prstDash val="solid"/>
          </a:ln>
        </p:spPr>
      </p:sp>
      <p:sp>
        <p:nvSpPr>
          <p:cNvPr id="219" name="svg_arrowhead_219">
            <a:extLst xmlns:a="http://schemas.openxmlformats.org/drawingml/2006/main">
              <a:ext uri="{FF2B5EF4-FFF2-40B4-BE49-F238E27FC236}">
                <a16:creationId xmlns:a16="http://schemas.microsoft.com/office/drawing/2014/main" id="{06ED6089-DF2E-4CDA-A122-1C5E19578595}"/>
              </a:ext>
            </a:extLst>
          </p:cNvPr>
          <p:cNvSpPr>
            <a:spLocks xmlns:a="http://schemas.openxmlformats.org/drawingml/2006/main" noGrp="1"/>
          </p:cNvSpPr>
          <p:nvPr/>
        </p:nvSpPr>
        <p:spPr>
          <a:xfrm xmlns:a="http://schemas.openxmlformats.org/drawingml/2006/main">
            <a:off x="5343525" y="1041082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20" name="svg_text_220">
            <a:extLst xmlns:a="http://schemas.openxmlformats.org/drawingml/2006/main">
              <a:ext uri="{FF2B5EF4-FFF2-40B4-BE49-F238E27FC236}">
                <a16:creationId xmlns:a16="http://schemas.microsoft.com/office/drawing/2014/main" id="{FE57D3D7-7E45-41ED-B981-7D7DE3AE82FD}"/>
              </a:ext>
            </a:extLst>
          </p:cNvPr>
          <p:cNvSpPr>
            <a:spLocks xmlns:a="http://schemas.openxmlformats.org/drawingml/2006/main" noGrp="1"/>
          </p:cNvSpPr>
          <p:nvPr/>
        </p:nvSpPr>
        <p:spPr>
          <a:xfrm xmlns:a="http://schemas.openxmlformats.org/drawingml/2006/main">
            <a:off x="2601811" y="10191121"/>
            <a:ext cx="79712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Real x</a:t>
            </a:r>
          </a:p>
        </p:txBody>
      </p:sp>
      <p:sp>
        <p:nvSpPr>
          <p:cNvPr id="221" name="svg_path_221">
            <a:extLst xmlns:a="http://schemas.openxmlformats.org/drawingml/2006/main">
              <a:ext uri="{FF2B5EF4-FFF2-40B4-BE49-F238E27FC236}">
                <a16:creationId xmlns:a16="http://schemas.microsoft.com/office/drawing/2014/main" id="{BA458A31-FF52-4A52-9F9A-095F1B931C14}"/>
              </a:ext>
            </a:extLst>
          </p:cNvPr>
          <p:cNvSpPr>
            <a:spLocks xmlns:a="http://schemas.openxmlformats.org/drawingml/2006/main" noGrp="1"/>
          </p:cNvSpPr>
          <p:nvPr/>
        </p:nvSpPr>
        <p:spPr>
          <a:xfrm xmlns:a="http://schemas.openxmlformats.org/drawingml/2006/main">
            <a:off x="6238875" y="9239250"/>
            <a:ext cx="9525" cy="666750"/>
          </a:xfrm>
          <a:custGeom xmlns:a="http://schemas.openxmlformats.org/drawingml/2006/main">
            <a:pathLst>
              <a:path w="9525" h="666750">
                <a:moveTo>
                  <a:pt x="0" y="0"/>
                </a:moveTo>
                <a:lnTo>
                  <a:pt x="0" y="666750"/>
                </a:lnTo>
              </a:path>
            </a:pathLst>
          </a:custGeom>
          <a:noFill xmlns:a="http://schemas.openxmlformats.org/drawingml/2006/main"/>
          <a:ln xmlns:a="http://schemas.openxmlformats.org/drawingml/2006/main" w="24765">
            <a:solidFill>
              <a:srgbClr val="2386D8"/>
            </a:solidFill>
            <a:prstDash val="solid"/>
          </a:ln>
        </p:spPr>
      </p:sp>
      <p:sp>
        <p:nvSpPr>
          <p:cNvPr id="222" name="svg_arrowhead_222">
            <a:extLst xmlns:a="http://schemas.openxmlformats.org/drawingml/2006/main">
              <a:ext uri="{FF2B5EF4-FFF2-40B4-BE49-F238E27FC236}">
                <a16:creationId xmlns:a16="http://schemas.microsoft.com/office/drawing/2014/main" id="{9A75E2B2-32E9-45EF-AA7E-9E10ED19399C}"/>
              </a:ext>
            </a:extLst>
          </p:cNvPr>
          <p:cNvSpPr>
            <a:spLocks xmlns:a="http://schemas.openxmlformats.org/drawingml/2006/main" noGrp="1"/>
          </p:cNvSpPr>
          <p:nvPr/>
        </p:nvSpPr>
        <p:spPr>
          <a:xfrm xmlns:a="http://schemas.openxmlformats.org/drawingml/2006/main">
            <a:off x="6172200" y="97726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23" name="svg_text_223">
            <a:extLst xmlns:a="http://schemas.openxmlformats.org/drawingml/2006/main">
              <a:ext uri="{FF2B5EF4-FFF2-40B4-BE49-F238E27FC236}">
                <a16:creationId xmlns:a16="http://schemas.microsoft.com/office/drawing/2014/main" id="{687A598A-AD06-4C5A-84D4-E47AD56806A0}"/>
              </a:ext>
            </a:extLst>
          </p:cNvPr>
          <p:cNvSpPr>
            <a:spLocks xmlns:a="http://schemas.openxmlformats.org/drawingml/2006/main" noGrp="1"/>
          </p:cNvSpPr>
          <p:nvPr/>
        </p:nvSpPr>
        <p:spPr>
          <a:xfrm xmlns:a="http://schemas.openxmlformats.org/drawingml/2006/main">
            <a:off x="6051347" y="9533896"/>
            <a:ext cx="142280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Generated x̂</a:t>
            </a:r>
          </a:p>
        </p:txBody>
      </p:sp>
      <p:sp>
        <p:nvSpPr>
          <p:cNvPr id="224" name="svg_rect_224">
            <a:extLst xmlns:a="http://schemas.openxmlformats.org/drawingml/2006/main">
              <a:ext uri="{FF2B5EF4-FFF2-40B4-BE49-F238E27FC236}">
                <a16:creationId xmlns:a16="http://schemas.microsoft.com/office/drawing/2014/main" id="{C49520B2-725E-4857-858E-17437D89B72A}"/>
              </a:ext>
            </a:extLst>
          </p:cNvPr>
          <p:cNvSpPr>
            <a:spLocks xmlns:a="http://schemas.openxmlformats.org/drawingml/2006/main" noGrp="1"/>
          </p:cNvSpPr>
          <p:nvPr/>
        </p:nvSpPr>
        <p:spPr>
          <a:xfrm xmlns:a="http://schemas.openxmlformats.org/drawingml/2006/main">
            <a:off x="7495223" y="9847326"/>
            <a:ext cx="1535430" cy="574548"/>
          </a:xfrm>
          <a:prstGeom xmlns:a="http://schemas.openxmlformats.org/drawingml/2006/main" prst="roundRect">
            <a:avLst>
              <a:gd name="adj" fmla="val 13263"/>
            </a:avLst>
          </a:prstGeom>
          <a:solidFill xmlns:a="http://schemas.openxmlformats.org/drawingml/2006/main">
            <a:srgbClr val="FFF3DC"/>
          </a:solidFill>
          <a:ln xmlns:a="http://schemas.openxmlformats.org/drawingml/2006/main" w="22289">
            <a:solidFill>
              <a:srgbClr val="D89A33"/>
            </a:solidFill>
            <a:prstDash val="solid"/>
          </a:ln>
        </p:spPr>
      </p:sp>
      <p:sp>
        <p:nvSpPr>
          <p:cNvPr id="225" name="svg_text_225">
            <a:extLst xmlns:a="http://schemas.openxmlformats.org/drawingml/2006/main">
              <a:ext uri="{FF2B5EF4-FFF2-40B4-BE49-F238E27FC236}">
                <a16:creationId xmlns:a16="http://schemas.microsoft.com/office/drawing/2014/main" id="{150D50F4-3101-4E1A-B581-E0FD16ABE0A5}"/>
              </a:ext>
            </a:extLst>
          </p:cNvPr>
          <p:cNvSpPr>
            <a:spLocks xmlns:a="http://schemas.openxmlformats.org/drawingml/2006/main" noGrp="1"/>
          </p:cNvSpPr>
          <p:nvPr/>
        </p:nvSpPr>
        <p:spPr>
          <a:xfrm xmlns:a="http://schemas.openxmlformats.org/drawingml/2006/main">
            <a:off x="7548963" y="9989214"/>
            <a:ext cx="142795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2758"/>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Adversarial Loss</a:t>
            </a:r>
          </a:p>
        </p:txBody>
      </p:sp>
      <p:sp>
        <p:nvSpPr>
          <p:cNvPr id="226" name="svg_rect_226">
            <a:extLst xmlns:a="http://schemas.openxmlformats.org/drawingml/2006/main">
              <a:ext uri="{FF2B5EF4-FFF2-40B4-BE49-F238E27FC236}">
                <a16:creationId xmlns:a16="http://schemas.microsoft.com/office/drawing/2014/main" id="{73A75A72-25CF-45AB-AEDA-ADD73EB742C5}"/>
              </a:ext>
            </a:extLst>
          </p:cNvPr>
          <p:cNvSpPr>
            <a:spLocks xmlns:a="http://schemas.openxmlformats.org/drawingml/2006/main" noGrp="1"/>
          </p:cNvSpPr>
          <p:nvPr/>
        </p:nvSpPr>
        <p:spPr>
          <a:xfrm xmlns:a="http://schemas.openxmlformats.org/drawingml/2006/main">
            <a:off x="7495223" y="10560939"/>
            <a:ext cx="1535430" cy="614172"/>
          </a:xfrm>
          <a:prstGeom xmlns:a="http://schemas.openxmlformats.org/drawingml/2006/main" prst="roundRect">
            <a:avLst>
              <a:gd name="adj" fmla="val 12407"/>
            </a:avLst>
          </a:prstGeom>
          <a:solidFill xmlns:a="http://schemas.openxmlformats.org/drawingml/2006/main">
            <a:srgbClr val="FFF3DC"/>
          </a:solidFill>
          <a:ln xmlns:a="http://schemas.openxmlformats.org/drawingml/2006/main" w="22289">
            <a:solidFill>
              <a:srgbClr val="D89A33"/>
            </a:solidFill>
            <a:prstDash val="solid"/>
          </a:ln>
        </p:spPr>
      </p:sp>
      <p:sp>
        <p:nvSpPr>
          <p:cNvPr id="227" name="svg_text_227">
            <a:extLst xmlns:a="http://schemas.openxmlformats.org/drawingml/2006/main">
              <a:ext uri="{FF2B5EF4-FFF2-40B4-BE49-F238E27FC236}">
                <a16:creationId xmlns:a16="http://schemas.microsoft.com/office/drawing/2014/main" id="{02A29C64-2E53-405D-80DE-A6080518A6D4}"/>
              </a:ext>
            </a:extLst>
          </p:cNvPr>
          <p:cNvSpPr>
            <a:spLocks xmlns:a="http://schemas.openxmlformats.org/drawingml/2006/main" noGrp="1"/>
          </p:cNvSpPr>
          <p:nvPr/>
        </p:nvSpPr>
        <p:spPr>
          <a:xfrm xmlns:a="http://schemas.openxmlformats.org/drawingml/2006/main">
            <a:off x="7548963" y="10636914"/>
            <a:ext cx="142795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9225"/>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Feature-Matching</a:t>
            </a:r>
          </a:p>
        </p:txBody>
      </p:sp>
      <p:sp>
        <p:nvSpPr>
          <p:cNvPr id="228" name="svg_text_228">
            <a:extLst xmlns:a="http://schemas.openxmlformats.org/drawingml/2006/main">
              <a:ext uri="{FF2B5EF4-FFF2-40B4-BE49-F238E27FC236}">
                <a16:creationId xmlns:a16="http://schemas.microsoft.com/office/drawing/2014/main" id="{298B366F-0D21-4596-AC27-0B184AC2FE9D}"/>
              </a:ext>
            </a:extLst>
          </p:cNvPr>
          <p:cNvSpPr>
            <a:spLocks xmlns:a="http://schemas.openxmlformats.org/drawingml/2006/main" noGrp="1"/>
          </p:cNvSpPr>
          <p:nvPr/>
        </p:nvSpPr>
        <p:spPr>
          <a:xfrm xmlns:a="http://schemas.openxmlformats.org/drawingml/2006/main">
            <a:off x="7548963" y="10846464"/>
            <a:ext cx="142795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Loss</a:t>
            </a:r>
          </a:p>
        </p:txBody>
      </p:sp>
      <p:sp>
        <p:nvSpPr>
          <p:cNvPr id="229" name="svg_path_229">
            <a:extLst xmlns:a="http://schemas.openxmlformats.org/drawingml/2006/main">
              <a:ext uri="{FF2B5EF4-FFF2-40B4-BE49-F238E27FC236}">
                <a16:creationId xmlns:a16="http://schemas.microsoft.com/office/drawing/2014/main" id="{ED71FA07-BA39-4801-8F74-79D51966615E}"/>
              </a:ext>
            </a:extLst>
          </p:cNvPr>
          <p:cNvSpPr>
            <a:spLocks xmlns:a="http://schemas.openxmlformats.org/drawingml/2006/main" noGrp="1"/>
          </p:cNvSpPr>
          <p:nvPr/>
        </p:nvSpPr>
        <p:spPr>
          <a:xfrm xmlns:a="http://schemas.openxmlformats.org/drawingml/2006/main">
            <a:off x="7048500" y="10191750"/>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24765">
            <a:solidFill>
              <a:srgbClr val="2386D8"/>
            </a:solidFill>
            <a:prstDash val="solid"/>
          </a:ln>
        </p:spPr>
      </p:sp>
      <p:sp>
        <p:nvSpPr>
          <p:cNvPr id="230" name="svg_arrowhead_230">
            <a:extLst xmlns:a="http://schemas.openxmlformats.org/drawingml/2006/main">
              <a:ext uri="{FF2B5EF4-FFF2-40B4-BE49-F238E27FC236}">
                <a16:creationId xmlns:a16="http://schemas.microsoft.com/office/drawing/2014/main" id="{E8B249BB-4DF9-4ECA-A369-660178FB102E}"/>
              </a:ext>
            </a:extLst>
          </p:cNvPr>
          <p:cNvSpPr>
            <a:spLocks xmlns:a="http://schemas.openxmlformats.org/drawingml/2006/main" noGrp="1"/>
          </p:cNvSpPr>
          <p:nvPr/>
        </p:nvSpPr>
        <p:spPr>
          <a:xfrm xmlns:a="http://schemas.openxmlformats.org/drawingml/2006/main">
            <a:off x="7391400" y="10125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31" name="svg_path_231">
            <a:extLst xmlns:a="http://schemas.openxmlformats.org/drawingml/2006/main">
              <a:ext uri="{FF2B5EF4-FFF2-40B4-BE49-F238E27FC236}">
                <a16:creationId xmlns:a16="http://schemas.microsoft.com/office/drawing/2014/main" id="{CF33A373-C547-43F4-AFF1-3F1D30E4463E}"/>
              </a:ext>
            </a:extLst>
          </p:cNvPr>
          <p:cNvSpPr>
            <a:spLocks xmlns:a="http://schemas.openxmlformats.org/drawingml/2006/main" noGrp="1"/>
          </p:cNvSpPr>
          <p:nvPr/>
        </p:nvSpPr>
        <p:spPr>
          <a:xfrm xmlns:a="http://schemas.openxmlformats.org/drawingml/2006/main">
            <a:off x="7048500" y="10839450"/>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24765">
            <a:solidFill>
              <a:srgbClr val="2386D8"/>
            </a:solidFill>
            <a:prstDash val="solid"/>
          </a:ln>
        </p:spPr>
      </p:sp>
      <p:sp>
        <p:nvSpPr>
          <p:cNvPr id="232" name="svg_arrowhead_232">
            <a:extLst xmlns:a="http://schemas.openxmlformats.org/drawingml/2006/main">
              <a:ext uri="{FF2B5EF4-FFF2-40B4-BE49-F238E27FC236}">
                <a16:creationId xmlns:a16="http://schemas.microsoft.com/office/drawing/2014/main" id="{9472882A-D023-450C-AE4A-ACEF541FE880}"/>
              </a:ext>
            </a:extLst>
          </p:cNvPr>
          <p:cNvSpPr>
            <a:spLocks xmlns:a="http://schemas.openxmlformats.org/drawingml/2006/main" noGrp="1"/>
          </p:cNvSpPr>
          <p:nvPr/>
        </p:nvSpPr>
        <p:spPr>
          <a:xfrm xmlns:a="http://schemas.openxmlformats.org/drawingml/2006/main">
            <a:off x="7391400" y="107727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33" name="svg_path_233">
            <a:extLst xmlns:a="http://schemas.openxmlformats.org/drawingml/2006/main">
              <a:ext uri="{FF2B5EF4-FFF2-40B4-BE49-F238E27FC236}">
                <a16:creationId xmlns:a16="http://schemas.microsoft.com/office/drawing/2014/main" id="{9D20BA8D-CDBA-4703-AF11-289033B38AD4}"/>
              </a:ext>
            </a:extLst>
          </p:cNvPr>
          <p:cNvSpPr>
            <a:spLocks xmlns:a="http://schemas.openxmlformats.org/drawingml/2006/main" noGrp="1"/>
          </p:cNvSpPr>
          <p:nvPr/>
        </p:nvSpPr>
        <p:spPr>
          <a:xfrm xmlns:a="http://schemas.openxmlformats.org/drawingml/2006/main">
            <a:off x="4476750" y="9429750"/>
            <a:ext cx="3048000" cy="2095500"/>
          </a:xfrm>
          <a:custGeom xmlns:a="http://schemas.openxmlformats.org/drawingml/2006/main">
            <a:pathLst>
              <a:path w="3048000" h="2095500">
                <a:moveTo>
                  <a:pt x="3048000" y="714375"/>
                </a:moveTo>
                <a:lnTo>
                  <a:pt x="2809875" y="714375"/>
                </a:lnTo>
                <a:lnTo>
                  <a:pt x="2809875" y="2095500"/>
                </a:lnTo>
                <a:lnTo>
                  <a:pt x="0" y="2095500"/>
                </a:lnTo>
                <a:lnTo>
                  <a:pt x="0" y="0"/>
                </a:lnTo>
              </a:path>
            </a:pathLst>
          </a:custGeom>
          <a:noFill xmlns:a="http://schemas.openxmlformats.org/drawingml/2006/main"/>
          <a:ln xmlns:a="http://schemas.openxmlformats.org/drawingml/2006/main" w="24765">
            <a:solidFill>
              <a:srgbClr val="3D6285"/>
            </a:solidFill>
            <a:prstDash val="dash"/>
          </a:ln>
        </p:spPr>
      </p:sp>
      <p:sp>
        <p:nvSpPr>
          <p:cNvPr id="234" name="svg_arrowhead_234">
            <a:extLst xmlns:a="http://schemas.openxmlformats.org/drawingml/2006/main">
              <a:ext uri="{FF2B5EF4-FFF2-40B4-BE49-F238E27FC236}">
                <a16:creationId xmlns:a16="http://schemas.microsoft.com/office/drawing/2014/main" id="{F8B60307-EFB9-478A-9986-D75A1386BB27}"/>
              </a:ext>
            </a:extLst>
          </p:cNvPr>
          <p:cNvSpPr>
            <a:spLocks xmlns:a="http://schemas.openxmlformats.org/drawingml/2006/main" noGrp="1"/>
          </p:cNvSpPr>
          <p:nvPr/>
        </p:nvSpPr>
        <p:spPr>
          <a:xfrm xmlns:a="http://schemas.openxmlformats.org/drawingml/2006/main">
            <a:off x="4410075" y="9429750"/>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35" name="svg_path_235">
            <a:extLst xmlns:a="http://schemas.openxmlformats.org/drawingml/2006/main">
              <a:ext uri="{FF2B5EF4-FFF2-40B4-BE49-F238E27FC236}">
                <a16:creationId xmlns:a16="http://schemas.microsoft.com/office/drawing/2014/main" id="{F69A417F-2C8E-4202-B67F-4C370E5D8FF6}"/>
              </a:ext>
            </a:extLst>
          </p:cNvPr>
          <p:cNvSpPr>
            <a:spLocks xmlns:a="http://schemas.openxmlformats.org/drawingml/2006/main" noGrp="1"/>
          </p:cNvSpPr>
          <p:nvPr/>
        </p:nvSpPr>
        <p:spPr>
          <a:xfrm xmlns:a="http://schemas.openxmlformats.org/drawingml/2006/main">
            <a:off x="4191000" y="9429750"/>
            <a:ext cx="3333750" cy="2333625"/>
          </a:xfrm>
          <a:custGeom xmlns:a="http://schemas.openxmlformats.org/drawingml/2006/main">
            <a:pathLst>
              <a:path w="3333750" h="2333625">
                <a:moveTo>
                  <a:pt x="3333750" y="1428750"/>
                </a:moveTo>
                <a:lnTo>
                  <a:pt x="2952750" y="1428750"/>
                </a:lnTo>
                <a:lnTo>
                  <a:pt x="2952750" y="2333625"/>
                </a:lnTo>
                <a:lnTo>
                  <a:pt x="0" y="2333625"/>
                </a:lnTo>
                <a:lnTo>
                  <a:pt x="0" y="0"/>
                </a:lnTo>
              </a:path>
            </a:pathLst>
          </a:custGeom>
          <a:noFill xmlns:a="http://schemas.openxmlformats.org/drawingml/2006/main"/>
          <a:ln xmlns:a="http://schemas.openxmlformats.org/drawingml/2006/main" w="24765">
            <a:solidFill>
              <a:srgbClr val="3D6285"/>
            </a:solidFill>
            <a:prstDash val="dash"/>
          </a:ln>
        </p:spPr>
      </p:sp>
      <p:sp>
        <p:nvSpPr>
          <p:cNvPr id="236" name="svg_arrowhead_236">
            <a:extLst xmlns:a="http://schemas.openxmlformats.org/drawingml/2006/main">
              <a:ext uri="{FF2B5EF4-FFF2-40B4-BE49-F238E27FC236}">
                <a16:creationId xmlns:a16="http://schemas.microsoft.com/office/drawing/2014/main" id="{9A1F0969-3271-464B-A05D-D50E579CA073}"/>
              </a:ext>
            </a:extLst>
          </p:cNvPr>
          <p:cNvSpPr>
            <a:spLocks xmlns:a="http://schemas.openxmlformats.org/drawingml/2006/main" noGrp="1"/>
          </p:cNvSpPr>
          <p:nvPr/>
        </p:nvSpPr>
        <p:spPr>
          <a:xfrm xmlns:a="http://schemas.openxmlformats.org/drawingml/2006/main">
            <a:off x="4124325" y="9429750"/>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37" name="svg_rect_237">
            <a:extLst xmlns:a="http://schemas.openxmlformats.org/drawingml/2006/main">
              <a:ext uri="{FF2B5EF4-FFF2-40B4-BE49-F238E27FC236}">
                <a16:creationId xmlns:a16="http://schemas.microsoft.com/office/drawing/2014/main" id="{A0A4DE31-7A09-4889-846B-DEE09723EA05}"/>
              </a:ext>
            </a:extLst>
          </p:cNvPr>
          <p:cNvSpPr>
            <a:spLocks xmlns:a="http://schemas.openxmlformats.org/drawingml/2006/main" noGrp="1"/>
          </p:cNvSpPr>
          <p:nvPr/>
        </p:nvSpPr>
        <p:spPr>
          <a:xfrm xmlns:a="http://schemas.openxmlformats.org/drawingml/2006/main">
            <a:off x="2659380" y="11841480"/>
            <a:ext cx="2872740" cy="891540"/>
          </a:xfrm>
          <a:prstGeom xmlns:a="http://schemas.openxmlformats.org/drawingml/2006/main" prst="roundRect">
            <a:avLst>
              <a:gd name="adj" fmla="val 8547"/>
            </a:avLst>
          </a:prstGeom>
          <a:solidFill xmlns:a="http://schemas.openxmlformats.org/drawingml/2006/main">
            <a:srgbClr val="FFF3DC"/>
          </a:solidFill>
          <a:ln xmlns:a="http://schemas.openxmlformats.org/drawingml/2006/main" w="22289">
            <a:solidFill>
              <a:srgbClr val="D89A33"/>
            </a:solidFill>
            <a:prstDash val="solid"/>
          </a:ln>
        </p:spPr>
      </p:sp>
      <p:sp>
        <p:nvSpPr>
          <p:cNvPr id="238" name="svg_text_238">
            <a:extLst xmlns:a="http://schemas.openxmlformats.org/drawingml/2006/main">
              <a:ext uri="{FF2B5EF4-FFF2-40B4-BE49-F238E27FC236}">
                <a16:creationId xmlns:a16="http://schemas.microsoft.com/office/drawing/2014/main" id="{FC92EB97-9018-4CE4-9024-722C4476DC0A}"/>
              </a:ext>
            </a:extLst>
          </p:cNvPr>
          <p:cNvSpPr>
            <a:spLocks xmlns:a="http://schemas.openxmlformats.org/drawingml/2006/main" noGrp="1"/>
          </p:cNvSpPr>
          <p:nvPr/>
        </p:nvSpPr>
        <p:spPr>
          <a:xfrm xmlns:a="http://schemas.openxmlformats.org/drawingml/2006/main">
            <a:off x="2754630" y="11922789"/>
            <a:ext cx="268224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Waveform + Mel</a:t>
            </a:r>
          </a:p>
        </p:txBody>
      </p:sp>
      <p:sp>
        <p:nvSpPr>
          <p:cNvPr id="239" name="svg_text_239">
            <a:extLst xmlns:a="http://schemas.openxmlformats.org/drawingml/2006/main">
              <a:ext uri="{FF2B5EF4-FFF2-40B4-BE49-F238E27FC236}">
                <a16:creationId xmlns:a16="http://schemas.microsoft.com/office/drawing/2014/main" id="{A2F1E17D-58D0-43B4-91CD-542E220DB4F6}"/>
              </a:ext>
            </a:extLst>
          </p:cNvPr>
          <p:cNvSpPr>
            <a:spLocks xmlns:a="http://schemas.openxmlformats.org/drawingml/2006/main" noGrp="1"/>
          </p:cNvSpPr>
          <p:nvPr/>
        </p:nvSpPr>
        <p:spPr>
          <a:xfrm xmlns:a="http://schemas.openxmlformats.org/drawingml/2006/main">
            <a:off x="2754630" y="12151389"/>
            <a:ext cx="268224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Reconstruction Loss</a:t>
            </a:r>
          </a:p>
        </p:txBody>
      </p:sp>
      <p:sp>
        <p:nvSpPr>
          <p:cNvPr id="240" name="svg_text_240">
            <a:extLst xmlns:a="http://schemas.openxmlformats.org/drawingml/2006/main">
              <a:ext uri="{FF2B5EF4-FFF2-40B4-BE49-F238E27FC236}">
                <a16:creationId xmlns:a16="http://schemas.microsoft.com/office/drawing/2014/main" id="{6AB4CD53-02EE-4E2C-B5C7-D951A1607626}"/>
              </a:ext>
            </a:extLst>
          </p:cNvPr>
          <p:cNvSpPr>
            <a:spLocks xmlns:a="http://schemas.openxmlformats.org/drawingml/2006/main" noGrp="1"/>
          </p:cNvSpPr>
          <p:nvPr/>
        </p:nvSpPr>
        <p:spPr>
          <a:xfrm xmlns:a="http://schemas.openxmlformats.org/drawingml/2006/main">
            <a:off x="2754630" y="12419971"/>
            <a:ext cx="26822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compares x and x̂ directly</a:t>
            </a:r>
          </a:p>
        </p:txBody>
      </p:sp>
      <p:sp>
        <p:nvSpPr>
          <p:cNvPr id="241" name="svg_path_241">
            <a:extLst xmlns:a="http://schemas.openxmlformats.org/drawingml/2006/main">
              <a:ext uri="{FF2B5EF4-FFF2-40B4-BE49-F238E27FC236}">
                <a16:creationId xmlns:a16="http://schemas.microsoft.com/office/drawing/2014/main" id="{2E510DEE-E892-4817-8CE9-789D54CC0277}"/>
              </a:ext>
            </a:extLst>
          </p:cNvPr>
          <p:cNvSpPr>
            <a:spLocks xmlns:a="http://schemas.openxmlformats.org/drawingml/2006/main" noGrp="1"/>
          </p:cNvSpPr>
          <p:nvPr/>
        </p:nvSpPr>
        <p:spPr>
          <a:xfrm xmlns:a="http://schemas.openxmlformats.org/drawingml/2006/main">
            <a:off x="571500" y="9239250"/>
            <a:ext cx="3524250" cy="3571875"/>
          </a:xfrm>
          <a:custGeom xmlns:a="http://schemas.openxmlformats.org/drawingml/2006/main">
            <a:pathLst>
              <a:path w="3524250" h="3571875">
                <a:moveTo>
                  <a:pt x="781050" y="0"/>
                </a:moveTo>
                <a:lnTo>
                  <a:pt x="0" y="0"/>
                </a:lnTo>
                <a:lnTo>
                  <a:pt x="0" y="3571875"/>
                </a:lnTo>
                <a:lnTo>
                  <a:pt x="3524250" y="3571875"/>
                </a:lnTo>
                <a:lnTo>
                  <a:pt x="3524250" y="3476625"/>
                </a:lnTo>
              </a:path>
            </a:pathLst>
          </a:custGeom>
          <a:noFill xmlns:a="http://schemas.openxmlformats.org/drawingml/2006/main"/>
          <a:ln xmlns:a="http://schemas.openxmlformats.org/drawingml/2006/main" w="24765">
            <a:solidFill>
              <a:srgbClr val="3D6285"/>
            </a:solidFill>
            <a:prstDash val="dash"/>
          </a:ln>
        </p:spPr>
      </p:sp>
      <p:sp>
        <p:nvSpPr>
          <p:cNvPr id="242" name="svg_arrowhead_242">
            <a:extLst xmlns:a="http://schemas.openxmlformats.org/drawingml/2006/main">
              <a:ext uri="{FF2B5EF4-FFF2-40B4-BE49-F238E27FC236}">
                <a16:creationId xmlns:a16="http://schemas.microsoft.com/office/drawing/2014/main" id="{C2F59154-D93C-45C0-9E88-FBB2B34F3B62}"/>
              </a:ext>
            </a:extLst>
          </p:cNvPr>
          <p:cNvSpPr>
            <a:spLocks xmlns:a="http://schemas.openxmlformats.org/drawingml/2006/main" noGrp="1"/>
          </p:cNvSpPr>
          <p:nvPr/>
        </p:nvSpPr>
        <p:spPr>
          <a:xfrm xmlns:a="http://schemas.openxmlformats.org/drawingml/2006/main">
            <a:off x="4029075" y="12715875"/>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43" name="svg_path_243">
            <a:extLst xmlns:a="http://schemas.openxmlformats.org/drawingml/2006/main">
              <a:ext uri="{FF2B5EF4-FFF2-40B4-BE49-F238E27FC236}">
                <a16:creationId xmlns:a16="http://schemas.microsoft.com/office/drawing/2014/main" id="{94939B3A-45BE-41C5-B6BC-10BE8D8AC291}"/>
              </a:ext>
            </a:extLst>
          </p:cNvPr>
          <p:cNvSpPr>
            <a:spLocks xmlns:a="http://schemas.openxmlformats.org/drawingml/2006/main" noGrp="1"/>
          </p:cNvSpPr>
          <p:nvPr/>
        </p:nvSpPr>
        <p:spPr>
          <a:xfrm xmlns:a="http://schemas.openxmlformats.org/drawingml/2006/main">
            <a:off x="5476875" y="9239250"/>
            <a:ext cx="762000" cy="3048000"/>
          </a:xfrm>
          <a:custGeom xmlns:a="http://schemas.openxmlformats.org/drawingml/2006/main">
            <a:pathLst>
              <a:path w="762000" h="3048000">
                <a:moveTo>
                  <a:pt x="762000" y="0"/>
                </a:moveTo>
                <a:lnTo>
                  <a:pt x="762000" y="2428875"/>
                </a:lnTo>
                <a:lnTo>
                  <a:pt x="0" y="2428875"/>
                </a:lnTo>
                <a:lnTo>
                  <a:pt x="0" y="3048000"/>
                </a:lnTo>
              </a:path>
            </a:pathLst>
          </a:custGeom>
          <a:noFill xmlns:a="http://schemas.openxmlformats.org/drawingml/2006/main"/>
          <a:ln xmlns:a="http://schemas.openxmlformats.org/drawingml/2006/main" w="24765">
            <a:solidFill>
              <a:srgbClr val="3D6285"/>
            </a:solidFill>
            <a:prstDash val="dash"/>
          </a:ln>
        </p:spPr>
      </p:sp>
      <p:sp>
        <p:nvSpPr>
          <p:cNvPr id="244" name="svg_arrowhead_244">
            <a:extLst xmlns:a="http://schemas.openxmlformats.org/drawingml/2006/main">
              <a:ext uri="{FF2B5EF4-FFF2-40B4-BE49-F238E27FC236}">
                <a16:creationId xmlns:a16="http://schemas.microsoft.com/office/drawing/2014/main" id="{69310BEB-551E-46B0-8E16-0C54871356D4}"/>
              </a:ext>
            </a:extLst>
          </p:cNvPr>
          <p:cNvSpPr>
            <a:spLocks xmlns:a="http://schemas.openxmlformats.org/drawingml/2006/main" noGrp="1"/>
          </p:cNvSpPr>
          <p:nvPr/>
        </p:nvSpPr>
        <p:spPr>
          <a:xfrm xmlns:a="http://schemas.openxmlformats.org/drawingml/2006/main">
            <a:off x="5410200" y="1215390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45" name="svg_path_245">
            <a:extLst xmlns:a="http://schemas.openxmlformats.org/drawingml/2006/main">
              <a:ext uri="{FF2B5EF4-FFF2-40B4-BE49-F238E27FC236}">
                <a16:creationId xmlns:a16="http://schemas.microsoft.com/office/drawing/2014/main" id="{D76E4306-438B-458B-B92A-031AFEBA02A3}"/>
              </a:ext>
            </a:extLst>
          </p:cNvPr>
          <p:cNvSpPr>
            <a:spLocks xmlns:a="http://schemas.openxmlformats.org/drawingml/2006/main" noGrp="1"/>
          </p:cNvSpPr>
          <p:nvPr/>
        </p:nvSpPr>
        <p:spPr>
          <a:xfrm xmlns:a="http://schemas.openxmlformats.org/drawingml/2006/main">
            <a:off x="3905250" y="9429750"/>
            <a:ext cx="190500" cy="2428875"/>
          </a:xfrm>
          <a:custGeom xmlns:a="http://schemas.openxmlformats.org/drawingml/2006/main">
            <a:pathLst>
              <a:path w="190500" h="2428875">
                <a:moveTo>
                  <a:pt x="190500" y="2428875"/>
                </a:moveTo>
                <a:lnTo>
                  <a:pt x="190500" y="1952625"/>
                </a:lnTo>
                <a:lnTo>
                  <a:pt x="0" y="1952625"/>
                </a:lnTo>
                <a:lnTo>
                  <a:pt x="0" y="0"/>
                </a:lnTo>
              </a:path>
            </a:pathLst>
          </a:custGeom>
          <a:noFill xmlns:a="http://schemas.openxmlformats.org/drawingml/2006/main"/>
          <a:ln xmlns:a="http://schemas.openxmlformats.org/drawingml/2006/main" w="24765">
            <a:solidFill>
              <a:srgbClr val="3D6285"/>
            </a:solidFill>
            <a:prstDash val="dash"/>
          </a:ln>
        </p:spPr>
      </p:sp>
      <p:sp>
        <p:nvSpPr>
          <p:cNvPr id="246" name="svg_arrowhead_246">
            <a:extLst xmlns:a="http://schemas.openxmlformats.org/drawingml/2006/main">
              <a:ext uri="{FF2B5EF4-FFF2-40B4-BE49-F238E27FC236}">
                <a16:creationId xmlns:a16="http://schemas.microsoft.com/office/drawing/2014/main" id="{470E8455-7F72-4C56-86C9-CFC89877D45E}"/>
              </a:ext>
            </a:extLst>
          </p:cNvPr>
          <p:cNvSpPr>
            <a:spLocks xmlns:a="http://schemas.openxmlformats.org/drawingml/2006/main" noGrp="1"/>
          </p:cNvSpPr>
          <p:nvPr/>
        </p:nvSpPr>
        <p:spPr>
          <a:xfrm xmlns:a="http://schemas.openxmlformats.org/drawingml/2006/main">
            <a:off x="3838575" y="9429750"/>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47" name="svg_rect_247">
            <a:extLst xmlns:a="http://schemas.openxmlformats.org/drawingml/2006/main">
              <a:ext uri="{FF2B5EF4-FFF2-40B4-BE49-F238E27FC236}">
                <a16:creationId xmlns:a16="http://schemas.microsoft.com/office/drawing/2014/main" id="{2010DF8A-E307-421A-9F72-C34DDB0BC2D0}"/>
              </a:ext>
            </a:extLst>
          </p:cNvPr>
          <p:cNvSpPr>
            <a:spLocks xmlns:a="http://schemas.openxmlformats.org/drawingml/2006/main" noGrp="1"/>
          </p:cNvSpPr>
          <p:nvPr/>
        </p:nvSpPr>
        <p:spPr>
          <a:xfrm xmlns:a="http://schemas.openxmlformats.org/drawingml/2006/main">
            <a:off x="732472" y="11989118"/>
            <a:ext cx="1535430" cy="643890"/>
          </a:xfrm>
          <a:prstGeom xmlns:a="http://schemas.openxmlformats.org/drawingml/2006/main" prst="roundRect">
            <a:avLst>
              <a:gd name="adj" fmla="val 11834"/>
            </a:avLst>
          </a:prstGeom>
          <a:solidFill xmlns:a="http://schemas.openxmlformats.org/drawingml/2006/main">
            <a:srgbClr val="FFF3DC"/>
          </a:solidFill>
          <a:ln xmlns:a="http://schemas.openxmlformats.org/drawingml/2006/main" w="22289">
            <a:solidFill>
              <a:srgbClr val="D89A33"/>
            </a:solidFill>
            <a:prstDash val="solid"/>
          </a:ln>
        </p:spPr>
      </p:sp>
      <p:sp>
        <p:nvSpPr>
          <p:cNvPr id="248" name="svg_text_248">
            <a:extLst xmlns:a="http://schemas.openxmlformats.org/drawingml/2006/main">
              <a:ext uri="{FF2B5EF4-FFF2-40B4-BE49-F238E27FC236}">
                <a16:creationId xmlns:a16="http://schemas.microsoft.com/office/drawing/2014/main" id="{018BCB71-68F3-4DAA-9932-667BD0E8DA26}"/>
              </a:ext>
            </a:extLst>
          </p:cNvPr>
          <p:cNvSpPr>
            <a:spLocks xmlns:a="http://schemas.openxmlformats.org/drawingml/2006/main" noGrp="1"/>
          </p:cNvSpPr>
          <p:nvPr/>
        </p:nvSpPr>
        <p:spPr>
          <a:xfrm xmlns:a="http://schemas.openxmlformats.org/drawingml/2006/main">
            <a:off x="786213" y="12065664"/>
            <a:ext cx="142795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766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RVQ Commitment</a:t>
            </a:r>
          </a:p>
        </p:txBody>
      </p:sp>
      <p:sp>
        <p:nvSpPr>
          <p:cNvPr id="249" name="svg_text_249">
            <a:extLst xmlns:a="http://schemas.openxmlformats.org/drawingml/2006/main">
              <a:ext uri="{FF2B5EF4-FFF2-40B4-BE49-F238E27FC236}">
                <a16:creationId xmlns:a16="http://schemas.microsoft.com/office/drawing/2014/main" id="{FA3FF6E1-05F7-4669-95A4-C46BA38E189C}"/>
              </a:ext>
            </a:extLst>
          </p:cNvPr>
          <p:cNvSpPr>
            <a:spLocks xmlns:a="http://schemas.openxmlformats.org/drawingml/2006/main" noGrp="1"/>
          </p:cNvSpPr>
          <p:nvPr/>
        </p:nvSpPr>
        <p:spPr>
          <a:xfrm xmlns:a="http://schemas.openxmlformats.org/drawingml/2006/main">
            <a:off x="786213" y="12334246"/>
            <a:ext cx="142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updates RVQ only</a:t>
            </a:r>
          </a:p>
        </p:txBody>
      </p:sp>
      <p:sp>
        <p:nvSpPr>
          <p:cNvPr id="250" name="svg_path_250">
            <a:extLst xmlns:a="http://schemas.openxmlformats.org/drawingml/2006/main">
              <a:ext uri="{FF2B5EF4-FFF2-40B4-BE49-F238E27FC236}">
                <a16:creationId xmlns:a16="http://schemas.microsoft.com/office/drawing/2014/main" id="{D56E33AC-4ACC-427A-8BE2-E63EE55D47A8}"/>
              </a:ext>
            </a:extLst>
          </p:cNvPr>
          <p:cNvSpPr>
            <a:spLocks xmlns:a="http://schemas.openxmlformats.org/drawingml/2006/main" noGrp="1"/>
          </p:cNvSpPr>
          <p:nvPr/>
        </p:nvSpPr>
        <p:spPr>
          <a:xfrm xmlns:a="http://schemas.openxmlformats.org/drawingml/2006/main">
            <a:off x="1495425" y="9429750"/>
            <a:ext cx="1838325" cy="2571750"/>
          </a:xfrm>
          <a:custGeom xmlns:a="http://schemas.openxmlformats.org/drawingml/2006/main">
            <a:pathLst>
              <a:path w="1838325" h="2571750">
                <a:moveTo>
                  <a:pt x="0" y="2571750"/>
                </a:moveTo>
                <a:lnTo>
                  <a:pt x="0" y="1762125"/>
                </a:lnTo>
                <a:lnTo>
                  <a:pt x="1838325" y="1762125"/>
                </a:lnTo>
                <a:lnTo>
                  <a:pt x="1838325" y="0"/>
                </a:lnTo>
              </a:path>
            </a:pathLst>
          </a:custGeom>
          <a:noFill xmlns:a="http://schemas.openxmlformats.org/drawingml/2006/main"/>
          <a:ln xmlns:a="http://schemas.openxmlformats.org/drawingml/2006/main" w="24765">
            <a:solidFill>
              <a:srgbClr val="3D6285"/>
            </a:solidFill>
            <a:prstDash val="dash"/>
          </a:ln>
        </p:spPr>
      </p:sp>
      <p:sp>
        <p:nvSpPr>
          <p:cNvPr id="251" name="svg_arrowhead_251">
            <a:extLst xmlns:a="http://schemas.openxmlformats.org/drawingml/2006/main">
              <a:ext uri="{FF2B5EF4-FFF2-40B4-BE49-F238E27FC236}">
                <a16:creationId xmlns:a16="http://schemas.microsoft.com/office/drawing/2014/main" id="{536EFAA8-A85D-487D-A8E6-C80F0EA47546}"/>
              </a:ext>
            </a:extLst>
          </p:cNvPr>
          <p:cNvSpPr>
            <a:spLocks xmlns:a="http://schemas.openxmlformats.org/drawingml/2006/main" noGrp="1"/>
          </p:cNvSpPr>
          <p:nvPr/>
        </p:nvSpPr>
        <p:spPr>
          <a:xfrm xmlns:a="http://schemas.openxmlformats.org/drawingml/2006/main">
            <a:off x="3267075" y="9429750"/>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52" name="svg_rect_252">
            <a:extLst xmlns:a="http://schemas.openxmlformats.org/drawingml/2006/main">
              <a:ext uri="{FF2B5EF4-FFF2-40B4-BE49-F238E27FC236}">
                <a16:creationId xmlns:a16="http://schemas.microsoft.com/office/drawing/2014/main" id="{464AE80C-E10B-4AD3-A75C-2E6AE7626EFA}"/>
              </a:ext>
            </a:extLst>
          </p:cNvPr>
          <p:cNvSpPr>
            <a:spLocks xmlns:a="http://schemas.openxmlformats.org/drawingml/2006/main" noGrp="1"/>
          </p:cNvSpPr>
          <p:nvPr/>
        </p:nvSpPr>
        <p:spPr>
          <a:xfrm xmlns:a="http://schemas.openxmlformats.org/drawingml/2006/main">
            <a:off x="9572625" y="7143750"/>
            <a:ext cx="6715125" cy="5810250"/>
          </a:xfrm>
          <a:prstGeom xmlns:a="http://schemas.openxmlformats.org/drawingml/2006/main" prst="roundRect">
            <a:avLst>
              <a:gd name="adj" fmla="val 1639"/>
            </a:avLst>
          </a:prstGeom>
          <a:solidFill xmlns:a="http://schemas.openxmlformats.org/drawingml/2006/main">
            <a:srgbClr val="F7FBFF"/>
          </a:solidFill>
          <a:ln xmlns:a="http://schemas.openxmlformats.org/drawingml/2006/main" w="19812">
            <a:solidFill>
              <a:srgbClr val="A8CBEA"/>
            </a:solidFill>
            <a:prstDash val="dash"/>
          </a:ln>
        </p:spPr>
      </p:sp>
      <p:sp>
        <p:nvSpPr>
          <p:cNvPr id="253" name="svg_rect_253">
            <a:extLst xmlns:a="http://schemas.openxmlformats.org/drawingml/2006/main">
              <a:ext uri="{FF2B5EF4-FFF2-40B4-BE49-F238E27FC236}">
                <a16:creationId xmlns:a16="http://schemas.microsoft.com/office/drawing/2014/main" id="{C04D37D5-D4EE-4E08-944B-06518DDB9AD6}"/>
              </a:ext>
            </a:extLst>
          </p:cNvPr>
          <p:cNvSpPr>
            <a:spLocks xmlns:a="http://schemas.openxmlformats.org/drawingml/2006/main" noGrp="1"/>
          </p:cNvSpPr>
          <p:nvPr/>
        </p:nvSpPr>
        <p:spPr>
          <a:xfrm xmlns:a="http://schemas.openxmlformats.org/drawingml/2006/main">
            <a:off x="9715500" y="7286625"/>
            <a:ext cx="476250" cy="285750"/>
          </a:xfrm>
          <a:prstGeom xmlns:a="http://schemas.openxmlformats.org/drawingml/2006/main" prst="roundRect">
            <a:avLst>
              <a:gd name="adj" fmla="val 50000"/>
            </a:avLst>
          </a:prstGeom>
          <a:solidFill xmlns:a="http://schemas.openxmlformats.org/drawingml/2006/main">
            <a:srgbClr val="1467B8"/>
          </a:solidFill>
          <a:ln xmlns:a="http://schemas.openxmlformats.org/drawingml/2006/main" w="0">
            <a:noFill/>
            <a:prstDash val="solid"/>
          </a:ln>
        </p:spPr>
      </p:sp>
      <p:sp>
        <p:nvSpPr>
          <p:cNvPr id="254" name="svg_text_254">
            <a:extLst xmlns:a="http://schemas.openxmlformats.org/drawingml/2006/main">
              <a:ext uri="{FF2B5EF4-FFF2-40B4-BE49-F238E27FC236}">
                <a16:creationId xmlns:a16="http://schemas.microsoft.com/office/drawing/2014/main" id="{EE040ACF-06AD-4333-975F-487657ABBE78}"/>
              </a:ext>
            </a:extLst>
          </p:cNvPr>
          <p:cNvSpPr>
            <a:spLocks xmlns:a="http://schemas.openxmlformats.org/drawingml/2006/main" noGrp="1"/>
          </p:cNvSpPr>
          <p:nvPr/>
        </p:nvSpPr>
        <p:spPr>
          <a:xfrm xmlns:a="http://schemas.openxmlformats.org/drawingml/2006/main">
            <a:off x="9753600" y="73152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28" b="1" i="0">
                <a:solidFill>
                  <a:srgbClr val="FFFFFF"/>
                </a:solidFill>
                <a:latin typeface="Arial"/>
                <a:ea typeface="Arial"/>
                <a:cs typeface="Arial"/>
              </a:defRPr>
            </a:pPr>
            <a:r>
              <a:rPr sz="1428" b="1" i="0">
                <a:solidFill>
                  <a:srgbClr val="FFFFFF"/>
                </a:solidFill>
                <a:latin typeface="Arial"/>
                <a:ea typeface="Arial"/>
                <a:cs typeface="Arial"/>
              </a:rPr>
              <a:t>5B</a:t>
            </a:r>
          </a:p>
        </p:txBody>
      </p:sp>
      <p:sp>
        <p:nvSpPr>
          <p:cNvPr id="255" name="svg_text_255">
            <a:extLst xmlns:a="http://schemas.openxmlformats.org/drawingml/2006/main">
              <a:ext uri="{FF2B5EF4-FFF2-40B4-BE49-F238E27FC236}">
                <a16:creationId xmlns:a16="http://schemas.microsoft.com/office/drawing/2014/main" id="{1D2B6203-1DE6-48EF-8531-9252AC29CABC}"/>
              </a:ext>
            </a:extLst>
          </p:cNvPr>
          <p:cNvSpPr>
            <a:spLocks xmlns:a="http://schemas.openxmlformats.org/drawingml/2006/main" noGrp="1"/>
          </p:cNvSpPr>
          <p:nvPr/>
        </p:nvSpPr>
        <p:spPr>
          <a:xfrm xmlns:a="http://schemas.openxmlformats.org/drawingml/2006/main">
            <a:off x="10334625" y="7274559"/>
            <a:ext cx="4183951" cy="3493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58" b="1" i="0">
                <a:solidFill>
                  <a:srgbClr val="17202A"/>
                </a:solidFill>
                <a:latin typeface="Arial"/>
                <a:ea typeface="Arial"/>
                <a:cs typeface="Arial"/>
              </a:defRPr>
            </a:pPr>
            <a:r>
              <a:rPr sz="1858" b="1" i="0">
                <a:solidFill>
                  <a:srgbClr val="17202A"/>
                </a:solidFill>
                <a:latin typeface="Arial"/>
                <a:ea typeface="Arial"/>
                <a:cs typeface="Arial"/>
              </a:rPr>
              <a:t>Channel-Aware Fine-Tuning</a:t>
            </a:r>
          </a:p>
        </p:txBody>
      </p:sp>
      <p:sp>
        <p:nvSpPr>
          <p:cNvPr id="256" name="svg_rect_256">
            <a:extLst xmlns:a="http://schemas.openxmlformats.org/drawingml/2006/main">
              <a:ext uri="{FF2B5EF4-FFF2-40B4-BE49-F238E27FC236}">
                <a16:creationId xmlns:a16="http://schemas.microsoft.com/office/drawing/2014/main" id="{C26D7DA7-6D1E-42FE-9142-22DE070BCFCA}"/>
              </a:ext>
            </a:extLst>
          </p:cNvPr>
          <p:cNvSpPr>
            <a:spLocks xmlns:a="http://schemas.openxmlformats.org/drawingml/2006/main" noGrp="1"/>
          </p:cNvSpPr>
          <p:nvPr/>
        </p:nvSpPr>
        <p:spPr>
          <a:xfrm xmlns:a="http://schemas.openxmlformats.org/drawingml/2006/main">
            <a:off x="9786938" y="9414510"/>
            <a:ext cx="1238250" cy="792480"/>
          </a:xfrm>
          <a:prstGeom xmlns:a="http://schemas.openxmlformats.org/drawingml/2006/main" prst="roundRect">
            <a:avLst>
              <a:gd name="adj" fmla="val 9615"/>
            </a:avLst>
          </a:prstGeom>
          <a:solidFill xmlns:a="http://schemas.openxmlformats.org/drawingml/2006/main">
            <a:srgbClr val="EDF6FF"/>
          </a:solidFill>
          <a:ln xmlns:a="http://schemas.openxmlformats.org/drawingml/2006/main" w="24765">
            <a:solidFill>
              <a:srgbClr val="408FD2"/>
            </a:solidFill>
            <a:prstDash val="solid"/>
          </a:ln>
        </p:spPr>
      </p:sp>
      <p:sp>
        <p:nvSpPr>
          <p:cNvPr id="257" name="svg_text_257">
            <a:extLst xmlns:a="http://schemas.openxmlformats.org/drawingml/2006/main">
              <a:ext uri="{FF2B5EF4-FFF2-40B4-BE49-F238E27FC236}">
                <a16:creationId xmlns:a16="http://schemas.microsoft.com/office/drawing/2014/main" id="{0E04549F-A34F-41B2-BC04-34CF1392F05E}"/>
              </a:ext>
            </a:extLst>
          </p:cNvPr>
          <p:cNvSpPr>
            <a:spLocks xmlns:a="http://schemas.openxmlformats.org/drawingml/2006/main" noGrp="1"/>
          </p:cNvSpPr>
          <p:nvPr/>
        </p:nvSpPr>
        <p:spPr>
          <a:xfrm xmlns:a="http://schemas.openxmlformats.org/drawingml/2006/main">
            <a:off x="9830276" y="951296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Base Model</a:t>
            </a:r>
          </a:p>
        </p:txBody>
      </p:sp>
      <p:sp>
        <p:nvSpPr>
          <p:cNvPr id="258" name="svg_text_258">
            <a:extLst xmlns:a="http://schemas.openxmlformats.org/drawingml/2006/main">
              <a:ext uri="{FF2B5EF4-FFF2-40B4-BE49-F238E27FC236}">
                <a16:creationId xmlns:a16="http://schemas.microsoft.com/office/drawing/2014/main" id="{DAFE17D2-AEE5-4481-AC2C-D52ED3E416AE}"/>
              </a:ext>
            </a:extLst>
          </p:cNvPr>
          <p:cNvSpPr>
            <a:spLocks xmlns:a="http://schemas.openxmlformats.org/drawingml/2006/main" noGrp="1"/>
          </p:cNvSpPr>
          <p:nvPr/>
        </p:nvSpPr>
        <p:spPr>
          <a:xfrm xmlns:a="http://schemas.openxmlformats.org/drawingml/2006/main">
            <a:off x="9830276" y="9751089"/>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Checkpoint</a:t>
            </a:r>
          </a:p>
        </p:txBody>
      </p:sp>
      <p:sp>
        <p:nvSpPr>
          <p:cNvPr id="259" name="svg_path_259">
            <a:extLst xmlns:a="http://schemas.openxmlformats.org/drawingml/2006/main">
              <a:ext uri="{FF2B5EF4-FFF2-40B4-BE49-F238E27FC236}">
                <a16:creationId xmlns:a16="http://schemas.microsoft.com/office/drawing/2014/main" id="{FDCD433D-A708-41A5-B09D-65E90E3FF8E2}"/>
              </a:ext>
            </a:extLst>
          </p:cNvPr>
          <p:cNvSpPr>
            <a:spLocks xmlns:a="http://schemas.openxmlformats.org/drawingml/2006/main" noGrp="1"/>
          </p:cNvSpPr>
          <p:nvPr/>
        </p:nvSpPr>
        <p:spPr>
          <a:xfrm xmlns:a="http://schemas.openxmlformats.org/drawingml/2006/main">
            <a:off x="11001375" y="9810750"/>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30956">
            <a:solidFill>
              <a:srgbClr val="2386D8"/>
            </a:solidFill>
            <a:prstDash val="solid"/>
          </a:ln>
        </p:spPr>
      </p:sp>
      <p:sp>
        <p:nvSpPr>
          <p:cNvPr id="260" name="svg_arrowhead_260">
            <a:extLst xmlns:a="http://schemas.openxmlformats.org/drawingml/2006/main">
              <a:ext uri="{FF2B5EF4-FFF2-40B4-BE49-F238E27FC236}">
                <a16:creationId xmlns:a16="http://schemas.microsoft.com/office/drawing/2014/main" id="{53EEBE72-1154-41BD-9628-4D5495FB3A3D}"/>
              </a:ext>
            </a:extLst>
          </p:cNvPr>
          <p:cNvSpPr>
            <a:spLocks xmlns:a="http://schemas.openxmlformats.org/drawingml/2006/main" noGrp="1"/>
          </p:cNvSpPr>
          <p:nvPr/>
        </p:nvSpPr>
        <p:spPr>
          <a:xfrm xmlns:a="http://schemas.openxmlformats.org/drawingml/2006/main">
            <a:off x="11201400" y="9744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61" name="svg_rect_261">
            <a:extLst xmlns:a="http://schemas.openxmlformats.org/drawingml/2006/main">
              <a:ext uri="{FF2B5EF4-FFF2-40B4-BE49-F238E27FC236}">
                <a16:creationId xmlns:a16="http://schemas.microsoft.com/office/drawing/2014/main" id="{94DD0BC5-BFC2-44C8-BD83-30C6DCB94C86}"/>
              </a:ext>
            </a:extLst>
          </p:cNvPr>
          <p:cNvSpPr>
            <a:spLocks xmlns:a="http://schemas.openxmlformats.org/drawingml/2006/main" noGrp="1"/>
          </p:cNvSpPr>
          <p:nvPr/>
        </p:nvSpPr>
        <p:spPr>
          <a:xfrm xmlns:a="http://schemas.openxmlformats.org/drawingml/2006/main">
            <a:off x="11334750" y="7905750"/>
            <a:ext cx="3476625" cy="4429125"/>
          </a:xfrm>
          <a:prstGeom xmlns:a="http://schemas.openxmlformats.org/drawingml/2006/main" prst="roundRect">
            <a:avLst>
              <a:gd name="adj" fmla="val 2192"/>
            </a:avLst>
          </a:prstGeom>
          <a:solidFill xmlns:a="http://schemas.openxmlformats.org/drawingml/2006/main">
            <a:srgbClr val="EDF6FF"/>
          </a:solidFill>
          <a:ln xmlns:a="http://schemas.openxmlformats.org/drawingml/2006/main" w="22289">
            <a:solidFill>
              <a:srgbClr val="527CA3"/>
            </a:solidFill>
            <a:prstDash val="dash"/>
          </a:ln>
        </p:spPr>
      </p:sp>
      <p:sp>
        <p:nvSpPr>
          <p:cNvPr id="262" name="svg_text_262">
            <a:extLst xmlns:a="http://schemas.openxmlformats.org/drawingml/2006/main">
              <a:ext uri="{FF2B5EF4-FFF2-40B4-BE49-F238E27FC236}">
                <a16:creationId xmlns:a16="http://schemas.microsoft.com/office/drawing/2014/main" id="{D8B731C6-C47E-4155-839D-880BAF8A463D}"/>
              </a:ext>
            </a:extLst>
          </p:cNvPr>
          <p:cNvSpPr>
            <a:spLocks xmlns:a="http://schemas.openxmlformats.org/drawingml/2006/main" noGrp="1"/>
          </p:cNvSpPr>
          <p:nvPr/>
        </p:nvSpPr>
        <p:spPr>
          <a:xfrm xmlns:a="http://schemas.openxmlformats.org/drawingml/2006/main">
            <a:off x="10968681" y="7988964"/>
            <a:ext cx="4199237"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CHANNEL-AWARE FINE-TUNING BLOCK</a:t>
            </a:r>
          </a:p>
        </p:txBody>
      </p:sp>
      <p:sp>
        <p:nvSpPr>
          <p:cNvPr id="263" name="svg_rect_263">
            <a:extLst xmlns:a="http://schemas.openxmlformats.org/drawingml/2006/main">
              <a:ext uri="{FF2B5EF4-FFF2-40B4-BE49-F238E27FC236}">
                <a16:creationId xmlns:a16="http://schemas.microsoft.com/office/drawing/2014/main" id="{E2344304-36E5-4D30-942F-7E5CD434391A}"/>
              </a:ext>
            </a:extLst>
          </p:cNvPr>
          <p:cNvSpPr>
            <a:spLocks xmlns:a="http://schemas.openxmlformats.org/drawingml/2006/main" noGrp="1"/>
          </p:cNvSpPr>
          <p:nvPr/>
        </p:nvSpPr>
        <p:spPr>
          <a:xfrm xmlns:a="http://schemas.openxmlformats.org/drawingml/2006/main">
            <a:off x="11958638" y="8419148"/>
            <a:ext cx="2228850" cy="544830"/>
          </a:xfrm>
          <a:prstGeom xmlns:a="http://schemas.openxmlformats.org/drawingml/2006/main" prst="roundRect">
            <a:avLst>
              <a:gd name="adj" fmla="val 13986"/>
            </a:avLst>
          </a:prstGeom>
          <a:solidFill xmlns:a="http://schemas.openxmlformats.org/drawingml/2006/main">
            <a:srgbClr val="EDF6FF"/>
          </a:solidFill>
          <a:ln xmlns:a="http://schemas.openxmlformats.org/drawingml/2006/main" w="24765">
            <a:solidFill>
              <a:srgbClr val="408FD2"/>
            </a:solidFill>
            <a:prstDash val="solid"/>
          </a:ln>
        </p:spPr>
      </p:sp>
      <p:sp>
        <p:nvSpPr>
          <p:cNvPr id="264" name="svg_text_264">
            <a:extLst xmlns:a="http://schemas.openxmlformats.org/drawingml/2006/main">
              <a:ext uri="{FF2B5EF4-FFF2-40B4-BE49-F238E27FC236}">
                <a16:creationId xmlns:a16="http://schemas.microsoft.com/office/drawing/2014/main" id="{7F9BF165-F3BD-49CC-811D-0D11F6F8E517}"/>
              </a:ext>
            </a:extLst>
          </p:cNvPr>
          <p:cNvSpPr>
            <a:spLocks xmlns:a="http://schemas.openxmlformats.org/drawingml/2006/main" noGrp="1"/>
          </p:cNvSpPr>
          <p:nvPr/>
        </p:nvSpPr>
        <p:spPr>
          <a:xfrm xmlns:a="http://schemas.openxmlformats.org/drawingml/2006/main">
            <a:off x="12036647" y="8465214"/>
            <a:ext cx="2072831"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7539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Random RVQ-Depth Sampling</a:t>
            </a:r>
          </a:p>
        </p:txBody>
      </p:sp>
      <p:sp>
        <p:nvSpPr>
          <p:cNvPr id="265" name="svg_text_265">
            <a:extLst xmlns:a="http://schemas.openxmlformats.org/drawingml/2006/main">
              <a:ext uri="{FF2B5EF4-FFF2-40B4-BE49-F238E27FC236}">
                <a16:creationId xmlns:a16="http://schemas.microsoft.com/office/drawing/2014/main" id="{1593C5C7-7709-47A6-B882-105E45580016}"/>
              </a:ext>
            </a:extLst>
          </p:cNvPr>
          <p:cNvSpPr>
            <a:spLocks xmlns:a="http://schemas.openxmlformats.org/drawingml/2006/main" noGrp="1"/>
          </p:cNvSpPr>
          <p:nvPr/>
        </p:nvSpPr>
        <p:spPr>
          <a:xfrm xmlns:a="http://schemas.openxmlformats.org/drawingml/2006/main">
            <a:off x="12036647" y="8706803"/>
            <a:ext cx="2072831"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training augmentation only</a:t>
            </a:r>
          </a:p>
        </p:txBody>
      </p:sp>
      <p:sp>
        <p:nvSpPr>
          <p:cNvPr id="266" name="svg_path_266">
            <a:extLst xmlns:a="http://schemas.openxmlformats.org/drawingml/2006/main">
              <a:ext uri="{FF2B5EF4-FFF2-40B4-BE49-F238E27FC236}">
                <a16:creationId xmlns:a16="http://schemas.microsoft.com/office/drawing/2014/main" id="{F2369A13-7AC3-4C65-B893-EA34F5CC7BE2}"/>
              </a:ext>
            </a:extLst>
          </p:cNvPr>
          <p:cNvSpPr>
            <a:spLocks xmlns:a="http://schemas.openxmlformats.org/drawingml/2006/main" noGrp="1"/>
          </p:cNvSpPr>
          <p:nvPr/>
        </p:nvSpPr>
        <p:spPr>
          <a:xfrm xmlns:a="http://schemas.openxmlformats.org/drawingml/2006/main">
            <a:off x="11906250" y="8953500"/>
            <a:ext cx="1162050" cy="285750"/>
          </a:xfrm>
          <a:custGeom xmlns:a="http://schemas.openxmlformats.org/drawingml/2006/main">
            <a:pathLst>
              <a:path w="1162050" h="285750">
                <a:moveTo>
                  <a:pt x="1162050" y="0"/>
                </a:moveTo>
                <a:lnTo>
                  <a:pt x="1162050" y="285750"/>
                </a:lnTo>
                <a:lnTo>
                  <a:pt x="0" y="285750"/>
                </a:lnTo>
              </a:path>
            </a:pathLst>
          </a:custGeom>
          <a:noFill xmlns:a="http://schemas.openxmlformats.org/drawingml/2006/main"/>
          <a:ln xmlns:a="http://schemas.openxmlformats.org/drawingml/2006/main" w="24765">
            <a:solidFill>
              <a:srgbClr val="2386D8"/>
            </a:solidFill>
            <a:prstDash val="solid"/>
          </a:ln>
        </p:spPr>
      </p:sp>
      <p:sp>
        <p:nvSpPr>
          <p:cNvPr id="267" name="svg_arrowhead_267">
            <a:extLst xmlns:a="http://schemas.openxmlformats.org/drawingml/2006/main">
              <a:ext uri="{FF2B5EF4-FFF2-40B4-BE49-F238E27FC236}">
                <a16:creationId xmlns:a16="http://schemas.microsoft.com/office/drawing/2014/main" id="{6FA9910F-54CC-4A28-9D59-B7E55B2945A3}"/>
              </a:ext>
            </a:extLst>
          </p:cNvPr>
          <p:cNvSpPr>
            <a:spLocks xmlns:a="http://schemas.openxmlformats.org/drawingml/2006/main" noGrp="1"/>
          </p:cNvSpPr>
          <p:nvPr/>
        </p:nvSpPr>
        <p:spPr>
          <a:xfrm xmlns:a="http://schemas.openxmlformats.org/drawingml/2006/main">
            <a:off x="11906250" y="9172575"/>
            <a:ext cx="133350" cy="133350"/>
          </a:xfrm>
          <a:custGeom xmlns:a="http://schemas.openxmlformats.org/drawingml/2006/main">
            <a:pathLst>
              <a:path w="133350" h="133350">
                <a:moveTo>
                  <a:pt x="0" y="66675"/>
                </a:moveTo>
                <a:lnTo>
                  <a:pt x="133350" y="0"/>
                </a:lnTo>
                <a:lnTo>
                  <a:pt x="133350" y="13335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68" name="svg_rect_268">
            <a:extLst xmlns:a="http://schemas.openxmlformats.org/drawingml/2006/main">
              <a:ext uri="{FF2B5EF4-FFF2-40B4-BE49-F238E27FC236}">
                <a16:creationId xmlns:a16="http://schemas.microsoft.com/office/drawing/2014/main" id="{EA96BE01-F4B3-435A-BDF6-9BE2434E2118}"/>
              </a:ext>
            </a:extLst>
          </p:cNvPr>
          <p:cNvSpPr>
            <a:spLocks xmlns:a="http://schemas.openxmlformats.org/drawingml/2006/main" noGrp="1"/>
          </p:cNvSpPr>
          <p:nvPr/>
        </p:nvSpPr>
        <p:spPr>
          <a:xfrm xmlns:a="http://schemas.openxmlformats.org/drawingml/2006/main">
            <a:off x="11502390" y="9227820"/>
            <a:ext cx="1188720" cy="594360"/>
          </a:xfrm>
          <a:prstGeom xmlns:a="http://schemas.openxmlformats.org/drawingml/2006/main" prst="roundRect">
            <a:avLst>
              <a:gd name="adj" fmla="val 12821"/>
            </a:avLst>
          </a:prstGeom>
          <a:solidFill xmlns:a="http://schemas.openxmlformats.org/drawingml/2006/main">
            <a:srgbClr val="EDF6FF"/>
          </a:solidFill>
          <a:ln xmlns:a="http://schemas.openxmlformats.org/drawingml/2006/main" w="24765">
            <a:solidFill>
              <a:srgbClr val="408FD2"/>
            </a:solidFill>
            <a:prstDash val="solid"/>
          </a:ln>
        </p:spPr>
      </p:sp>
      <p:sp>
        <p:nvSpPr>
          <p:cNvPr id="269" name="svg_text_269">
            <a:extLst xmlns:a="http://schemas.openxmlformats.org/drawingml/2006/main">
              <a:ext uri="{FF2B5EF4-FFF2-40B4-BE49-F238E27FC236}">
                <a16:creationId xmlns:a16="http://schemas.microsoft.com/office/drawing/2014/main" id="{145D986A-0BAE-4E2F-8426-5FA1B0D9B3FF}"/>
              </a:ext>
            </a:extLst>
          </p:cNvPr>
          <p:cNvSpPr>
            <a:spLocks xmlns:a="http://schemas.openxmlformats.org/drawingml/2006/main" noGrp="1"/>
          </p:cNvSpPr>
          <p:nvPr/>
        </p:nvSpPr>
        <p:spPr>
          <a:xfrm xmlns:a="http://schemas.openxmlformats.org/drawingml/2006/main">
            <a:off x="11543995" y="9293889"/>
            <a:ext cx="110551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027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Clean Indices</a:t>
            </a:r>
          </a:p>
        </p:txBody>
      </p:sp>
      <p:sp>
        <p:nvSpPr>
          <p:cNvPr id="270" name="svg_text_270">
            <a:extLst xmlns:a="http://schemas.openxmlformats.org/drawingml/2006/main">
              <a:ext uri="{FF2B5EF4-FFF2-40B4-BE49-F238E27FC236}">
                <a16:creationId xmlns:a16="http://schemas.microsoft.com/office/drawing/2014/main" id="{C1771184-85C4-40B8-BCB6-4120896615C6}"/>
              </a:ext>
            </a:extLst>
          </p:cNvPr>
          <p:cNvSpPr>
            <a:spLocks xmlns:a="http://schemas.openxmlformats.org/drawingml/2006/main" noGrp="1"/>
          </p:cNvSpPr>
          <p:nvPr/>
        </p:nvSpPr>
        <p:spPr>
          <a:xfrm xmlns:a="http://schemas.openxmlformats.org/drawingml/2006/main">
            <a:off x="11543995" y="9518009"/>
            <a:ext cx="1105510"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i₁,i₂,i₃</a:t>
            </a:r>
          </a:p>
        </p:txBody>
      </p:sp>
      <p:sp>
        <p:nvSpPr>
          <p:cNvPr id="271" name="svg_path_271">
            <a:extLst xmlns:a="http://schemas.openxmlformats.org/drawingml/2006/main">
              <a:ext uri="{FF2B5EF4-FFF2-40B4-BE49-F238E27FC236}">
                <a16:creationId xmlns:a16="http://schemas.microsoft.com/office/drawing/2014/main" id="{B971FD62-1AF6-4692-989D-D6440605740A}"/>
              </a:ext>
            </a:extLst>
          </p:cNvPr>
          <p:cNvSpPr>
            <a:spLocks xmlns:a="http://schemas.openxmlformats.org/drawingml/2006/main" noGrp="1"/>
          </p:cNvSpPr>
          <p:nvPr/>
        </p:nvSpPr>
        <p:spPr>
          <a:xfrm xmlns:a="http://schemas.openxmlformats.org/drawingml/2006/main">
            <a:off x="12668250" y="952500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4765">
            <a:solidFill>
              <a:srgbClr val="2386D8"/>
            </a:solidFill>
            <a:prstDash val="solid"/>
          </a:ln>
        </p:spPr>
      </p:sp>
      <p:sp>
        <p:nvSpPr>
          <p:cNvPr id="272" name="svg_arrowhead_272">
            <a:extLst xmlns:a="http://schemas.openxmlformats.org/drawingml/2006/main">
              <a:ext uri="{FF2B5EF4-FFF2-40B4-BE49-F238E27FC236}">
                <a16:creationId xmlns:a16="http://schemas.microsoft.com/office/drawing/2014/main" id="{BD8E49EF-17A9-4F3C-AA15-6622F92F34E3}"/>
              </a:ext>
            </a:extLst>
          </p:cNvPr>
          <p:cNvSpPr>
            <a:spLocks xmlns:a="http://schemas.openxmlformats.org/drawingml/2006/main" noGrp="1"/>
          </p:cNvSpPr>
          <p:nvPr/>
        </p:nvSpPr>
        <p:spPr>
          <a:xfrm xmlns:a="http://schemas.openxmlformats.org/drawingml/2006/main">
            <a:off x="12820650" y="945832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73" name="svg_rect_273">
            <a:extLst xmlns:a="http://schemas.openxmlformats.org/drawingml/2006/main">
              <a:ext uri="{FF2B5EF4-FFF2-40B4-BE49-F238E27FC236}">
                <a16:creationId xmlns:a16="http://schemas.microsoft.com/office/drawing/2014/main" id="{DC338742-51B9-4FEC-9461-F44F77525643}"/>
              </a:ext>
            </a:extLst>
          </p:cNvPr>
          <p:cNvSpPr>
            <a:spLocks xmlns:a="http://schemas.openxmlformats.org/drawingml/2006/main" noGrp="1"/>
          </p:cNvSpPr>
          <p:nvPr/>
        </p:nvSpPr>
        <p:spPr>
          <a:xfrm xmlns:a="http://schemas.openxmlformats.org/drawingml/2006/main">
            <a:off x="12930188" y="9227820"/>
            <a:ext cx="1238250" cy="594360"/>
          </a:xfrm>
          <a:prstGeom xmlns:a="http://schemas.openxmlformats.org/drawingml/2006/main" prst="roundRect">
            <a:avLst>
              <a:gd name="adj" fmla="val 12821"/>
            </a:avLst>
          </a:prstGeom>
          <a:solidFill xmlns:a="http://schemas.openxmlformats.org/drawingml/2006/main">
            <a:srgbClr val="EDF6FF"/>
          </a:solidFill>
          <a:ln xmlns:a="http://schemas.openxmlformats.org/drawingml/2006/main" w="24765">
            <a:solidFill>
              <a:srgbClr val="408FD2"/>
            </a:solidFill>
            <a:prstDash val="solid"/>
          </a:ln>
        </p:spPr>
      </p:sp>
      <p:sp>
        <p:nvSpPr>
          <p:cNvPr id="274" name="svg_text_274">
            <a:extLst xmlns:a="http://schemas.openxmlformats.org/drawingml/2006/main">
              <a:ext uri="{FF2B5EF4-FFF2-40B4-BE49-F238E27FC236}">
                <a16:creationId xmlns:a16="http://schemas.microsoft.com/office/drawing/2014/main" id="{7919AB14-EC1F-4B90-96CA-D413D0CE1724}"/>
              </a:ext>
            </a:extLst>
          </p:cNvPr>
          <p:cNvSpPr>
            <a:spLocks xmlns:a="http://schemas.openxmlformats.org/drawingml/2006/main" noGrp="1"/>
          </p:cNvSpPr>
          <p:nvPr/>
        </p:nvSpPr>
        <p:spPr>
          <a:xfrm xmlns:a="http://schemas.openxmlformats.org/drawingml/2006/main">
            <a:off x="12973526" y="928436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Decoder Dθ</a:t>
            </a:r>
          </a:p>
        </p:txBody>
      </p:sp>
      <p:sp>
        <p:nvSpPr>
          <p:cNvPr id="275" name="svg_text_275">
            <a:extLst xmlns:a="http://schemas.openxmlformats.org/drawingml/2006/main">
              <a:ext uri="{FF2B5EF4-FFF2-40B4-BE49-F238E27FC236}">
                <a16:creationId xmlns:a16="http://schemas.microsoft.com/office/drawing/2014/main" id="{FD4DB86E-2896-40DA-A5AA-F3590379ADF1}"/>
              </a:ext>
            </a:extLst>
          </p:cNvPr>
          <p:cNvSpPr>
            <a:spLocks xmlns:a="http://schemas.openxmlformats.org/drawingml/2006/main" noGrp="1"/>
          </p:cNvSpPr>
          <p:nvPr/>
        </p:nvSpPr>
        <p:spPr>
          <a:xfrm xmlns:a="http://schemas.openxmlformats.org/drawingml/2006/main">
            <a:off x="12973526" y="9553484"/>
            <a:ext cx="115157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clean pass</a:t>
            </a:r>
          </a:p>
        </p:txBody>
      </p:sp>
      <p:sp>
        <p:nvSpPr>
          <p:cNvPr id="276" name="svg_path_276">
            <a:extLst xmlns:a="http://schemas.openxmlformats.org/drawingml/2006/main">
              <a:ext uri="{FF2B5EF4-FFF2-40B4-BE49-F238E27FC236}">
                <a16:creationId xmlns:a16="http://schemas.microsoft.com/office/drawing/2014/main" id="{7571E734-8BE7-4820-A9C0-7E415A9A7D1D}"/>
              </a:ext>
            </a:extLst>
          </p:cNvPr>
          <p:cNvSpPr>
            <a:spLocks xmlns:a="http://schemas.openxmlformats.org/drawingml/2006/main" noGrp="1"/>
          </p:cNvSpPr>
          <p:nvPr/>
        </p:nvSpPr>
        <p:spPr>
          <a:xfrm xmlns:a="http://schemas.openxmlformats.org/drawingml/2006/main">
            <a:off x="14144625" y="952500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4765">
            <a:solidFill>
              <a:srgbClr val="2386D8"/>
            </a:solidFill>
            <a:prstDash val="solid"/>
          </a:ln>
        </p:spPr>
      </p:sp>
      <p:sp>
        <p:nvSpPr>
          <p:cNvPr id="277" name="svg_arrowhead_277">
            <a:extLst xmlns:a="http://schemas.openxmlformats.org/drawingml/2006/main">
              <a:ext uri="{FF2B5EF4-FFF2-40B4-BE49-F238E27FC236}">
                <a16:creationId xmlns:a16="http://schemas.microsoft.com/office/drawing/2014/main" id="{9129122A-7118-4162-B9F8-4B3080A1F7C4}"/>
              </a:ext>
            </a:extLst>
          </p:cNvPr>
          <p:cNvSpPr>
            <a:spLocks xmlns:a="http://schemas.openxmlformats.org/drawingml/2006/main" noGrp="1"/>
          </p:cNvSpPr>
          <p:nvPr/>
        </p:nvSpPr>
        <p:spPr>
          <a:xfrm xmlns:a="http://schemas.openxmlformats.org/drawingml/2006/main">
            <a:off x="14154150" y="945832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78" name="svg_rect_278">
            <a:extLst xmlns:a="http://schemas.openxmlformats.org/drawingml/2006/main">
              <a:ext uri="{FF2B5EF4-FFF2-40B4-BE49-F238E27FC236}">
                <a16:creationId xmlns:a16="http://schemas.microsoft.com/office/drawing/2014/main" id="{A8A45F33-C93A-4C0C-B21B-72F11BAD0408}"/>
              </a:ext>
            </a:extLst>
          </p:cNvPr>
          <p:cNvSpPr>
            <a:spLocks xmlns:a="http://schemas.openxmlformats.org/drawingml/2006/main" noGrp="1"/>
          </p:cNvSpPr>
          <p:nvPr/>
        </p:nvSpPr>
        <p:spPr>
          <a:xfrm xmlns:a="http://schemas.openxmlformats.org/drawingml/2006/main">
            <a:off x="14278928" y="9227820"/>
            <a:ext cx="445770" cy="594360"/>
          </a:xfrm>
          <a:prstGeom xmlns:a="http://schemas.openxmlformats.org/drawingml/2006/main" prst="roundRect">
            <a:avLst>
              <a:gd name="adj" fmla="val 17094"/>
            </a:avLst>
          </a:prstGeom>
          <a:solidFill xmlns:a="http://schemas.openxmlformats.org/drawingml/2006/main">
            <a:srgbClr val="EDF6FF"/>
          </a:solidFill>
          <a:ln xmlns:a="http://schemas.openxmlformats.org/drawingml/2006/main" w="24765">
            <a:solidFill>
              <a:srgbClr val="408FD2"/>
            </a:solidFill>
            <a:prstDash val="solid"/>
          </a:ln>
        </p:spPr>
      </p:sp>
      <p:sp>
        <p:nvSpPr>
          <p:cNvPr id="279" name="svg_text_279">
            <a:extLst xmlns:a="http://schemas.openxmlformats.org/drawingml/2006/main">
              <a:ext uri="{FF2B5EF4-FFF2-40B4-BE49-F238E27FC236}">
                <a16:creationId xmlns:a16="http://schemas.microsoft.com/office/drawing/2014/main" id="{9B0EFCA4-63A8-4321-9BC2-B48083B14542}"/>
              </a:ext>
            </a:extLst>
          </p:cNvPr>
          <p:cNvSpPr>
            <a:spLocks xmlns:a="http://schemas.openxmlformats.org/drawingml/2006/main" noGrp="1"/>
          </p:cNvSpPr>
          <p:nvPr/>
        </p:nvSpPr>
        <p:spPr>
          <a:xfrm xmlns:a="http://schemas.openxmlformats.org/drawingml/2006/main">
            <a:off x="14317028" y="9343934"/>
            <a:ext cx="36957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Clean</a:t>
            </a:r>
          </a:p>
        </p:txBody>
      </p:sp>
      <p:sp>
        <p:nvSpPr>
          <p:cNvPr id="280" name="svg_text_280">
            <a:extLst xmlns:a="http://schemas.openxmlformats.org/drawingml/2006/main">
              <a:ext uri="{FF2B5EF4-FFF2-40B4-BE49-F238E27FC236}">
                <a16:creationId xmlns:a16="http://schemas.microsoft.com/office/drawing/2014/main" id="{9A4B9C9B-53D3-45C0-822B-0340B17A8E4C}"/>
              </a:ext>
            </a:extLst>
          </p:cNvPr>
          <p:cNvSpPr>
            <a:spLocks xmlns:a="http://schemas.openxmlformats.org/drawingml/2006/main" noGrp="1"/>
          </p:cNvSpPr>
          <p:nvPr/>
        </p:nvSpPr>
        <p:spPr>
          <a:xfrm xmlns:a="http://schemas.openxmlformats.org/drawingml/2006/main">
            <a:off x="14317028" y="9515384"/>
            <a:ext cx="36957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Mel</a:t>
            </a:r>
          </a:p>
        </p:txBody>
      </p:sp>
      <p:sp>
        <p:nvSpPr>
          <p:cNvPr id="281" name="svg_path_281">
            <a:extLst xmlns:a="http://schemas.openxmlformats.org/drawingml/2006/main">
              <a:ext uri="{FF2B5EF4-FFF2-40B4-BE49-F238E27FC236}">
                <a16:creationId xmlns:a16="http://schemas.microsoft.com/office/drawing/2014/main" id="{E5610875-75D8-4D67-BE3A-80AA2F0409F0}"/>
              </a:ext>
            </a:extLst>
          </p:cNvPr>
          <p:cNvSpPr>
            <a:spLocks xmlns:a="http://schemas.openxmlformats.org/drawingml/2006/main" noGrp="1"/>
          </p:cNvSpPr>
          <p:nvPr/>
        </p:nvSpPr>
        <p:spPr>
          <a:xfrm xmlns:a="http://schemas.openxmlformats.org/drawingml/2006/main">
            <a:off x="12096750" y="9810750"/>
            <a:ext cx="9525" cy="476250"/>
          </a:xfrm>
          <a:custGeom xmlns:a="http://schemas.openxmlformats.org/drawingml/2006/main">
            <a:pathLst>
              <a:path w="9525" h="476250">
                <a:moveTo>
                  <a:pt x="0" y="0"/>
                </a:moveTo>
                <a:lnTo>
                  <a:pt x="0" y="476250"/>
                </a:lnTo>
              </a:path>
            </a:pathLst>
          </a:custGeom>
          <a:noFill xmlns:a="http://schemas.openxmlformats.org/drawingml/2006/main"/>
          <a:ln xmlns:a="http://schemas.openxmlformats.org/drawingml/2006/main" w="24765">
            <a:solidFill>
              <a:srgbClr val="2386D8"/>
            </a:solidFill>
            <a:prstDash val="solid"/>
          </a:ln>
        </p:spPr>
      </p:sp>
      <p:sp>
        <p:nvSpPr>
          <p:cNvPr id="282" name="svg_arrowhead_282">
            <a:extLst xmlns:a="http://schemas.openxmlformats.org/drawingml/2006/main">
              <a:ext uri="{FF2B5EF4-FFF2-40B4-BE49-F238E27FC236}">
                <a16:creationId xmlns:a16="http://schemas.microsoft.com/office/drawing/2014/main" id="{0336F2F9-473A-4C0A-9A40-271276CB9E40}"/>
              </a:ext>
            </a:extLst>
          </p:cNvPr>
          <p:cNvSpPr>
            <a:spLocks xmlns:a="http://schemas.openxmlformats.org/drawingml/2006/main" noGrp="1"/>
          </p:cNvSpPr>
          <p:nvPr/>
        </p:nvSpPr>
        <p:spPr>
          <a:xfrm xmlns:a="http://schemas.openxmlformats.org/drawingml/2006/main">
            <a:off x="12030075" y="101536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83" name="svg_rect_283">
            <a:extLst xmlns:a="http://schemas.openxmlformats.org/drawingml/2006/main">
              <a:ext uri="{FF2B5EF4-FFF2-40B4-BE49-F238E27FC236}">
                <a16:creationId xmlns:a16="http://schemas.microsoft.com/office/drawing/2014/main" id="{CCF202A1-BEC2-4878-80AC-D37E02FB897F}"/>
              </a:ext>
            </a:extLst>
          </p:cNvPr>
          <p:cNvSpPr>
            <a:spLocks xmlns:a="http://schemas.openxmlformats.org/drawingml/2006/main" noGrp="1"/>
          </p:cNvSpPr>
          <p:nvPr/>
        </p:nvSpPr>
        <p:spPr>
          <a:xfrm xmlns:a="http://schemas.openxmlformats.org/drawingml/2006/main">
            <a:off x="11497628" y="10275570"/>
            <a:ext cx="1436370" cy="594360"/>
          </a:xfrm>
          <a:prstGeom xmlns:a="http://schemas.openxmlformats.org/drawingml/2006/main" prst="roundRect">
            <a:avLst>
              <a:gd name="adj" fmla="val 12821"/>
            </a:avLst>
          </a:prstGeom>
          <a:solidFill xmlns:a="http://schemas.openxmlformats.org/drawingml/2006/main">
            <a:srgbClr val="EDF6FF"/>
          </a:solidFill>
          <a:ln xmlns:a="http://schemas.openxmlformats.org/drawingml/2006/main" w="24765">
            <a:solidFill>
              <a:srgbClr val="408FD2"/>
            </a:solidFill>
            <a:prstDash val="solid"/>
          </a:ln>
        </p:spPr>
      </p:sp>
      <p:sp>
        <p:nvSpPr>
          <p:cNvPr id="284" name="svg_text_284">
            <a:extLst xmlns:a="http://schemas.openxmlformats.org/drawingml/2006/main">
              <a:ext uri="{FF2B5EF4-FFF2-40B4-BE49-F238E27FC236}">
                <a16:creationId xmlns:a16="http://schemas.microsoft.com/office/drawing/2014/main" id="{868D8EBA-6643-41F1-BF59-007DC87F130A}"/>
              </a:ext>
            </a:extLst>
          </p:cNvPr>
          <p:cNvSpPr>
            <a:spLocks xmlns:a="http://schemas.openxmlformats.org/drawingml/2006/main" noGrp="1"/>
          </p:cNvSpPr>
          <p:nvPr/>
        </p:nvSpPr>
        <p:spPr>
          <a:xfrm xmlns:a="http://schemas.openxmlformats.org/drawingml/2006/main">
            <a:off x="11547900" y="10417839"/>
            <a:ext cx="133582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79268"/>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Index Perturbation</a:t>
            </a:r>
          </a:p>
        </p:txBody>
      </p:sp>
      <p:sp>
        <p:nvSpPr>
          <p:cNvPr id="285" name="svg_path_285">
            <a:extLst xmlns:a="http://schemas.openxmlformats.org/drawingml/2006/main">
              <a:ext uri="{FF2B5EF4-FFF2-40B4-BE49-F238E27FC236}">
                <a16:creationId xmlns:a16="http://schemas.microsoft.com/office/drawing/2014/main" id="{3409409C-BDAB-455C-8CA1-8BF1A9DE9A86}"/>
              </a:ext>
            </a:extLst>
          </p:cNvPr>
          <p:cNvSpPr>
            <a:spLocks xmlns:a="http://schemas.openxmlformats.org/drawingml/2006/main" noGrp="1"/>
          </p:cNvSpPr>
          <p:nvPr/>
        </p:nvSpPr>
        <p:spPr>
          <a:xfrm xmlns:a="http://schemas.openxmlformats.org/drawingml/2006/main">
            <a:off x="12906375" y="105727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4765">
            <a:solidFill>
              <a:srgbClr val="2386D8"/>
            </a:solidFill>
            <a:prstDash val="solid"/>
          </a:ln>
        </p:spPr>
      </p:sp>
      <p:sp>
        <p:nvSpPr>
          <p:cNvPr id="286" name="svg_arrowhead_286">
            <a:extLst xmlns:a="http://schemas.openxmlformats.org/drawingml/2006/main">
              <a:ext uri="{FF2B5EF4-FFF2-40B4-BE49-F238E27FC236}">
                <a16:creationId xmlns:a16="http://schemas.microsoft.com/office/drawing/2014/main" id="{F033B210-6056-4AE6-967C-707D68027AF2}"/>
              </a:ext>
            </a:extLst>
          </p:cNvPr>
          <p:cNvSpPr>
            <a:spLocks xmlns:a="http://schemas.openxmlformats.org/drawingml/2006/main" noGrp="1"/>
          </p:cNvSpPr>
          <p:nvPr/>
        </p:nvSpPr>
        <p:spPr>
          <a:xfrm xmlns:a="http://schemas.openxmlformats.org/drawingml/2006/main">
            <a:off x="13011150" y="10506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87" name="svg_rect_287">
            <a:extLst xmlns:a="http://schemas.openxmlformats.org/drawingml/2006/main">
              <a:ext uri="{FF2B5EF4-FFF2-40B4-BE49-F238E27FC236}">
                <a16:creationId xmlns:a16="http://schemas.microsoft.com/office/drawing/2014/main" id="{C69E8F49-EE9C-4183-852A-1218C6766FEB}"/>
              </a:ext>
            </a:extLst>
          </p:cNvPr>
          <p:cNvSpPr>
            <a:spLocks xmlns:a="http://schemas.openxmlformats.org/drawingml/2006/main" noGrp="1"/>
          </p:cNvSpPr>
          <p:nvPr/>
        </p:nvSpPr>
        <p:spPr>
          <a:xfrm xmlns:a="http://schemas.openxmlformats.org/drawingml/2006/main">
            <a:off x="13119735" y="10275570"/>
            <a:ext cx="1287780" cy="594360"/>
          </a:xfrm>
          <a:prstGeom xmlns:a="http://schemas.openxmlformats.org/drawingml/2006/main" prst="roundRect">
            <a:avLst>
              <a:gd name="adj" fmla="val 12821"/>
            </a:avLst>
          </a:prstGeom>
          <a:solidFill xmlns:a="http://schemas.openxmlformats.org/drawingml/2006/main">
            <a:srgbClr val="EDF6FF"/>
          </a:solidFill>
          <a:ln xmlns:a="http://schemas.openxmlformats.org/drawingml/2006/main" w="24765">
            <a:solidFill>
              <a:srgbClr val="408FD2"/>
            </a:solidFill>
            <a:prstDash val="solid"/>
          </a:ln>
        </p:spPr>
      </p:sp>
      <p:sp>
        <p:nvSpPr>
          <p:cNvPr id="288" name="svg_text_288">
            <a:extLst xmlns:a="http://schemas.openxmlformats.org/drawingml/2006/main">
              <a:ext uri="{FF2B5EF4-FFF2-40B4-BE49-F238E27FC236}">
                <a16:creationId xmlns:a16="http://schemas.microsoft.com/office/drawing/2014/main" id="{8BE46204-3722-47E3-A942-07628B904A4A}"/>
              </a:ext>
            </a:extLst>
          </p:cNvPr>
          <p:cNvSpPr>
            <a:spLocks xmlns:a="http://schemas.openxmlformats.org/drawingml/2006/main" noGrp="1"/>
          </p:cNvSpPr>
          <p:nvPr/>
        </p:nvSpPr>
        <p:spPr>
          <a:xfrm xmlns:a="http://schemas.openxmlformats.org/drawingml/2006/main">
            <a:off x="13164807" y="10322589"/>
            <a:ext cx="1197635"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Perturbed</a:t>
            </a:r>
          </a:p>
        </p:txBody>
      </p:sp>
      <p:sp>
        <p:nvSpPr>
          <p:cNvPr id="289" name="svg_text_289">
            <a:extLst xmlns:a="http://schemas.openxmlformats.org/drawingml/2006/main">
              <a:ext uri="{FF2B5EF4-FFF2-40B4-BE49-F238E27FC236}">
                <a16:creationId xmlns:a16="http://schemas.microsoft.com/office/drawing/2014/main" id="{F01D8165-484A-420B-B251-A5FD0C843703}"/>
              </a:ext>
            </a:extLst>
          </p:cNvPr>
          <p:cNvSpPr>
            <a:spLocks xmlns:a="http://schemas.openxmlformats.org/drawingml/2006/main" noGrp="1"/>
          </p:cNvSpPr>
          <p:nvPr/>
        </p:nvSpPr>
        <p:spPr>
          <a:xfrm xmlns:a="http://schemas.openxmlformats.org/drawingml/2006/main">
            <a:off x="13164807" y="10546813"/>
            <a:ext cx="1197635"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ĩ₁,ĩ₂,ĩ₃</a:t>
            </a:r>
          </a:p>
        </p:txBody>
      </p:sp>
      <p:sp>
        <p:nvSpPr>
          <p:cNvPr id="290" name="svg_path_290">
            <a:extLst xmlns:a="http://schemas.openxmlformats.org/drawingml/2006/main">
              <a:ext uri="{FF2B5EF4-FFF2-40B4-BE49-F238E27FC236}">
                <a16:creationId xmlns:a16="http://schemas.microsoft.com/office/drawing/2014/main" id="{B6405DDF-D48E-4F84-9B41-5D10FA2429A7}"/>
              </a:ext>
            </a:extLst>
          </p:cNvPr>
          <p:cNvSpPr>
            <a:spLocks xmlns:a="http://schemas.openxmlformats.org/drawingml/2006/main" noGrp="1"/>
          </p:cNvSpPr>
          <p:nvPr/>
        </p:nvSpPr>
        <p:spPr>
          <a:xfrm xmlns:a="http://schemas.openxmlformats.org/drawingml/2006/main">
            <a:off x="13763625" y="10858500"/>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24765">
            <a:solidFill>
              <a:srgbClr val="2386D8"/>
            </a:solidFill>
            <a:prstDash val="solid"/>
          </a:ln>
        </p:spPr>
      </p:sp>
      <p:sp>
        <p:nvSpPr>
          <p:cNvPr id="291" name="svg_arrowhead_291">
            <a:extLst xmlns:a="http://schemas.openxmlformats.org/drawingml/2006/main">
              <a:ext uri="{FF2B5EF4-FFF2-40B4-BE49-F238E27FC236}">
                <a16:creationId xmlns:a16="http://schemas.microsoft.com/office/drawing/2014/main" id="{D0EC3876-8D0C-448C-A70E-B129AE49BCC6}"/>
              </a:ext>
            </a:extLst>
          </p:cNvPr>
          <p:cNvSpPr>
            <a:spLocks xmlns:a="http://schemas.openxmlformats.org/drawingml/2006/main" noGrp="1"/>
          </p:cNvSpPr>
          <p:nvPr/>
        </p:nvSpPr>
        <p:spPr>
          <a:xfrm xmlns:a="http://schemas.openxmlformats.org/drawingml/2006/main">
            <a:off x="13696950" y="1101090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92" name="svg_rect_292">
            <a:extLst xmlns:a="http://schemas.openxmlformats.org/drawingml/2006/main">
              <a:ext uri="{FF2B5EF4-FFF2-40B4-BE49-F238E27FC236}">
                <a16:creationId xmlns:a16="http://schemas.microsoft.com/office/drawing/2014/main" id="{A8C6398F-9C6B-4A8C-BA54-23F9E9F0FF31}"/>
              </a:ext>
            </a:extLst>
          </p:cNvPr>
          <p:cNvSpPr>
            <a:spLocks xmlns:a="http://schemas.openxmlformats.org/drawingml/2006/main" noGrp="1"/>
          </p:cNvSpPr>
          <p:nvPr/>
        </p:nvSpPr>
        <p:spPr>
          <a:xfrm xmlns:a="http://schemas.openxmlformats.org/drawingml/2006/main">
            <a:off x="13120688" y="11132820"/>
            <a:ext cx="1238250" cy="594360"/>
          </a:xfrm>
          <a:prstGeom xmlns:a="http://schemas.openxmlformats.org/drawingml/2006/main" prst="roundRect">
            <a:avLst>
              <a:gd name="adj" fmla="val 12821"/>
            </a:avLst>
          </a:prstGeom>
          <a:solidFill xmlns:a="http://schemas.openxmlformats.org/drawingml/2006/main">
            <a:srgbClr val="EDF6FF"/>
          </a:solidFill>
          <a:ln xmlns:a="http://schemas.openxmlformats.org/drawingml/2006/main" w="24765">
            <a:solidFill>
              <a:srgbClr val="408FD2"/>
            </a:solidFill>
            <a:prstDash val="solid"/>
          </a:ln>
        </p:spPr>
      </p:sp>
      <p:sp>
        <p:nvSpPr>
          <p:cNvPr id="293" name="svg_text_293">
            <a:extLst xmlns:a="http://schemas.openxmlformats.org/drawingml/2006/main">
              <a:ext uri="{FF2B5EF4-FFF2-40B4-BE49-F238E27FC236}">
                <a16:creationId xmlns:a16="http://schemas.microsoft.com/office/drawing/2014/main" id="{54C1E7CC-9393-4382-9561-4645D7C152FD}"/>
              </a:ext>
            </a:extLst>
          </p:cNvPr>
          <p:cNvSpPr>
            <a:spLocks xmlns:a="http://schemas.openxmlformats.org/drawingml/2006/main" noGrp="1"/>
          </p:cNvSpPr>
          <p:nvPr/>
        </p:nvSpPr>
        <p:spPr>
          <a:xfrm xmlns:a="http://schemas.openxmlformats.org/drawingml/2006/main">
            <a:off x="13164026" y="1118936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Decoder Dθ</a:t>
            </a:r>
          </a:p>
        </p:txBody>
      </p:sp>
      <p:sp>
        <p:nvSpPr>
          <p:cNvPr id="294" name="svg_text_294">
            <a:extLst xmlns:a="http://schemas.openxmlformats.org/drawingml/2006/main">
              <a:ext uri="{FF2B5EF4-FFF2-40B4-BE49-F238E27FC236}">
                <a16:creationId xmlns:a16="http://schemas.microsoft.com/office/drawing/2014/main" id="{D4F9A89C-1813-49CE-8A81-40FA40348E2A}"/>
              </a:ext>
            </a:extLst>
          </p:cNvPr>
          <p:cNvSpPr>
            <a:spLocks xmlns:a="http://schemas.openxmlformats.org/drawingml/2006/main" noGrp="1"/>
          </p:cNvSpPr>
          <p:nvPr/>
        </p:nvSpPr>
        <p:spPr>
          <a:xfrm xmlns:a="http://schemas.openxmlformats.org/drawingml/2006/main">
            <a:off x="13164026" y="11458484"/>
            <a:ext cx="115157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same weights</a:t>
            </a:r>
          </a:p>
        </p:txBody>
      </p:sp>
      <p:sp>
        <p:nvSpPr>
          <p:cNvPr id="295" name="svg_path_295">
            <a:extLst xmlns:a="http://schemas.openxmlformats.org/drawingml/2006/main">
              <a:ext uri="{FF2B5EF4-FFF2-40B4-BE49-F238E27FC236}">
                <a16:creationId xmlns:a16="http://schemas.microsoft.com/office/drawing/2014/main" id="{1A28CE7A-49AB-45A6-B27C-E54626163645}"/>
              </a:ext>
            </a:extLst>
          </p:cNvPr>
          <p:cNvSpPr>
            <a:spLocks xmlns:a="http://schemas.openxmlformats.org/drawingml/2006/main" noGrp="1"/>
          </p:cNvSpPr>
          <p:nvPr/>
        </p:nvSpPr>
        <p:spPr>
          <a:xfrm xmlns:a="http://schemas.openxmlformats.org/drawingml/2006/main">
            <a:off x="14335125" y="11430000"/>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24765">
            <a:solidFill>
              <a:srgbClr val="2386D8"/>
            </a:solidFill>
            <a:prstDash val="solid"/>
          </a:ln>
        </p:spPr>
      </p:sp>
      <p:sp>
        <p:nvSpPr>
          <p:cNvPr id="296" name="svg_arrowhead_296">
            <a:extLst xmlns:a="http://schemas.openxmlformats.org/drawingml/2006/main">
              <a:ext uri="{FF2B5EF4-FFF2-40B4-BE49-F238E27FC236}">
                <a16:creationId xmlns:a16="http://schemas.microsoft.com/office/drawing/2014/main" id="{F04EF1C1-AA42-415A-81A2-3F0B5B937022}"/>
              </a:ext>
            </a:extLst>
          </p:cNvPr>
          <p:cNvSpPr>
            <a:spLocks xmlns:a="http://schemas.openxmlformats.org/drawingml/2006/main" noGrp="1"/>
          </p:cNvSpPr>
          <p:nvPr/>
        </p:nvSpPr>
        <p:spPr>
          <a:xfrm xmlns:a="http://schemas.openxmlformats.org/drawingml/2006/main">
            <a:off x="14297025" y="1136332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97" name="svg_rect_297">
            <a:extLst xmlns:a="http://schemas.openxmlformats.org/drawingml/2006/main">
              <a:ext uri="{FF2B5EF4-FFF2-40B4-BE49-F238E27FC236}">
                <a16:creationId xmlns:a16="http://schemas.microsoft.com/office/drawing/2014/main" id="{9B504FEB-7217-4D08-9800-95D4A06AEFBA}"/>
              </a:ext>
            </a:extLst>
          </p:cNvPr>
          <p:cNvSpPr>
            <a:spLocks xmlns:a="http://schemas.openxmlformats.org/drawingml/2006/main" noGrp="1"/>
          </p:cNvSpPr>
          <p:nvPr/>
        </p:nvSpPr>
        <p:spPr>
          <a:xfrm xmlns:a="http://schemas.openxmlformats.org/drawingml/2006/main">
            <a:off x="14422755" y="11132820"/>
            <a:ext cx="396240" cy="594360"/>
          </a:xfrm>
          <a:prstGeom xmlns:a="http://schemas.openxmlformats.org/drawingml/2006/main" prst="roundRect">
            <a:avLst>
              <a:gd name="adj" fmla="val 19231"/>
            </a:avLst>
          </a:prstGeom>
          <a:solidFill xmlns:a="http://schemas.openxmlformats.org/drawingml/2006/main">
            <a:srgbClr val="EDF6FF"/>
          </a:solidFill>
          <a:ln xmlns:a="http://schemas.openxmlformats.org/drawingml/2006/main" w="24765">
            <a:solidFill>
              <a:srgbClr val="408FD2"/>
            </a:solidFill>
            <a:prstDash val="solid"/>
          </a:ln>
        </p:spPr>
      </p:sp>
      <p:sp>
        <p:nvSpPr>
          <p:cNvPr id="298" name="svg_text_298">
            <a:extLst xmlns:a="http://schemas.openxmlformats.org/drawingml/2006/main">
              <a:ext uri="{FF2B5EF4-FFF2-40B4-BE49-F238E27FC236}">
                <a16:creationId xmlns:a16="http://schemas.microsoft.com/office/drawing/2014/main" id="{2C0291D8-BFD3-4E47-8B0A-676E50459202}"/>
              </a:ext>
            </a:extLst>
          </p:cNvPr>
          <p:cNvSpPr>
            <a:spLocks xmlns:a="http://schemas.openxmlformats.org/drawingml/2006/main" noGrp="1"/>
          </p:cNvSpPr>
          <p:nvPr/>
        </p:nvSpPr>
        <p:spPr>
          <a:xfrm xmlns:a="http://schemas.openxmlformats.org/drawingml/2006/main">
            <a:off x="14460855" y="11248934"/>
            <a:ext cx="3200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Pert.</a:t>
            </a:r>
          </a:p>
        </p:txBody>
      </p:sp>
      <p:sp>
        <p:nvSpPr>
          <p:cNvPr id="299" name="svg_text_299">
            <a:extLst xmlns:a="http://schemas.openxmlformats.org/drawingml/2006/main">
              <a:ext uri="{FF2B5EF4-FFF2-40B4-BE49-F238E27FC236}">
                <a16:creationId xmlns:a16="http://schemas.microsoft.com/office/drawing/2014/main" id="{4E18ADC2-FECF-4DC7-A985-E6DECE97E916}"/>
              </a:ext>
            </a:extLst>
          </p:cNvPr>
          <p:cNvSpPr>
            <a:spLocks xmlns:a="http://schemas.openxmlformats.org/drawingml/2006/main" noGrp="1"/>
          </p:cNvSpPr>
          <p:nvPr/>
        </p:nvSpPr>
        <p:spPr>
          <a:xfrm xmlns:a="http://schemas.openxmlformats.org/drawingml/2006/main">
            <a:off x="14460855" y="11420384"/>
            <a:ext cx="3200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Mel</a:t>
            </a:r>
          </a:p>
        </p:txBody>
      </p:sp>
      <p:sp>
        <p:nvSpPr>
          <p:cNvPr id="300" name="svg_rect_300">
            <a:extLst xmlns:a="http://schemas.openxmlformats.org/drawingml/2006/main">
              <a:ext uri="{FF2B5EF4-FFF2-40B4-BE49-F238E27FC236}">
                <a16:creationId xmlns:a16="http://schemas.microsoft.com/office/drawing/2014/main" id="{20388241-2AE6-40D9-AAEF-7B5FA0A01C08}"/>
              </a:ext>
            </a:extLst>
          </p:cNvPr>
          <p:cNvSpPr>
            <a:spLocks xmlns:a="http://schemas.openxmlformats.org/drawingml/2006/main" noGrp="1"/>
          </p:cNvSpPr>
          <p:nvPr/>
        </p:nvSpPr>
        <p:spPr>
          <a:xfrm xmlns:a="http://schemas.openxmlformats.org/drawingml/2006/main">
            <a:off x="11810048" y="11894820"/>
            <a:ext cx="2526030" cy="594360"/>
          </a:xfrm>
          <a:prstGeom xmlns:a="http://schemas.openxmlformats.org/drawingml/2006/main" prst="roundRect">
            <a:avLst>
              <a:gd name="adj" fmla="val 12821"/>
            </a:avLst>
          </a:prstGeom>
          <a:solidFill xmlns:a="http://schemas.openxmlformats.org/drawingml/2006/main">
            <a:srgbClr val="FFF3DC"/>
          </a:solidFill>
          <a:ln xmlns:a="http://schemas.openxmlformats.org/drawingml/2006/main" w="22289">
            <a:solidFill>
              <a:srgbClr val="D89A33"/>
            </a:solidFill>
            <a:prstDash val="solid"/>
          </a:ln>
        </p:spPr>
      </p:sp>
      <p:sp>
        <p:nvSpPr>
          <p:cNvPr id="301" name="svg_text_301">
            <a:extLst xmlns:a="http://schemas.openxmlformats.org/drawingml/2006/main">
              <a:ext uri="{FF2B5EF4-FFF2-40B4-BE49-F238E27FC236}">
                <a16:creationId xmlns:a16="http://schemas.microsoft.com/office/drawing/2014/main" id="{E09008DD-BE0E-4929-AC12-EF37CC90CD16}"/>
              </a:ext>
            </a:extLst>
          </p:cNvPr>
          <p:cNvSpPr>
            <a:spLocks xmlns:a="http://schemas.openxmlformats.org/drawingml/2006/main" noGrp="1"/>
          </p:cNvSpPr>
          <p:nvPr/>
        </p:nvSpPr>
        <p:spPr>
          <a:xfrm xmlns:a="http://schemas.openxmlformats.org/drawingml/2006/main">
            <a:off x="11898459" y="11960889"/>
            <a:ext cx="2349208"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Clean–Perturbed Mel</a:t>
            </a:r>
          </a:p>
        </p:txBody>
      </p:sp>
      <p:sp>
        <p:nvSpPr>
          <p:cNvPr id="302" name="svg_text_302">
            <a:extLst xmlns:a="http://schemas.openxmlformats.org/drawingml/2006/main">
              <a:ext uri="{FF2B5EF4-FFF2-40B4-BE49-F238E27FC236}">
                <a16:creationId xmlns:a16="http://schemas.microsoft.com/office/drawing/2014/main" id="{E50C3572-9665-4416-B60B-42D4C1F7F91B}"/>
              </a:ext>
            </a:extLst>
          </p:cNvPr>
          <p:cNvSpPr>
            <a:spLocks xmlns:a="http://schemas.openxmlformats.org/drawingml/2006/main" noGrp="1"/>
          </p:cNvSpPr>
          <p:nvPr/>
        </p:nvSpPr>
        <p:spPr>
          <a:xfrm xmlns:a="http://schemas.openxmlformats.org/drawingml/2006/main">
            <a:off x="11898459" y="12177819"/>
            <a:ext cx="2349208"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Consistency Loss</a:t>
            </a:r>
          </a:p>
        </p:txBody>
      </p:sp>
      <p:sp>
        <p:nvSpPr>
          <p:cNvPr id="303" name="svg_path_303">
            <a:extLst xmlns:a="http://schemas.openxmlformats.org/drawingml/2006/main">
              <a:ext uri="{FF2B5EF4-FFF2-40B4-BE49-F238E27FC236}">
                <a16:creationId xmlns:a16="http://schemas.microsoft.com/office/drawing/2014/main" id="{3918E75F-CF1A-4AB7-B996-47578B3E02ED}"/>
              </a:ext>
            </a:extLst>
          </p:cNvPr>
          <p:cNvSpPr>
            <a:spLocks xmlns:a="http://schemas.openxmlformats.org/drawingml/2006/main" noGrp="1"/>
          </p:cNvSpPr>
          <p:nvPr/>
        </p:nvSpPr>
        <p:spPr>
          <a:xfrm xmlns:a="http://schemas.openxmlformats.org/drawingml/2006/main">
            <a:off x="14287500" y="9810750"/>
            <a:ext cx="209550" cy="2381250"/>
          </a:xfrm>
          <a:custGeom xmlns:a="http://schemas.openxmlformats.org/drawingml/2006/main">
            <a:pathLst>
              <a:path w="209550" h="2381250">
                <a:moveTo>
                  <a:pt x="209550" y="0"/>
                </a:moveTo>
                <a:lnTo>
                  <a:pt x="209550" y="2381250"/>
                </a:lnTo>
                <a:lnTo>
                  <a:pt x="0" y="2381250"/>
                </a:lnTo>
              </a:path>
            </a:pathLst>
          </a:custGeom>
          <a:noFill xmlns:a="http://schemas.openxmlformats.org/drawingml/2006/main"/>
          <a:ln xmlns:a="http://schemas.openxmlformats.org/drawingml/2006/main" w="24765">
            <a:solidFill>
              <a:srgbClr val="3D6285"/>
            </a:solidFill>
            <a:prstDash val="dash"/>
          </a:ln>
        </p:spPr>
      </p:sp>
      <p:sp>
        <p:nvSpPr>
          <p:cNvPr id="304" name="svg_arrowhead_304">
            <a:extLst xmlns:a="http://schemas.openxmlformats.org/drawingml/2006/main">
              <a:ext uri="{FF2B5EF4-FFF2-40B4-BE49-F238E27FC236}">
                <a16:creationId xmlns:a16="http://schemas.microsoft.com/office/drawing/2014/main" id="{995B0091-92E4-4307-A28C-C1DAA7A38EA8}"/>
              </a:ext>
            </a:extLst>
          </p:cNvPr>
          <p:cNvSpPr>
            <a:spLocks xmlns:a="http://schemas.openxmlformats.org/drawingml/2006/main" noGrp="1"/>
          </p:cNvSpPr>
          <p:nvPr/>
        </p:nvSpPr>
        <p:spPr>
          <a:xfrm xmlns:a="http://schemas.openxmlformats.org/drawingml/2006/main">
            <a:off x="14287500" y="12125325"/>
            <a:ext cx="133350" cy="133350"/>
          </a:xfrm>
          <a:custGeom xmlns:a="http://schemas.openxmlformats.org/drawingml/2006/main">
            <a:pathLst>
              <a:path w="133350" h="133350">
                <a:moveTo>
                  <a:pt x="0" y="66675"/>
                </a:moveTo>
                <a:lnTo>
                  <a:pt x="133350" y="0"/>
                </a:lnTo>
                <a:lnTo>
                  <a:pt x="13335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305" name="svg_path_305">
            <a:extLst xmlns:a="http://schemas.openxmlformats.org/drawingml/2006/main">
              <a:ext uri="{FF2B5EF4-FFF2-40B4-BE49-F238E27FC236}">
                <a16:creationId xmlns:a16="http://schemas.microsoft.com/office/drawing/2014/main" id="{8AE768BE-54B2-4FA6-A35D-FBE6EB23559B}"/>
              </a:ext>
            </a:extLst>
          </p:cNvPr>
          <p:cNvSpPr>
            <a:spLocks xmlns:a="http://schemas.openxmlformats.org/drawingml/2006/main" noGrp="1"/>
          </p:cNvSpPr>
          <p:nvPr/>
        </p:nvSpPr>
        <p:spPr>
          <a:xfrm xmlns:a="http://schemas.openxmlformats.org/drawingml/2006/main">
            <a:off x="14287500" y="11715750"/>
            <a:ext cx="333375" cy="476250"/>
          </a:xfrm>
          <a:custGeom xmlns:a="http://schemas.openxmlformats.org/drawingml/2006/main">
            <a:pathLst>
              <a:path w="333375" h="476250">
                <a:moveTo>
                  <a:pt x="333375" y="0"/>
                </a:moveTo>
                <a:lnTo>
                  <a:pt x="333375" y="476250"/>
                </a:lnTo>
                <a:lnTo>
                  <a:pt x="0" y="476250"/>
                </a:lnTo>
              </a:path>
            </a:pathLst>
          </a:custGeom>
          <a:noFill xmlns:a="http://schemas.openxmlformats.org/drawingml/2006/main"/>
          <a:ln xmlns:a="http://schemas.openxmlformats.org/drawingml/2006/main" w="24765">
            <a:solidFill>
              <a:srgbClr val="3D6285"/>
            </a:solidFill>
            <a:prstDash val="dash"/>
          </a:ln>
        </p:spPr>
      </p:sp>
      <p:sp>
        <p:nvSpPr>
          <p:cNvPr id="306" name="svg_arrowhead_306">
            <a:extLst xmlns:a="http://schemas.openxmlformats.org/drawingml/2006/main">
              <a:ext uri="{FF2B5EF4-FFF2-40B4-BE49-F238E27FC236}">
                <a16:creationId xmlns:a16="http://schemas.microsoft.com/office/drawing/2014/main" id="{51A7D635-6F6C-4A05-8898-6F12364670C5}"/>
              </a:ext>
            </a:extLst>
          </p:cNvPr>
          <p:cNvSpPr>
            <a:spLocks xmlns:a="http://schemas.openxmlformats.org/drawingml/2006/main" noGrp="1"/>
          </p:cNvSpPr>
          <p:nvPr/>
        </p:nvSpPr>
        <p:spPr>
          <a:xfrm xmlns:a="http://schemas.openxmlformats.org/drawingml/2006/main">
            <a:off x="14287500" y="12125325"/>
            <a:ext cx="133350" cy="133350"/>
          </a:xfrm>
          <a:custGeom xmlns:a="http://schemas.openxmlformats.org/drawingml/2006/main">
            <a:pathLst>
              <a:path w="133350" h="133350">
                <a:moveTo>
                  <a:pt x="0" y="66675"/>
                </a:moveTo>
                <a:lnTo>
                  <a:pt x="133350" y="0"/>
                </a:lnTo>
                <a:lnTo>
                  <a:pt x="13335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307" name="svg_path_307">
            <a:extLst xmlns:a="http://schemas.openxmlformats.org/drawingml/2006/main">
              <a:ext uri="{FF2B5EF4-FFF2-40B4-BE49-F238E27FC236}">
                <a16:creationId xmlns:a16="http://schemas.microsoft.com/office/drawing/2014/main" id="{13E8E140-5F72-476A-A0ED-6E85367F7694}"/>
              </a:ext>
            </a:extLst>
          </p:cNvPr>
          <p:cNvSpPr>
            <a:spLocks xmlns:a="http://schemas.openxmlformats.org/drawingml/2006/main" noGrp="1"/>
          </p:cNvSpPr>
          <p:nvPr/>
        </p:nvSpPr>
        <p:spPr>
          <a:xfrm xmlns:a="http://schemas.openxmlformats.org/drawingml/2006/main">
            <a:off x="14811375" y="8572500"/>
            <a:ext cx="781050" cy="762000"/>
          </a:xfrm>
          <a:custGeom xmlns:a="http://schemas.openxmlformats.org/drawingml/2006/main">
            <a:pathLst>
              <a:path w="781050" h="762000">
                <a:moveTo>
                  <a:pt x="0" y="0"/>
                </a:moveTo>
                <a:lnTo>
                  <a:pt x="781050" y="0"/>
                </a:lnTo>
                <a:lnTo>
                  <a:pt x="781050" y="762000"/>
                </a:lnTo>
              </a:path>
            </a:pathLst>
          </a:custGeom>
          <a:noFill xmlns:a="http://schemas.openxmlformats.org/drawingml/2006/main"/>
          <a:ln xmlns:a="http://schemas.openxmlformats.org/drawingml/2006/main" w="30956">
            <a:solidFill>
              <a:srgbClr val="2386D8"/>
            </a:solidFill>
            <a:prstDash val="solid"/>
          </a:ln>
        </p:spPr>
      </p:sp>
      <p:sp>
        <p:nvSpPr>
          <p:cNvPr id="308" name="svg_arrowhead_308">
            <a:extLst xmlns:a="http://schemas.openxmlformats.org/drawingml/2006/main">
              <a:ext uri="{FF2B5EF4-FFF2-40B4-BE49-F238E27FC236}">
                <a16:creationId xmlns:a16="http://schemas.microsoft.com/office/drawing/2014/main" id="{BB23E5E8-0BE1-4033-9C4F-F517DABD370C}"/>
              </a:ext>
            </a:extLst>
          </p:cNvPr>
          <p:cNvSpPr>
            <a:spLocks xmlns:a="http://schemas.openxmlformats.org/drawingml/2006/main" noGrp="1"/>
          </p:cNvSpPr>
          <p:nvPr/>
        </p:nvSpPr>
        <p:spPr>
          <a:xfrm xmlns:a="http://schemas.openxmlformats.org/drawingml/2006/main">
            <a:off x="15525750" y="92011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09" name="svg_text_309">
            <a:extLst xmlns:a="http://schemas.openxmlformats.org/drawingml/2006/main">
              <a:ext uri="{FF2B5EF4-FFF2-40B4-BE49-F238E27FC236}">
                <a16:creationId xmlns:a16="http://schemas.microsoft.com/office/drawing/2014/main" id="{B77D882F-18F5-4543-BCBD-BE461623158A}"/>
              </a:ext>
            </a:extLst>
          </p:cNvPr>
          <p:cNvSpPr>
            <a:spLocks xmlns:a="http://schemas.openxmlformats.org/drawingml/2006/main" noGrp="1"/>
          </p:cNvSpPr>
          <p:nvPr/>
        </p:nvSpPr>
        <p:spPr>
          <a:xfrm xmlns:a="http://schemas.openxmlformats.org/drawingml/2006/main">
            <a:off x="14374703" y="8334284"/>
            <a:ext cx="173059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optimized weights</a:t>
            </a:r>
          </a:p>
        </p:txBody>
      </p:sp>
      <p:sp>
        <p:nvSpPr>
          <p:cNvPr id="310" name="svg_rect_310">
            <a:extLst xmlns:a="http://schemas.openxmlformats.org/drawingml/2006/main">
              <a:ext uri="{FF2B5EF4-FFF2-40B4-BE49-F238E27FC236}">
                <a16:creationId xmlns:a16="http://schemas.microsoft.com/office/drawing/2014/main" id="{938C67AC-3317-433A-9C27-E8EB30073D2E}"/>
              </a:ext>
            </a:extLst>
          </p:cNvPr>
          <p:cNvSpPr>
            <a:spLocks xmlns:a="http://schemas.openxmlformats.org/drawingml/2006/main" noGrp="1"/>
          </p:cNvSpPr>
          <p:nvPr/>
        </p:nvSpPr>
        <p:spPr>
          <a:xfrm xmlns:a="http://schemas.openxmlformats.org/drawingml/2006/main">
            <a:off x="15077123" y="9315450"/>
            <a:ext cx="1040130" cy="990600"/>
          </a:xfrm>
          <a:prstGeom xmlns:a="http://schemas.openxmlformats.org/drawingml/2006/main" prst="roundRect">
            <a:avLst>
              <a:gd name="adj" fmla="val 7692"/>
            </a:avLst>
          </a:prstGeom>
          <a:solidFill xmlns:a="http://schemas.openxmlformats.org/drawingml/2006/main">
            <a:srgbClr val="EDF6FF"/>
          </a:solidFill>
          <a:ln xmlns:a="http://schemas.openxmlformats.org/drawingml/2006/main" w="24765">
            <a:solidFill>
              <a:srgbClr val="408FD2"/>
            </a:solidFill>
            <a:prstDash val="solid"/>
          </a:ln>
        </p:spPr>
      </p:sp>
      <p:sp>
        <p:nvSpPr>
          <p:cNvPr id="311" name="svg_text_311">
            <a:extLst xmlns:a="http://schemas.openxmlformats.org/drawingml/2006/main">
              <a:ext uri="{FF2B5EF4-FFF2-40B4-BE49-F238E27FC236}">
                <a16:creationId xmlns:a16="http://schemas.microsoft.com/office/drawing/2014/main" id="{7B7CA83F-E21A-47B8-A047-58B1B1F0E78B}"/>
              </a:ext>
            </a:extLst>
          </p:cNvPr>
          <p:cNvSpPr>
            <a:spLocks xmlns:a="http://schemas.openxmlformats.org/drawingml/2006/main" noGrp="1"/>
          </p:cNvSpPr>
          <p:nvPr/>
        </p:nvSpPr>
        <p:spPr>
          <a:xfrm xmlns:a="http://schemas.openxmlformats.org/drawingml/2006/main">
            <a:off x="15115223" y="9465339"/>
            <a:ext cx="96393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281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SCIT-Speech</a:t>
            </a:r>
          </a:p>
        </p:txBody>
      </p:sp>
      <p:sp>
        <p:nvSpPr>
          <p:cNvPr id="312" name="svg_text_312">
            <a:extLst xmlns:a="http://schemas.openxmlformats.org/drawingml/2006/main">
              <a:ext uri="{FF2B5EF4-FFF2-40B4-BE49-F238E27FC236}">
                <a16:creationId xmlns:a16="http://schemas.microsoft.com/office/drawing/2014/main" id="{687B1BE7-A00E-47FB-8CED-CD7FD991E1EA}"/>
              </a:ext>
            </a:extLst>
          </p:cNvPr>
          <p:cNvSpPr>
            <a:spLocks xmlns:a="http://schemas.openxmlformats.org/drawingml/2006/main" noGrp="1"/>
          </p:cNvSpPr>
          <p:nvPr/>
        </p:nvSpPr>
        <p:spPr>
          <a:xfrm xmlns:a="http://schemas.openxmlformats.org/drawingml/2006/main">
            <a:off x="15115223" y="9703464"/>
            <a:ext cx="96393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LCA</a:t>
            </a:r>
          </a:p>
        </p:txBody>
      </p:sp>
      <p:sp>
        <p:nvSpPr>
          <p:cNvPr id="313" name="svg_text_313">
            <a:extLst xmlns:a="http://schemas.openxmlformats.org/drawingml/2006/main">
              <a:ext uri="{FF2B5EF4-FFF2-40B4-BE49-F238E27FC236}">
                <a16:creationId xmlns:a16="http://schemas.microsoft.com/office/drawing/2014/main" id="{5D9505E7-2D91-4D2E-9E9E-B9E1DDD857D3}"/>
              </a:ext>
            </a:extLst>
          </p:cNvPr>
          <p:cNvSpPr>
            <a:spLocks xmlns:a="http://schemas.openxmlformats.org/drawingml/2006/main" noGrp="1"/>
          </p:cNvSpPr>
          <p:nvPr/>
        </p:nvSpPr>
        <p:spPr>
          <a:xfrm xmlns:a="http://schemas.openxmlformats.org/drawingml/2006/main">
            <a:off x="15115223" y="9982109"/>
            <a:ext cx="96393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final checkpoint</a:t>
            </a:r>
          </a:p>
        </p:txBody>
      </p:sp>
      <p:sp>
        <p:nvSpPr>
          <p:cNvPr id="314" name="svg_rect_314">
            <a:extLst xmlns:a="http://schemas.openxmlformats.org/drawingml/2006/main">
              <a:ext uri="{FF2B5EF4-FFF2-40B4-BE49-F238E27FC236}">
                <a16:creationId xmlns:a16="http://schemas.microsoft.com/office/drawing/2014/main" id="{AA457880-18AC-47B7-A50F-E0B37AE4DF2D}"/>
              </a:ext>
            </a:extLst>
          </p:cNvPr>
          <p:cNvSpPr>
            <a:spLocks xmlns:a="http://schemas.openxmlformats.org/drawingml/2006/main" noGrp="1"/>
          </p:cNvSpPr>
          <p:nvPr/>
        </p:nvSpPr>
        <p:spPr>
          <a:xfrm xmlns:a="http://schemas.openxmlformats.org/drawingml/2006/main">
            <a:off x="16668750" y="6477000"/>
            <a:ext cx="6000750" cy="6667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24765">
            <a:solidFill>
              <a:srgbClr val="7DB5E8"/>
            </a:solidFill>
            <a:prstDash val="dash"/>
          </a:ln>
        </p:spPr>
      </p:sp>
      <p:sp>
        <p:nvSpPr>
          <p:cNvPr id="315" name="svg_circle_315">
            <a:extLst xmlns:a="http://schemas.openxmlformats.org/drawingml/2006/main">
              <a:ext uri="{FF2B5EF4-FFF2-40B4-BE49-F238E27FC236}">
                <a16:creationId xmlns:a16="http://schemas.microsoft.com/office/drawing/2014/main" id="{A0BC0F25-8CD9-45AA-911A-33CCAF7AEDD1}"/>
              </a:ext>
            </a:extLst>
          </p:cNvPr>
          <p:cNvSpPr>
            <a:spLocks xmlns:a="http://schemas.openxmlformats.org/drawingml/2006/main" noGrp="1"/>
          </p:cNvSpPr>
          <p:nvPr/>
        </p:nvSpPr>
        <p:spPr>
          <a:xfrm xmlns:a="http://schemas.openxmlformats.org/drawingml/2006/main">
            <a:off x="16735425" y="6543675"/>
            <a:ext cx="533400" cy="533400"/>
          </a:xfrm>
          <a:prstGeom xmlns:a="http://schemas.openxmlformats.org/drawingml/2006/main" prst="ellipse">
            <a:avLst/>
          </a:prstGeom>
          <a:solidFill xmlns:a="http://schemas.openxmlformats.org/drawingml/2006/main">
            <a:srgbClr val="080B0E"/>
          </a:solidFill>
          <a:ln xmlns:a="http://schemas.openxmlformats.org/drawingml/2006/main" w="0">
            <a:noFill/>
            <a:prstDash val="solid"/>
          </a:ln>
        </p:spPr>
      </p:sp>
      <p:sp>
        <p:nvSpPr>
          <p:cNvPr id="316" name="svg_text_316">
            <a:extLst xmlns:a="http://schemas.openxmlformats.org/drawingml/2006/main">
              <a:ext uri="{FF2B5EF4-FFF2-40B4-BE49-F238E27FC236}">
                <a16:creationId xmlns:a16="http://schemas.microsoft.com/office/drawing/2014/main" id="{D56631D9-871D-4603-BC94-8827E01E3373}"/>
              </a:ext>
            </a:extLst>
          </p:cNvPr>
          <p:cNvSpPr>
            <a:spLocks xmlns:a="http://schemas.openxmlformats.org/drawingml/2006/main" noGrp="1"/>
          </p:cNvSpPr>
          <p:nvPr/>
        </p:nvSpPr>
        <p:spPr>
          <a:xfrm xmlns:a="http://schemas.openxmlformats.org/drawingml/2006/main">
            <a:off x="16764000" y="65722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87" b="1" i="0">
                <a:solidFill>
                  <a:srgbClr val="FFFFFF"/>
                </a:solidFill>
                <a:latin typeface="Arial"/>
                <a:ea typeface="Arial"/>
                <a:cs typeface="Arial"/>
              </a:defRPr>
            </a:pPr>
            <a:r>
              <a:rPr sz="2187" b="1" i="0">
                <a:solidFill>
                  <a:srgbClr val="FFFFFF"/>
                </a:solidFill>
                <a:latin typeface="Arial"/>
                <a:ea typeface="Arial"/>
                <a:cs typeface="Arial"/>
              </a:rPr>
              <a:t>6</a:t>
            </a:r>
          </a:p>
        </p:txBody>
      </p:sp>
      <p:sp>
        <p:nvSpPr>
          <p:cNvPr id="317" name="svg_text_317">
            <a:extLst xmlns:a="http://schemas.openxmlformats.org/drawingml/2006/main">
              <a:ext uri="{FF2B5EF4-FFF2-40B4-BE49-F238E27FC236}">
                <a16:creationId xmlns:a16="http://schemas.microsoft.com/office/drawing/2014/main" id="{0DA8401F-FEFD-4BA8-8F29-B63CC5C903FC}"/>
              </a:ext>
            </a:extLst>
          </p:cNvPr>
          <p:cNvSpPr>
            <a:spLocks xmlns:a="http://schemas.openxmlformats.org/drawingml/2006/main" noGrp="1"/>
          </p:cNvSpPr>
          <p:nvPr/>
        </p:nvSpPr>
        <p:spPr>
          <a:xfrm xmlns:a="http://schemas.openxmlformats.org/drawingml/2006/main">
            <a:off x="17383125" y="6513972"/>
            <a:ext cx="3363316" cy="34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48" b="1" i="0">
                <a:solidFill>
                  <a:srgbClr val="000000"/>
                </a:solidFill>
                <a:latin typeface="Arial"/>
                <a:ea typeface="Arial"/>
                <a:cs typeface="Arial"/>
              </a:defRPr>
            </a:pPr>
            <a:r>
              <a:rPr sz="1848" b="1" i="0">
                <a:solidFill>
                  <a:srgbClr val="000000"/>
                </a:solidFill>
                <a:latin typeface="Arial"/>
                <a:ea typeface="Arial"/>
                <a:cs typeface="Arial"/>
              </a:rPr>
              <a:t>OPTIONAL TOKEN–AUDIO</a:t>
            </a:r>
          </a:p>
        </p:txBody>
      </p:sp>
      <p:sp>
        <p:nvSpPr>
          <p:cNvPr id="318" name="svg_text_318">
            <a:extLst xmlns:a="http://schemas.openxmlformats.org/drawingml/2006/main">
              <a:ext uri="{FF2B5EF4-FFF2-40B4-BE49-F238E27FC236}">
                <a16:creationId xmlns:a16="http://schemas.microsoft.com/office/drawing/2014/main" id="{3A63A5EF-DB61-44DE-9E1B-E828E64A2A82}"/>
              </a:ext>
            </a:extLst>
          </p:cNvPr>
          <p:cNvSpPr>
            <a:spLocks xmlns:a="http://schemas.openxmlformats.org/drawingml/2006/main" noGrp="1"/>
          </p:cNvSpPr>
          <p:nvPr/>
        </p:nvSpPr>
        <p:spPr>
          <a:xfrm xmlns:a="http://schemas.openxmlformats.org/drawingml/2006/main">
            <a:off x="17383125" y="6761622"/>
            <a:ext cx="3682502" cy="34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48" b="1" i="0">
                <a:solidFill>
                  <a:srgbClr val="000000"/>
                </a:solidFill>
                <a:latin typeface="Arial"/>
                <a:ea typeface="Arial"/>
                <a:cs typeface="Arial"/>
              </a:defRPr>
            </a:pPr>
            <a:r>
              <a:rPr sz="1848" b="1" i="0">
                <a:solidFill>
                  <a:srgbClr val="000000"/>
                </a:solidFill>
                <a:latin typeface="Arial"/>
                <a:ea typeface="Arial"/>
                <a:cs typeface="Arial"/>
              </a:rPr>
              <a:t>SPEAKER CLASSIFICATION</a:t>
            </a:r>
          </a:p>
        </p:txBody>
      </p:sp>
      <p:sp>
        <p:nvSpPr>
          <p:cNvPr id="319" name="svg_text_319">
            <a:extLst xmlns:a="http://schemas.openxmlformats.org/drawingml/2006/main">
              <a:ext uri="{FF2B5EF4-FFF2-40B4-BE49-F238E27FC236}">
                <a16:creationId xmlns:a16="http://schemas.microsoft.com/office/drawing/2014/main" id="{5FB2723C-9E7E-4E5A-85CC-154A52E2BE32}"/>
              </a:ext>
            </a:extLst>
          </p:cNvPr>
          <p:cNvSpPr>
            <a:spLocks xmlns:a="http://schemas.openxmlformats.org/drawingml/2006/main" noGrp="1"/>
          </p:cNvSpPr>
          <p:nvPr/>
        </p:nvSpPr>
        <p:spPr>
          <a:xfrm xmlns:a="http://schemas.openxmlformats.org/drawingml/2006/main">
            <a:off x="16045739" y="7465089"/>
            <a:ext cx="2770022"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Received RVQ Indices</a:t>
            </a:r>
          </a:p>
        </p:txBody>
      </p:sp>
      <p:sp>
        <p:nvSpPr>
          <p:cNvPr id="320" name="svg_text_320">
            <a:extLst xmlns:a="http://schemas.openxmlformats.org/drawingml/2006/main">
              <a:ext uri="{FF2B5EF4-FFF2-40B4-BE49-F238E27FC236}">
                <a16:creationId xmlns:a16="http://schemas.microsoft.com/office/drawing/2014/main" id="{143CAE93-E66C-4B09-97A1-8C1E3C56F59D}"/>
              </a:ext>
            </a:extLst>
          </p:cNvPr>
          <p:cNvSpPr>
            <a:spLocks xmlns:a="http://schemas.openxmlformats.org/drawingml/2006/main" noGrp="1"/>
          </p:cNvSpPr>
          <p:nvPr/>
        </p:nvSpPr>
        <p:spPr>
          <a:xfrm xmlns:a="http://schemas.openxmlformats.org/drawingml/2006/main">
            <a:off x="16711898" y="7708363"/>
            <a:ext cx="1437704"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i₁, i₂, i₃</a:t>
            </a:r>
          </a:p>
        </p:txBody>
      </p:sp>
      <p:sp>
        <p:nvSpPr>
          <p:cNvPr id="321" name="svg_rect_321">
            <a:extLst xmlns:a="http://schemas.openxmlformats.org/drawingml/2006/main">
              <a:ext uri="{FF2B5EF4-FFF2-40B4-BE49-F238E27FC236}">
                <a16:creationId xmlns:a16="http://schemas.microsoft.com/office/drawing/2014/main" id="{1896EAED-6BA3-4C6A-B588-BC35C6963C66}"/>
              </a:ext>
            </a:extLst>
          </p:cNvPr>
          <p:cNvSpPr>
            <a:spLocks xmlns:a="http://schemas.openxmlformats.org/drawingml/2006/main" noGrp="1"/>
          </p:cNvSpPr>
          <p:nvPr/>
        </p:nvSpPr>
        <p:spPr>
          <a:xfrm xmlns:a="http://schemas.openxmlformats.org/drawingml/2006/main">
            <a:off x="16906875" y="8096250"/>
            <a:ext cx="1047750" cy="171450"/>
          </a:xfrm>
          <a:prstGeom xmlns:a="http://schemas.openxmlformats.org/drawingml/2006/main" prst="rect">
            <a:avLst/>
          </a:prstGeom>
          <a:solidFill xmlns:a="http://schemas.openxmlformats.org/drawingml/2006/main">
            <a:srgbClr val="FB923C"/>
          </a:solidFill>
          <a:ln xmlns:a="http://schemas.openxmlformats.org/drawingml/2006/main" w="0">
            <a:noFill/>
            <a:prstDash val="solid"/>
          </a:ln>
        </p:spPr>
      </p:sp>
      <p:sp>
        <p:nvSpPr>
          <p:cNvPr id="322" name="svg_rect_322">
            <a:extLst xmlns:a="http://schemas.openxmlformats.org/drawingml/2006/main">
              <a:ext uri="{FF2B5EF4-FFF2-40B4-BE49-F238E27FC236}">
                <a16:creationId xmlns:a16="http://schemas.microsoft.com/office/drawing/2014/main" id="{C5AB6498-D6DB-46E5-89CD-A3603D08A099}"/>
              </a:ext>
            </a:extLst>
          </p:cNvPr>
          <p:cNvSpPr>
            <a:spLocks xmlns:a="http://schemas.openxmlformats.org/drawingml/2006/main" noGrp="1"/>
          </p:cNvSpPr>
          <p:nvPr/>
        </p:nvSpPr>
        <p:spPr>
          <a:xfrm xmlns:a="http://schemas.openxmlformats.org/drawingml/2006/main">
            <a:off x="16906875" y="8401050"/>
            <a:ext cx="1047750" cy="171450"/>
          </a:xfrm>
          <a:prstGeom xmlns:a="http://schemas.openxmlformats.org/drawingml/2006/main" prst="rect">
            <a:avLst/>
          </a:prstGeom>
          <a:solidFill xmlns:a="http://schemas.openxmlformats.org/drawingml/2006/main">
            <a:srgbClr val="70BD92"/>
          </a:solidFill>
          <a:ln xmlns:a="http://schemas.openxmlformats.org/drawingml/2006/main" w="0">
            <a:noFill/>
            <a:prstDash val="solid"/>
          </a:ln>
        </p:spPr>
      </p:sp>
      <p:sp>
        <p:nvSpPr>
          <p:cNvPr id="323" name="svg_rect_323">
            <a:extLst xmlns:a="http://schemas.openxmlformats.org/drawingml/2006/main">
              <a:ext uri="{FF2B5EF4-FFF2-40B4-BE49-F238E27FC236}">
                <a16:creationId xmlns:a16="http://schemas.microsoft.com/office/drawing/2014/main" id="{1A12D5BC-AF2E-45AB-B8CF-F34015F437A0}"/>
              </a:ext>
            </a:extLst>
          </p:cNvPr>
          <p:cNvSpPr>
            <a:spLocks xmlns:a="http://schemas.openxmlformats.org/drawingml/2006/main" noGrp="1"/>
          </p:cNvSpPr>
          <p:nvPr/>
        </p:nvSpPr>
        <p:spPr>
          <a:xfrm xmlns:a="http://schemas.openxmlformats.org/drawingml/2006/main">
            <a:off x="16906875" y="8705850"/>
            <a:ext cx="1047750" cy="171450"/>
          </a:xfrm>
          <a:prstGeom xmlns:a="http://schemas.openxmlformats.org/drawingml/2006/main" prst="rect">
            <a:avLst/>
          </a:prstGeom>
          <a:solidFill xmlns:a="http://schemas.openxmlformats.org/drawingml/2006/main">
            <a:srgbClr val="8588E8"/>
          </a:solidFill>
          <a:ln xmlns:a="http://schemas.openxmlformats.org/drawingml/2006/main" w="0">
            <a:noFill/>
            <a:prstDash val="solid"/>
          </a:ln>
        </p:spPr>
      </p:sp>
      <p:sp>
        <p:nvSpPr>
          <p:cNvPr id="324" name="svg_path_324">
            <a:extLst xmlns:a="http://schemas.openxmlformats.org/drawingml/2006/main">
              <a:ext uri="{FF2B5EF4-FFF2-40B4-BE49-F238E27FC236}">
                <a16:creationId xmlns:a16="http://schemas.microsoft.com/office/drawing/2014/main" id="{CEDF5C77-35AE-4677-AE77-CC642654DC3E}"/>
              </a:ext>
            </a:extLst>
          </p:cNvPr>
          <p:cNvSpPr>
            <a:spLocks xmlns:a="http://schemas.openxmlformats.org/drawingml/2006/main" noGrp="1"/>
          </p:cNvSpPr>
          <p:nvPr/>
        </p:nvSpPr>
        <p:spPr>
          <a:xfrm xmlns:a="http://schemas.openxmlformats.org/drawingml/2006/main">
            <a:off x="17954625" y="84772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30956">
            <a:solidFill>
              <a:srgbClr val="2386D8"/>
            </a:solidFill>
            <a:prstDash val="solid"/>
          </a:ln>
        </p:spPr>
      </p:sp>
      <p:sp>
        <p:nvSpPr>
          <p:cNvPr id="325" name="svg_arrowhead_325">
            <a:extLst xmlns:a="http://schemas.openxmlformats.org/drawingml/2006/main">
              <a:ext uri="{FF2B5EF4-FFF2-40B4-BE49-F238E27FC236}">
                <a16:creationId xmlns:a16="http://schemas.microsoft.com/office/drawing/2014/main" id="{33DA2C30-4CF7-49CD-81A1-1F91A8071EE9}"/>
              </a:ext>
            </a:extLst>
          </p:cNvPr>
          <p:cNvSpPr>
            <a:spLocks xmlns:a="http://schemas.openxmlformats.org/drawingml/2006/main" noGrp="1"/>
          </p:cNvSpPr>
          <p:nvPr/>
        </p:nvSpPr>
        <p:spPr>
          <a:xfrm xmlns:a="http://schemas.openxmlformats.org/drawingml/2006/main">
            <a:off x="18059400" y="84105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26" name="svg_rect_326">
            <a:extLst xmlns:a="http://schemas.openxmlformats.org/drawingml/2006/main">
              <a:ext uri="{FF2B5EF4-FFF2-40B4-BE49-F238E27FC236}">
                <a16:creationId xmlns:a16="http://schemas.microsoft.com/office/drawing/2014/main" id="{7A0D8419-0729-4EB9-9110-5B267F5FE989}"/>
              </a:ext>
            </a:extLst>
          </p:cNvPr>
          <p:cNvSpPr>
            <a:spLocks xmlns:a="http://schemas.openxmlformats.org/drawingml/2006/main" noGrp="1"/>
          </p:cNvSpPr>
          <p:nvPr/>
        </p:nvSpPr>
        <p:spPr>
          <a:xfrm xmlns:a="http://schemas.openxmlformats.org/drawingml/2006/main">
            <a:off x="18165128" y="8031480"/>
            <a:ext cx="1436370" cy="891540"/>
          </a:xfrm>
          <a:prstGeom xmlns:a="http://schemas.openxmlformats.org/drawingml/2006/main" prst="roundRect">
            <a:avLst>
              <a:gd name="adj" fmla="val 8547"/>
            </a:avLst>
          </a:prstGeom>
          <a:solidFill xmlns:a="http://schemas.openxmlformats.org/drawingml/2006/main">
            <a:srgbClr val="EDF6FF"/>
          </a:solidFill>
          <a:ln xmlns:a="http://schemas.openxmlformats.org/drawingml/2006/main" w="24765">
            <a:solidFill>
              <a:srgbClr val="408FD2"/>
            </a:solidFill>
            <a:prstDash val="solid"/>
          </a:ln>
        </p:spPr>
      </p:sp>
      <p:sp>
        <p:nvSpPr>
          <p:cNvPr id="327" name="svg_text_327">
            <a:extLst xmlns:a="http://schemas.openxmlformats.org/drawingml/2006/main">
              <a:ext uri="{FF2B5EF4-FFF2-40B4-BE49-F238E27FC236}">
                <a16:creationId xmlns:a16="http://schemas.microsoft.com/office/drawing/2014/main" id="{DD081206-25E1-48A1-BF91-B5531E2E2DF5}"/>
              </a:ext>
            </a:extLst>
          </p:cNvPr>
          <p:cNvSpPr>
            <a:spLocks xmlns:a="http://schemas.openxmlformats.org/drawingml/2006/main" noGrp="1"/>
          </p:cNvSpPr>
          <p:nvPr/>
        </p:nvSpPr>
        <p:spPr>
          <a:xfrm xmlns:a="http://schemas.openxmlformats.org/drawingml/2006/main">
            <a:off x="18215400" y="8160414"/>
            <a:ext cx="133582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Trainable RVQ</a:t>
            </a:r>
          </a:p>
        </p:txBody>
      </p:sp>
      <p:sp>
        <p:nvSpPr>
          <p:cNvPr id="328" name="svg_text_328">
            <a:extLst xmlns:a="http://schemas.openxmlformats.org/drawingml/2006/main">
              <a:ext uri="{FF2B5EF4-FFF2-40B4-BE49-F238E27FC236}">
                <a16:creationId xmlns:a16="http://schemas.microsoft.com/office/drawing/2014/main" id="{EBFDE97A-CF06-4286-A413-4519E3BC2931}"/>
              </a:ext>
            </a:extLst>
          </p:cNvPr>
          <p:cNvSpPr>
            <a:spLocks xmlns:a="http://schemas.openxmlformats.org/drawingml/2006/main" noGrp="1"/>
          </p:cNvSpPr>
          <p:nvPr/>
        </p:nvSpPr>
        <p:spPr>
          <a:xfrm xmlns:a="http://schemas.openxmlformats.org/drawingml/2006/main">
            <a:off x="18215400" y="8398539"/>
            <a:ext cx="133582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7791"/>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Token Encoder</a:t>
            </a:r>
          </a:p>
        </p:txBody>
      </p:sp>
      <p:sp>
        <p:nvSpPr>
          <p:cNvPr id="329" name="svg_text_329">
            <a:extLst xmlns:a="http://schemas.openxmlformats.org/drawingml/2006/main">
              <a:ext uri="{FF2B5EF4-FFF2-40B4-BE49-F238E27FC236}">
                <a16:creationId xmlns:a16="http://schemas.microsoft.com/office/drawing/2014/main" id="{D970CF4B-DA09-4BD5-9705-0EA30B629658}"/>
              </a:ext>
            </a:extLst>
          </p:cNvPr>
          <p:cNvSpPr>
            <a:spLocks xmlns:a="http://schemas.openxmlformats.org/drawingml/2006/main" noGrp="1"/>
          </p:cNvSpPr>
          <p:nvPr/>
        </p:nvSpPr>
        <p:spPr>
          <a:xfrm xmlns:a="http://schemas.openxmlformats.org/drawingml/2006/main">
            <a:off x="18215400" y="8648071"/>
            <a:ext cx="133582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 e_token</a:t>
            </a:r>
          </a:p>
        </p:txBody>
      </p:sp>
      <p:sp>
        <p:nvSpPr>
          <p:cNvPr id="330" name="svg_text_330">
            <a:extLst xmlns:a="http://schemas.openxmlformats.org/drawingml/2006/main">
              <a:ext uri="{FF2B5EF4-FFF2-40B4-BE49-F238E27FC236}">
                <a16:creationId xmlns:a16="http://schemas.microsoft.com/office/drawing/2014/main" id="{A16988A8-B62E-4148-96CD-60899F473B6D}"/>
              </a:ext>
            </a:extLst>
          </p:cNvPr>
          <p:cNvSpPr>
            <a:spLocks xmlns:a="http://schemas.openxmlformats.org/drawingml/2006/main" noGrp="1"/>
          </p:cNvSpPr>
          <p:nvPr/>
        </p:nvSpPr>
        <p:spPr>
          <a:xfrm xmlns:a="http://schemas.openxmlformats.org/drawingml/2006/main">
            <a:off x="16045739" y="9751089"/>
            <a:ext cx="2770022"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Reconstructed Speech</a:t>
            </a:r>
          </a:p>
        </p:txBody>
      </p:sp>
      <p:sp>
        <p:nvSpPr>
          <p:cNvPr id="331" name="svg_rect_331">
            <a:extLst xmlns:a="http://schemas.openxmlformats.org/drawingml/2006/main">
              <a:ext uri="{FF2B5EF4-FFF2-40B4-BE49-F238E27FC236}">
                <a16:creationId xmlns:a16="http://schemas.microsoft.com/office/drawing/2014/main" id="{8785E3AD-FCC1-4F61-BC91-1E954E654D19}"/>
              </a:ext>
            </a:extLst>
          </p:cNvPr>
          <p:cNvSpPr>
            <a:spLocks xmlns:a="http://schemas.openxmlformats.org/drawingml/2006/main" noGrp="1"/>
          </p:cNvSpPr>
          <p:nvPr/>
        </p:nvSpPr>
        <p:spPr>
          <a:xfrm xmlns:a="http://schemas.openxmlformats.org/drawingml/2006/main">
            <a:off x="16885920" y="10178415"/>
            <a:ext cx="1089660" cy="693420"/>
          </a:xfrm>
          <a:prstGeom xmlns:a="http://schemas.openxmlformats.org/drawingml/2006/main" prst="roundRect">
            <a:avLst>
              <a:gd name="adj" fmla="val 10989"/>
            </a:avLst>
          </a:prstGeom>
          <a:solidFill xmlns:a="http://schemas.openxmlformats.org/drawingml/2006/main">
            <a:srgbClr val="EDF6FF"/>
          </a:solidFill>
          <a:ln xmlns:a="http://schemas.openxmlformats.org/drawingml/2006/main" w="24765">
            <a:solidFill>
              <a:srgbClr val="408FD2"/>
            </a:solidFill>
            <a:prstDash val="solid"/>
          </a:ln>
        </p:spPr>
      </p:sp>
      <p:sp>
        <p:nvSpPr>
          <p:cNvPr id="332" name="svg_text_332">
            <a:extLst xmlns:a="http://schemas.openxmlformats.org/drawingml/2006/main">
              <a:ext uri="{FF2B5EF4-FFF2-40B4-BE49-F238E27FC236}">
                <a16:creationId xmlns:a16="http://schemas.microsoft.com/office/drawing/2014/main" id="{FB333EF4-880D-4489-BEA1-D73E6F11972B}"/>
              </a:ext>
            </a:extLst>
          </p:cNvPr>
          <p:cNvSpPr>
            <a:spLocks xmlns:a="http://schemas.openxmlformats.org/drawingml/2006/main" noGrp="1"/>
          </p:cNvSpPr>
          <p:nvPr/>
        </p:nvSpPr>
        <p:spPr>
          <a:xfrm xmlns:a="http://schemas.openxmlformats.org/drawingml/2006/main">
            <a:off x="16924058" y="10255914"/>
            <a:ext cx="101338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Speech x̂</a:t>
            </a:r>
          </a:p>
        </p:txBody>
      </p:sp>
      <p:sp>
        <p:nvSpPr>
          <p:cNvPr id="333" name="svg_text_333">
            <a:extLst xmlns:a="http://schemas.openxmlformats.org/drawingml/2006/main">
              <a:ext uri="{FF2B5EF4-FFF2-40B4-BE49-F238E27FC236}">
                <a16:creationId xmlns:a16="http://schemas.microsoft.com/office/drawing/2014/main" id="{F37E4014-4001-4442-A8AC-3C0E53614EB0}"/>
              </a:ext>
            </a:extLst>
          </p:cNvPr>
          <p:cNvSpPr>
            <a:spLocks xmlns:a="http://schemas.openxmlformats.org/drawingml/2006/main" noGrp="1"/>
          </p:cNvSpPr>
          <p:nvPr/>
        </p:nvSpPr>
        <p:spPr>
          <a:xfrm xmlns:a="http://schemas.openxmlformats.org/drawingml/2006/main">
            <a:off x="16924058" y="10524496"/>
            <a:ext cx="101338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from Panel 4</a:t>
            </a:r>
          </a:p>
        </p:txBody>
      </p:sp>
      <p:sp>
        <p:nvSpPr>
          <p:cNvPr id="334" name="svg_path_334">
            <a:extLst xmlns:a="http://schemas.openxmlformats.org/drawingml/2006/main">
              <a:ext uri="{FF2B5EF4-FFF2-40B4-BE49-F238E27FC236}">
                <a16:creationId xmlns:a16="http://schemas.microsoft.com/office/drawing/2014/main" id="{93AB2F58-1F6E-41E2-BC60-1595FFEA85C8}"/>
              </a:ext>
            </a:extLst>
          </p:cNvPr>
          <p:cNvSpPr>
            <a:spLocks xmlns:a="http://schemas.openxmlformats.org/drawingml/2006/main" noGrp="1"/>
          </p:cNvSpPr>
          <p:nvPr/>
        </p:nvSpPr>
        <p:spPr>
          <a:xfrm xmlns:a="http://schemas.openxmlformats.org/drawingml/2006/main">
            <a:off x="17954625" y="10525125"/>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30956">
            <a:solidFill>
              <a:srgbClr val="2386D8"/>
            </a:solidFill>
            <a:prstDash val="solid"/>
          </a:ln>
        </p:spPr>
      </p:sp>
      <p:sp>
        <p:nvSpPr>
          <p:cNvPr id="335" name="svg_arrowhead_335">
            <a:extLst xmlns:a="http://schemas.openxmlformats.org/drawingml/2006/main">
              <a:ext uri="{FF2B5EF4-FFF2-40B4-BE49-F238E27FC236}">
                <a16:creationId xmlns:a16="http://schemas.microsoft.com/office/drawing/2014/main" id="{7AB68D87-F898-4A7F-8795-09FE7650D2B0}"/>
              </a:ext>
            </a:extLst>
          </p:cNvPr>
          <p:cNvSpPr>
            <a:spLocks xmlns:a="http://schemas.openxmlformats.org/drawingml/2006/main" noGrp="1"/>
          </p:cNvSpPr>
          <p:nvPr/>
        </p:nvSpPr>
        <p:spPr>
          <a:xfrm xmlns:a="http://schemas.openxmlformats.org/drawingml/2006/main">
            <a:off x="18059400" y="104584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36" name="svg_rect_336">
            <a:extLst xmlns:a="http://schemas.openxmlformats.org/drawingml/2006/main">
              <a:ext uri="{FF2B5EF4-FFF2-40B4-BE49-F238E27FC236}">
                <a16:creationId xmlns:a16="http://schemas.microsoft.com/office/drawing/2014/main" id="{72616957-B694-4C4C-8F8C-CFE0FCD900CD}"/>
              </a:ext>
            </a:extLst>
          </p:cNvPr>
          <p:cNvSpPr>
            <a:spLocks xmlns:a="http://schemas.openxmlformats.org/drawingml/2006/main" noGrp="1"/>
          </p:cNvSpPr>
          <p:nvPr/>
        </p:nvSpPr>
        <p:spPr>
          <a:xfrm xmlns:a="http://schemas.openxmlformats.org/drawingml/2006/main">
            <a:off x="18168938" y="10178415"/>
            <a:ext cx="1238250" cy="693420"/>
          </a:xfrm>
          <a:prstGeom xmlns:a="http://schemas.openxmlformats.org/drawingml/2006/main" prst="roundRect">
            <a:avLst>
              <a:gd name="adj" fmla="val 10989"/>
            </a:avLst>
          </a:prstGeom>
          <a:solidFill xmlns:a="http://schemas.openxmlformats.org/drawingml/2006/main">
            <a:srgbClr val="EDF6FF"/>
          </a:solidFill>
          <a:ln xmlns:a="http://schemas.openxmlformats.org/drawingml/2006/main" w="24765">
            <a:solidFill>
              <a:srgbClr val="408FD2"/>
            </a:solidFill>
            <a:prstDash val="solid"/>
          </a:ln>
        </p:spPr>
      </p:sp>
      <p:sp>
        <p:nvSpPr>
          <p:cNvPr id="337" name="svg_text_337">
            <a:extLst xmlns:a="http://schemas.openxmlformats.org/drawingml/2006/main">
              <a:ext uri="{FF2B5EF4-FFF2-40B4-BE49-F238E27FC236}">
                <a16:creationId xmlns:a16="http://schemas.microsoft.com/office/drawing/2014/main" id="{353512A1-AB21-4F1B-9C26-3F09285B06BE}"/>
              </a:ext>
            </a:extLst>
          </p:cNvPr>
          <p:cNvSpPr>
            <a:spLocks xmlns:a="http://schemas.openxmlformats.org/drawingml/2006/main" noGrp="1"/>
          </p:cNvSpPr>
          <p:nvPr/>
        </p:nvSpPr>
        <p:spPr>
          <a:xfrm xmlns:a="http://schemas.openxmlformats.org/drawingml/2006/main">
            <a:off x="18212276" y="1025591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Frozen</a:t>
            </a:r>
          </a:p>
        </p:txBody>
      </p:sp>
      <p:sp>
        <p:nvSpPr>
          <p:cNvPr id="338" name="svg_text_338">
            <a:extLst xmlns:a="http://schemas.openxmlformats.org/drawingml/2006/main">
              <a:ext uri="{FF2B5EF4-FFF2-40B4-BE49-F238E27FC236}">
                <a16:creationId xmlns:a16="http://schemas.microsoft.com/office/drawing/2014/main" id="{83877327-D1E5-422F-B17C-5F8DC7159E03}"/>
              </a:ext>
            </a:extLst>
          </p:cNvPr>
          <p:cNvSpPr>
            <a:spLocks xmlns:a="http://schemas.openxmlformats.org/drawingml/2006/main" noGrp="1"/>
          </p:cNvSpPr>
          <p:nvPr/>
        </p:nvSpPr>
        <p:spPr>
          <a:xfrm xmlns:a="http://schemas.openxmlformats.org/drawingml/2006/main">
            <a:off x="18212276" y="1048451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2544"/>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ECAPA-TDNN</a:t>
            </a:r>
          </a:p>
        </p:txBody>
      </p:sp>
      <p:sp>
        <p:nvSpPr>
          <p:cNvPr id="339" name="svg_path_339">
            <a:extLst xmlns:a="http://schemas.openxmlformats.org/drawingml/2006/main">
              <a:ext uri="{FF2B5EF4-FFF2-40B4-BE49-F238E27FC236}">
                <a16:creationId xmlns:a16="http://schemas.microsoft.com/office/drawing/2014/main" id="{EBF8E881-997E-4F1F-9820-1CC22D69A030}"/>
              </a:ext>
            </a:extLst>
          </p:cNvPr>
          <p:cNvSpPr>
            <a:spLocks xmlns:a="http://schemas.openxmlformats.org/drawingml/2006/main" noGrp="1"/>
          </p:cNvSpPr>
          <p:nvPr/>
        </p:nvSpPr>
        <p:spPr>
          <a:xfrm xmlns:a="http://schemas.openxmlformats.org/drawingml/2006/main">
            <a:off x="19383375" y="1052512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30956">
            <a:solidFill>
              <a:srgbClr val="2386D8"/>
            </a:solidFill>
            <a:prstDash val="solid"/>
          </a:ln>
        </p:spPr>
      </p:sp>
      <p:sp>
        <p:nvSpPr>
          <p:cNvPr id="340" name="svg_arrowhead_340">
            <a:extLst xmlns:a="http://schemas.openxmlformats.org/drawingml/2006/main">
              <a:ext uri="{FF2B5EF4-FFF2-40B4-BE49-F238E27FC236}">
                <a16:creationId xmlns:a16="http://schemas.microsoft.com/office/drawing/2014/main" id="{85D3EDA9-D6D0-4DF4-AF5B-1D35E95185DA}"/>
              </a:ext>
            </a:extLst>
          </p:cNvPr>
          <p:cNvSpPr>
            <a:spLocks xmlns:a="http://schemas.openxmlformats.org/drawingml/2006/main" noGrp="1"/>
          </p:cNvSpPr>
          <p:nvPr/>
        </p:nvSpPr>
        <p:spPr>
          <a:xfrm xmlns:a="http://schemas.openxmlformats.org/drawingml/2006/main">
            <a:off x="19440525" y="104584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41" name="svg_rect_341">
            <a:extLst xmlns:a="http://schemas.openxmlformats.org/drawingml/2006/main">
              <a:ext uri="{FF2B5EF4-FFF2-40B4-BE49-F238E27FC236}">
                <a16:creationId xmlns:a16="http://schemas.microsoft.com/office/drawing/2014/main" id="{DF27F7CE-40AF-4090-AEE4-088AF2C1D861}"/>
              </a:ext>
            </a:extLst>
          </p:cNvPr>
          <p:cNvSpPr>
            <a:spLocks xmlns:a="http://schemas.openxmlformats.org/drawingml/2006/main" noGrp="1"/>
          </p:cNvSpPr>
          <p:nvPr/>
        </p:nvSpPr>
        <p:spPr>
          <a:xfrm xmlns:a="http://schemas.openxmlformats.org/drawingml/2006/main">
            <a:off x="19551015" y="10178415"/>
            <a:ext cx="1188720" cy="693420"/>
          </a:xfrm>
          <a:prstGeom xmlns:a="http://schemas.openxmlformats.org/drawingml/2006/main" prst="roundRect">
            <a:avLst>
              <a:gd name="adj" fmla="val 10989"/>
            </a:avLst>
          </a:prstGeom>
          <a:solidFill xmlns:a="http://schemas.openxmlformats.org/drawingml/2006/main">
            <a:srgbClr val="EDF6FF"/>
          </a:solidFill>
          <a:ln xmlns:a="http://schemas.openxmlformats.org/drawingml/2006/main" w="24765">
            <a:solidFill>
              <a:srgbClr val="408FD2"/>
            </a:solidFill>
            <a:prstDash val="solid"/>
          </a:ln>
        </p:spPr>
      </p:sp>
      <p:sp>
        <p:nvSpPr>
          <p:cNvPr id="342" name="svg_text_342">
            <a:extLst xmlns:a="http://schemas.openxmlformats.org/drawingml/2006/main">
              <a:ext uri="{FF2B5EF4-FFF2-40B4-BE49-F238E27FC236}">
                <a16:creationId xmlns:a16="http://schemas.microsoft.com/office/drawing/2014/main" id="{1A42E8D7-8467-4536-8D5D-BEF5620F2151}"/>
              </a:ext>
            </a:extLst>
          </p:cNvPr>
          <p:cNvSpPr>
            <a:spLocks xmlns:a="http://schemas.openxmlformats.org/drawingml/2006/main" noGrp="1"/>
          </p:cNvSpPr>
          <p:nvPr/>
        </p:nvSpPr>
        <p:spPr>
          <a:xfrm xmlns:a="http://schemas.openxmlformats.org/drawingml/2006/main">
            <a:off x="19592620" y="10255914"/>
            <a:ext cx="110551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Trainable</a:t>
            </a:r>
          </a:p>
        </p:txBody>
      </p:sp>
      <p:sp>
        <p:nvSpPr>
          <p:cNvPr id="343" name="svg_text_343">
            <a:extLst xmlns:a="http://schemas.openxmlformats.org/drawingml/2006/main">
              <a:ext uri="{FF2B5EF4-FFF2-40B4-BE49-F238E27FC236}">
                <a16:creationId xmlns:a16="http://schemas.microsoft.com/office/drawing/2014/main" id="{EECC0459-310F-4E98-9F4E-9C675C1B81A1}"/>
              </a:ext>
            </a:extLst>
          </p:cNvPr>
          <p:cNvSpPr>
            <a:spLocks xmlns:a="http://schemas.openxmlformats.org/drawingml/2006/main" noGrp="1"/>
          </p:cNvSpPr>
          <p:nvPr/>
        </p:nvSpPr>
        <p:spPr>
          <a:xfrm xmlns:a="http://schemas.openxmlformats.org/drawingml/2006/main">
            <a:off x="19592620" y="10484514"/>
            <a:ext cx="110551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Projection</a:t>
            </a:r>
          </a:p>
        </p:txBody>
      </p:sp>
      <p:sp>
        <p:nvSpPr>
          <p:cNvPr id="344" name="svg_text_344">
            <a:extLst xmlns:a="http://schemas.openxmlformats.org/drawingml/2006/main">
              <a:ext uri="{FF2B5EF4-FFF2-40B4-BE49-F238E27FC236}">
                <a16:creationId xmlns:a16="http://schemas.microsoft.com/office/drawing/2014/main" id="{E4A98761-4443-42EE-B1E6-42851ECD0EED}"/>
              </a:ext>
            </a:extLst>
          </p:cNvPr>
          <p:cNvSpPr>
            <a:spLocks xmlns:a="http://schemas.openxmlformats.org/drawingml/2006/main" noGrp="1"/>
          </p:cNvSpPr>
          <p:nvPr/>
        </p:nvSpPr>
        <p:spPr>
          <a:xfrm xmlns:a="http://schemas.openxmlformats.org/drawingml/2006/main">
            <a:off x="19590391" y="10905496"/>
            <a:ext cx="1109967"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 e_audio</a:t>
            </a:r>
          </a:p>
        </p:txBody>
      </p:sp>
      <p:sp>
        <p:nvSpPr>
          <p:cNvPr id="345" name="svg_rect_345">
            <a:extLst xmlns:a="http://schemas.openxmlformats.org/drawingml/2006/main">
              <a:ext uri="{FF2B5EF4-FFF2-40B4-BE49-F238E27FC236}">
                <a16:creationId xmlns:a16="http://schemas.microsoft.com/office/drawing/2014/main" id="{747E6194-324D-41BE-BC6C-E43601250575}"/>
              </a:ext>
            </a:extLst>
          </p:cNvPr>
          <p:cNvSpPr>
            <a:spLocks xmlns:a="http://schemas.openxmlformats.org/drawingml/2006/main" noGrp="1"/>
          </p:cNvSpPr>
          <p:nvPr/>
        </p:nvSpPr>
        <p:spPr>
          <a:xfrm xmlns:a="http://schemas.openxmlformats.org/drawingml/2006/main">
            <a:off x="19971068" y="8153400"/>
            <a:ext cx="1634490" cy="1981200"/>
          </a:xfrm>
          <a:prstGeom xmlns:a="http://schemas.openxmlformats.org/drawingml/2006/main" prst="roundRect">
            <a:avLst>
              <a:gd name="adj" fmla="val 4662"/>
            </a:avLst>
          </a:prstGeom>
          <a:solidFill xmlns:a="http://schemas.openxmlformats.org/drawingml/2006/main">
            <a:srgbClr val="EDF6FF"/>
          </a:solidFill>
          <a:ln xmlns:a="http://schemas.openxmlformats.org/drawingml/2006/main" w="24765">
            <a:solidFill>
              <a:srgbClr val="408FD2"/>
            </a:solidFill>
            <a:prstDash val="solid"/>
          </a:ln>
        </p:spPr>
      </p:sp>
      <p:sp>
        <p:nvSpPr>
          <p:cNvPr id="346" name="svg_text_346">
            <a:extLst xmlns:a="http://schemas.openxmlformats.org/drawingml/2006/main">
              <a:ext uri="{FF2B5EF4-FFF2-40B4-BE49-F238E27FC236}">
                <a16:creationId xmlns:a16="http://schemas.microsoft.com/office/drawing/2014/main" id="{9F153859-5BBF-4B41-A9A1-82DD708FFDAB}"/>
              </a:ext>
            </a:extLst>
          </p:cNvPr>
          <p:cNvSpPr>
            <a:spLocks xmlns:a="http://schemas.openxmlformats.org/drawingml/2006/main" noGrp="1"/>
          </p:cNvSpPr>
          <p:nvPr/>
        </p:nvSpPr>
        <p:spPr>
          <a:xfrm xmlns:a="http://schemas.openxmlformats.org/drawingml/2006/main">
            <a:off x="20028275" y="8322339"/>
            <a:ext cx="1520076"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Learned Gate g</a:t>
            </a:r>
          </a:p>
        </p:txBody>
      </p:sp>
      <p:sp>
        <p:nvSpPr>
          <p:cNvPr id="347" name="svg_text_347">
            <a:extLst xmlns:a="http://schemas.openxmlformats.org/drawingml/2006/main">
              <a:ext uri="{FF2B5EF4-FFF2-40B4-BE49-F238E27FC236}">
                <a16:creationId xmlns:a16="http://schemas.microsoft.com/office/drawing/2014/main" id="{5C334EA0-52F1-4EE7-9A95-0544DFBB08FD}"/>
              </a:ext>
            </a:extLst>
          </p:cNvPr>
          <p:cNvSpPr>
            <a:spLocks xmlns:a="http://schemas.openxmlformats.org/drawingml/2006/main" noGrp="1"/>
          </p:cNvSpPr>
          <p:nvPr/>
        </p:nvSpPr>
        <p:spPr>
          <a:xfrm xmlns:a="http://schemas.openxmlformats.org/drawingml/2006/main">
            <a:off x="20028275" y="8898988"/>
            <a:ext cx="1520076"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e_fused =</a:t>
            </a:r>
          </a:p>
        </p:txBody>
      </p:sp>
      <p:sp>
        <p:nvSpPr>
          <p:cNvPr id="348" name="svg_text_348">
            <a:extLst xmlns:a="http://schemas.openxmlformats.org/drawingml/2006/main">
              <a:ext uri="{FF2B5EF4-FFF2-40B4-BE49-F238E27FC236}">
                <a16:creationId xmlns:a16="http://schemas.microsoft.com/office/drawing/2014/main" id="{57E05B11-B882-4CD4-8225-97FA4E26FB48}"/>
              </a:ext>
            </a:extLst>
          </p:cNvPr>
          <p:cNvSpPr>
            <a:spLocks xmlns:a="http://schemas.openxmlformats.org/drawingml/2006/main" noGrp="1"/>
          </p:cNvSpPr>
          <p:nvPr/>
        </p:nvSpPr>
        <p:spPr>
          <a:xfrm xmlns:a="http://schemas.openxmlformats.org/drawingml/2006/main">
            <a:off x="20028275" y="9203788"/>
            <a:ext cx="1520076"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g e_token +</a:t>
            </a:r>
          </a:p>
        </p:txBody>
      </p:sp>
      <p:sp>
        <p:nvSpPr>
          <p:cNvPr id="349" name="svg_text_349">
            <a:extLst xmlns:a="http://schemas.openxmlformats.org/drawingml/2006/main">
              <a:ext uri="{FF2B5EF4-FFF2-40B4-BE49-F238E27FC236}">
                <a16:creationId xmlns:a16="http://schemas.microsoft.com/office/drawing/2014/main" id="{F6BA0626-EEB7-4DB2-88F7-5598EC020C72}"/>
              </a:ext>
            </a:extLst>
          </p:cNvPr>
          <p:cNvSpPr>
            <a:spLocks xmlns:a="http://schemas.openxmlformats.org/drawingml/2006/main" noGrp="1"/>
          </p:cNvSpPr>
          <p:nvPr/>
        </p:nvSpPr>
        <p:spPr>
          <a:xfrm xmlns:a="http://schemas.openxmlformats.org/drawingml/2006/main">
            <a:off x="20028275" y="9508588"/>
            <a:ext cx="1520076"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(1−g)e_audio</a:t>
            </a:r>
          </a:p>
        </p:txBody>
      </p:sp>
      <p:sp>
        <p:nvSpPr>
          <p:cNvPr id="350" name="svg_path_350">
            <a:extLst xmlns:a="http://schemas.openxmlformats.org/drawingml/2006/main">
              <a:ext uri="{FF2B5EF4-FFF2-40B4-BE49-F238E27FC236}">
                <a16:creationId xmlns:a16="http://schemas.microsoft.com/office/drawing/2014/main" id="{21B2BC47-DE01-4A82-BDA2-2FAF1AD4B6C0}"/>
              </a:ext>
            </a:extLst>
          </p:cNvPr>
          <p:cNvSpPr>
            <a:spLocks xmlns:a="http://schemas.openxmlformats.org/drawingml/2006/main" noGrp="1"/>
          </p:cNvSpPr>
          <p:nvPr/>
        </p:nvSpPr>
        <p:spPr>
          <a:xfrm xmlns:a="http://schemas.openxmlformats.org/drawingml/2006/main">
            <a:off x="19573875" y="8477250"/>
            <a:ext cx="428625" cy="9525"/>
          </a:xfrm>
          <a:custGeom xmlns:a="http://schemas.openxmlformats.org/drawingml/2006/main">
            <a:pathLst>
              <a:path w="428625" h="9525">
                <a:moveTo>
                  <a:pt x="0" y="0"/>
                </a:moveTo>
                <a:lnTo>
                  <a:pt x="428625" y="0"/>
                </a:lnTo>
              </a:path>
            </a:pathLst>
          </a:custGeom>
          <a:noFill xmlns:a="http://schemas.openxmlformats.org/drawingml/2006/main"/>
          <a:ln xmlns:a="http://schemas.openxmlformats.org/drawingml/2006/main" w="24765">
            <a:solidFill>
              <a:srgbClr val="2386D8"/>
            </a:solidFill>
            <a:prstDash val="solid"/>
          </a:ln>
        </p:spPr>
      </p:sp>
      <p:sp>
        <p:nvSpPr>
          <p:cNvPr id="351" name="svg_arrowhead_351">
            <a:extLst xmlns:a="http://schemas.openxmlformats.org/drawingml/2006/main">
              <a:ext uri="{FF2B5EF4-FFF2-40B4-BE49-F238E27FC236}">
                <a16:creationId xmlns:a16="http://schemas.microsoft.com/office/drawing/2014/main" id="{B63E76A5-3221-489D-A634-2D4210B71103}"/>
              </a:ext>
            </a:extLst>
          </p:cNvPr>
          <p:cNvSpPr>
            <a:spLocks xmlns:a="http://schemas.openxmlformats.org/drawingml/2006/main" noGrp="1"/>
          </p:cNvSpPr>
          <p:nvPr/>
        </p:nvSpPr>
        <p:spPr>
          <a:xfrm xmlns:a="http://schemas.openxmlformats.org/drawingml/2006/main">
            <a:off x="19869150" y="84105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52" name="svg_path_352">
            <a:extLst xmlns:a="http://schemas.openxmlformats.org/drawingml/2006/main">
              <a:ext uri="{FF2B5EF4-FFF2-40B4-BE49-F238E27FC236}">
                <a16:creationId xmlns:a16="http://schemas.microsoft.com/office/drawing/2014/main" id="{D189FC7D-A7A8-4FE1-81F1-28EF1FA9676D}"/>
              </a:ext>
            </a:extLst>
          </p:cNvPr>
          <p:cNvSpPr>
            <a:spLocks xmlns:a="http://schemas.openxmlformats.org/drawingml/2006/main" noGrp="1"/>
          </p:cNvSpPr>
          <p:nvPr/>
        </p:nvSpPr>
        <p:spPr>
          <a:xfrm xmlns:a="http://schemas.openxmlformats.org/drawingml/2006/main">
            <a:off x="20716875" y="10096500"/>
            <a:ext cx="66675" cy="428625"/>
          </a:xfrm>
          <a:custGeom xmlns:a="http://schemas.openxmlformats.org/drawingml/2006/main">
            <a:pathLst>
              <a:path w="66675" h="428625">
                <a:moveTo>
                  <a:pt x="0" y="428625"/>
                </a:moveTo>
                <a:lnTo>
                  <a:pt x="66675" y="428625"/>
                </a:lnTo>
                <a:lnTo>
                  <a:pt x="66675" y="0"/>
                </a:lnTo>
              </a:path>
            </a:pathLst>
          </a:custGeom>
          <a:noFill xmlns:a="http://schemas.openxmlformats.org/drawingml/2006/main"/>
          <a:ln xmlns:a="http://schemas.openxmlformats.org/drawingml/2006/main" w="24765">
            <a:solidFill>
              <a:srgbClr val="2386D8"/>
            </a:solidFill>
            <a:prstDash val="solid"/>
          </a:ln>
        </p:spPr>
      </p:sp>
      <p:sp>
        <p:nvSpPr>
          <p:cNvPr id="353" name="svg_arrowhead_353">
            <a:extLst xmlns:a="http://schemas.openxmlformats.org/drawingml/2006/main">
              <a:ext uri="{FF2B5EF4-FFF2-40B4-BE49-F238E27FC236}">
                <a16:creationId xmlns:a16="http://schemas.microsoft.com/office/drawing/2014/main" id="{5CAADDE9-90A1-4833-9CE6-973C26464AF1}"/>
              </a:ext>
            </a:extLst>
          </p:cNvPr>
          <p:cNvSpPr>
            <a:spLocks xmlns:a="http://schemas.openxmlformats.org/drawingml/2006/main" noGrp="1"/>
          </p:cNvSpPr>
          <p:nvPr/>
        </p:nvSpPr>
        <p:spPr>
          <a:xfrm xmlns:a="http://schemas.openxmlformats.org/drawingml/2006/main">
            <a:off x="20716875" y="10096500"/>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54" name="svg_path_354">
            <a:extLst xmlns:a="http://schemas.openxmlformats.org/drawingml/2006/main">
              <a:ext uri="{FF2B5EF4-FFF2-40B4-BE49-F238E27FC236}">
                <a16:creationId xmlns:a16="http://schemas.microsoft.com/office/drawing/2014/main" id="{6D68138A-8458-498F-BACE-1D66291F67F0}"/>
              </a:ext>
            </a:extLst>
          </p:cNvPr>
          <p:cNvSpPr>
            <a:spLocks xmlns:a="http://schemas.openxmlformats.org/drawingml/2006/main" noGrp="1"/>
          </p:cNvSpPr>
          <p:nvPr/>
        </p:nvSpPr>
        <p:spPr>
          <a:xfrm xmlns:a="http://schemas.openxmlformats.org/drawingml/2006/main">
            <a:off x="21574125" y="914400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30956">
            <a:solidFill>
              <a:srgbClr val="2386D8"/>
            </a:solidFill>
            <a:prstDash val="solid"/>
          </a:ln>
        </p:spPr>
      </p:sp>
      <p:sp>
        <p:nvSpPr>
          <p:cNvPr id="355" name="svg_arrowhead_355">
            <a:extLst xmlns:a="http://schemas.openxmlformats.org/drawingml/2006/main">
              <a:ext uri="{FF2B5EF4-FFF2-40B4-BE49-F238E27FC236}">
                <a16:creationId xmlns:a16="http://schemas.microsoft.com/office/drawing/2014/main" id="{2B86E1B3-E739-408B-BB7C-E7F9216729F7}"/>
              </a:ext>
            </a:extLst>
          </p:cNvPr>
          <p:cNvSpPr>
            <a:spLocks xmlns:a="http://schemas.openxmlformats.org/drawingml/2006/main" noGrp="1"/>
          </p:cNvSpPr>
          <p:nvPr/>
        </p:nvSpPr>
        <p:spPr>
          <a:xfrm xmlns:a="http://schemas.openxmlformats.org/drawingml/2006/main">
            <a:off x="21583650" y="907732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56" name="svg_rect_356">
            <a:extLst xmlns:a="http://schemas.openxmlformats.org/drawingml/2006/main">
              <a:ext uri="{FF2B5EF4-FFF2-40B4-BE49-F238E27FC236}">
                <a16:creationId xmlns:a16="http://schemas.microsoft.com/office/drawing/2014/main" id="{8B8E27C6-1C45-4C98-B334-3296A5FE8377}"/>
              </a:ext>
            </a:extLst>
          </p:cNvPr>
          <p:cNvSpPr>
            <a:spLocks xmlns:a="http://schemas.openxmlformats.org/drawingml/2006/main" noGrp="1"/>
          </p:cNvSpPr>
          <p:nvPr/>
        </p:nvSpPr>
        <p:spPr>
          <a:xfrm xmlns:a="http://schemas.openxmlformats.org/drawingml/2006/main">
            <a:off x="21700808" y="8549640"/>
            <a:ext cx="842010" cy="1188720"/>
          </a:xfrm>
          <a:prstGeom xmlns:a="http://schemas.openxmlformats.org/drawingml/2006/main" prst="roundRect">
            <a:avLst>
              <a:gd name="adj" fmla="val 9050"/>
            </a:avLst>
          </a:prstGeom>
          <a:solidFill xmlns:a="http://schemas.openxmlformats.org/drawingml/2006/main">
            <a:srgbClr val="EDF6FF"/>
          </a:solidFill>
          <a:ln xmlns:a="http://schemas.openxmlformats.org/drawingml/2006/main" w="24765">
            <a:solidFill>
              <a:srgbClr val="408FD2"/>
            </a:solidFill>
            <a:prstDash val="solid"/>
          </a:ln>
        </p:spPr>
      </p:sp>
      <p:sp>
        <p:nvSpPr>
          <p:cNvPr id="357" name="svg_text_357">
            <a:extLst xmlns:a="http://schemas.openxmlformats.org/drawingml/2006/main">
              <a:ext uri="{FF2B5EF4-FFF2-40B4-BE49-F238E27FC236}">
                <a16:creationId xmlns:a16="http://schemas.microsoft.com/office/drawing/2014/main" id="{A1DDE64D-4E91-4117-9150-1C07BD4489BF}"/>
              </a:ext>
            </a:extLst>
          </p:cNvPr>
          <p:cNvSpPr>
            <a:spLocks xmlns:a="http://schemas.openxmlformats.org/drawingml/2006/main" noGrp="1"/>
          </p:cNvSpPr>
          <p:nvPr/>
        </p:nvSpPr>
        <p:spPr>
          <a:xfrm xmlns:a="http://schemas.openxmlformats.org/drawingml/2006/main">
            <a:off x="21738908" y="8821369"/>
            <a:ext cx="76581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840" b="1" i="0">
                <a:solidFill>
                  <a:srgbClr val="000000"/>
                </a:solidFill>
                <a:latin typeface="Arial"/>
                <a:ea typeface="Arial"/>
                <a:cs typeface="Arial"/>
              </a:defRPr>
            </a:pPr>
            <a:r>
              <a:rPr sz="840" b="1" i="0">
                <a:solidFill>
                  <a:srgbClr val="000000"/>
                </a:solidFill>
                <a:latin typeface="Arial"/>
                <a:ea typeface="Arial"/>
                <a:cs typeface="Arial"/>
              </a:rPr>
              <a:t>110-Speaker</a:t>
            </a:r>
          </a:p>
        </p:txBody>
      </p:sp>
      <p:sp>
        <p:nvSpPr>
          <p:cNvPr id="358" name="svg_text_358">
            <a:extLst xmlns:a="http://schemas.openxmlformats.org/drawingml/2006/main">
              <a:ext uri="{FF2B5EF4-FFF2-40B4-BE49-F238E27FC236}">
                <a16:creationId xmlns:a16="http://schemas.microsoft.com/office/drawing/2014/main" id="{31875A0A-198E-4F94-A8FC-C44437E65CF7}"/>
              </a:ext>
            </a:extLst>
          </p:cNvPr>
          <p:cNvSpPr>
            <a:spLocks xmlns:a="http://schemas.openxmlformats.org/drawingml/2006/main" noGrp="1"/>
          </p:cNvSpPr>
          <p:nvPr/>
        </p:nvSpPr>
        <p:spPr>
          <a:xfrm xmlns:a="http://schemas.openxmlformats.org/drawingml/2006/main">
            <a:off x="21738908" y="9030919"/>
            <a:ext cx="76581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840" b="1" i="0">
                <a:solidFill>
                  <a:srgbClr val="000000"/>
                </a:solidFill>
                <a:latin typeface="Arial"/>
                <a:ea typeface="Arial"/>
                <a:cs typeface="Arial"/>
              </a:defRPr>
            </a:pPr>
            <a:r>
              <a:rPr sz="840" b="1" i="0">
                <a:solidFill>
                  <a:srgbClr val="000000"/>
                </a:solidFill>
                <a:latin typeface="Arial"/>
                <a:ea typeface="Arial"/>
                <a:cs typeface="Arial"/>
              </a:rPr>
              <a:t>Closed-Set</a:t>
            </a:r>
          </a:p>
        </p:txBody>
      </p:sp>
      <p:sp>
        <p:nvSpPr>
          <p:cNvPr id="359" name="svg_text_359">
            <a:extLst xmlns:a="http://schemas.openxmlformats.org/drawingml/2006/main">
              <a:ext uri="{FF2B5EF4-FFF2-40B4-BE49-F238E27FC236}">
                <a16:creationId xmlns:a16="http://schemas.microsoft.com/office/drawing/2014/main" id="{AEC2C14C-6347-49D2-B862-CED3ADF523D1}"/>
              </a:ext>
            </a:extLst>
          </p:cNvPr>
          <p:cNvSpPr>
            <a:spLocks xmlns:a="http://schemas.openxmlformats.org/drawingml/2006/main" noGrp="1"/>
          </p:cNvSpPr>
          <p:nvPr/>
        </p:nvSpPr>
        <p:spPr>
          <a:xfrm xmlns:a="http://schemas.openxmlformats.org/drawingml/2006/main">
            <a:off x="21738908" y="9240469"/>
            <a:ext cx="76581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840" b="1" i="0">
                <a:solidFill>
                  <a:srgbClr val="000000"/>
                </a:solidFill>
                <a:latin typeface="Arial"/>
                <a:ea typeface="Arial"/>
                <a:cs typeface="Arial"/>
              </a:defRPr>
            </a:pPr>
            <a:r>
              <a:rPr sz="840" b="1" i="0">
                <a:solidFill>
                  <a:srgbClr val="000000"/>
                </a:solidFill>
                <a:latin typeface="Arial"/>
                <a:ea typeface="Arial"/>
                <a:cs typeface="Arial"/>
              </a:rPr>
              <a:t>Classifier</a:t>
            </a:r>
          </a:p>
        </p:txBody>
      </p:sp>
      <p:sp>
        <p:nvSpPr>
          <p:cNvPr id="360" name="svg_path_360">
            <a:extLst xmlns:a="http://schemas.openxmlformats.org/drawingml/2006/main">
              <a:ext uri="{FF2B5EF4-FFF2-40B4-BE49-F238E27FC236}">
                <a16:creationId xmlns:a16="http://schemas.microsoft.com/office/drawing/2014/main" id="{3E054A29-E95A-4530-B4AE-0106E6BD9DFD}"/>
              </a:ext>
            </a:extLst>
          </p:cNvPr>
          <p:cNvSpPr>
            <a:spLocks xmlns:a="http://schemas.openxmlformats.org/drawingml/2006/main" noGrp="1"/>
          </p:cNvSpPr>
          <p:nvPr/>
        </p:nvSpPr>
        <p:spPr>
          <a:xfrm xmlns:a="http://schemas.openxmlformats.org/drawingml/2006/main">
            <a:off x="21669375" y="9715500"/>
            <a:ext cx="447675" cy="1333500"/>
          </a:xfrm>
          <a:custGeom xmlns:a="http://schemas.openxmlformats.org/drawingml/2006/main">
            <a:pathLst>
              <a:path w="447675" h="1333500">
                <a:moveTo>
                  <a:pt x="447675" y="0"/>
                </a:moveTo>
                <a:lnTo>
                  <a:pt x="447675" y="1190625"/>
                </a:lnTo>
                <a:lnTo>
                  <a:pt x="0" y="1190625"/>
                </a:lnTo>
                <a:lnTo>
                  <a:pt x="0" y="1333500"/>
                </a:lnTo>
              </a:path>
            </a:pathLst>
          </a:custGeom>
          <a:noFill xmlns:a="http://schemas.openxmlformats.org/drawingml/2006/main"/>
          <a:ln xmlns:a="http://schemas.openxmlformats.org/drawingml/2006/main" w="24765">
            <a:solidFill>
              <a:srgbClr val="2386D8"/>
            </a:solidFill>
            <a:prstDash val="solid"/>
          </a:ln>
        </p:spPr>
      </p:sp>
      <p:sp>
        <p:nvSpPr>
          <p:cNvPr id="361" name="svg_arrowhead_361">
            <a:extLst xmlns:a="http://schemas.openxmlformats.org/drawingml/2006/main">
              <a:ext uri="{FF2B5EF4-FFF2-40B4-BE49-F238E27FC236}">
                <a16:creationId xmlns:a16="http://schemas.microsoft.com/office/drawing/2014/main" id="{66017446-EED7-49EB-942C-5FDC300FE748}"/>
              </a:ext>
            </a:extLst>
          </p:cNvPr>
          <p:cNvSpPr>
            <a:spLocks xmlns:a="http://schemas.openxmlformats.org/drawingml/2006/main" noGrp="1"/>
          </p:cNvSpPr>
          <p:nvPr/>
        </p:nvSpPr>
        <p:spPr>
          <a:xfrm xmlns:a="http://schemas.openxmlformats.org/drawingml/2006/main">
            <a:off x="21602700" y="109156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62" name="svg_rect_362">
            <a:extLst xmlns:a="http://schemas.openxmlformats.org/drawingml/2006/main">
              <a:ext uri="{FF2B5EF4-FFF2-40B4-BE49-F238E27FC236}">
                <a16:creationId xmlns:a16="http://schemas.microsoft.com/office/drawing/2014/main" id="{D25304A8-CF3A-4CE3-9F5B-96C3D0FEB8A8}"/>
              </a:ext>
            </a:extLst>
          </p:cNvPr>
          <p:cNvSpPr>
            <a:spLocks xmlns:a="http://schemas.openxmlformats.org/drawingml/2006/main" noGrp="1"/>
          </p:cNvSpPr>
          <p:nvPr/>
        </p:nvSpPr>
        <p:spPr>
          <a:xfrm xmlns:a="http://schemas.openxmlformats.org/drawingml/2006/main">
            <a:off x="20827365" y="11036618"/>
            <a:ext cx="1684020" cy="643890"/>
          </a:xfrm>
          <a:prstGeom xmlns:a="http://schemas.openxmlformats.org/drawingml/2006/main" prst="roundRect">
            <a:avLst>
              <a:gd name="adj" fmla="val 11834"/>
            </a:avLst>
          </a:prstGeom>
          <a:solidFill xmlns:a="http://schemas.openxmlformats.org/drawingml/2006/main">
            <a:srgbClr val="EDF6FF"/>
          </a:solidFill>
          <a:ln xmlns:a="http://schemas.openxmlformats.org/drawingml/2006/main" w="24765">
            <a:solidFill>
              <a:srgbClr val="408FD2"/>
            </a:solidFill>
            <a:prstDash val="solid"/>
          </a:ln>
        </p:spPr>
      </p:sp>
      <p:sp>
        <p:nvSpPr>
          <p:cNvPr id="363" name="svg_text_363">
            <a:extLst xmlns:a="http://schemas.openxmlformats.org/drawingml/2006/main">
              <a:ext uri="{FF2B5EF4-FFF2-40B4-BE49-F238E27FC236}">
                <a16:creationId xmlns:a16="http://schemas.microsoft.com/office/drawing/2014/main" id="{D8BBD064-47EC-4E01-80D2-945666F10B28}"/>
              </a:ext>
            </a:extLst>
          </p:cNvPr>
          <p:cNvSpPr>
            <a:spLocks xmlns:a="http://schemas.openxmlformats.org/drawingml/2006/main" noGrp="1"/>
          </p:cNvSpPr>
          <p:nvPr/>
        </p:nvSpPr>
        <p:spPr>
          <a:xfrm xmlns:a="http://schemas.openxmlformats.org/drawingml/2006/main">
            <a:off x="20886306" y="11143621"/>
            <a:ext cx="156613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Predicted Speaker ID</a:t>
            </a:r>
          </a:p>
        </p:txBody>
      </p:sp>
      <p:sp>
        <p:nvSpPr>
          <p:cNvPr id="364" name="svg_text_364">
            <a:extLst xmlns:a="http://schemas.openxmlformats.org/drawingml/2006/main">
              <a:ext uri="{FF2B5EF4-FFF2-40B4-BE49-F238E27FC236}">
                <a16:creationId xmlns:a16="http://schemas.microsoft.com/office/drawing/2014/main" id="{56E3C7CA-95CE-4A54-9F5B-6290753860D7}"/>
              </a:ext>
            </a:extLst>
          </p:cNvPr>
          <p:cNvSpPr>
            <a:spLocks xmlns:a="http://schemas.openxmlformats.org/drawingml/2006/main" noGrp="1"/>
          </p:cNvSpPr>
          <p:nvPr/>
        </p:nvSpPr>
        <p:spPr>
          <a:xfrm xmlns:a="http://schemas.openxmlformats.org/drawingml/2006/main">
            <a:off x="20886306" y="11341764"/>
            <a:ext cx="1566139"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p225</a:t>
            </a:r>
          </a:p>
        </p:txBody>
      </p:sp>
      <p:sp>
        <p:nvSpPr>
          <p:cNvPr id="365" name="svg_rect_365">
            <a:extLst xmlns:a="http://schemas.openxmlformats.org/drawingml/2006/main">
              <a:ext uri="{FF2B5EF4-FFF2-40B4-BE49-F238E27FC236}">
                <a16:creationId xmlns:a16="http://schemas.microsoft.com/office/drawing/2014/main" id="{316509FF-2E0B-444C-A2DE-105FE2E17A68}"/>
              </a:ext>
            </a:extLst>
          </p:cNvPr>
          <p:cNvSpPr>
            <a:spLocks xmlns:a="http://schemas.openxmlformats.org/drawingml/2006/main" noGrp="1"/>
          </p:cNvSpPr>
          <p:nvPr/>
        </p:nvSpPr>
        <p:spPr>
          <a:xfrm xmlns:a="http://schemas.openxmlformats.org/drawingml/2006/main">
            <a:off x="16875443" y="12087606"/>
            <a:ext cx="1634490" cy="475488"/>
          </a:xfrm>
          <a:prstGeom xmlns:a="http://schemas.openxmlformats.org/drawingml/2006/main" prst="roundRect">
            <a:avLst>
              <a:gd name="adj" fmla="val 18029"/>
            </a:avLst>
          </a:prstGeom>
          <a:solidFill xmlns:a="http://schemas.openxmlformats.org/drawingml/2006/main">
            <a:srgbClr val="E4F2FF"/>
          </a:solidFill>
          <a:ln xmlns:a="http://schemas.openxmlformats.org/drawingml/2006/main" w="18574">
            <a:solidFill>
              <a:srgbClr val="78AFE0"/>
            </a:solidFill>
            <a:prstDash val="solid"/>
          </a:ln>
        </p:spPr>
      </p:sp>
      <p:sp>
        <p:nvSpPr>
          <p:cNvPr id="366" name="svg_text_366">
            <a:extLst xmlns:a="http://schemas.openxmlformats.org/drawingml/2006/main">
              <a:ext uri="{FF2B5EF4-FFF2-40B4-BE49-F238E27FC236}">
                <a16:creationId xmlns:a16="http://schemas.microsoft.com/office/drawing/2014/main" id="{CECD6F05-E2E3-4584-8CD5-A1CF0E51F29F}"/>
              </a:ext>
            </a:extLst>
          </p:cNvPr>
          <p:cNvSpPr>
            <a:spLocks xmlns:a="http://schemas.openxmlformats.org/drawingml/2006/main" noGrp="1"/>
          </p:cNvSpPr>
          <p:nvPr/>
        </p:nvSpPr>
        <p:spPr>
          <a:xfrm xmlns:a="http://schemas.openxmlformats.org/drawingml/2006/main">
            <a:off x="16932650" y="12210421"/>
            <a:ext cx="152007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9578"/>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Frozen Speech Codec</a:t>
            </a:r>
          </a:p>
        </p:txBody>
      </p:sp>
      <p:sp>
        <p:nvSpPr>
          <p:cNvPr id="367" name="svg_rect_367">
            <a:extLst xmlns:a="http://schemas.openxmlformats.org/drawingml/2006/main">
              <a:ext uri="{FF2B5EF4-FFF2-40B4-BE49-F238E27FC236}">
                <a16:creationId xmlns:a16="http://schemas.microsoft.com/office/drawing/2014/main" id="{46951ACC-0C28-44BA-A220-6CE96433A38E}"/>
              </a:ext>
            </a:extLst>
          </p:cNvPr>
          <p:cNvSpPr>
            <a:spLocks xmlns:a="http://schemas.openxmlformats.org/drawingml/2006/main" noGrp="1"/>
          </p:cNvSpPr>
          <p:nvPr/>
        </p:nvSpPr>
        <p:spPr>
          <a:xfrm xmlns:a="http://schemas.openxmlformats.org/drawingml/2006/main">
            <a:off x="18529935" y="12087606"/>
            <a:ext cx="2278380" cy="475488"/>
          </a:xfrm>
          <a:prstGeom xmlns:a="http://schemas.openxmlformats.org/drawingml/2006/main" prst="roundRect">
            <a:avLst>
              <a:gd name="adj" fmla="val 18029"/>
            </a:avLst>
          </a:prstGeom>
          <a:solidFill xmlns:a="http://schemas.openxmlformats.org/drawingml/2006/main">
            <a:srgbClr val="E4F2FF"/>
          </a:solidFill>
          <a:ln xmlns:a="http://schemas.openxmlformats.org/drawingml/2006/main" w="18574">
            <a:solidFill>
              <a:srgbClr val="78AFE0"/>
            </a:solidFill>
            <a:prstDash val="solid"/>
          </a:ln>
        </p:spPr>
      </p:sp>
      <p:sp>
        <p:nvSpPr>
          <p:cNvPr id="368" name="svg_text_368">
            <a:extLst xmlns:a="http://schemas.openxmlformats.org/drawingml/2006/main">
              <a:ext uri="{FF2B5EF4-FFF2-40B4-BE49-F238E27FC236}">
                <a16:creationId xmlns:a16="http://schemas.microsoft.com/office/drawing/2014/main" id="{9280574D-F183-4481-8A64-BADA1C217659}"/>
              </a:ext>
            </a:extLst>
          </p:cNvPr>
          <p:cNvSpPr>
            <a:spLocks xmlns:a="http://schemas.openxmlformats.org/drawingml/2006/main" noGrp="1"/>
          </p:cNvSpPr>
          <p:nvPr/>
        </p:nvSpPr>
        <p:spPr>
          <a:xfrm xmlns:a="http://schemas.openxmlformats.org/drawingml/2006/main">
            <a:off x="18609678" y="12210421"/>
            <a:ext cx="211889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Separately Trained Classifier</a:t>
            </a:r>
          </a:p>
        </p:txBody>
      </p:sp>
      <p:sp>
        <p:nvSpPr>
          <p:cNvPr id="369" name="svg_rect_369">
            <a:extLst xmlns:a="http://schemas.openxmlformats.org/drawingml/2006/main">
              <a:ext uri="{FF2B5EF4-FFF2-40B4-BE49-F238E27FC236}">
                <a16:creationId xmlns:a16="http://schemas.microsoft.com/office/drawing/2014/main" id="{53F6B9C2-54A7-4442-B238-BC836350D71E}"/>
              </a:ext>
            </a:extLst>
          </p:cNvPr>
          <p:cNvSpPr>
            <a:spLocks xmlns:a="http://schemas.openxmlformats.org/drawingml/2006/main" noGrp="1"/>
          </p:cNvSpPr>
          <p:nvPr/>
        </p:nvSpPr>
        <p:spPr>
          <a:xfrm xmlns:a="http://schemas.openxmlformats.org/drawingml/2006/main">
            <a:off x="20828318" y="12087606"/>
            <a:ext cx="1634490" cy="475488"/>
          </a:xfrm>
          <a:prstGeom xmlns:a="http://schemas.openxmlformats.org/drawingml/2006/main" prst="roundRect">
            <a:avLst>
              <a:gd name="adj" fmla="val 18029"/>
            </a:avLst>
          </a:prstGeom>
          <a:solidFill xmlns:a="http://schemas.openxmlformats.org/drawingml/2006/main">
            <a:srgbClr val="E4F2FF"/>
          </a:solidFill>
          <a:ln xmlns:a="http://schemas.openxmlformats.org/drawingml/2006/main" w="18574">
            <a:solidFill>
              <a:srgbClr val="78AFE0"/>
            </a:solidFill>
            <a:prstDash val="solid"/>
          </a:ln>
        </p:spPr>
      </p:sp>
      <p:sp>
        <p:nvSpPr>
          <p:cNvPr id="370" name="svg_text_370">
            <a:extLst xmlns:a="http://schemas.openxmlformats.org/drawingml/2006/main">
              <a:ext uri="{FF2B5EF4-FFF2-40B4-BE49-F238E27FC236}">
                <a16:creationId xmlns:a16="http://schemas.microsoft.com/office/drawing/2014/main" id="{2AB8BDFF-94D4-49EA-A956-BB16DC51B3F6}"/>
              </a:ext>
            </a:extLst>
          </p:cNvPr>
          <p:cNvSpPr>
            <a:spLocks xmlns:a="http://schemas.openxmlformats.org/drawingml/2006/main" noGrp="1"/>
          </p:cNvSpPr>
          <p:nvPr/>
        </p:nvSpPr>
        <p:spPr>
          <a:xfrm xmlns:a="http://schemas.openxmlformats.org/drawingml/2006/main">
            <a:off x="20885525" y="12144284"/>
            <a:ext cx="152007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Receiver-side only;</a:t>
            </a:r>
          </a:p>
        </p:txBody>
      </p:sp>
      <p:sp>
        <p:nvSpPr>
          <p:cNvPr id="371" name="svg_text_371">
            <a:extLst xmlns:a="http://schemas.openxmlformats.org/drawingml/2006/main">
              <a:ext uri="{FF2B5EF4-FFF2-40B4-BE49-F238E27FC236}">
                <a16:creationId xmlns:a16="http://schemas.microsoft.com/office/drawing/2014/main" id="{E0AB74F0-E2B0-43C0-A2E8-7AC28265A26B}"/>
              </a:ext>
            </a:extLst>
          </p:cNvPr>
          <p:cNvSpPr>
            <a:spLocks xmlns:a="http://schemas.openxmlformats.org/drawingml/2006/main" noGrp="1"/>
          </p:cNvSpPr>
          <p:nvPr/>
        </p:nvSpPr>
        <p:spPr>
          <a:xfrm xmlns:a="http://schemas.openxmlformats.org/drawingml/2006/main">
            <a:off x="20885525" y="12305919"/>
            <a:ext cx="152007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7941"/>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no additional transmission</a:t>
            </a:r>
          </a:p>
        </p:txBody>
      </p:sp>
      <p:sp>
        <p:nvSpPr>
          <p:cNvPr id="372" name="svg_path_372">
            <a:extLst xmlns:a="http://schemas.openxmlformats.org/drawingml/2006/main">
              <a:ext uri="{FF2B5EF4-FFF2-40B4-BE49-F238E27FC236}">
                <a16:creationId xmlns:a16="http://schemas.microsoft.com/office/drawing/2014/main" id="{9384F989-FABF-43BE-A2B3-6D270FD7808B}"/>
              </a:ext>
            </a:extLst>
          </p:cNvPr>
          <p:cNvSpPr>
            <a:spLocks xmlns:a="http://schemas.openxmlformats.org/drawingml/2006/main" noGrp="1"/>
          </p:cNvSpPr>
          <p:nvPr/>
        </p:nvSpPr>
        <p:spPr>
          <a:xfrm xmlns:a="http://schemas.openxmlformats.org/drawingml/2006/main">
            <a:off x="17259300" y="5143500"/>
            <a:ext cx="28575" cy="1333500"/>
          </a:xfrm>
          <a:custGeom xmlns:a="http://schemas.openxmlformats.org/drawingml/2006/main">
            <a:pathLst>
              <a:path w="28575" h="1333500">
                <a:moveTo>
                  <a:pt x="0" y="0"/>
                </a:moveTo>
                <a:lnTo>
                  <a:pt x="0" y="1238250"/>
                </a:lnTo>
                <a:lnTo>
                  <a:pt x="28575" y="1238250"/>
                </a:lnTo>
                <a:lnTo>
                  <a:pt x="28575" y="1333500"/>
                </a:lnTo>
              </a:path>
            </a:pathLst>
          </a:custGeom>
          <a:noFill xmlns:a="http://schemas.openxmlformats.org/drawingml/2006/main"/>
          <a:ln xmlns:a="http://schemas.openxmlformats.org/drawingml/2006/main" w="24765">
            <a:solidFill>
              <a:srgbClr val="2386D8"/>
            </a:solidFill>
            <a:prstDash val="dash"/>
          </a:ln>
        </p:spPr>
      </p:sp>
      <p:sp>
        <p:nvSpPr>
          <p:cNvPr id="373" name="svg_arrowhead_373">
            <a:extLst xmlns:a="http://schemas.openxmlformats.org/drawingml/2006/main">
              <a:ext uri="{FF2B5EF4-FFF2-40B4-BE49-F238E27FC236}">
                <a16:creationId xmlns:a16="http://schemas.microsoft.com/office/drawing/2014/main" id="{E8AEB26E-D48A-484D-B99F-2C057D7EFA7B}"/>
              </a:ext>
            </a:extLst>
          </p:cNvPr>
          <p:cNvSpPr>
            <a:spLocks xmlns:a="http://schemas.openxmlformats.org/drawingml/2006/main" noGrp="1"/>
          </p:cNvSpPr>
          <p:nvPr/>
        </p:nvSpPr>
        <p:spPr>
          <a:xfrm xmlns:a="http://schemas.openxmlformats.org/drawingml/2006/main">
            <a:off x="17221200" y="63436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74" name="svg_path_374">
            <a:extLst xmlns:a="http://schemas.openxmlformats.org/drawingml/2006/main">
              <a:ext uri="{FF2B5EF4-FFF2-40B4-BE49-F238E27FC236}">
                <a16:creationId xmlns:a16="http://schemas.microsoft.com/office/drawing/2014/main" id="{B04E4743-7E0C-4CCA-85AB-F8972B2D27BF}"/>
              </a:ext>
            </a:extLst>
          </p:cNvPr>
          <p:cNvSpPr>
            <a:spLocks xmlns:a="http://schemas.openxmlformats.org/drawingml/2006/main" noGrp="1"/>
          </p:cNvSpPr>
          <p:nvPr/>
        </p:nvSpPr>
        <p:spPr>
          <a:xfrm xmlns:a="http://schemas.openxmlformats.org/drawingml/2006/main">
            <a:off x="22288500" y="4905375"/>
            <a:ext cx="95250" cy="1571625"/>
          </a:xfrm>
          <a:custGeom xmlns:a="http://schemas.openxmlformats.org/drawingml/2006/main">
            <a:pathLst>
              <a:path w="95250" h="1571625">
                <a:moveTo>
                  <a:pt x="95250" y="0"/>
                </a:moveTo>
                <a:lnTo>
                  <a:pt x="95250" y="1428750"/>
                </a:lnTo>
                <a:lnTo>
                  <a:pt x="0" y="1428750"/>
                </a:lnTo>
                <a:lnTo>
                  <a:pt x="0" y="1571625"/>
                </a:lnTo>
              </a:path>
            </a:pathLst>
          </a:custGeom>
          <a:noFill xmlns:a="http://schemas.openxmlformats.org/drawingml/2006/main"/>
          <a:ln xmlns:a="http://schemas.openxmlformats.org/drawingml/2006/main" w="24765">
            <a:solidFill>
              <a:srgbClr val="2386D8"/>
            </a:solidFill>
            <a:prstDash val="dash"/>
          </a:ln>
        </p:spPr>
      </p:sp>
      <p:sp>
        <p:nvSpPr>
          <p:cNvPr id="375" name="svg_arrowhead_375">
            <a:extLst xmlns:a="http://schemas.openxmlformats.org/drawingml/2006/main">
              <a:ext uri="{FF2B5EF4-FFF2-40B4-BE49-F238E27FC236}">
                <a16:creationId xmlns:a16="http://schemas.microsoft.com/office/drawing/2014/main" id="{8537B446-4D11-4547-8277-5E51DBA121C0}"/>
              </a:ext>
            </a:extLst>
          </p:cNvPr>
          <p:cNvSpPr>
            <a:spLocks xmlns:a="http://schemas.openxmlformats.org/drawingml/2006/main" noGrp="1"/>
          </p:cNvSpPr>
          <p:nvPr/>
        </p:nvSpPr>
        <p:spPr>
          <a:xfrm xmlns:a="http://schemas.openxmlformats.org/drawingml/2006/main">
            <a:off x="22221825" y="63436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76" name="svg_rect_376">
            <a:extLst xmlns:a="http://schemas.openxmlformats.org/drawingml/2006/main">
              <a:ext uri="{FF2B5EF4-FFF2-40B4-BE49-F238E27FC236}">
                <a16:creationId xmlns:a16="http://schemas.microsoft.com/office/drawing/2014/main" id="{227C8F53-507D-42C4-B45A-3A8FB462451C}"/>
              </a:ext>
            </a:extLst>
          </p:cNvPr>
          <p:cNvSpPr>
            <a:spLocks xmlns:a="http://schemas.openxmlformats.org/drawingml/2006/main" noGrp="1"/>
          </p:cNvSpPr>
          <p:nvPr/>
        </p:nvSpPr>
        <p:spPr>
          <a:xfrm xmlns:a="http://schemas.openxmlformats.org/drawingml/2006/main">
            <a:off x="9858375" y="12687300"/>
            <a:ext cx="647700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2383">
            <a:solidFill>
              <a:srgbClr val="C7D6E5"/>
            </a:solidFill>
            <a:prstDash val="solid"/>
          </a:ln>
        </p:spPr>
      </p:sp>
      <p:sp>
        <p:nvSpPr>
          <p:cNvPr id="377" name="svg_path_377">
            <a:extLst xmlns:a="http://schemas.openxmlformats.org/drawingml/2006/main">
              <a:ext uri="{FF2B5EF4-FFF2-40B4-BE49-F238E27FC236}">
                <a16:creationId xmlns:a16="http://schemas.microsoft.com/office/drawing/2014/main" id="{AD13D448-4115-4121-8424-43989368DD84}"/>
              </a:ext>
            </a:extLst>
          </p:cNvPr>
          <p:cNvSpPr>
            <a:spLocks xmlns:a="http://schemas.openxmlformats.org/drawingml/2006/main" noGrp="1"/>
          </p:cNvSpPr>
          <p:nvPr/>
        </p:nvSpPr>
        <p:spPr>
          <a:xfrm xmlns:a="http://schemas.openxmlformats.org/drawingml/2006/main">
            <a:off x="10096500" y="1288732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30956">
            <a:solidFill>
              <a:srgbClr val="2386D8"/>
            </a:solidFill>
            <a:prstDash val="solid"/>
          </a:ln>
        </p:spPr>
      </p:sp>
      <p:sp>
        <p:nvSpPr>
          <p:cNvPr id="378" name="svg_arrowhead_378">
            <a:extLst xmlns:a="http://schemas.openxmlformats.org/drawingml/2006/main">
              <a:ext uri="{FF2B5EF4-FFF2-40B4-BE49-F238E27FC236}">
                <a16:creationId xmlns:a16="http://schemas.microsoft.com/office/drawing/2014/main" id="{5E5B3570-E2DE-4949-A911-C31D0AEFC35B}"/>
              </a:ext>
            </a:extLst>
          </p:cNvPr>
          <p:cNvSpPr>
            <a:spLocks xmlns:a="http://schemas.openxmlformats.org/drawingml/2006/main" noGrp="1"/>
          </p:cNvSpPr>
          <p:nvPr/>
        </p:nvSpPr>
        <p:spPr>
          <a:xfrm xmlns:a="http://schemas.openxmlformats.org/drawingml/2006/main">
            <a:off x="10439400" y="128206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79" name="svg_text_379">
            <a:extLst xmlns:a="http://schemas.openxmlformats.org/drawingml/2006/main">
              <a:ext uri="{FF2B5EF4-FFF2-40B4-BE49-F238E27FC236}">
                <a16:creationId xmlns:a16="http://schemas.microsoft.com/office/drawing/2014/main" id="{E81E3830-C335-41F2-AF48-560529E128C3}"/>
              </a:ext>
            </a:extLst>
          </p:cNvPr>
          <p:cNvSpPr>
            <a:spLocks xmlns:a="http://schemas.openxmlformats.org/drawingml/2006/main" noGrp="1"/>
          </p:cNvSpPr>
          <p:nvPr/>
        </p:nvSpPr>
        <p:spPr>
          <a:xfrm xmlns:a="http://schemas.openxmlformats.org/drawingml/2006/main">
            <a:off x="10668000" y="12763500"/>
            <a:ext cx="1571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125" b="0" i="0">
                <a:solidFill>
                  <a:srgbClr val="334155"/>
                </a:solidFill>
                <a:latin typeface="Arial"/>
                <a:ea typeface="Arial"/>
                <a:cs typeface="Arial"/>
              </a:defRPr>
            </a:pPr>
            <a:r>
              <a:rPr sz="1125" b="0" i="0">
                <a:solidFill>
                  <a:srgbClr val="334155"/>
                </a:solidFill>
                <a:latin typeface="Arial"/>
                <a:ea typeface="Arial"/>
                <a:cs typeface="Arial"/>
              </a:rPr>
              <a:t>forward data flow</a:t>
            </a:r>
          </a:p>
        </p:txBody>
      </p:sp>
      <p:sp>
        <p:nvSpPr>
          <p:cNvPr id="380" name="svg_path_380">
            <a:extLst xmlns:a="http://schemas.openxmlformats.org/drawingml/2006/main">
              <a:ext uri="{FF2B5EF4-FFF2-40B4-BE49-F238E27FC236}">
                <a16:creationId xmlns:a16="http://schemas.microsoft.com/office/drawing/2014/main" id="{D53E95AD-F304-4C70-A419-A0357A9A378A}"/>
              </a:ext>
            </a:extLst>
          </p:cNvPr>
          <p:cNvSpPr>
            <a:spLocks xmlns:a="http://schemas.openxmlformats.org/drawingml/2006/main" noGrp="1"/>
          </p:cNvSpPr>
          <p:nvPr/>
        </p:nvSpPr>
        <p:spPr>
          <a:xfrm xmlns:a="http://schemas.openxmlformats.org/drawingml/2006/main">
            <a:off x="12573000" y="1288732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24765">
            <a:solidFill>
              <a:srgbClr val="3D6285"/>
            </a:solidFill>
            <a:prstDash val="dash"/>
          </a:ln>
        </p:spPr>
      </p:sp>
      <p:sp>
        <p:nvSpPr>
          <p:cNvPr id="381" name="svg_arrowhead_381">
            <a:extLst xmlns:a="http://schemas.openxmlformats.org/drawingml/2006/main">
              <a:ext uri="{FF2B5EF4-FFF2-40B4-BE49-F238E27FC236}">
                <a16:creationId xmlns:a16="http://schemas.microsoft.com/office/drawing/2014/main" id="{CA5453B1-CC4A-49C0-90F3-F2C710042275}"/>
              </a:ext>
            </a:extLst>
          </p:cNvPr>
          <p:cNvSpPr>
            <a:spLocks xmlns:a="http://schemas.openxmlformats.org/drawingml/2006/main" noGrp="1"/>
          </p:cNvSpPr>
          <p:nvPr/>
        </p:nvSpPr>
        <p:spPr>
          <a:xfrm xmlns:a="http://schemas.openxmlformats.org/drawingml/2006/main">
            <a:off x="12915900" y="128206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382" name="svg_text_382">
            <a:extLst xmlns:a="http://schemas.openxmlformats.org/drawingml/2006/main">
              <a:ext uri="{FF2B5EF4-FFF2-40B4-BE49-F238E27FC236}">
                <a16:creationId xmlns:a16="http://schemas.microsoft.com/office/drawing/2014/main" id="{FB049BB1-DBC7-4EDE-89C1-DA10F2E547A7}"/>
              </a:ext>
            </a:extLst>
          </p:cNvPr>
          <p:cNvSpPr>
            <a:spLocks xmlns:a="http://schemas.openxmlformats.org/drawingml/2006/main" noGrp="1"/>
          </p:cNvSpPr>
          <p:nvPr/>
        </p:nvSpPr>
        <p:spPr>
          <a:xfrm xmlns:a="http://schemas.openxmlformats.org/drawingml/2006/main">
            <a:off x="13144500" y="12763500"/>
            <a:ext cx="3000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125" b="0" i="0">
                <a:solidFill>
                  <a:srgbClr val="334155"/>
                </a:solidFill>
                <a:latin typeface="Arial"/>
                <a:ea typeface="Arial"/>
                <a:cs typeface="Arial"/>
              </a:defRPr>
            </a:pPr>
            <a:r>
              <a:rPr sz="1125" b="0" i="0">
                <a:solidFill>
                  <a:srgbClr val="334155"/>
                </a:solidFill>
                <a:latin typeface="Arial"/>
                <a:ea typeface="Arial"/>
                <a:cs typeface="Arial"/>
              </a:rPr>
              <a:t>training supervision / optimization</a:t>
            </a:r>
          </a:p>
        </p:txBody>
      </p:sp>
    </p:spTree>
    <p:extLst>
      <p:ext uri="{BB962C8B-B14F-4D97-AF65-F5344CB8AC3E}">
        <p14:creationId xmlns:p14="http://schemas.microsoft.com/office/powerpoint/2010/main" val="5608525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2026-09-08T11:20:40.0570000Z</dcterms:created>
  <dcterms:modified xsi:type="dcterms:W3CDTF">2026-09-08T11:20:40.0570000Z</dcterms:modified>
</coreProperties>
</file>