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4.svg" ContentType="image/svg+xml"/>
  <Override PartName="/ppt/media/image45.svg" ContentType="image/svg+xml"/>
  <Override PartName="/ppt/media/image59.svg" ContentType="image/svg+xml"/>
  <Override PartName="/ppt/media/image6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2" r:id="rId5"/>
    <p:sldId id="257" r:id="rId6"/>
    <p:sldId id="258" r:id="rId7"/>
    <p:sldId id="260" r:id="rId8"/>
    <p:sldId id="259" r:id="rId9"/>
    <p:sldId id="26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9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85FB"/>
    <a:srgbClr val="79E5B2"/>
    <a:srgbClr val="FDC592"/>
    <a:srgbClr val="D79539"/>
    <a:srgbClr val="00B050"/>
    <a:srgbClr val="B28FCC"/>
    <a:srgbClr val="FFF0DA"/>
    <a:srgbClr val="E1F3EF"/>
    <a:srgbClr val="4874CB"/>
    <a:srgbClr val="8DA8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9"/>
        <p:guide pos="385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1" Type="http://schemas.openxmlformats.org/officeDocument/2006/relationships/notesSlide" Target="../notesSlides/notesSlide1.xml"/><Relationship Id="rId50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9" Type="http://schemas.openxmlformats.org/officeDocument/2006/relationships/tags" Target="../tags/tag63.xml"/><Relationship Id="rId48" Type="http://schemas.openxmlformats.org/officeDocument/2006/relationships/image" Target="../media/image48.png"/><Relationship Id="rId47" Type="http://schemas.openxmlformats.org/officeDocument/2006/relationships/image" Target="../media/image47.png"/><Relationship Id="rId46" Type="http://schemas.openxmlformats.org/officeDocument/2006/relationships/image" Target="../media/image46.png"/><Relationship Id="rId45" Type="http://schemas.openxmlformats.org/officeDocument/2006/relationships/image" Target="../media/image45.svg"/><Relationship Id="rId44" Type="http://schemas.openxmlformats.org/officeDocument/2006/relationships/image" Target="../media/image44.svg"/><Relationship Id="rId43" Type="http://schemas.openxmlformats.org/officeDocument/2006/relationships/image" Target="../media/image43.png"/><Relationship Id="rId42" Type="http://schemas.openxmlformats.org/officeDocument/2006/relationships/image" Target="../media/image42.png"/><Relationship Id="rId41" Type="http://schemas.openxmlformats.org/officeDocument/2006/relationships/image" Target="../media/image41.png"/><Relationship Id="rId40" Type="http://schemas.openxmlformats.org/officeDocument/2006/relationships/image" Target="../media/image40.png"/><Relationship Id="rId4" Type="http://schemas.openxmlformats.org/officeDocument/2006/relationships/image" Target="../media/image4.png"/><Relationship Id="rId39" Type="http://schemas.openxmlformats.org/officeDocument/2006/relationships/image" Target="../media/image39.png"/><Relationship Id="rId38" Type="http://schemas.openxmlformats.org/officeDocument/2006/relationships/image" Target="../media/image38.png"/><Relationship Id="rId37" Type="http://schemas.openxmlformats.org/officeDocument/2006/relationships/image" Target="../media/image37.png"/><Relationship Id="rId36" Type="http://schemas.openxmlformats.org/officeDocument/2006/relationships/image" Target="../media/image36.png"/><Relationship Id="rId35" Type="http://schemas.openxmlformats.org/officeDocument/2006/relationships/image" Target="../media/image35.png"/><Relationship Id="rId34" Type="http://schemas.openxmlformats.org/officeDocument/2006/relationships/image" Target="../media/image34.pn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6.png"/><Relationship Id="rId58" Type="http://schemas.openxmlformats.org/officeDocument/2006/relationships/notesSlide" Target="../notesSlides/notesSlide2.xml"/><Relationship Id="rId57" Type="http://schemas.openxmlformats.org/officeDocument/2006/relationships/slideLayout" Target="../slideLayouts/slideLayout1.xml"/><Relationship Id="rId56" Type="http://schemas.openxmlformats.org/officeDocument/2006/relationships/tags" Target="../tags/tag64.xml"/><Relationship Id="rId55" Type="http://schemas.openxmlformats.org/officeDocument/2006/relationships/image" Target="../media/image67.png"/><Relationship Id="rId54" Type="http://schemas.openxmlformats.org/officeDocument/2006/relationships/image" Target="../media/image66.png"/><Relationship Id="rId53" Type="http://schemas.openxmlformats.org/officeDocument/2006/relationships/image" Target="../media/image65.png"/><Relationship Id="rId52" Type="http://schemas.openxmlformats.org/officeDocument/2006/relationships/image" Target="../media/image64.svg"/><Relationship Id="rId51" Type="http://schemas.openxmlformats.org/officeDocument/2006/relationships/image" Target="../media/image63.png"/><Relationship Id="rId50" Type="http://schemas.openxmlformats.org/officeDocument/2006/relationships/image" Target="../media/image62.png"/><Relationship Id="rId5" Type="http://schemas.openxmlformats.org/officeDocument/2006/relationships/image" Target="../media/image5.png"/><Relationship Id="rId49" Type="http://schemas.openxmlformats.org/officeDocument/2006/relationships/image" Target="../media/image61.png"/><Relationship Id="rId48" Type="http://schemas.openxmlformats.org/officeDocument/2006/relationships/image" Target="../media/image48.png"/><Relationship Id="rId47" Type="http://schemas.openxmlformats.org/officeDocument/2006/relationships/image" Target="../media/image9.png"/><Relationship Id="rId46" Type="http://schemas.openxmlformats.org/officeDocument/2006/relationships/image" Target="../media/image60.png"/><Relationship Id="rId45" Type="http://schemas.openxmlformats.org/officeDocument/2006/relationships/image" Target="../media/image46.png"/><Relationship Id="rId44" Type="http://schemas.openxmlformats.org/officeDocument/2006/relationships/image" Target="../media/image45.svg"/><Relationship Id="rId43" Type="http://schemas.openxmlformats.org/officeDocument/2006/relationships/image" Target="../media/image59.svg"/><Relationship Id="rId42" Type="http://schemas.openxmlformats.org/officeDocument/2006/relationships/image" Target="../media/image43.png"/><Relationship Id="rId41" Type="http://schemas.openxmlformats.org/officeDocument/2006/relationships/image" Target="../media/image42.png"/><Relationship Id="rId40" Type="http://schemas.openxmlformats.org/officeDocument/2006/relationships/image" Target="../media/image41.png"/><Relationship Id="rId4" Type="http://schemas.openxmlformats.org/officeDocument/2006/relationships/image" Target="../media/image4.png"/><Relationship Id="rId39" Type="http://schemas.openxmlformats.org/officeDocument/2006/relationships/image" Target="../media/image40.png"/><Relationship Id="rId38" Type="http://schemas.openxmlformats.org/officeDocument/2006/relationships/image" Target="../media/image39.png"/><Relationship Id="rId37" Type="http://schemas.openxmlformats.org/officeDocument/2006/relationships/image" Target="../media/image38.png"/><Relationship Id="rId36" Type="http://schemas.openxmlformats.org/officeDocument/2006/relationships/image" Target="../media/image37.png"/><Relationship Id="rId35" Type="http://schemas.openxmlformats.org/officeDocument/2006/relationships/image" Target="../media/image36.png"/><Relationship Id="rId34" Type="http://schemas.openxmlformats.org/officeDocument/2006/relationships/image" Target="../media/image35.png"/><Relationship Id="rId33" Type="http://schemas.openxmlformats.org/officeDocument/2006/relationships/image" Target="../media/image34.png"/><Relationship Id="rId32" Type="http://schemas.openxmlformats.org/officeDocument/2006/relationships/image" Target="../media/image33.png"/><Relationship Id="rId31" Type="http://schemas.openxmlformats.org/officeDocument/2006/relationships/image" Target="../media/image32.png"/><Relationship Id="rId30" Type="http://schemas.openxmlformats.org/officeDocument/2006/relationships/image" Target="../media/image31.png"/><Relationship Id="rId3" Type="http://schemas.openxmlformats.org/officeDocument/2006/relationships/image" Target="../media/image3.png"/><Relationship Id="rId29" Type="http://schemas.openxmlformats.org/officeDocument/2006/relationships/image" Target="../media/image30.png"/><Relationship Id="rId28" Type="http://schemas.openxmlformats.org/officeDocument/2006/relationships/image" Target="../media/image29.png"/><Relationship Id="rId27" Type="http://schemas.openxmlformats.org/officeDocument/2006/relationships/image" Target="../media/image28.png"/><Relationship Id="rId26" Type="http://schemas.openxmlformats.org/officeDocument/2006/relationships/image" Target="../media/image27.png"/><Relationship Id="rId25" Type="http://schemas.openxmlformats.org/officeDocument/2006/relationships/image" Target="../media/image26.png"/><Relationship Id="rId24" Type="http://schemas.openxmlformats.org/officeDocument/2006/relationships/image" Target="../media/image25.png"/><Relationship Id="rId23" Type="http://schemas.openxmlformats.org/officeDocument/2006/relationships/image" Target="../media/image24.png"/><Relationship Id="rId22" Type="http://schemas.openxmlformats.org/officeDocument/2006/relationships/image" Target="../media/image23.png"/><Relationship Id="rId21" Type="http://schemas.openxmlformats.org/officeDocument/2006/relationships/image" Target="../media/image58.png"/><Relationship Id="rId20" Type="http://schemas.openxmlformats.org/officeDocument/2006/relationships/image" Target="../media/image57.png"/><Relationship Id="rId2" Type="http://schemas.openxmlformats.org/officeDocument/2006/relationships/image" Target="../media/image2.png"/><Relationship Id="rId19" Type="http://schemas.openxmlformats.org/officeDocument/2006/relationships/image" Target="../media/image56.png"/><Relationship Id="rId18" Type="http://schemas.openxmlformats.org/officeDocument/2006/relationships/image" Target="../media/image18.png"/><Relationship Id="rId17" Type="http://schemas.openxmlformats.org/officeDocument/2006/relationships/image" Target="../media/image55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54.png"/><Relationship Id="rId13" Type="http://schemas.openxmlformats.org/officeDocument/2006/relationships/image" Target="../media/image53.png"/><Relationship Id="rId12" Type="http://schemas.openxmlformats.org/officeDocument/2006/relationships/image" Target="../media/image52.png"/><Relationship Id="rId11" Type="http://schemas.openxmlformats.org/officeDocument/2006/relationships/image" Target="../media/image51.png"/><Relationship Id="rId10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6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" name="肘形连接符 156"/>
          <p:cNvCxnSpPr/>
          <p:nvPr/>
        </p:nvCxnSpPr>
        <p:spPr>
          <a:xfrm>
            <a:off x="1824355" y="4890770"/>
            <a:ext cx="49530" cy="449580"/>
          </a:xfrm>
          <a:prstGeom prst="bentConnector2">
            <a:avLst/>
          </a:prstGeom>
          <a:ln w="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6" name="任意多边形 375"/>
          <p:cNvSpPr/>
          <p:nvPr/>
        </p:nvSpPr>
        <p:spPr>
          <a:xfrm>
            <a:off x="1941195" y="5444490"/>
            <a:ext cx="2360930" cy="989965"/>
          </a:xfrm>
          <a:custGeom>
            <a:avLst/>
            <a:gdLst>
              <a:gd name="connisteX0" fmla="*/ 2360930 w 2360930"/>
              <a:gd name="connsiteY0" fmla="*/ 0 h 989965"/>
              <a:gd name="connisteX1" fmla="*/ 2261870 w 2360930"/>
              <a:gd name="connsiteY1" fmla="*/ 0 h 989965"/>
              <a:gd name="connisteX2" fmla="*/ 2269490 w 2360930"/>
              <a:gd name="connsiteY2" fmla="*/ 989965 h 989965"/>
              <a:gd name="connisteX3" fmla="*/ 0 w 2360930"/>
              <a:gd name="connsiteY3" fmla="*/ 974725 h 989965"/>
              <a:gd name="connisteX4" fmla="*/ 0 w 2360930"/>
              <a:gd name="connsiteY4" fmla="*/ 555625 h 98996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360930" h="989965">
                <a:moveTo>
                  <a:pt x="2360930" y="0"/>
                </a:moveTo>
                <a:lnTo>
                  <a:pt x="2261870" y="0"/>
                </a:lnTo>
                <a:lnTo>
                  <a:pt x="2269490" y="989965"/>
                </a:lnTo>
                <a:lnTo>
                  <a:pt x="0" y="974725"/>
                </a:lnTo>
                <a:lnTo>
                  <a:pt x="0" y="555625"/>
                </a:lnTo>
              </a:path>
            </a:pathLst>
          </a:custGeom>
          <a:noFill/>
          <a:ln>
            <a:prstDash val="dash"/>
            <a:headEnd type="triangle" w="sm" len="sm"/>
            <a:tailEnd type="triangle" w="sm" len="sm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1" name="图片 370" descr="017fef03-06b3-4241-a01c-d4ae7548a2fb"/>
          <p:cNvPicPr>
            <a:picLocks noChangeAspect="1"/>
          </p:cNvPicPr>
          <p:nvPr/>
        </p:nvPicPr>
        <p:blipFill>
          <a:blip r:embed="rId1"/>
          <a:srcRect t="15120" b="18046"/>
          <a:stretch>
            <a:fillRect/>
          </a:stretch>
        </p:blipFill>
        <p:spPr>
          <a:xfrm>
            <a:off x="4513580" y="2626360"/>
            <a:ext cx="1607820" cy="1075055"/>
          </a:xfrm>
          <a:prstGeom prst="rect">
            <a:avLst/>
          </a:prstGeom>
        </p:spPr>
      </p:pic>
      <p:sp>
        <p:nvSpPr>
          <p:cNvPr id="12" name="圆角矩形 11"/>
          <p:cNvSpPr/>
          <p:nvPr/>
        </p:nvSpPr>
        <p:spPr>
          <a:xfrm>
            <a:off x="144145" y="4370705"/>
            <a:ext cx="8257540" cy="2355215"/>
          </a:xfrm>
          <a:prstGeom prst="roundRect">
            <a:avLst>
              <a:gd name="adj" fmla="val 188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144145" y="2117725"/>
            <a:ext cx="4186555" cy="2081530"/>
          </a:xfrm>
          <a:prstGeom prst="roundRect">
            <a:avLst>
              <a:gd name="adj" fmla="val 188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144780" y="165735"/>
            <a:ext cx="6051550" cy="1795145"/>
          </a:xfrm>
          <a:prstGeom prst="roundRect">
            <a:avLst>
              <a:gd name="adj" fmla="val 188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6256655" y="2117725"/>
            <a:ext cx="5842000" cy="2080895"/>
          </a:xfrm>
          <a:prstGeom prst="roundRect">
            <a:avLst>
              <a:gd name="adj" fmla="val 188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8574405" y="4370070"/>
            <a:ext cx="3487420" cy="2355850"/>
          </a:xfrm>
          <a:prstGeom prst="roundRect">
            <a:avLst>
              <a:gd name="adj" fmla="val 188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71780" y="57785"/>
            <a:ext cx="5358765" cy="198755"/>
          </a:xfrm>
          <a:prstGeom prst="roundRect">
            <a:avLst>
              <a:gd name="adj" fmla="val 1883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/>
          <a:p>
            <a:pPr algn="l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1 OFFLINE ENCODEER ARCHITECTURE SEACH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257175" y="455429"/>
            <a:ext cx="975023" cy="1165938"/>
            <a:chOff x="781" y="916"/>
            <a:chExt cx="3267" cy="1994"/>
          </a:xfrm>
        </p:grpSpPr>
        <p:pic>
          <p:nvPicPr>
            <p:cNvPr id="19" name="图片 18" descr="cc1ebeea-71a4-433c-afac-5d7c93ec5479"/>
            <p:cNvPicPr>
              <a:picLocks noChangeAspect="1"/>
            </p:cNvPicPr>
            <p:nvPr/>
          </p:nvPicPr>
          <p:blipFill>
            <a:blip r:embed="rId2"/>
            <a:srcRect l="833" t="11047" r="77781" b="53687"/>
            <a:stretch>
              <a:fillRect/>
            </a:stretch>
          </p:blipFill>
          <p:spPr>
            <a:xfrm>
              <a:off x="782" y="916"/>
              <a:ext cx="2921" cy="1606"/>
            </a:xfrm>
            <a:prstGeom prst="rect">
              <a:avLst/>
            </a:prstGeom>
          </p:spPr>
        </p:pic>
        <p:sp>
          <p:nvSpPr>
            <p:cNvPr id="23" name="圆角矩形 22"/>
            <p:cNvSpPr/>
            <p:nvPr/>
          </p:nvSpPr>
          <p:spPr>
            <a:xfrm>
              <a:off x="781" y="2573"/>
              <a:ext cx="3267" cy="337"/>
            </a:xfrm>
            <a:prstGeom prst="roundRect">
              <a:avLst>
                <a:gd name="adj" fmla="val 1883"/>
              </a:avLst>
            </a:prstGeom>
            <a:solidFill>
              <a:schemeClr val="bg1"/>
            </a:solidFill>
            <a:ln w="12700" cmpd="sng">
              <a:noFill/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Canditate Ecoder Space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410335" y="506229"/>
            <a:ext cx="1102092" cy="1176020"/>
            <a:chOff x="4482" y="1064"/>
            <a:chExt cx="1843" cy="1852"/>
          </a:xfrm>
        </p:grpSpPr>
        <p:pic>
          <p:nvPicPr>
            <p:cNvPr id="25" name="图片 24" descr="cc1ebeea-71a4-433c-afac-5d7c93ec5479"/>
            <p:cNvPicPr>
              <a:picLocks noChangeAspect="1"/>
            </p:cNvPicPr>
            <p:nvPr/>
          </p:nvPicPr>
          <p:blipFill>
            <a:blip r:embed="rId2"/>
            <a:srcRect l="22927" t="15063" r="58057" b="60313"/>
            <a:stretch>
              <a:fillRect/>
            </a:stretch>
          </p:blipFill>
          <p:spPr>
            <a:xfrm>
              <a:off x="4505" y="1334"/>
              <a:ext cx="1798" cy="1058"/>
            </a:xfrm>
            <a:prstGeom prst="rect">
              <a:avLst/>
            </a:prstGeom>
          </p:spPr>
        </p:pic>
        <p:sp>
          <p:nvSpPr>
            <p:cNvPr id="26" name="圆角矩形 25"/>
            <p:cNvSpPr/>
            <p:nvPr/>
          </p:nvSpPr>
          <p:spPr>
            <a:xfrm>
              <a:off x="4483" y="2510"/>
              <a:ext cx="1842" cy="406"/>
            </a:xfrm>
            <a:prstGeom prst="roundRect">
              <a:avLst>
                <a:gd name="adj" fmla="val 1883"/>
              </a:avLst>
            </a:prstGeom>
            <a:solidFill>
              <a:schemeClr val="bg1"/>
            </a:solidFill>
            <a:ln w="12700" cmpd="sng">
              <a:noFill/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0" rIns="0" bIns="0" rtlCol="0" anchor="ctr"/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Teahcer-Guied</a:t>
              </a:r>
              <a:b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</a:br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Proxy Training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4482" y="1064"/>
              <a:ext cx="875" cy="269"/>
            </a:xfrm>
            <a:prstGeom prst="roundRect">
              <a:avLst>
                <a:gd name="adj" fmla="val 1883"/>
              </a:avLst>
            </a:prstGeom>
            <a:solidFill>
              <a:schemeClr val="bg1"/>
            </a:solidFill>
            <a:ln w="12700" cmpd="sng">
              <a:noFill/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0" rIns="0" bIns="0" rtlCol="0" anchor="ctr"/>
            <a:p>
              <a:pPr algn="ctr"/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Teahcer</a:t>
              </a:r>
              <a:endParaRPr lang="en-US" altLang="zh-CN"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5358" y="1064"/>
              <a:ext cx="964" cy="270"/>
            </a:xfrm>
            <a:prstGeom prst="roundRect">
              <a:avLst>
                <a:gd name="adj" fmla="val 1883"/>
              </a:avLst>
            </a:prstGeom>
            <a:solidFill>
              <a:schemeClr val="bg1"/>
            </a:solidFill>
            <a:ln w="12700" cmpd="sng">
              <a:noFill/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0" rIns="0" bIns="0" rtlCol="0" anchor="ctr"/>
            <a:p>
              <a:pPr algn="ctr"/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Student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782570" y="383857"/>
            <a:ext cx="1133475" cy="1298996"/>
            <a:chOff x="8895" y="617"/>
            <a:chExt cx="2945" cy="2987"/>
          </a:xfrm>
        </p:grpSpPr>
        <p:grpSp>
          <p:nvGrpSpPr>
            <p:cNvPr id="40" name="组合 39"/>
            <p:cNvGrpSpPr/>
            <p:nvPr/>
          </p:nvGrpSpPr>
          <p:grpSpPr>
            <a:xfrm>
              <a:off x="8956" y="617"/>
              <a:ext cx="2884" cy="1994"/>
              <a:chOff x="8990" y="617"/>
              <a:chExt cx="3541" cy="2570"/>
            </a:xfrm>
          </p:grpSpPr>
          <p:pic>
            <p:nvPicPr>
              <p:cNvPr id="30" name="图片 29" descr="cc1ebeea-71a4-433c-afac-5d7c93ec5479"/>
              <p:cNvPicPr>
                <a:picLocks noChangeAspect="1"/>
              </p:cNvPicPr>
              <p:nvPr/>
            </p:nvPicPr>
            <p:blipFill>
              <a:blip r:embed="rId2"/>
              <a:srcRect l="44073" t="6781" r="40615" b="54391"/>
              <a:stretch>
                <a:fillRect/>
              </a:stretch>
            </p:blipFill>
            <p:spPr>
              <a:xfrm>
                <a:off x="9428" y="617"/>
                <a:ext cx="2940" cy="2485"/>
              </a:xfrm>
              <a:prstGeom prst="rect">
                <a:avLst/>
              </a:prstGeom>
            </p:spPr>
          </p:pic>
          <p:cxnSp>
            <p:nvCxnSpPr>
              <p:cNvPr id="32" name="直接箭头连接符 31"/>
              <p:cNvCxnSpPr/>
              <p:nvPr/>
            </p:nvCxnSpPr>
            <p:spPr>
              <a:xfrm rot="60000" flipV="1">
                <a:off x="9353" y="1147"/>
                <a:ext cx="13" cy="140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/>
              <p:cNvCxnSpPr/>
              <p:nvPr/>
            </p:nvCxnSpPr>
            <p:spPr>
              <a:xfrm rot="60000">
                <a:off x="9353" y="2540"/>
                <a:ext cx="1374" cy="57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/>
              <p:cNvCxnSpPr/>
              <p:nvPr/>
            </p:nvCxnSpPr>
            <p:spPr>
              <a:xfrm rot="60000" flipV="1">
                <a:off x="10979" y="2446"/>
                <a:ext cx="1367" cy="74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6" name="文本框 35"/>
              <p:cNvSpPr txBox="1"/>
              <p:nvPr/>
            </p:nvSpPr>
            <p:spPr>
              <a:xfrm>
                <a:off x="8990" y="1428"/>
                <a:ext cx="391" cy="1364"/>
              </a:xfrm>
              <a:prstGeom prst="rect">
                <a:avLst/>
              </a:prstGeom>
              <a:noFill/>
            </p:spPr>
            <p:txBody>
              <a:bodyPr vert="eaVert" wrap="square" rtlCol="0" anchor="ctr" anchorCtr="1">
                <a:noAutofit/>
              </a:bodyPr>
              <a:p>
                <a:r>
                  <a:rPr lang="en-US" altLang="zh-CN" sz="600">
                    <a:latin typeface="Times New Roman" panose="02020603050405020304" charset="0"/>
                    <a:cs typeface="Times New Roman" panose="02020603050405020304" charset="0"/>
                  </a:rPr>
                  <a:t>Quanlity</a:t>
                </a:r>
                <a:endParaRPr lang="en-US" altLang="zh-CN" sz="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 rot="1380000">
                <a:off x="9016" y="2768"/>
                <a:ext cx="1669" cy="316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noAutofit/>
              </a:bodyPr>
              <a:p>
                <a:r>
                  <a:rPr lang="en-US" altLang="zh-CN" sz="800">
                    <a:latin typeface="Times New Roman" panose="02020603050405020304" charset="0"/>
                    <a:cs typeface="Times New Roman" panose="02020603050405020304" charset="0"/>
                  </a:rPr>
                  <a:t>Latency</a:t>
                </a:r>
                <a:endParaRPr lang="en-US" altLang="zh-CN" sz="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 rot="19800000">
                <a:off x="10692" y="2877"/>
                <a:ext cx="1839" cy="309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noAutofit/>
              </a:bodyPr>
              <a:p>
                <a:r>
                  <a:rPr lang="en-US" altLang="zh-CN" sz="600">
                    <a:latin typeface="Times New Roman" panose="02020603050405020304" charset="0"/>
                    <a:cs typeface="Times New Roman" panose="02020603050405020304" charset="0"/>
                  </a:rPr>
                  <a:t>Model Size</a:t>
                </a:r>
                <a:endParaRPr lang="en-US" altLang="zh-CN" sz="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41" name="文本框 40"/>
            <p:cNvSpPr txBox="1"/>
            <p:nvPr/>
          </p:nvSpPr>
          <p:spPr>
            <a:xfrm>
              <a:off x="8895" y="2928"/>
              <a:ext cx="2922" cy="67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Resource and 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quality Profiling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4108450" y="439862"/>
            <a:ext cx="921385" cy="1308754"/>
            <a:chOff x="12700" y="894"/>
            <a:chExt cx="2530" cy="2863"/>
          </a:xfrm>
        </p:grpSpPr>
        <p:grpSp>
          <p:nvGrpSpPr>
            <p:cNvPr id="47" name="组合 46"/>
            <p:cNvGrpSpPr/>
            <p:nvPr/>
          </p:nvGrpSpPr>
          <p:grpSpPr>
            <a:xfrm>
              <a:off x="12991" y="894"/>
              <a:ext cx="1857" cy="1461"/>
              <a:chOff x="12991" y="894"/>
              <a:chExt cx="1634" cy="1317"/>
            </a:xfrm>
          </p:grpSpPr>
          <p:pic>
            <p:nvPicPr>
              <p:cNvPr id="43" name="图片 42" descr="cc1ebeea-71a4-433c-afac-5d7c93ec5479"/>
              <p:cNvPicPr>
                <a:picLocks noChangeAspect="1"/>
              </p:cNvPicPr>
              <p:nvPr/>
            </p:nvPicPr>
            <p:blipFill>
              <a:blip r:embed="rId2"/>
              <a:srcRect l="62797" t="11719" r="21719" b="56609"/>
              <a:stretch>
                <a:fillRect/>
              </a:stretch>
            </p:blipFill>
            <p:spPr>
              <a:xfrm>
                <a:off x="13003" y="1122"/>
                <a:ext cx="1594" cy="1088"/>
              </a:xfrm>
              <a:prstGeom prst="rect">
                <a:avLst/>
              </a:prstGeom>
            </p:spPr>
          </p:pic>
          <p:cxnSp>
            <p:nvCxnSpPr>
              <p:cNvPr id="45" name="直接箭头连接符 44"/>
              <p:cNvCxnSpPr/>
              <p:nvPr/>
            </p:nvCxnSpPr>
            <p:spPr>
              <a:xfrm flipH="1" flipV="1">
                <a:off x="12991" y="894"/>
                <a:ext cx="12" cy="13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/>
              <p:cNvCxnSpPr/>
              <p:nvPr/>
            </p:nvCxnSpPr>
            <p:spPr>
              <a:xfrm>
                <a:off x="13008" y="2211"/>
                <a:ext cx="161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48" name="文本框 47"/>
            <p:cNvSpPr txBox="1"/>
            <p:nvPr/>
          </p:nvSpPr>
          <p:spPr>
            <a:xfrm>
              <a:off x="13055" y="2385"/>
              <a:ext cx="1767" cy="381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 sz="600">
                  <a:latin typeface="Times New Roman" panose="02020603050405020304" charset="0"/>
                  <a:cs typeface="Times New Roman" panose="02020603050405020304" charset="0"/>
                </a:rPr>
                <a:t>Resource Cost </a:t>
              </a:r>
              <a:endParaRPr lang="en-US" altLang="zh-CN" sz="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2700" y="3136"/>
              <a:ext cx="2530" cy="6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ParetoSelection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5222240" y="1470025"/>
            <a:ext cx="875030" cy="197485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NAS-Selected Encoder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173855" y="395605"/>
            <a:ext cx="1167130" cy="2336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Pareto Front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8" name="圆角矩形 77"/>
          <p:cNvSpPr/>
          <p:nvPr/>
        </p:nvSpPr>
        <p:spPr>
          <a:xfrm>
            <a:off x="257175" y="2032000"/>
            <a:ext cx="3964305" cy="198755"/>
          </a:xfrm>
          <a:prstGeom prst="roundRect">
            <a:avLst>
              <a:gd name="adj" fmla="val 1883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/>
          <a:p>
            <a:pPr algn="l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3 DISCRETE INDEX TRANSMISSION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306758" y="2475230"/>
            <a:ext cx="867665" cy="1241425"/>
            <a:chOff x="9853" y="4632"/>
            <a:chExt cx="1364" cy="1955"/>
          </a:xfrm>
        </p:grpSpPr>
        <p:pic>
          <p:nvPicPr>
            <p:cNvPr id="83" name="图片 82" descr="d7194677-731e-404a-8019-7c4bca95c540"/>
            <p:cNvPicPr>
              <a:picLocks noChangeAspect="1"/>
            </p:cNvPicPr>
            <p:nvPr/>
          </p:nvPicPr>
          <p:blipFill>
            <a:blip r:embed="rId3"/>
            <a:srcRect l="21924" t="19179" r="21361" b="15168"/>
            <a:stretch>
              <a:fillRect/>
            </a:stretch>
          </p:blipFill>
          <p:spPr>
            <a:xfrm>
              <a:off x="9853" y="4632"/>
              <a:ext cx="1364" cy="1141"/>
            </a:xfrm>
            <a:prstGeom prst="rect">
              <a:avLst/>
            </a:prstGeom>
          </p:spPr>
        </p:pic>
        <p:sp>
          <p:nvSpPr>
            <p:cNvPr id="84" name="文本框 83"/>
            <p:cNvSpPr txBox="1"/>
            <p:nvPr/>
          </p:nvSpPr>
          <p:spPr>
            <a:xfrm>
              <a:off x="9994" y="5821"/>
              <a:ext cx="1136" cy="766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Three-layers</a:t>
              </a:r>
              <a:b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</a:br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Descrete indices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1799897" y="2436495"/>
            <a:ext cx="885190" cy="1380490"/>
            <a:chOff x="11409" y="4333"/>
            <a:chExt cx="1394" cy="2174"/>
          </a:xfrm>
        </p:grpSpPr>
        <p:pic>
          <p:nvPicPr>
            <p:cNvPr id="80" name="图片 79" descr="9bf390ca-be59-4b23-80f1-c32c53ed7727"/>
            <p:cNvPicPr>
              <a:picLocks noChangeAspect="1"/>
            </p:cNvPicPr>
            <p:nvPr/>
          </p:nvPicPr>
          <p:blipFill>
            <a:blip r:embed="rId4"/>
            <a:srcRect l="21667" t="8542" r="62417" b="51708"/>
            <a:stretch>
              <a:fillRect/>
            </a:stretch>
          </p:blipFill>
          <p:spPr>
            <a:xfrm>
              <a:off x="11409" y="4333"/>
              <a:ext cx="1345" cy="1408"/>
            </a:xfrm>
            <a:prstGeom prst="rect">
              <a:avLst/>
            </a:prstGeom>
          </p:spPr>
        </p:pic>
        <p:sp>
          <p:nvSpPr>
            <p:cNvPr id="85" name="文本框 84"/>
            <p:cNvSpPr txBox="1"/>
            <p:nvPr/>
          </p:nvSpPr>
          <p:spPr>
            <a:xfrm>
              <a:off x="11409" y="5741"/>
              <a:ext cx="1394" cy="766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indices packing and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packetization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3310562" y="2446020"/>
            <a:ext cx="721360" cy="1311275"/>
            <a:chOff x="13052" y="4499"/>
            <a:chExt cx="1136" cy="2065"/>
          </a:xfrm>
        </p:grpSpPr>
        <p:pic>
          <p:nvPicPr>
            <p:cNvPr id="81" name="图片 80" descr="9bf390ca-be59-4b23-80f1-c32c53ed7727"/>
            <p:cNvPicPr>
              <a:picLocks noChangeAspect="1"/>
            </p:cNvPicPr>
            <p:nvPr/>
          </p:nvPicPr>
          <p:blipFill>
            <a:blip r:embed="rId4"/>
            <a:srcRect l="41917" t="12708" r="45667" b="55292"/>
            <a:stretch>
              <a:fillRect/>
            </a:stretch>
          </p:blipFill>
          <p:spPr>
            <a:xfrm>
              <a:off x="13169" y="4499"/>
              <a:ext cx="1019" cy="1393"/>
            </a:xfrm>
            <a:prstGeom prst="rect">
              <a:avLst/>
            </a:prstGeom>
          </p:spPr>
        </p:pic>
        <p:sp>
          <p:nvSpPr>
            <p:cNvPr id="86" name="文本框 85"/>
            <p:cNvSpPr txBox="1"/>
            <p:nvPr/>
          </p:nvSpPr>
          <p:spPr>
            <a:xfrm>
              <a:off x="13052" y="5798"/>
              <a:ext cx="1136" cy="766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Descrete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Index</a:t>
              </a:r>
              <a:b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</a:br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Bitstream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87" name="文本框 86"/>
          <p:cNvSpPr txBox="1"/>
          <p:nvPr/>
        </p:nvSpPr>
        <p:spPr>
          <a:xfrm>
            <a:off x="4437380" y="2286635"/>
            <a:ext cx="1659890" cy="302260"/>
          </a:xfrm>
          <a:prstGeom prst="rect">
            <a:avLst/>
          </a:prstGeom>
          <a:noFill/>
        </p:spPr>
        <p:txBody>
          <a:bodyPr wrap="square" lIns="0" rIns="0" rtlCol="0" anchor="ctr" anchorCtr="1">
            <a:noAutofit/>
          </a:bodyPr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Nominal Index Payload</a:t>
            </a:r>
            <a:b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1.5k bit/s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4" name="图片 103" descr="16_three_codebook_vector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925" y="2701290"/>
            <a:ext cx="353060" cy="908050"/>
          </a:xfrm>
          <a:prstGeom prst="rect">
            <a:avLst/>
          </a:prstGeom>
        </p:spPr>
      </p:pic>
      <p:sp>
        <p:nvSpPr>
          <p:cNvPr id="105" name="圆角矩形 104"/>
          <p:cNvSpPr/>
          <p:nvPr/>
        </p:nvSpPr>
        <p:spPr>
          <a:xfrm>
            <a:off x="6386830" y="2032000"/>
            <a:ext cx="4003040" cy="198755"/>
          </a:xfrm>
          <a:prstGeom prst="roundRect">
            <a:avLst>
              <a:gd name="adj" fmla="val 1883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rIns="0" rtlCol="0" anchor="ctr"/>
          <a:p>
            <a:pPr algn="l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5 SHARED CODEBOOK  DECODING 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6844665" y="3843655"/>
            <a:ext cx="878205" cy="21907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Preshared Codebooks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文本框 111"/>
              <p:cNvSpPr txBox="1"/>
              <p:nvPr/>
            </p:nvSpPr>
            <p:spPr>
              <a:xfrm>
                <a:off x="6319520" y="2828925"/>
                <a:ext cx="236855" cy="182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12" name="文本框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520" y="2828925"/>
                <a:ext cx="236855" cy="182880"/>
              </a:xfrm>
              <a:prstGeom prst="rect">
                <a:avLst/>
              </a:prstGeom>
              <a:blipFill rotWithShape="1">
                <a:blip r:embed="rId6"/>
                <a:stretch>
                  <a:fillRect b="-2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文本框 114"/>
              <p:cNvSpPr txBox="1"/>
              <p:nvPr/>
            </p:nvSpPr>
            <p:spPr>
              <a:xfrm>
                <a:off x="9148445" y="3641090"/>
                <a:ext cx="922020" cy="4216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>
                  <a:buClrTx/>
                  <a:buSzTx/>
                  <a:buNone/>
                </a:pPr>
                <a:r>
                  <a:rPr lang="en-US" altLang="zh-CN" sz="1000" b="1">
                    <a:latin typeface="Times New Roman" panose="02020603050405020304" charset="0"/>
                    <a:cs typeface="Times New Roman" panose="02020603050405020304" charset="0"/>
                  </a:rPr>
                  <a:t>Recovered</a:t>
                </a:r>
                <a:endParaRPr lang="en-US" altLang="zh-CN" sz="1000" b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>
                  <a:buClrTx/>
                  <a:buSzTx/>
                  <a:buNone/>
                </a:pPr>
                <a:r>
                  <a:rPr lang="en-US" altLang="zh-CN" sz="1000" b="1">
                    <a:latin typeface="Times New Roman" panose="02020603050405020304" charset="0"/>
                    <a:cs typeface="Times New Roman" panose="02020603050405020304" charset="0"/>
                  </a:rPr>
                  <a:t>Quantized Latent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altLang="zh-CN" sz="10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5" name="文本框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8445" y="3641090"/>
                <a:ext cx="922020" cy="421640"/>
              </a:xfrm>
              <a:prstGeom prst="rect">
                <a:avLst/>
              </a:prstGeom>
              <a:blipFill rotWithShape="1">
                <a:blip r:embed="rId7"/>
                <a:stretch>
                  <a:fillRect b="-210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文本框 115"/>
          <p:cNvSpPr txBox="1"/>
          <p:nvPr/>
        </p:nvSpPr>
        <p:spPr>
          <a:xfrm>
            <a:off x="10421620" y="3856990"/>
            <a:ext cx="488950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ctr">
              <a:buClrTx/>
              <a:buSzTx/>
              <a:buNone/>
            </a:pPr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SEANet</a:t>
            </a:r>
            <a:b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Decoder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9" name="图片 118" descr="cc1ebeea-71a4-433c-afac-5d7c93ec5479"/>
          <p:cNvPicPr>
            <a:picLocks noChangeAspect="1"/>
          </p:cNvPicPr>
          <p:nvPr/>
        </p:nvPicPr>
        <p:blipFill>
          <a:blip r:embed="rId2"/>
          <a:srcRect l="1760" t="52437" r="86365" b="7984"/>
          <a:stretch>
            <a:fillRect/>
          </a:stretch>
        </p:blipFill>
        <p:spPr>
          <a:xfrm>
            <a:off x="219075" y="5028565"/>
            <a:ext cx="370205" cy="863600"/>
          </a:xfrm>
          <a:prstGeom prst="rect">
            <a:avLst/>
          </a:prstGeom>
        </p:spPr>
      </p:pic>
      <p:sp>
        <p:nvSpPr>
          <p:cNvPr id="121" name="圆角矩形 120"/>
          <p:cNvSpPr/>
          <p:nvPr/>
        </p:nvSpPr>
        <p:spPr>
          <a:xfrm>
            <a:off x="718185" y="4752975"/>
            <a:ext cx="1106170" cy="275590"/>
          </a:xfrm>
          <a:prstGeom prst="roundRect">
            <a:avLst>
              <a:gd name="adj" fmla="val 6477"/>
            </a:avLst>
          </a:prstGeom>
          <a:solidFill>
            <a:srgbClr val="E6F3FE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Frozen HUBERT Teacher</a:t>
            </a: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22" name="圆角矩形 121"/>
          <p:cNvSpPr/>
          <p:nvPr/>
        </p:nvSpPr>
        <p:spPr>
          <a:xfrm>
            <a:off x="718185" y="5788660"/>
            <a:ext cx="547370" cy="252095"/>
          </a:xfrm>
          <a:prstGeom prst="roundRect">
            <a:avLst>
              <a:gd name="adj" fmla="val 1883"/>
            </a:avLst>
          </a:prstGeom>
          <a:solidFill>
            <a:srgbClr val="E6F3FE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</a:t>
            </a: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VQ Commitent</a:t>
            </a: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27" name="圆角矩形 126"/>
          <p:cNvSpPr/>
          <p:nvPr/>
        </p:nvSpPr>
        <p:spPr>
          <a:xfrm flipH="1">
            <a:off x="4295140" y="6020435"/>
            <a:ext cx="1129665" cy="260350"/>
          </a:xfrm>
          <a:prstGeom prst="roundRect">
            <a:avLst>
              <a:gd name="adj" fmla="val 1883"/>
            </a:avLst>
          </a:prstGeom>
          <a:solidFill>
            <a:srgbClr val="E6F3FE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</a:t>
            </a: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econstruction loss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130" name="组合 129"/>
          <p:cNvGrpSpPr/>
          <p:nvPr/>
        </p:nvGrpSpPr>
        <p:grpSpPr>
          <a:xfrm>
            <a:off x="1449705" y="5340350"/>
            <a:ext cx="848995" cy="486410"/>
            <a:chOff x="2176" y="8284"/>
            <a:chExt cx="2226" cy="1375"/>
          </a:xfrm>
        </p:grpSpPr>
        <p:pic>
          <p:nvPicPr>
            <p:cNvPr id="128" name="图片 127" descr="443e1ca6-7837-4a68-81e8-dcd92647944d"/>
            <p:cNvPicPr>
              <a:picLocks noChangeAspect="1"/>
            </p:cNvPicPr>
            <p:nvPr/>
          </p:nvPicPr>
          <p:blipFill>
            <a:blip r:embed="rId8"/>
            <a:srcRect l="6773" t="27491" r="6081" b="31028"/>
            <a:stretch>
              <a:fillRect/>
            </a:stretch>
          </p:blipFill>
          <p:spPr>
            <a:xfrm>
              <a:off x="2308" y="8284"/>
              <a:ext cx="1962" cy="955"/>
            </a:xfrm>
            <a:prstGeom prst="rect">
              <a:avLst/>
            </a:prstGeom>
          </p:spPr>
        </p:pic>
        <p:sp>
          <p:nvSpPr>
            <p:cNvPr id="129" name="文本框 128"/>
            <p:cNvSpPr txBox="1"/>
            <p:nvPr/>
          </p:nvSpPr>
          <p:spPr>
            <a:xfrm>
              <a:off x="2176" y="9239"/>
              <a:ext cx="2226" cy="420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p>
              <a:pPr algn="ctr"/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SCIT-Speech Generator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49" name="组合 148"/>
          <p:cNvGrpSpPr/>
          <p:nvPr/>
        </p:nvGrpSpPr>
        <p:grpSpPr>
          <a:xfrm>
            <a:off x="4302760" y="4789805"/>
            <a:ext cx="1121410" cy="863600"/>
            <a:chOff x="7019" y="7486"/>
            <a:chExt cx="1766" cy="1360"/>
          </a:xfrm>
        </p:grpSpPr>
        <p:sp>
          <p:nvSpPr>
            <p:cNvPr id="126" name="圆角矩形 125"/>
            <p:cNvSpPr/>
            <p:nvPr/>
          </p:nvSpPr>
          <p:spPr>
            <a:xfrm flipH="1">
              <a:off x="7133" y="7572"/>
              <a:ext cx="1576" cy="511"/>
            </a:xfrm>
            <a:prstGeom prst="roundRect">
              <a:avLst>
                <a:gd name="adj" fmla="val 1883"/>
              </a:avLst>
            </a:prstGeom>
            <a:solidFill>
              <a:srgbClr val="E6F3FE"/>
            </a:solidFill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8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Waveform and Mel reconstruction</a:t>
              </a:r>
              <a:endParaRPr lang="en-US" altLang="zh-CN" sz="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pic>
          <p:nvPicPr>
            <p:cNvPr id="138" name="图片 137" descr="1edf18d1-ddcc-44ee-a1d3-073cc1b6e1d2"/>
            <p:cNvPicPr>
              <a:picLocks noChangeAspect="1"/>
            </p:cNvPicPr>
            <p:nvPr/>
          </p:nvPicPr>
          <p:blipFill>
            <a:blip r:embed="rId9"/>
            <a:srcRect l="18486" t="32611" r="18215" b="32694"/>
            <a:stretch>
              <a:fillRect/>
            </a:stretch>
          </p:blipFill>
          <p:spPr>
            <a:xfrm>
              <a:off x="7133" y="8166"/>
              <a:ext cx="1548" cy="637"/>
            </a:xfrm>
            <a:prstGeom prst="rect">
              <a:avLst/>
            </a:prstGeom>
          </p:spPr>
        </p:pic>
        <p:sp>
          <p:nvSpPr>
            <p:cNvPr id="148" name="圆角矩形 147"/>
            <p:cNvSpPr/>
            <p:nvPr/>
          </p:nvSpPr>
          <p:spPr>
            <a:xfrm>
              <a:off x="7019" y="7486"/>
              <a:ext cx="1767" cy="1361"/>
            </a:xfrm>
            <a:prstGeom prst="roundRect">
              <a:avLst>
                <a:gd name="adj" fmla="val 1883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51" name="圆角矩形 150"/>
          <p:cNvSpPr/>
          <p:nvPr/>
        </p:nvSpPr>
        <p:spPr>
          <a:xfrm flipH="1">
            <a:off x="5630545" y="6973570"/>
            <a:ext cx="830580" cy="260350"/>
          </a:xfrm>
          <a:prstGeom prst="roundRect">
            <a:avLst>
              <a:gd name="adj" fmla="val 1883"/>
            </a:avLst>
          </a:prstGeom>
          <a:solidFill>
            <a:srgbClr val="E6F3FE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Best Model Checkpoint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2" name="圆角矩形 151"/>
          <p:cNvSpPr/>
          <p:nvPr/>
        </p:nvSpPr>
        <p:spPr>
          <a:xfrm flipH="1">
            <a:off x="7524750" y="4708525"/>
            <a:ext cx="830580" cy="260350"/>
          </a:xfrm>
          <a:prstGeom prst="roundRect">
            <a:avLst>
              <a:gd name="adj" fmla="val 1883"/>
            </a:avLst>
          </a:prstGeom>
          <a:solidFill>
            <a:srgbClr val="E6F3FE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Ramdam RVQ DeepSampling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3" name="圆角矩形 152"/>
          <p:cNvSpPr/>
          <p:nvPr/>
        </p:nvSpPr>
        <p:spPr>
          <a:xfrm flipH="1">
            <a:off x="6556375" y="4708525"/>
            <a:ext cx="830580" cy="260350"/>
          </a:xfrm>
          <a:prstGeom prst="roundRect">
            <a:avLst>
              <a:gd name="adj" fmla="val 1883"/>
            </a:avLst>
          </a:prstGeom>
          <a:solidFill>
            <a:srgbClr val="E6F3FE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index perturbation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156" name="组合 155"/>
          <p:cNvGrpSpPr/>
          <p:nvPr/>
        </p:nvGrpSpPr>
        <p:grpSpPr>
          <a:xfrm>
            <a:off x="6688455" y="5137785"/>
            <a:ext cx="566420" cy="791210"/>
            <a:chOff x="10573" y="8918"/>
            <a:chExt cx="892" cy="1246"/>
          </a:xfrm>
        </p:grpSpPr>
        <p:pic>
          <p:nvPicPr>
            <p:cNvPr id="154" name="图片 153" descr="f0ca6182-a653-4a85-b473-8430671b4905"/>
            <p:cNvPicPr>
              <a:picLocks noChangeAspect="1"/>
            </p:cNvPicPr>
            <p:nvPr/>
          </p:nvPicPr>
          <p:blipFill>
            <a:blip r:embed="rId10"/>
            <a:srcRect l="15519" t="11065" r="15343" b="11963"/>
            <a:stretch>
              <a:fillRect/>
            </a:stretch>
          </p:blipFill>
          <p:spPr>
            <a:xfrm>
              <a:off x="10718" y="8918"/>
              <a:ext cx="603" cy="672"/>
            </a:xfrm>
            <a:prstGeom prst="rect">
              <a:avLst/>
            </a:prstGeom>
          </p:spPr>
        </p:pic>
        <p:sp>
          <p:nvSpPr>
            <p:cNvPr id="155" name="文本框 154"/>
            <p:cNvSpPr txBox="1"/>
            <p:nvPr/>
          </p:nvSpPr>
          <p:spPr>
            <a:xfrm>
              <a:off x="10573" y="9634"/>
              <a:ext cx="89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buClrTx/>
                <a:buSzTx/>
                <a:buNone/>
              </a:pPr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Shared Decoder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60" name="组合 159"/>
          <p:cNvGrpSpPr/>
          <p:nvPr/>
        </p:nvGrpSpPr>
        <p:grpSpPr>
          <a:xfrm>
            <a:off x="5767705" y="5652770"/>
            <a:ext cx="621030" cy="471805"/>
            <a:chOff x="9111" y="8699"/>
            <a:chExt cx="978" cy="743"/>
          </a:xfrm>
        </p:grpSpPr>
        <p:pic>
          <p:nvPicPr>
            <p:cNvPr id="158" name="图片 15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345" y="8978"/>
              <a:ext cx="511" cy="465"/>
            </a:xfrm>
            <a:prstGeom prst="rect">
              <a:avLst/>
            </a:prstGeom>
          </p:spPr>
        </p:pic>
        <p:sp>
          <p:nvSpPr>
            <p:cNvPr id="159" name="文本框 158"/>
            <p:cNvSpPr txBox="1"/>
            <p:nvPr/>
          </p:nvSpPr>
          <p:spPr>
            <a:xfrm>
              <a:off x="9111" y="8699"/>
              <a:ext cx="979" cy="25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algn="ctr">
                <a:buClrTx/>
                <a:buSzTx/>
                <a:buNone/>
              </a:pPr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Cleaned MEl</a:t>
              </a:r>
              <a:endParaRPr lang="en-US" altLang="zh-CN" sz="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61" name="组合 160"/>
          <p:cNvGrpSpPr/>
          <p:nvPr/>
        </p:nvGrpSpPr>
        <p:grpSpPr>
          <a:xfrm>
            <a:off x="7531735" y="5624195"/>
            <a:ext cx="621030" cy="471805"/>
            <a:chOff x="9111" y="8699"/>
            <a:chExt cx="978" cy="743"/>
          </a:xfrm>
        </p:grpSpPr>
        <p:pic>
          <p:nvPicPr>
            <p:cNvPr id="162" name="图片 161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345" y="8978"/>
              <a:ext cx="511" cy="465"/>
            </a:xfrm>
            <a:prstGeom prst="rect">
              <a:avLst/>
            </a:prstGeom>
          </p:spPr>
        </p:pic>
        <p:sp>
          <p:nvSpPr>
            <p:cNvPr id="163" name="文本框 162"/>
            <p:cNvSpPr txBox="1"/>
            <p:nvPr/>
          </p:nvSpPr>
          <p:spPr>
            <a:xfrm>
              <a:off x="9111" y="8699"/>
              <a:ext cx="979" cy="25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algn="ctr">
                <a:buClrTx/>
                <a:buSzTx/>
                <a:buNone/>
              </a:pPr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Perturbed MEl</a:t>
              </a:r>
              <a:endParaRPr lang="en-US" altLang="zh-CN" sz="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64" name="圆角矩形 163"/>
          <p:cNvSpPr/>
          <p:nvPr/>
        </p:nvSpPr>
        <p:spPr>
          <a:xfrm flipH="1">
            <a:off x="6482080" y="6236970"/>
            <a:ext cx="1011555" cy="231775"/>
          </a:xfrm>
          <a:prstGeom prst="roundRect">
            <a:avLst>
              <a:gd name="adj" fmla="val 1883"/>
            </a:avLst>
          </a:prstGeom>
          <a:solidFill>
            <a:srgbClr val="E6F3FE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clean-perturbed Mel Consistency Loss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179" name="组合 178"/>
          <p:cNvGrpSpPr/>
          <p:nvPr/>
        </p:nvGrpSpPr>
        <p:grpSpPr>
          <a:xfrm>
            <a:off x="5678805" y="5049520"/>
            <a:ext cx="728980" cy="513080"/>
            <a:chOff x="14199" y="8699"/>
            <a:chExt cx="1148" cy="808"/>
          </a:xfrm>
        </p:grpSpPr>
        <p:grpSp>
          <p:nvGrpSpPr>
            <p:cNvPr id="177" name="组合 176"/>
            <p:cNvGrpSpPr/>
            <p:nvPr/>
          </p:nvGrpSpPr>
          <p:grpSpPr>
            <a:xfrm>
              <a:off x="14239" y="8875"/>
              <a:ext cx="1069" cy="633"/>
              <a:chOff x="13822" y="8918"/>
              <a:chExt cx="1069" cy="633"/>
            </a:xfrm>
          </p:grpSpPr>
          <p:grpSp>
            <p:nvGrpSpPr>
              <p:cNvPr id="170" name="组合 169"/>
              <p:cNvGrpSpPr/>
              <p:nvPr/>
            </p:nvGrpSpPr>
            <p:grpSpPr>
              <a:xfrm>
                <a:off x="13829" y="9225"/>
                <a:ext cx="1063" cy="327"/>
                <a:chOff x="1962" y="2164"/>
                <a:chExt cx="5869" cy="2283"/>
              </a:xfrm>
            </p:grpSpPr>
            <p:pic>
              <p:nvPicPr>
                <p:cNvPr id="171" name="图片 170" descr="d7194677-731e-404a-8019-7c4bca95c540"/>
                <p:cNvPicPr>
                  <a:picLocks noChangeAspect="1"/>
                </p:cNvPicPr>
                <p:nvPr/>
              </p:nvPicPr>
              <p:blipFill>
                <a:blip r:embed="rId3"/>
                <a:srcRect l="22514" t="20306" r="63424" b="59454"/>
                <a:stretch>
                  <a:fillRect/>
                </a:stretch>
              </p:blipFill>
              <p:spPr>
                <a:xfrm>
                  <a:off x="1962" y="2261"/>
                  <a:ext cx="2025" cy="2186"/>
                </a:xfrm>
                <a:prstGeom prst="rect">
                  <a:avLst/>
                </a:prstGeom>
              </p:spPr>
            </p:pic>
            <p:pic>
              <p:nvPicPr>
                <p:cNvPr id="172" name="图片 171" descr="d7194677-731e-404a-8019-7c4bca95c540"/>
                <p:cNvPicPr>
                  <a:picLocks noChangeAspect="1"/>
                </p:cNvPicPr>
                <p:nvPr/>
              </p:nvPicPr>
              <p:blipFill>
                <a:blip r:embed="rId3"/>
                <a:srcRect l="22514" t="63693" r="63424" b="16067"/>
                <a:stretch>
                  <a:fillRect/>
                </a:stretch>
              </p:blipFill>
              <p:spPr>
                <a:xfrm>
                  <a:off x="5807" y="2164"/>
                  <a:ext cx="2025" cy="2186"/>
                </a:xfrm>
                <a:prstGeom prst="rect">
                  <a:avLst/>
                </a:prstGeom>
              </p:spPr>
            </p:pic>
            <p:pic>
              <p:nvPicPr>
                <p:cNvPr id="173" name="图片 172" descr="d7194677-731e-404a-8019-7c4bca95c540"/>
                <p:cNvPicPr>
                  <a:picLocks noChangeAspect="1"/>
                </p:cNvPicPr>
                <p:nvPr/>
              </p:nvPicPr>
              <p:blipFill>
                <a:blip r:embed="rId3"/>
                <a:srcRect l="22361" t="42194" r="63577" b="37566"/>
                <a:stretch>
                  <a:fillRect/>
                </a:stretch>
              </p:blipFill>
              <p:spPr>
                <a:xfrm>
                  <a:off x="3850" y="2261"/>
                  <a:ext cx="2025" cy="2186"/>
                </a:xfrm>
                <a:prstGeom prst="rect">
                  <a:avLst/>
                </a:prstGeom>
              </p:spPr>
            </p:pic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4" name="文本框 173"/>
                  <p:cNvSpPr txBox="1"/>
                  <p:nvPr/>
                </p:nvSpPr>
                <p:spPr>
                  <a:xfrm>
                    <a:off x="13822" y="8918"/>
                    <a:ext cx="342" cy="2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74" name="文本框 17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822" y="8918"/>
                    <a:ext cx="342" cy="266"/>
                  </a:xfrm>
                  <a:prstGeom prst="rect">
                    <a:avLst/>
                  </a:prstGeom>
                  <a:blipFill rotWithShape="1">
                    <a:blip r:embed="rId1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5" name="文本框 174"/>
                  <p:cNvSpPr txBox="1"/>
                  <p:nvPr/>
                </p:nvSpPr>
                <p:spPr>
                  <a:xfrm>
                    <a:off x="14196" y="8918"/>
                    <a:ext cx="342" cy="2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75" name="文本框 17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96" y="8918"/>
                    <a:ext cx="342" cy="266"/>
                  </a:xfrm>
                  <a:prstGeom prst="rect">
                    <a:avLst/>
                  </a:prstGeom>
                  <a:blipFill rotWithShape="1">
                    <a:blip r:embed="rId1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6" name="文本框 175"/>
                  <p:cNvSpPr txBox="1"/>
                  <p:nvPr/>
                </p:nvSpPr>
                <p:spPr>
                  <a:xfrm>
                    <a:off x="14549" y="8918"/>
                    <a:ext cx="342" cy="2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76" name="文本框 17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9" y="8918"/>
                    <a:ext cx="342" cy="266"/>
                  </a:xfrm>
                  <a:prstGeom prst="rect">
                    <a:avLst/>
                  </a:prstGeom>
                  <a:blipFill rotWithShape="1">
                    <a:blip r:embed="rId1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8" name="文本框 177"/>
            <p:cNvSpPr txBox="1"/>
            <p:nvPr/>
          </p:nvSpPr>
          <p:spPr>
            <a:xfrm>
              <a:off x="14199" y="8699"/>
              <a:ext cx="1149" cy="18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algn="ctr">
                <a:buClrTx/>
                <a:buSzTx/>
                <a:buNone/>
              </a:pPr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Perturbed lndeces</a:t>
              </a:r>
              <a:endParaRPr lang="en-US" altLang="zh-CN" sz="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81" name="组合 180"/>
          <p:cNvGrpSpPr/>
          <p:nvPr/>
        </p:nvGrpSpPr>
        <p:grpSpPr>
          <a:xfrm>
            <a:off x="7524750" y="5023485"/>
            <a:ext cx="728980" cy="513080"/>
            <a:chOff x="14199" y="8699"/>
            <a:chExt cx="1148" cy="808"/>
          </a:xfrm>
        </p:grpSpPr>
        <p:grpSp>
          <p:nvGrpSpPr>
            <p:cNvPr id="182" name="组合 181"/>
            <p:cNvGrpSpPr/>
            <p:nvPr/>
          </p:nvGrpSpPr>
          <p:grpSpPr>
            <a:xfrm>
              <a:off x="14239" y="8875"/>
              <a:ext cx="1069" cy="633"/>
              <a:chOff x="13822" y="8918"/>
              <a:chExt cx="1069" cy="633"/>
            </a:xfrm>
          </p:grpSpPr>
          <p:grpSp>
            <p:nvGrpSpPr>
              <p:cNvPr id="183" name="组合 182"/>
              <p:cNvGrpSpPr/>
              <p:nvPr/>
            </p:nvGrpSpPr>
            <p:grpSpPr>
              <a:xfrm>
                <a:off x="13829" y="9225"/>
                <a:ext cx="1063" cy="327"/>
                <a:chOff x="1962" y="2164"/>
                <a:chExt cx="5869" cy="2283"/>
              </a:xfrm>
            </p:grpSpPr>
            <p:pic>
              <p:nvPicPr>
                <p:cNvPr id="184" name="图片 183" descr="d7194677-731e-404a-8019-7c4bca95c540"/>
                <p:cNvPicPr>
                  <a:picLocks noChangeAspect="1"/>
                </p:cNvPicPr>
                <p:nvPr/>
              </p:nvPicPr>
              <p:blipFill>
                <a:blip r:embed="rId3"/>
                <a:srcRect l="22514" t="20306" r="63424" b="59454"/>
                <a:stretch>
                  <a:fillRect/>
                </a:stretch>
              </p:blipFill>
              <p:spPr>
                <a:xfrm>
                  <a:off x="1962" y="2261"/>
                  <a:ext cx="2025" cy="2186"/>
                </a:xfrm>
                <a:prstGeom prst="rect">
                  <a:avLst/>
                </a:prstGeom>
              </p:spPr>
            </p:pic>
            <p:pic>
              <p:nvPicPr>
                <p:cNvPr id="185" name="图片 184" descr="d7194677-731e-404a-8019-7c4bca95c540"/>
                <p:cNvPicPr>
                  <a:picLocks noChangeAspect="1"/>
                </p:cNvPicPr>
                <p:nvPr/>
              </p:nvPicPr>
              <p:blipFill>
                <a:blip r:embed="rId3"/>
                <a:srcRect l="22514" t="63693" r="63424" b="16067"/>
                <a:stretch>
                  <a:fillRect/>
                </a:stretch>
              </p:blipFill>
              <p:spPr>
                <a:xfrm>
                  <a:off x="5807" y="2164"/>
                  <a:ext cx="2025" cy="2186"/>
                </a:xfrm>
                <a:prstGeom prst="rect">
                  <a:avLst/>
                </a:prstGeom>
              </p:spPr>
            </p:pic>
            <p:pic>
              <p:nvPicPr>
                <p:cNvPr id="186" name="图片 185" descr="d7194677-731e-404a-8019-7c4bca95c540"/>
                <p:cNvPicPr>
                  <a:picLocks noChangeAspect="1"/>
                </p:cNvPicPr>
                <p:nvPr/>
              </p:nvPicPr>
              <p:blipFill>
                <a:blip r:embed="rId3"/>
                <a:srcRect l="22361" t="42194" r="63577" b="37566"/>
                <a:stretch>
                  <a:fillRect/>
                </a:stretch>
              </p:blipFill>
              <p:spPr>
                <a:xfrm>
                  <a:off x="3850" y="2261"/>
                  <a:ext cx="2025" cy="2186"/>
                </a:xfrm>
                <a:prstGeom prst="rect">
                  <a:avLst/>
                </a:prstGeom>
              </p:spPr>
            </p:pic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7" name="文本框 186"/>
                  <p:cNvSpPr txBox="1"/>
                  <p:nvPr/>
                </p:nvSpPr>
                <p:spPr>
                  <a:xfrm>
                    <a:off x="13822" y="8918"/>
                    <a:ext cx="342" cy="2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87" name="文本框 18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822" y="8918"/>
                    <a:ext cx="342" cy="266"/>
                  </a:xfrm>
                  <a:prstGeom prst="rect">
                    <a:avLst/>
                  </a:prstGeom>
                  <a:blipFill rotWithShape="1">
                    <a:blip r:embed="rId1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8" name="文本框 187"/>
                  <p:cNvSpPr txBox="1"/>
                  <p:nvPr/>
                </p:nvSpPr>
                <p:spPr>
                  <a:xfrm>
                    <a:off x="14196" y="8918"/>
                    <a:ext cx="342" cy="2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88" name="文本框 18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96" y="8918"/>
                    <a:ext cx="342" cy="266"/>
                  </a:xfrm>
                  <a:prstGeom prst="rect">
                    <a:avLst/>
                  </a:prstGeom>
                  <a:blipFill rotWithShape="1">
                    <a:blip r:embed="rId1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9" name="文本框 188"/>
                  <p:cNvSpPr txBox="1"/>
                  <p:nvPr/>
                </p:nvSpPr>
                <p:spPr>
                  <a:xfrm>
                    <a:off x="14549" y="8918"/>
                    <a:ext cx="342" cy="2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89" name="文本框 18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9" y="8918"/>
                    <a:ext cx="342" cy="266"/>
                  </a:xfrm>
                  <a:prstGeom prst="rect">
                    <a:avLst/>
                  </a:prstGeom>
                  <a:blipFill rotWithShape="1">
                    <a:blip r:embed="rId1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0" name="文本框 189"/>
            <p:cNvSpPr txBox="1"/>
            <p:nvPr/>
          </p:nvSpPr>
          <p:spPr>
            <a:xfrm>
              <a:off x="14199" y="8699"/>
              <a:ext cx="1149" cy="18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algn="ctr">
                <a:buClrTx/>
                <a:buSzTx/>
                <a:buNone/>
              </a:pPr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Cleaned lndeces</a:t>
              </a:r>
              <a:endParaRPr lang="en-US" altLang="zh-CN" sz="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94" name="圆角矩形 193"/>
          <p:cNvSpPr/>
          <p:nvPr/>
        </p:nvSpPr>
        <p:spPr>
          <a:xfrm>
            <a:off x="9455785" y="5090160"/>
            <a:ext cx="622300" cy="441325"/>
          </a:xfrm>
          <a:prstGeom prst="roundRect">
            <a:avLst>
              <a:gd name="adj" fmla="val 6477"/>
            </a:avLst>
          </a:prstGeom>
          <a:solidFill>
            <a:srgbClr val="E6F3FE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Trainable RVQ Token 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9" name="图片 8" descr="18_reconstructed_speech_waveform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96325" y="5601335"/>
            <a:ext cx="177800" cy="457200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10289540" y="5080000"/>
            <a:ext cx="654050" cy="476885"/>
            <a:chOff x="15679" y="8840"/>
            <a:chExt cx="1337" cy="751"/>
          </a:xfrm>
        </p:grpSpPr>
        <p:pic>
          <p:nvPicPr>
            <p:cNvPr id="11" name="图片 10" descr="dfc0eb08-8648-49bc-b9e7-1b32206086d8"/>
            <p:cNvPicPr>
              <a:picLocks noChangeAspect="1"/>
            </p:cNvPicPr>
            <p:nvPr/>
          </p:nvPicPr>
          <p:blipFill>
            <a:blip r:embed="rId16"/>
            <a:srcRect l="32333" t="21704" r="31852" b="17685"/>
            <a:stretch>
              <a:fillRect/>
            </a:stretch>
          </p:blipFill>
          <p:spPr>
            <a:xfrm>
              <a:off x="16244" y="9238"/>
              <a:ext cx="208" cy="353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15679" y="8840"/>
              <a:ext cx="1337" cy="3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algn="ctr">
                <a:buClrTx/>
                <a:buSzTx/>
                <a:buNone/>
              </a:pPr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TokenSpeaker Embeding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0852150" y="5570855"/>
            <a:ext cx="722630" cy="476885"/>
            <a:chOff x="15679" y="8840"/>
            <a:chExt cx="1337" cy="751"/>
          </a:xfrm>
        </p:grpSpPr>
        <p:pic>
          <p:nvPicPr>
            <p:cNvPr id="31" name="图片 30" descr="dfc0eb08-8648-49bc-b9e7-1b32206086d8"/>
            <p:cNvPicPr>
              <a:picLocks noChangeAspect="1"/>
            </p:cNvPicPr>
            <p:nvPr/>
          </p:nvPicPr>
          <p:blipFill>
            <a:blip r:embed="rId16"/>
            <a:srcRect l="32333" t="21704" r="31852" b="17685"/>
            <a:stretch>
              <a:fillRect/>
            </a:stretch>
          </p:blipFill>
          <p:spPr>
            <a:xfrm>
              <a:off x="16244" y="9238"/>
              <a:ext cx="208" cy="353"/>
            </a:xfrm>
            <a:prstGeom prst="rect">
              <a:avLst/>
            </a:prstGeom>
          </p:spPr>
        </p:pic>
        <p:sp>
          <p:nvSpPr>
            <p:cNvPr id="34" name="文本框 33"/>
            <p:cNvSpPr txBox="1"/>
            <p:nvPr/>
          </p:nvSpPr>
          <p:spPr>
            <a:xfrm>
              <a:off x="15679" y="8840"/>
              <a:ext cx="1337" cy="3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algn="ctr">
                <a:buClrTx/>
                <a:buSzTx/>
                <a:buNone/>
              </a:pPr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 Audio Speaker Embeding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37" name="圆角矩形 36"/>
          <p:cNvSpPr/>
          <p:nvPr/>
        </p:nvSpPr>
        <p:spPr>
          <a:xfrm>
            <a:off x="9148445" y="5620068"/>
            <a:ext cx="581025" cy="419735"/>
          </a:xfrm>
          <a:prstGeom prst="roundRect">
            <a:avLst>
              <a:gd name="adj" fmla="val 6477"/>
            </a:avLst>
          </a:prstGeom>
          <a:solidFill>
            <a:srgbClr val="E6F3FE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Frozen ECAPA-TDMN 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圆角矩形 43"/>
              <p:cNvSpPr/>
              <p:nvPr/>
            </p:nvSpPr>
            <p:spPr>
              <a:xfrm>
                <a:off x="10889615" y="6336030"/>
                <a:ext cx="1106170" cy="275590"/>
              </a:xfrm>
              <a:prstGeom prst="roundRect">
                <a:avLst>
                  <a:gd name="adj" fmla="val 6477"/>
                </a:avLst>
              </a:prstGeom>
              <a:solidFill>
                <a:srgbClr val="E6F3FE"/>
              </a:solidFill>
              <a:ln w="12700" cmpd="sng">
                <a:solidFill>
                  <a:schemeClr val="accent1">
                    <a:shade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8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Learned Gate </a:t>
                </a:r>
                <a14:m>
                  <m:oMath xmlns:m="http://schemas.openxmlformats.org/officeDocument/2006/math">
                    <m:r>
                      <a:rPr lang="en-US" altLang="zh-CN" sz="800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𝑔</m:t>
                    </m:r>
                  </m:oMath>
                </a14:m>
                <a:endParaRPr lang="en-US" altLang="zh-CN" sz="800"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</mc:Choice>
        <mc:Fallback>
          <p:sp>
            <p:nvSpPr>
              <p:cNvPr id="44" name="圆角矩形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9615" y="6336030"/>
                <a:ext cx="1106170" cy="275590"/>
              </a:xfrm>
              <a:prstGeom prst="roundRect">
                <a:avLst>
                  <a:gd name="adj" fmla="val 6477"/>
                </a:avLst>
              </a:prstGeom>
              <a:blipFill rotWithShape="1">
                <a:blip r:embed="rId17"/>
                <a:stretch>
                  <a:fillRect l="-574" t="-2304" r="-574" b="-2304"/>
                </a:stretch>
              </a:blipFill>
              <a:ln w="12700" cmpd="sng">
                <a:solidFill>
                  <a:schemeClr val="accent1">
                    <a:shade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组合 52"/>
          <p:cNvGrpSpPr/>
          <p:nvPr/>
        </p:nvGrpSpPr>
        <p:grpSpPr>
          <a:xfrm>
            <a:off x="10052050" y="6165850"/>
            <a:ext cx="548640" cy="476885"/>
            <a:chOff x="15870" y="8840"/>
            <a:chExt cx="864" cy="751"/>
          </a:xfrm>
        </p:grpSpPr>
        <p:pic>
          <p:nvPicPr>
            <p:cNvPr id="64" name="图片 63" descr="dfc0eb08-8648-49bc-b9e7-1b32206086d8"/>
            <p:cNvPicPr>
              <a:picLocks noChangeAspect="1"/>
            </p:cNvPicPr>
            <p:nvPr/>
          </p:nvPicPr>
          <p:blipFill>
            <a:blip r:embed="rId16"/>
            <a:srcRect l="32333" t="21704" r="31852" b="17685"/>
            <a:stretch>
              <a:fillRect/>
            </a:stretch>
          </p:blipFill>
          <p:spPr>
            <a:xfrm>
              <a:off x="16244" y="9238"/>
              <a:ext cx="208" cy="353"/>
            </a:xfrm>
            <a:prstGeom prst="rect">
              <a:avLst/>
            </a:prstGeom>
          </p:spPr>
        </p:pic>
        <p:sp>
          <p:nvSpPr>
            <p:cNvPr id="79" name="文本框 78"/>
            <p:cNvSpPr txBox="1"/>
            <p:nvPr/>
          </p:nvSpPr>
          <p:spPr>
            <a:xfrm>
              <a:off x="15870" y="8840"/>
              <a:ext cx="864" cy="3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algn="ctr">
                <a:buClrTx/>
                <a:buSzTx/>
                <a:buNone/>
              </a:pPr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  Speaker 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>
                <a:buClrTx/>
                <a:buSzTx/>
                <a:buNone/>
              </a:pPr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Classifier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13" name="组合 112"/>
          <p:cNvGrpSpPr/>
          <p:nvPr/>
        </p:nvGrpSpPr>
        <p:grpSpPr>
          <a:xfrm>
            <a:off x="9103995" y="6090285"/>
            <a:ext cx="566420" cy="608965"/>
            <a:chOff x="17773" y="9456"/>
            <a:chExt cx="892" cy="959"/>
          </a:xfrm>
        </p:grpSpPr>
        <p:pic>
          <p:nvPicPr>
            <p:cNvPr id="89" name="图片 88" descr="60eb5109-f9d3-43b6-ab4a-76e0ec37e330"/>
            <p:cNvPicPr>
              <a:picLocks noChangeAspect="1"/>
            </p:cNvPicPr>
            <p:nvPr/>
          </p:nvPicPr>
          <p:blipFill>
            <a:blip r:embed="rId18"/>
            <a:srcRect l="20704" t="22074" r="20435" b="23407"/>
            <a:stretch>
              <a:fillRect/>
            </a:stretch>
          </p:blipFill>
          <p:spPr>
            <a:xfrm>
              <a:off x="17960" y="9935"/>
              <a:ext cx="519" cy="481"/>
            </a:xfrm>
            <a:prstGeom prst="rect">
              <a:avLst/>
            </a:prstGeom>
          </p:spPr>
        </p:pic>
        <p:sp>
          <p:nvSpPr>
            <p:cNvPr id="93" name="文本框 92"/>
            <p:cNvSpPr txBox="1"/>
            <p:nvPr/>
          </p:nvSpPr>
          <p:spPr>
            <a:xfrm>
              <a:off x="17773" y="9456"/>
              <a:ext cx="892" cy="3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algn="ctr">
                <a:buClrTx/>
                <a:buSzTx/>
                <a:buNone/>
              </a:pPr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Predicted Speaker ID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0" name="圆角矩形 9"/>
          <p:cNvSpPr/>
          <p:nvPr/>
        </p:nvSpPr>
        <p:spPr>
          <a:xfrm>
            <a:off x="219075" y="4271645"/>
            <a:ext cx="5901690" cy="234950"/>
          </a:xfrm>
          <a:prstGeom prst="roundRect">
            <a:avLst>
              <a:gd name="adj" fmla="val 1883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5 ADVERSARIAL TRAINING AND CHANEL-AWARE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17" name="肘形连接符 116"/>
          <p:cNvCxnSpPr>
            <a:stCxn id="119" idx="0"/>
            <a:endCxn id="121" idx="1"/>
          </p:cNvCxnSpPr>
          <p:nvPr/>
        </p:nvCxnSpPr>
        <p:spPr>
          <a:xfrm rot="16200000">
            <a:off x="492443" y="4802823"/>
            <a:ext cx="137795" cy="313690"/>
          </a:xfrm>
          <a:prstGeom prst="bentConnector2">
            <a:avLst/>
          </a:prstGeom>
          <a:ln w="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9" name="直接箭头连接符 138"/>
          <p:cNvCxnSpPr/>
          <p:nvPr/>
        </p:nvCxnSpPr>
        <p:spPr>
          <a:xfrm flipV="1">
            <a:off x="636270" y="5511165"/>
            <a:ext cx="813435" cy="3810"/>
          </a:xfrm>
          <a:prstGeom prst="straightConnector1">
            <a:avLst/>
          </a:prstGeom>
          <a:ln w="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0" name="文本框 139"/>
          <p:cNvSpPr txBox="1"/>
          <p:nvPr/>
        </p:nvSpPr>
        <p:spPr>
          <a:xfrm>
            <a:off x="1320800" y="5027930"/>
            <a:ext cx="1302385" cy="16256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</a:rPr>
              <a:t>Sematic Disillation to Q1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41" name="肘形连接符 140"/>
          <p:cNvCxnSpPr/>
          <p:nvPr/>
        </p:nvCxnSpPr>
        <p:spPr>
          <a:xfrm flipV="1">
            <a:off x="1102360" y="5221605"/>
            <a:ext cx="1780540" cy="267970"/>
          </a:xfrm>
          <a:prstGeom prst="bentConnector3">
            <a:avLst>
              <a:gd name="adj1" fmla="val 0"/>
            </a:avLst>
          </a:prstGeom>
          <a:ln w="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文本框 141"/>
              <p:cNvSpPr txBox="1"/>
              <p:nvPr/>
            </p:nvSpPr>
            <p:spPr>
              <a:xfrm>
                <a:off x="589280" y="5161280"/>
                <a:ext cx="363220" cy="13525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1">
                <a:noAutofit/>
              </a:bodyPr>
              <a:p>
                <a:r>
                  <a:rPr lang="en-US" altLang="zh-CN" sz="800">
                    <a:latin typeface="Cambria Math" panose="02040503050406030204" charset="0"/>
                    <a:cs typeface="Cambria Math" panose="02040503050406030204" charset="0"/>
                  </a:rPr>
                  <a:t>Real </a:t>
                </a:r>
                <a14:m>
                  <m:oMath xmlns:m="http://schemas.openxmlformats.org/officeDocument/2006/math">
                    <m:r>
                      <a:rPr lang="en-US" altLang="zh-CN" sz="800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</m:oMath>
                </a14:m>
                <a:endParaRPr lang="en-US" altLang="zh-CN" sz="8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2" name="文本框 1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0" y="5161280"/>
                <a:ext cx="363220" cy="135255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肘形连接符 167"/>
          <p:cNvCxnSpPr>
            <a:stCxn id="147" idx="3"/>
            <a:endCxn id="136" idx="2"/>
          </p:cNvCxnSpPr>
          <p:nvPr/>
        </p:nvCxnSpPr>
        <p:spPr>
          <a:xfrm flipV="1">
            <a:off x="2814320" y="5769610"/>
            <a:ext cx="664845" cy="191135"/>
          </a:xfrm>
          <a:prstGeom prst="bentConnector2">
            <a:avLst/>
          </a:prstGeom>
          <a:ln w="12700" cap="flat" cmpd="sng" algn="ctr">
            <a:solidFill>
              <a:schemeClr val="accent1"/>
            </a:solidFill>
            <a:prstDash val="solid"/>
            <a:miter lim="800000"/>
            <a:tailEnd type="triangl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9" name="文本框 168"/>
          <p:cNvSpPr txBox="1"/>
          <p:nvPr/>
        </p:nvSpPr>
        <p:spPr>
          <a:xfrm>
            <a:off x="3227070" y="6047740"/>
            <a:ext cx="721995" cy="13779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</a:rPr>
              <a:t>Adverstarial Loss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93" name="直接箭头连接符 192"/>
          <p:cNvCxnSpPr/>
          <p:nvPr/>
        </p:nvCxnSpPr>
        <p:spPr>
          <a:xfrm>
            <a:off x="4866640" y="5732780"/>
            <a:ext cx="0" cy="238760"/>
          </a:xfrm>
          <a:prstGeom prst="straightConnector1">
            <a:avLst/>
          </a:prstGeom>
          <a:ln w="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8" name="文本框 197"/>
          <p:cNvSpPr txBox="1"/>
          <p:nvPr/>
        </p:nvSpPr>
        <p:spPr>
          <a:xfrm>
            <a:off x="3053715" y="6358255"/>
            <a:ext cx="967740" cy="11049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</a:rPr>
              <a:t>Feature-Matching Loss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99" name="肘形连接符 198"/>
          <p:cNvCxnSpPr/>
          <p:nvPr/>
        </p:nvCxnSpPr>
        <p:spPr>
          <a:xfrm flipV="1">
            <a:off x="6240780" y="5351145"/>
            <a:ext cx="539750" cy="62674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0" name="直接箭头连接符 199"/>
          <p:cNvCxnSpPr>
            <a:stCxn id="152" idx="3"/>
            <a:endCxn id="153" idx="1"/>
          </p:cNvCxnSpPr>
          <p:nvPr/>
        </p:nvCxnSpPr>
        <p:spPr>
          <a:xfrm flipH="1">
            <a:off x="7386955" y="4838700"/>
            <a:ext cx="1377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1" name="直接箭头连接符 200"/>
          <p:cNvCxnSpPr>
            <a:stCxn id="153" idx="2"/>
          </p:cNvCxnSpPr>
          <p:nvPr/>
        </p:nvCxnSpPr>
        <p:spPr>
          <a:xfrm>
            <a:off x="6971665" y="4968875"/>
            <a:ext cx="635" cy="168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2" name="肘形连接符 201"/>
          <p:cNvCxnSpPr>
            <a:endCxn id="164" idx="3"/>
          </p:cNvCxnSpPr>
          <p:nvPr/>
        </p:nvCxnSpPr>
        <p:spPr>
          <a:xfrm rot="5400000" flipV="1">
            <a:off x="6166485" y="6036945"/>
            <a:ext cx="227965" cy="40322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3" name="肘形连接符 202"/>
          <p:cNvCxnSpPr>
            <a:endCxn id="164" idx="1"/>
          </p:cNvCxnSpPr>
          <p:nvPr/>
        </p:nvCxnSpPr>
        <p:spPr>
          <a:xfrm rot="5400000">
            <a:off x="7539990" y="6050280"/>
            <a:ext cx="256540" cy="34925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4" name="肘形连接符 203"/>
          <p:cNvCxnSpPr/>
          <p:nvPr/>
        </p:nvCxnSpPr>
        <p:spPr>
          <a:xfrm>
            <a:off x="7163435" y="5351145"/>
            <a:ext cx="368300" cy="35306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6" name="组合 205"/>
          <p:cNvGrpSpPr/>
          <p:nvPr/>
        </p:nvGrpSpPr>
        <p:grpSpPr>
          <a:xfrm>
            <a:off x="8690610" y="4798695"/>
            <a:ext cx="452120" cy="711200"/>
            <a:chOff x="13714" y="7678"/>
            <a:chExt cx="712" cy="1120"/>
          </a:xfrm>
        </p:grpSpPr>
        <p:grpSp>
          <p:nvGrpSpPr>
            <p:cNvPr id="8" name="组合 7"/>
            <p:cNvGrpSpPr/>
            <p:nvPr/>
          </p:nvGrpSpPr>
          <p:grpSpPr>
            <a:xfrm>
              <a:off x="13714" y="7966"/>
              <a:ext cx="712" cy="833"/>
              <a:chOff x="13781" y="8468"/>
              <a:chExt cx="951" cy="1027"/>
            </a:xfrm>
          </p:grpSpPr>
          <p:pic>
            <p:nvPicPr>
              <p:cNvPr id="192" name="图片 191" descr="d7194677-731e-404a-8019-7c4bca95c540"/>
              <p:cNvPicPr>
                <a:picLocks noChangeAspect="1"/>
              </p:cNvPicPr>
              <p:nvPr/>
            </p:nvPicPr>
            <p:blipFill>
              <a:blip r:embed="rId3"/>
              <a:srcRect l="21924" t="19179" r="36166" b="15168"/>
              <a:stretch>
                <a:fillRect/>
              </a:stretch>
            </p:blipFill>
            <p:spPr>
              <a:xfrm>
                <a:off x="13962" y="8699"/>
                <a:ext cx="770" cy="797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" name="文本框 1"/>
                  <p:cNvSpPr txBox="1"/>
                  <p:nvPr/>
                </p:nvSpPr>
                <p:spPr>
                  <a:xfrm>
                    <a:off x="14004" y="8468"/>
                    <a:ext cx="207" cy="2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 anchorCtr="1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2" name="文本框 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004" y="8468"/>
                    <a:ext cx="207" cy="265"/>
                  </a:xfrm>
                  <a:prstGeom prst="rect">
                    <a:avLst/>
                  </a:prstGeom>
                  <a:blipFill rotWithShape="1">
                    <a:blip r:embed="rId2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" name="文本框 2"/>
                  <p:cNvSpPr txBox="1"/>
                  <p:nvPr/>
                </p:nvSpPr>
                <p:spPr>
                  <a:xfrm>
                    <a:off x="14244" y="8468"/>
                    <a:ext cx="207" cy="2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 anchorCtr="1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3" name="文本框 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244" y="8468"/>
                    <a:ext cx="207" cy="265"/>
                  </a:xfrm>
                  <a:prstGeom prst="rect">
                    <a:avLst/>
                  </a:prstGeom>
                  <a:blipFill rotWithShape="1">
                    <a:blip r:embed="rId2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" name="文本框 3"/>
                  <p:cNvSpPr txBox="1"/>
                  <p:nvPr/>
                </p:nvSpPr>
                <p:spPr>
                  <a:xfrm>
                    <a:off x="14500" y="8468"/>
                    <a:ext cx="207" cy="2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 anchorCtr="1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4" name="文本框 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00" y="8468"/>
                    <a:ext cx="207" cy="265"/>
                  </a:xfrm>
                  <a:prstGeom prst="rect">
                    <a:avLst/>
                  </a:prstGeom>
                  <a:blipFill rotWithShape="1">
                    <a:blip r:embed="rId2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" name="文本框 4"/>
                  <p:cNvSpPr txBox="1"/>
                  <p:nvPr/>
                </p:nvSpPr>
                <p:spPr>
                  <a:xfrm>
                    <a:off x="13781" y="8713"/>
                    <a:ext cx="207" cy="2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 anchorCtr="1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5" name="文本框 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781" y="8713"/>
                    <a:ext cx="207" cy="265"/>
                  </a:xfrm>
                  <a:prstGeom prst="rect">
                    <a:avLst/>
                  </a:prstGeom>
                  <a:blipFill rotWithShape="1">
                    <a:blip r:embed="rId2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" name="文本框 5"/>
                  <p:cNvSpPr txBox="1"/>
                  <p:nvPr/>
                </p:nvSpPr>
                <p:spPr>
                  <a:xfrm>
                    <a:off x="13781" y="8962"/>
                    <a:ext cx="207" cy="2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 anchorCtr="1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6" name="文本框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781" y="8962"/>
                    <a:ext cx="207" cy="265"/>
                  </a:xfrm>
                  <a:prstGeom prst="rect">
                    <a:avLst/>
                  </a:prstGeom>
                  <a:blipFill rotWithShape="1">
                    <a:blip r:embed="rId2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" name="文本框 6"/>
                  <p:cNvSpPr txBox="1"/>
                  <p:nvPr/>
                </p:nvSpPr>
                <p:spPr>
                  <a:xfrm>
                    <a:off x="13781" y="9227"/>
                    <a:ext cx="207" cy="2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 anchorCtr="1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7" name="文本框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781" y="9227"/>
                    <a:ext cx="207" cy="265"/>
                  </a:xfrm>
                  <a:prstGeom prst="rect">
                    <a:avLst/>
                  </a:prstGeom>
                  <a:blipFill rotWithShape="1">
                    <a:blip r:embed="rId2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05" name="文本框 204"/>
            <p:cNvSpPr txBox="1"/>
            <p:nvPr/>
          </p:nvSpPr>
          <p:spPr>
            <a:xfrm>
              <a:off x="13773" y="7678"/>
              <a:ext cx="595" cy="21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p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indices</a:t>
              </a:r>
              <a:endParaRPr lang="en-US" altLang="zh-CN"/>
            </a:p>
          </p:txBody>
        </p:sp>
      </p:grpSp>
      <p:sp>
        <p:nvSpPr>
          <p:cNvPr id="207" name="圆角矩形 206"/>
          <p:cNvSpPr/>
          <p:nvPr/>
        </p:nvSpPr>
        <p:spPr>
          <a:xfrm>
            <a:off x="9985375" y="5692140"/>
            <a:ext cx="638810" cy="275590"/>
          </a:xfrm>
          <a:prstGeom prst="roundRect">
            <a:avLst>
              <a:gd name="adj" fmla="val 6477"/>
            </a:avLst>
          </a:prstGeom>
          <a:solidFill>
            <a:srgbClr val="E6F3FE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Trainable </a:t>
            </a:r>
            <a:b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Projection 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209" name="直接箭头连接符 208"/>
          <p:cNvCxnSpPr/>
          <p:nvPr/>
        </p:nvCxnSpPr>
        <p:spPr>
          <a:xfrm>
            <a:off x="10156825" y="5379720"/>
            <a:ext cx="18986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1" name="直接箭头连接符 210"/>
          <p:cNvCxnSpPr>
            <a:stCxn id="9" idx="3"/>
            <a:endCxn id="37" idx="1"/>
          </p:cNvCxnSpPr>
          <p:nvPr/>
        </p:nvCxnSpPr>
        <p:spPr>
          <a:xfrm>
            <a:off x="8874125" y="5829935"/>
            <a:ext cx="274320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2" name="直接箭头连接符 211"/>
          <p:cNvCxnSpPr>
            <a:stCxn id="37" idx="3"/>
            <a:endCxn id="207" idx="1"/>
          </p:cNvCxnSpPr>
          <p:nvPr/>
        </p:nvCxnSpPr>
        <p:spPr>
          <a:xfrm flipV="1">
            <a:off x="9729470" y="5829935"/>
            <a:ext cx="25590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3" name="直接箭头连接符 212"/>
          <p:cNvCxnSpPr>
            <a:stCxn id="207" idx="3"/>
          </p:cNvCxnSpPr>
          <p:nvPr/>
        </p:nvCxnSpPr>
        <p:spPr>
          <a:xfrm>
            <a:off x="10624185" y="5829935"/>
            <a:ext cx="289560" cy="25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4" name="肘形连接符 213"/>
          <p:cNvCxnSpPr/>
          <p:nvPr/>
        </p:nvCxnSpPr>
        <p:spPr>
          <a:xfrm rot="5400000" flipV="1">
            <a:off x="10898505" y="5353685"/>
            <a:ext cx="1022350" cy="867410"/>
          </a:xfrm>
          <a:prstGeom prst="bentConnector3">
            <a:avLst>
              <a:gd name="adj1" fmla="val 1242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7" name="直接箭头连接符 216"/>
          <p:cNvCxnSpPr>
            <a:stCxn id="31" idx="2"/>
          </p:cNvCxnSpPr>
          <p:nvPr/>
        </p:nvCxnSpPr>
        <p:spPr>
          <a:xfrm>
            <a:off x="11213465" y="6047740"/>
            <a:ext cx="6985" cy="2781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8" name="直接箭头连接符 217"/>
          <p:cNvCxnSpPr/>
          <p:nvPr/>
        </p:nvCxnSpPr>
        <p:spPr>
          <a:xfrm flipH="1">
            <a:off x="10551160" y="6512560"/>
            <a:ext cx="245745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9" name="直接箭头连接符 218"/>
          <p:cNvCxnSpPr/>
          <p:nvPr/>
        </p:nvCxnSpPr>
        <p:spPr>
          <a:xfrm flipH="1">
            <a:off x="9789795" y="6512560"/>
            <a:ext cx="211455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3" name="右箭头 242"/>
          <p:cNvSpPr/>
          <p:nvPr/>
        </p:nvSpPr>
        <p:spPr>
          <a:xfrm>
            <a:off x="1264920" y="788487"/>
            <a:ext cx="112395" cy="611505"/>
          </a:xfrm>
          <a:prstGeom prst="rightArrow">
            <a:avLst/>
          </a:prstGeom>
          <a:gradFill>
            <a:gsLst>
              <a:gs pos="75000">
                <a:schemeClr val="accent1">
                  <a:lumMod val="20000"/>
                  <a:lumOff val="8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4" name="右箭头 243"/>
          <p:cNvSpPr/>
          <p:nvPr/>
        </p:nvSpPr>
        <p:spPr>
          <a:xfrm>
            <a:off x="2623185" y="788487"/>
            <a:ext cx="126365" cy="611505"/>
          </a:xfrm>
          <a:prstGeom prst="rightArrow">
            <a:avLst/>
          </a:prstGeom>
          <a:gradFill>
            <a:gsLst>
              <a:gs pos="75000">
                <a:schemeClr val="accent1">
                  <a:lumMod val="20000"/>
                  <a:lumOff val="8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7" name="圆角矩形 246"/>
          <p:cNvSpPr/>
          <p:nvPr/>
        </p:nvSpPr>
        <p:spPr>
          <a:xfrm>
            <a:off x="8796655" y="4272280"/>
            <a:ext cx="2955925" cy="527050"/>
          </a:xfrm>
          <a:prstGeom prst="roundRect">
            <a:avLst>
              <a:gd name="adj" fmla="val 1883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1"/>
          <a:p>
            <a:pPr algn="ctr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6 SPEAKER CLASSIFICATION 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48" name="直接箭头连接符 247"/>
          <p:cNvCxnSpPr/>
          <p:nvPr/>
        </p:nvCxnSpPr>
        <p:spPr>
          <a:xfrm>
            <a:off x="9222740" y="5306060"/>
            <a:ext cx="18986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9" name="圆角矩形 248"/>
          <p:cNvSpPr/>
          <p:nvPr/>
        </p:nvSpPr>
        <p:spPr>
          <a:xfrm>
            <a:off x="306705" y="6236970"/>
            <a:ext cx="1416685" cy="375285"/>
          </a:xfrm>
          <a:prstGeom prst="roundRect">
            <a:avLst/>
          </a:prstGeom>
          <a:gradFill>
            <a:gsLst>
              <a:gs pos="0">
                <a:schemeClr val="accent1">
                  <a:lumOff val="17500"/>
                </a:schemeClr>
              </a:gs>
              <a:gs pos="64000">
                <a:schemeClr val="tx2">
                  <a:lumMod val="20000"/>
                  <a:lumOff val="80000"/>
                </a:schemeClr>
              </a:gs>
              <a:gs pos="94000">
                <a:schemeClr val="accent1"/>
              </a:gs>
            </a:gsLst>
          </a:gradFill>
          <a:ln>
            <a:solidFill>
              <a:srgbClr val="325395"/>
            </a:solidFill>
            <a:prstDash val="dash"/>
          </a:ln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1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SCIT-Speech-Base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Training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56" name="任意多边形 255"/>
          <p:cNvSpPr/>
          <p:nvPr/>
        </p:nvSpPr>
        <p:spPr>
          <a:xfrm>
            <a:off x="544195" y="5788660"/>
            <a:ext cx="151130" cy="128905"/>
          </a:xfrm>
          <a:custGeom>
            <a:avLst/>
            <a:gdLst>
              <a:gd name="connisteX0" fmla="*/ 151130 w 151130"/>
              <a:gd name="connsiteY0" fmla="*/ 125730 h 128905"/>
              <a:gd name="connisteX1" fmla="*/ 1905 w 151130"/>
              <a:gd name="connsiteY1" fmla="*/ 128905 h 128905"/>
              <a:gd name="connisteX2" fmla="*/ 0 w 151130"/>
              <a:gd name="connsiteY2" fmla="*/ 0 h 1289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51130" h="128905">
                <a:moveTo>
                  <a:pt x="151130" y="125730"/>
                </a:moveTo>
                <a:lnTo>
                  <a:pt x="1905" y="128905"/>
                </a:lnTo>
                <a:lnTo>
                  <a:pt x="0" y="0"/>
                </a:lnTo>
              </a:path>
            </a:pathLst>
          </a:custGeom>
          <a:noFill/>
          <a:ln w="0">
            <a:tailEnd type="arrow" w="sm" len="sm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bIns="0" rtlCol="0" anchor="ctr"/>
          <a:p>
            <a:pPr algn="ctr"/>
            <a:endParaRPr lang="zh-CN" altLang="en-US"/>
          </a:p>
        </p:txBody>
      </p:sp>
      <p:sp>
        <p:nvSpPr>
          <p:cNvPr id="257" name="圆角矩形 256"/>
          <p:cNvSpPr/>
          <p:nvPr/>
        </p:nvSpPr>
        <p:spPr>
          <a:xfrm>
            <a:off x="6256655" y="165735"/>
            <a:ext cx="5842000" cy="1795145"/>
          </a:xfrm>
          <a:prstGeom prst="roundRect">
            <a:avLst>
              <a:gd name="adj" fmla="val 188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8" name="圆角矩形 257"/>
          <p:cNvSpPr/>
          <p:nvPr/>
        </p:nvSpPr>
        <p:spPr>
          <a:xfrm>
            <a:off x="6386830" y="57785"/>
            <a:ext cx="5400675" cy="198755"/>
          </a:xfrm>
          <a:prstGeom prst="roundRect">
            <a:avLst>
              <a:gd name="adj" fmla="val 1883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2 SPEECH ENCODING AND THREE-LAYER RVQ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9" name="右箭头 258"/>
          <p:cNvSpPr/>
          <p:nvPr/>
        </p:nvSpPr>
        <p:spPr>
          <a:xfrm>
            <a:off x="3949065" y="788487"/>
            <a:ext cx="126365" cy="611505"/>
          </a:xfrm>
          <a:prstGeom prst="rightArrow">
            <a:avLst/>
          </a:prstGeom>
          <a:gradFill>
            <a:gsLst>
              <a:gs pos="75000">
                <a:schemeClr val="accent1">
                  <a:lumMod val="20000"/>
                  <a:lumOff val="8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0" name="右箭头 259"/>
          <p:cNvSpPr/>
          <p:nvPr/>
        </p:nvSpPr>
        <p:spPr>
          <a:xfrm>
            <a:off x="5062855" y="788487"/>
            <a:ext cx="126365" cy="611505"/>
          </a:xfrm>
          <a:prstGeom prst="rightArrow">
            <a:avLst/>
          </a:prstGeom>
          <a:gradFill>
            <a:gsLst>
              <a:gs pos="75000">
                <a:schemeClr val="accent1">
                  <a:lumMod val="20000"/>
                  <a:lumOff val="8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61" name="组合 260"/>
          <p:cNvGrpSpPr/>
          <p:nvPr/>
        </p:nvGrpSpPr>
        <p:grpSpPr>
          <a:xfrm>
            <a:off x="6256655" y="580390"/>
            <a:ext cx="777240" cy="1380490"/>
            <a:chOff x="224" y="4438"/>
            <a:chExt cx="1224" cy="2174"/>
          </a:xfrm>
        </p:grpSpPr>
        <p:pic>
          <p:nvPicPr>
            <p:cNvPr id="262" name="图片 261" descr="cc1ebeea-71a4-433c-afac-5d7c93ec5479"/>
            <p:cNvPicPr>
              <a:picLocks noChangeAspect="1"/>
            </p:cNvPicPr>
            <p:nvPr/>
          </p:nvPicPr>
          <p:blipFill>
            <a:blip r:embed="rId2"/>
            <a:srcRect l="1760" t="52437" r="86365" b="7984"/>
            <a:stretch>
              <a:fillRect/>
            </a:stretch>
          </p:blipFill>
          <p:spPr>
            <a:xfrm>
              <a:off x="224" y="4438"/>
              <a:ext cx="1224" cy="1360"/>
            </a:xfrm>
            <a:prstGeom prst="rect">
              <a:avLst/>
            </a:prstGeom>
          </p:spPr>
        </p:pic>
        <p:sp>
          <p:nvSpPr>
            <p:cNvPr id="263" name="文本框 262"/>
            <p:cNvSpPr txBox="1"/>
            <p:nvPr/>
          </p:nvSpPr>
          <p:spPr>
            <a:xfrm>
              <a:off x="224" y="5846"/>
              <a:ext cx="1200" cy="766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16k Hz </a:t>
              </a:r>
              <a:b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</a:br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Input Speech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66" name="文本框 265"/>
          <p:cNvSpPr txBox="1"/>
          <p:nvPr/>
        </p:nvSpPr>
        <p:spPr>
          <a:xfrm>
            <a:off x="7149465" y="1474470"/>
            <a:ext cx="828675" cy="48641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SEANet Encoder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67" name="组合 266"/>
          <p:cNvGrpSpPr/>
          <p:nvPr/>
        </p:nvGrpSpPr>
        <p:grpSpPr>
          <a:xfrm>
            <a:off x="8093710" y="534670"/>
            <a:ext cx="922020" cy="1426210"/>
            <a:chOff x="3162" y="4402"/>
            <a:chExt cx="1452" cy="2246"/>
          </a:xfrm>
        </p:grpSpPr>
        <p:pic>
          <p:nvPicPr>
            <p:cNvPr id="268" name="图片 267" descr="cc1ebeea-71a4-433c-afac-5d7c93ec5479"/>
            <p:cNvPicPr>
              <a:picLocks noChangeAspect="1"/>
            </p:cNvPicPr>
            <p:nvPr/>
          </p:nvPicPr>
          <p:blipFill>
            <a:blip r:embed="rId2"/>
            <a:srcRect l="30167" t="53989" r="58375" b="4429"/>
            <a:stretch>
              <a:fillRect/>
            </a:stretch>
          </p:blipFill>
          <p:spPr>
            <a:xfrm>
              <a:off x="3162" y="4402"/>
              <a:ext cx="1452" cy="1480"/>
            </a:xfrm>
            <a:prstGeom prst="rect">
              <a:avLst/>
            </a:prstGeom>
          </p:spPr>
        </p:pic>
        <p:sp>
          <p:nvSpPr>
            <p:cNvPr id="269" name="文本框 268"/>
            <p:cNvSpPr txBox="1"/>
            <p:nvPr/>
          </p:nvSpPr>
          <p:spPr>
            <a:xfrm>
              <a:off x="3162" y="5882"/>
              <a:ext cx="1387" cy="766"/>
            </a:xfrm>
            <a:prstGeom prst="rect">
              <a:avLst/>
            </a:prstGeom>
            <a:noFill/>
          </p:spPr>
          <p:txBody>
            <a:bodyPr wrap="square" lIns="0" rIns="0" rtlCol="0" anchor="ctr" anchorCtr="1">
              <a:noAutofit/>
            </a:bodyPr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Conytinous Latent z</a:t>
              </a:r>
              <a:b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</a:br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50 HZ,d=1014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84" name="右箭头 283"/>
          <p:cNvSpPr/>
          <p:nvPr/>
        </p:nvSpPr>
        <p:spPr>
          <a:xfrm>
            <a:off x="6967220" y="1120140"/>
            <a:ext cx="120015" cy="323850"/>
          </a:xfrm>
          <a:prstGeom prst="rightArrow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5" name="右箭头 284"/>
          <p:cNvSpPr/>
          <p:nvPr/>
        </p:nvSpPr>
        <p:spPr>
          <a:xfrm>
            <a:off x="7943850" y="1154430"/>
            <a:ext cx="120015" cy="323850"/>
          </a:xfrm>
          <a:prstGeom prst="rightArrow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6" name="右箭头 285"/>
          <p:cNvSpPr/>
          <p:nvPr/>
        </p:nvSpPr>
        <p:spPr>
          <a:xfrm>
            <a:off x="9054465" y="1144905"/>
            <a:ext cx="120015" cy="323850"/>
          </a:xfrm>
          <a:prstGeom prst="rightArrow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7" name="右箭头 286"/>
          <p:cNvSpPr/>
          <p:nvPr/>
        </p:nvSpPr>
        <p:spPr>
          <a:xfrm>
            <a:off x="1430962" y="2588077"/>
            <a:ext cx="112395" cy="611505"/>
          </a:xfrm>
          <a:prstGeom prst="rightArrow">
            <a:avLst/>
          </a:prstGeom>
          <a:gradFill>
            <a:gsLst>
              <a:gs pos="75000">
                <a:schemeClr val="accent1">
                  <a:lumMod val="20000"/>
                  <a:lumOff val="8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8" name="右箭头 287"/>
          <p:cNvSpPr/>
          <p:nvPr/>
        </p:nvSpPr>
        <p:spPr>
          <a:xfrm>
            <a:off x="2941627" y="2588077"/>
            <a:ext cx="112395" cy="611505"/>
          </a:xfrm>
          <a:prstGeom prst="rightArrow">
            <a:avLst/>
          </a:prstGeom>
          <a:gradFill>
            <a:gsLst>
              <a:gs pos="75000">
                <a:schemeClr val="accent1">
                  <a:lumMod val="20000"/>
                  <a:lumOff val="8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9" name="文本框 288"/>
              <p:cNvSpPr txBox="1"/>
              <p:nvPr/>
            </p:nvSpPr>
            <p:spPr>
              <a:xfrm>
                <a:off x="6319520" y="3088005"/>
                <a:ext cx="236855" cy="182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289" name="文本框 2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520" y="3088005"/>
                <a:ext cx="236855" cy="182880"/>
              </a:xfrm>
              <a:prstGeom prst="rect">
                <a:avLst/>
              </a:prstGeom>
              <a:blipFill rotWithShape="1">
                <a:blip r:embed="rId23"/>
                <a:stretch>
                  <a:fillRect b="-2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0" name="文本框 289"/>
              <p:cNvSpPr txBox="1"/>
              <p:nvPr/>
            </p:nvSpPr>
            <p:spPr>
              <a:xfrm>
                <a:off x="6319520" y="3359785"/>
                <a:ext cx="236855" cy="182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290" name="文本框 2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520" y="3359785"/>
                <a:ext cx="236855" cy="182880"/>
              </a:xfrm>
              <a:prstGeom prst="rect">
                <a:avLst/>
              </a:prstGeom>
              <a:blipFill rotWithShape="1">
                <a:blip r:embed="rId24"/>
                <a:stretch>
                  <a:fillRect b="-2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4" name="图片 293" descr="2700e02a-2252-4111-99bd-e5ef509f3aa3"/>
          <p:cNvPicPr>
            <a:picLocks noChangeAspect="1"/>
          </p:cNvPicPr>
          <p:nvPr/>
        </p:nvPicPr>
        <p:blipFill>
          <a:blip r:embed="rId25"/>
          <a:srcRect l="6694" t="5593" r="6481" b="7611"/>
          <a:stretch>
            <a:fillRect/>
          </a:stretch>
        </p:blipFill>
        <p:spPr>
          <a:xfrm>
            <a:off x="9239885" y="550545"/>
            <a:ext cx="893445" cy="89344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95" name="文本框 294"/>
              <p:cNvSpPr txBox="1"/>
              <p:nvPr/>
            </p:nvSpPr>
            <p:spPr>
              <a:xfrm>
                <a:off x="9272905" y="1524635"/>
                <a:ext cx="828675" cy="3048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000" b="1">
                    <a:latin typeface="Times New Roman" panose="02020603050405020304" charset="0"/>
                    <a:cs typeface="Times New Roman" panose="02020603050405020304" charset="0"/>
                  </a:rPr>
                  <a:t>Code Books</a:t>
                </a:r>
                <a:br>
                  <a:rPr lang="en-US" altLang="zh-CN" sz="1000" b="1">
                    <a:latin typeface="Times New Roman" panose="02020603050405020304" charset="0"/>
                    <a:cs typeface="Times New Roman" panose="0202060305040502030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000" b="1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000" b="1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10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95" name="文本框 2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905" y="1524635"/>
                <a:ext cx="828675" cy="304800"/>
              </a:xfrm>
              <a:prstGeom prst="rect">
                <a:avLst/>
              </a:prstGeom>
              <a:blipFill rotWithShape="1">
                <a:blip r:embed="rId26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9" name="组合 348"/>
          <p:cNvGrpSpPr/>
          <p:nvPr/>
        </p:nvGrpSpPr>
        <p:grpSpPr>
          <a:xfrm>
            <a:off x="11043285" y="1257935"/>
            <a:ext cx="669290" cy="394335"/>
            <a:chOff x="17234" y="2199"/>
            <a:chExt cx="1479" cy="784"/>
          </a:xfrm>
        </p:grpSpPr>
        <p:pic>
          <p:nvPicPr>
            <p:cNvPr id="94" name="图片 93" descr="c8f1a6ca-b578-483a-865a-ce4a1dbec616"/>
            <p:cNvPicPr>
              <a:picLocks noChangeAspect="1"/>
            </p:cNvPicPr>
            <p:nvPr/>
          </p:nvPicPr>
          <p:blipFill>
            <a:blip r:embed="rId27"/>
            <a:srcRect l="14519" t="15157" r="12815" b="13583"/>
            <a:stretch>
              <a:fillRect/>
            </a:stretch>
          </p:blipFill>
          <p:spPr>
            <a:xfrm>
              <a:off x="17234" y="2199"/>
              <a:ext cx="753" cy="451"/>
            </a:xfrm>
            <a:prstGeom prst="rect">
              <a:avLst/>
            </a:prstGeom>
          </p:spPr>
        </p:pic>
        <p:pic>
          <p:nvPicPr>
            <p:cNvPr id="95" name="图片 94" descr="7862e301-edaf-4de6-9dfa-2ad5d7503949"/>
            <p:cNvPicPr>
              <a:picLocks noChangeAspect="1"/>
            </p:cNvPicPr>
            <p:nvPr/>
          </p:nvPicPr>
          <p:blipFill>
            <a:blip r:embed="rId28"/>
            <a:srcRect l="13676" t="14167" r="13296" b="12065"/>
            <a:stretch>
              <a:fillRect/>
            </a:stretch>
          </p:blipFill>
          <p:spPr>
            <a:xfrm>
              <a:off x="17959" y="2274"/>
              <a:ext cx="755" cy="466"/>
            </a:xfrm>
            <a:prstGeom prst="rect">
              <a:avLst/>
            </a:prstGeom>
          </p:spPr>
        </p:pic>
        <p:pic>
          <p:nvPicPr>
            <p:cNvPr id="299" name="图片 298" descr="bd4ac1a9-6e21-4e47-99b4-9574fba68f2d"/>
            <p:cNvPicPr>
              <a:picLocks noChangeAspect="1"/>
            </p:cNvPicPr>
            <p:nvPr/>
          </p:nvPicPr>
          <p:blipFill>
            <a:blip r:embed="rId29"/>
            <a:srcRect l="11750" t="15815" r="11972" b="12991"/>
            <a:stretch>
              <a:fillRect/>
            </a:stretch>
          </p:blipFill>
          <p:spPr>
            <a:xfrm>
              <a:off x="17677" y="2553"/>
              <a:ext cx="753" cy="430"/>
            </a:xfrm>
            <a:prstGeom prst="rect">
              <a:avLst/>
            </a:prstGeom>
          </p:spPr>
        </p:pic>
      </p:grpSp>
      <p:pic>
        <p:nvPicPr>
          <p:cNvPr id="306" name="图片 305" descr="3b334145-41a7-4c9b-bb17-8b819ee7ef53"/>
          <p:cNvPicPr>
            <a:picLocks noChangeAspect="1"/>
          </p:cNvPicPr>
          <p:nvPr/>
        </p:nvPicPr>
        <p:blipFill>
          <a:blip r:embed="rId30"/>
          <a:srcRect l="11194" t="5046" r="7185" b="3593"/>
          <a:stretch>
            <a:fillRect/>
          </a:stretch>
        </p:blipFill>
        <p:spPr>
          <a:xfrm>
            <a:off x="5287010" y="530225"/>
            <a:ext cx="713740" cy="799465"/>
          </a:xfrm>
          <a:prstGeom prst="rect">
            <a:avLst/>
          </a:prstGeom>
        </p:spPr>
      </p:pic>
      <p:pic>
        <p:nvPicPr>
          <p:cNvPr id="307" name="图片 306" descr="a4a9d313-01bf-4d7c-9e36-8fd7c5cceb90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132320" y="2375535"/>
            <a:ext cx="503555" cy="503555"/>
          </a:xfrm>
          <a:prstGeom prst="rect">
            <a:avLst/>
          </a:prstGeom>
        </p:spPr>
      </p:pic>
      <p:pic>
        <p:nvPicPr>
          <p:cNvPr id="308" name="图片 307" descr="bd3cc964-27fc-4d77-8316-c93172e7d5ee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132320" y="3432175"/>
            <a:ext cx="504190" cy="503555"/>
          </a:xfrm>
          <a:prstGeom prst="rect">
            <a:avLst/>
          </a:prstGeom>
        </p:spPr>
      </p:pic>
      <p:pic>
        <p:nvPicPr>
          <p:cNvPr id="309" name="图片 308" descr="7b55b00a-a0c9-4a0d-a228-f80952194deb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132320" y="2903855"/>
            <a:ext cx="503555" cy="503555"/>
          </a:xfrm>
          <a:prstGeom prst="rect">
            <a:avLst/>
          </a:prstGeom>
        </p:spPr>
      </p:pic>
      <p:pic>
        <p:nvPicPr>
          <p:cNvPr id="310" name="图片 309" descr="c8f1a6ca-b578-483a-865a-ce4a1dbec616"/>
          <p:cNvPicPr>
            <a:picLocks noChangeAspect="1"/>
          </p:cNvPicPr>
          <p:nvPr/>
        </p:nvPicPr>
        <p:blipFill>
          <a:blip r:embed="rId27"/>
          <a:srcRect l="14519" t="15157" r="12815" b="13583"/>
          <a:stretch>
            <a:fillRect/>
          </a:stretch>
        </p:blipFill>
        <p:spPr>
          <a:xfrm>
            <a:off x="7967345" y="2465388"/>
            <a:ext cx="540385" cy="323850"/>
          </a:xfrm>
          <a:prstGeom prst="rect">
            <a:avLst/>
          </a:prstGeom>
        </p:spPr>
      </p:pic>
      <p:pic>
        <p:nvPicPr>
          <p:cNvPr id="311" name="图片 310" descr="7862e301-edaf-4de6-9dfa-2ad5d7503949"/>
          <p:cNvPicPr>
            <a:picLocks noChangeAspect="1"/>
          </p:cNvPicPr>
          <p:nvPr/>
        </p:nvPicPr>
        <p:blipFill>
          <a:blip r:embed="rId28"/>
          <a:srcRect l="13676" t="14167" r="13296" b="12065"/>
          <a:stretch>
            <a:fillRect/>
          </a:stretch>
        </p:blipFill>
        <p:spPr>
          <a:xfrm>
            <a:off x="7960360" y="3035935"/>
            <a:ext cx="540385" cy="3333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12" name="文本框 311"/>
              <p:cNvSpPr txBox="1"/>
              <p:nvPr/>
            </p:nvSpPr>
            <p:spPr>
              <a:xfrm>
                <a:off x="8123555" y="2366010"/>
                <a:ext cx="384175" cy="2222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312" name="文本框 3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555" y="2366010"/>
                <a:ext cx="384175" cy="222250"/>
              </a:xfrm>
              <a:prstGeom prst="rect">
                <a:avLst/>
              </a:prstGeom>
              <a:blipFill rotWithShape="1">
                <a:blip r:embed="rId34"/>
                <a:stretch>
                  <a:fillRect b="-18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3" name="文本框 312"/>
              <p:cNvSpPr txBox="1"/>
              <p:nvPr/>
            </p:nvSpPr>
            <p:spPr>
              <a:xfrm>
                <a:off x="8093710" y="2865755"/>
                <a:ext cx="384175" cy="2222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313" name="文本框 3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3710" y="2865755"/>
                <a:ext cx="384175" cy="222250"/>
              </a:xfrm>
              <a:prstGeom prst="rect">
                <a:avLst/>
              </a:prstGeom>
              <a:blipFill rotWithShape="1">
                <a:blip r:embed="rId35"/>
                <a:stretch>
                  <a:fillRect b="-18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4" name="图片 313" descr="bd4ac1a9-6e21-4e47-99b4-9574fba68f2d"/>
          <p:cNvPicPr>
            <a:picLocks noChangeAspect="1"/>
          </p:cNvPicPr>
          <p:nvPr/>
        </p:nvPicPr>
        <p:blipFill>
          <a:blip r:embed="rId29"/>
          <a:srcRect l="11750" t="15815" r="11972" b="12991"/>
          <a:stretch>
            <a:fillRect/>
          </a:stretch>
        </p:blipFill>
        <p:spPr>
          <a:xfrm>
            <a:off x="7967345" y="3532823"/>
            <a:ext cx="528955" cy="3022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15" name="文本框 314"/>
              <p:cNvSpPr txBox="1"/>
              <p:nvPr/>
            </p:nvSpPr>
            <p:spPr>
              <a:xfrm>
                <a:off x="8093710" y="3425825"/>
                <a:ext cx="384175" cy="2222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315" name="文本框 3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3710" y="3425825"/>
                <a:ext cx="384175" cy="222250"/>
              </a:xfrm>
              <a:prstGeom prst="rect">
                <a:avLst/>
              </a:prstGeom>
              <a:blipFill rotWithShape="1">
                <a:blip r:embed="rId36"/>
                <a:stretch>
                  <a:fillRect b="-18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7" name="图片 316" descr="dc050bba-d4ad-48da-89b4-f344745e7686"/>
          <p:cNvPicPr>
            <a:picLocks noChangeAspect="1"/>
          </p:cNvPicPr>
          <p:nvPr/>
        </p:nvPicPr>
        <p:blipFill>
          <a:blip r:embed="rId37"/>
          <a:srcRect l="9241" t="9019" r="8935" b="10611"/>
          <a:stretch>
            <a:fillRect/>
          </a:stretch>
        </p:blipFill>
        <p:spPr>
          <a:xfrm>
            <a:off x="8796655" y="2949575"/>
            <a:ext cx="410845" cy="404495"/>
          </a:xfrm>
          <a:prstGeom prst="rect">
            <a:avLst/>
          </a:prstGeom>
        </p:spPr>
      </p:pic>
      <p:pic>
        <p:nvPicPr>
          <p:cNvPr id="319" name="图片 318" descr="da533246-d97b-4bf7-a9b6-245cfd0fcf38"/>
          <p:cNvPicPr>
            <a:picLocks noChangeAspect="1"/>
          </p:cNvPicPr>
          <p:nvPr/>
        </p:nvPicPr>
        <p:blipFill>
          <a:blip r:embed="rId38"/>
          <a:srcRect l="12863" t="6431" r="9139" b="7640"/>
          <a:stretch>
            <a:fillRect/>
          </a:stretch>
        </p:blipFill>
        <p:spPr>
          <a:xfrm>
            <a:off x="10109200" y="2588260"/>
            <a:ext cx="1024255" cy="1128395"/>
          </a:xfrm>
          <a:prstGeom prst="rect">
            <a:avLst/>
          </a:prstGeom>
        </p:spPr>
      </p:pic>
      <p:pic>
        <p:nvPicPr>
          <p:cNvPr id="320" name="图片 319" descr="cc1ebeea-71a4-433c-afac-5d7c93ec5479"/>
          <p:cNvPicPr>
            <a:picLocks noChangeAspect="1"/>
          </p:cNvPicPr>
          <p:nvPr/>
        </p:nvPicPr>
        <p:blipFill>
          <a:blip r:embed="rId2"/>
          <a:srcRect l="1760" t="52437" r="86365" b="7984"/>
          <a:stretch>
            <a:fillRect/>
          </a:stretch>
        </p:blipFill>
        <p:spPr>
          <a:xfrm>
            <a:off x="11442700" y="2741930"/>
            <a:ext cx="523240" cy="863600"/>
          </a:xfrm>
          <a:prstGeom prst="rect">
            <a:avLst/>
          </a:prstGeom>
        </p:spPr>
      </p:pic>
      <p:pic>
        <p:nvPicPr>
          <p:cNvPr id="321" name="图片 320" descr="cc3b91b1-8189-41d5-9da9-3bfd8725ed8e"/>
          <p:cNvPicPr>
            <a:picLocks noChangeAspect="1"/>
          </p:cNvPicPr>
          <p:nvPr/>
        </p:nvPicPr>
        <p:blipFill>
          <a:blip r:embed="rId39"/>
          <a:srcRect l="28419" t="11889" r="28291" b="11148"/>
          <a:stretch>
            <a:fillRect/>
          </a:stretch>
        </p:blipFill>
        <p:spPr>
          <a:xfrm>
            <a:off x="9437370" y="2680970"/>
            <a:ext cx="362585" cy="928370"/>
          </a:xfrm>
          <a:prstGeom prst="rect">
            <a:avLst/>
          </a:prstGeom>
        </p:spPr>
      </p:pic>
      <p:cxnSp>
        <p:nvCxnSpPr>
          <p:cNvPr id="324" name="肘形连接符 323"/>
          <p:cNvCxnSpPr>
            <a:stCxn id="104" idx="3"/>
            <a:endCxn id="307" idx="1"/>
          </p:cNvCxnSpPr>
          <p:nvPr/>
        </p:nvCxnSpPr>
        <p:spPr>
          <a:xfrm flipV="1">
            <a:off x="6864985" y="2627630"/>
            <a:ext cx="267335" cy="527685"/>
          </a:xfrm>
          <a:prstGeom prst="bentConnector3">
            <a:avLst>
              <a:gd name="adj1" fmla="val 50119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5" name="直接箭头连接符 324"/>
          <p:cNvCxnSpPr>
            <a:stCxn id="104" idx="3"/>
            <a:endCxn id="309" idx="1"/>
          </p:cNvCxnSpPr>
          <p:nvPr/>
        </p:nvCxnSpPr>
        <p:spPr>
          <a:xfrm>
            <a:off x="6864985" y="3155315"/>
            <a:ext cx="26733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8" name="肘形连接符 327"/>
          <p:cNvCxnSpPr>
            <a:endCxn id="308" idx="1"/>
          </p:cNvCxnSpPr>
          <p:nvPr/>
        </p:nvCxnSpPr>
        <p:spPr>
          <a:xfrm rot="5400000" flipV="1">
            <a:off x="6800850" y="3352800"/>
            <a:ext cx="527685" cy="13462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1" name="直接箭头连接符 330"/>
          <p:cNvCxnSpPr/>
          <p:nvPr/>
        </p:nvCxnSpPr>
        <p:spPr>
          <a:xfrm flipV="1">
            <a:off x="7671435" y="3677920"/>
            <a:ext cx="222885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2" name="直接箭头连接符 331"/>
          <p:cNvCxnSpPr/>
          <p:nvPr/>
        </p:nvCxnSpPr>
        <p:spPr>
          <a:xfrm flipV="1">
            <a:off x="7671435" y="3155315"/>
            <a:ext cx="222885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3" name="直接箭头连接符 332"/>
          <p:cNvCxnSpPr/>
          <p:nvPr/>
        </p:nvCxnSpPr>
        <p:spPr>
          <a:xfrm flipV="1">
            <a:off x="7671435" y="2623185"/>
            <a:ext cx="222885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8" name="右箭头 337"/>
          <p:cNvSpPr/>
          <p:nvPr/>
        </p:nvSpPr>
        <p:spPr>
          <a:xfrm>
            <a:off x="8601710" y="2903672"/>
            <a:ext cx="126365" cy="611505"/>
          </a:xfrm>
          <a:prstGeom prst="rightArrow">
            <a:avLst/>
          </a:prstGeom>
          <a:gradFill>
            <a:gsLst>
              <a:gs pos="75000">
                <a:schemeClr val="accent1">
                  <a:lumMod val="20000"/>
                  <a:lumOff val="8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9" name="右箭头 338"/>
          <p:cNvSpPr/>
          <p:nvPr/>
        </p:nvSpPr>
        <p:spPr>
          <a:xfrm>
            <a:off x="9291955" y="2885257"/>
            <a:ext cx="126365" cy="611505"/>
          </a:xfrm>
          <a:prstGeom prst="rightArrow">
            <a:avLst/>
          </a:prstGeom>
          <a:gradFill>
            <a:gsLst>
              <a:gs pos="75000">
                <a:schemeClr val="accent1">
                  <a:lumMod val="20000"/>
                  <a:lumOff val="8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0" name="右箭头 339"/>
          <p:cNvSpPr/>
          <p:nvPr/>
        </p:nvSpPr>
        <p:spPr>
          <a:xfrm>
            <a:off x="9891395" y="2885257"/>
            <a:ext cx="126365" cy="611505"/>
          </a:xfrm>
          <a:prstGeom prst="rightArrow">
            <a:avLst/>
          </a:prstGeom>
          <a:gradFill>
            <a:gsLst>
              <a:gs pos="75000">
                <a:schemeClr val="accent1">
                  <a:lumMod val="20000"/>
                  <a:lumOff val="8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1" name="右箭头 340"/>
          <p:cNvSpPr/>
          <p:nvPr/>
        </p:nvSpPr>
        <p:spPr>
          <a:xfrm>
            <a:off x="11224895" y="2865572"/>
            <a:ext cx="126365" cy="611505"/>
          </a:xfrm>
          <a:prstGeom prst="rightArrow">
            <a:avLst/>
          </a:prstGeom>
          <a:gradFill>
            <a:gsLst>
              <a:gs pos="75000">
                <a:schemeClr val="accent1">
                  <a:lumMod val="20000"/>
                  <a:lumOff val="8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4" name="文本框 343"/>
          <p:cNvSpPr txBox="1"/>
          <p:nvPr/>
        </p:nvSpPr>
        <p:spPr>
          <a:xfrm>
            <a:off x="7894320" y="3883660"/>
            <a:ext cx="878205" cy="21907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p>
            <a:pPr algn="ctr"/>
            <a:endParaRPr lang="en-US" altLang="zh-CN" sz="1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350" name="组合 349"/>
          <p:cNvGrpSpPr/>
          <p:nvPr/>
        </p:nvGrpSpPr>
        <p:grpSpPr>
          <a:xfrm>
            <a:off x="11046460" y="669925"/>
            <a:ext cx="693420" cy="551815"/>
            <a:chOff x="17388" y="488"/>
            <a:chExt cx="1096" cy="1050"/>
          </a:xfrm>
        </p:grpSpPr>
        <p:pic>
          <p:nvPicPr>
            <p:cNvPr id="342" name="图片 341" descr="residual-features-transparent"/>
            <p:cNvPicPr>
              <a:picLocks noChangeAspect="1"/>
            </p:cNvPicPr>
            <p:nvPr/>
          </p:nvPicPr>
          <p:blipFill>
            <a:blip r:embed="rId40"/>
            <a:srcRect l="25778" r="24819" b="64531"/>
            <a:stretch>
              <a:fillRect/>
            </a:stretch>
          </p:blipFill>
          <p:spPr>
            <a:xfrm>
              <a:off x="17388" y="488"/>
              <a:ext cx="632" cy="681"/>
            </a:xfrm>
            <a:prstGeom prst="rect">
              <a:avLst/>
            </a:prstGeom>
          </p:spPr>
        </p:pic>
        <p:pic>
          <p:nvPicPr>
            <p:cNvPr id="345" name="图片 344" descr="residual-features-transparent"/>
            <p:cNvPicPr>
              <a:picLocks noChangeAspect="1"/>
            </p:cNvPicPr>
            <p:nvPr/>
          </p:nvPicPr>
          <p:blipFill>
            <a:blip r:embed="rId40"/>
            <a:srcRect l="26872" t="35677" r="27555" b="32552"/>
            <a:stretch>
              <a:fillRect/>
            </a:stretch>
          </p:blipFill>
          <p:spPr>
            <a:xfrm>
              <a:off x="17902" y="488"/>
              <a:ext cx="583" cy="610"/>
            </a:xfrm>
            <a:prstGeom prst="rect">
              <a:avLst/>
            </a:prstGeom>
          </p:spPr>
        </p:pic>
        <p:pic>
          <p:nvPicPr>
            <p:cNvPr id="346" name="图片 345" descr="residual-features-transparent"/>
            <p:cNvPicPr>
              <a:picLocks noChangeAspect="1"/>
            </p:cNvPicPr>
            <p:nvPr/>
          </p:nvPicPr>
          <p:blipFill>
            <a:blip r:embed="rId40"/>
            <a:srcRect l="26794" t="67448" r="27633" b="1458"/>
            <a:stretch>
              <a:fillRect/>
            </a:stretch>
          </p:blipFill>
          <p:spPr>
            <a:xfrm>
              <a:off x="17670" y="942"/>
              <a:ext cx="583" cy="597"/>
            </a:xfrm>
            <a:prstGeom prst="rect">
              <a:avLst/>
            </a:prstGeom>
          </p:spPr>
        </p:pic>
      </p:grpSp>
      <p:sp>
        <p:nvSpPr>
          <p:cNvPr id="347" name="文本框 346"/>
          <p:cNvSpPr txBox="1"/>
          <p:nvPr/>
        </p:nvSpPr>
        <p:spPr>
          <a:xfrm>
            <a:off x="7798435" y="3883660"/>
            <a:ext cx="1209040" cy="28067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Retrieved Codebook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Vectors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8" name="文本框 347"/>
          <p:cNvSpPr txBox="1"/>
          <p:nvPr/>
        </p:nvSpPr>
        <p:spPr>
          <a:xfrm>
            <a:off x="11133455" y="3856990"/>
            <a:ext cx="1020445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ctr">
              <a:buClrTx/>
              <a:buSzTx/>
              <a:buNone/>
            </a:pPr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Reconstructed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buClrTx/>
              <a:buSzTx/>
              <a:buNone/>
            </a:pPr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Speech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2" name="文本框 351"/>
              <p:cNvSpPr txBox="1"/>
              <p:nvPr/>
            </p:nvSpPr>
            <p:spPr>
              <a:xfrm>
                <a:off x="10829290" y="354965"/>
                <a:ext cx="1166495" cy="31496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800" b="1">
                    <a:latin typeface="Times New Roman" panose="02020603050405020304" charset="0"/>
                    <a:cs typeface="Times New Roman" panose="02020603050405020304" charset="0"/>
                  </a:rPr>
                  <a:t>Residual Features </a:t>
                </a:r>
                <a:br>
                  <a:rPr lang="en-US" altLang="zh-CN" sz="800" b="1">
                    <a:latin typeface="Times New Roman" panose="02020603050405020304" charset="0"/>
                    <a:cs typeface="Times New Roman" panose="0202060305040502030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sz="800" b="1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800" b="1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zh-CN" sz="800" b="1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52" name="文本框 3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9290" y="354965"/>
                <a:ext cx="1166495" cy="314960"/>
              </a:xfrm>
              <a:prstGeom prst="rect">
                <a:avLst/>
              </a:prstGeom>
              <a:blipFill rotWithShape="1"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3" name="文本框 352"/>
              <p:cNvSpPr txBox="1"/>
              <p:nvPr/>
            </p:nvSpPr>
            <p:spPr>
              <a:xfrm>
                <a:off x="10732135" y="1590675"/>
                <a:ext cx="1421765" cy="4044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𝑰𝒏𝒅𝒊𝒄𝒆𝒔</m:t>
                      </m:r>
                      <m:r>
                        <a:rPr lang="en-US" altLang="zh-CN" sz="8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:</m:t>
                      </m:r>
                      <m:sSub>
                        <m:sSubPr>
                          <m:ctrlP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8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8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800" b="1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ctr"/>
                <a:r>
                  <a:rPr lang="en-US" altLang="zh-CN" sz="800" b="1" i="1">
                    <a:latin typeface="Cambria Math" panose="02040503050406030204" charset="0"/>
                    <a:cs typeface="Cambria Math" panose="02040503050406030204" charset="0"/>
                  </a:rPr>
                  <a:t>Codewords</a:t>
                </a:r>
                <a:r>
                  <a:rPr lang="en-US" altLang="zh-CN" sz="800" b="1" i="1">
                    <a:latin typeface="Cambria Math" panose="02040503050406030204" charset="0"/>
                    <a:cs typeface="Cambria Math" panose="02040503050406030204" charset="0"/>
                  </a:rPr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𝑞</m:t>
                        </m:r>
                      </m:e>
                      <m:sub>
                        <m: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sz="800" b="1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𝑞</m:t>
                        </m:r>
                      </m:e>
                      <m:sub>
                        <m: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  <m:r>
                      <a:rPr lang="en-US" altLang="zh-CN" sz="800" b="1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𝑞</m:t>
                        </m:r>
                      </m:e>
                      <m:sub>
                        <m: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zh-CN" sz="8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53" name="文本框 3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2135" y="1590675"/>
                <a:ext cx="1421765" cy="404495"/>
              </a:xfrm>
              <a:prstGeom prst="rect">
                <a:avLst/>
              </a:prstGeom>
              <a:blipFill rotWithShape="1"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5" name="图片 354" descr="箭头-尖尾-向左"/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 rot="11160000">
            <a:off x="10281285" y="1257300"/>
            <a:ext cx="643890" cy="238125"/>
          </a:xfrm>
          <a:prstGeom prst="rect">
            <a:avLst/>
          </a:prstGeom>
        </p:spPr>
      </p:pic>
      <p:pic>
        <p:nvPicPr>
          <p:cNvPr id="356" name="图片 355" descr="箭头-尖尾-向左"/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 rot="20880000">
            <a:off x="10307955" y="774065"/>
            <a:ext cx="643890" cy="238125"/>
          </a:xfrm>
          <a:prstGeom prst="rect">
            <a:avLst/>
          </a:prstGeom>
        </p:spPr>
      </p:pic>
      <p:sp>
        <p:nvSpPr>
          <p:cNvPr id="358" name="文本框 357"/>
          <p:cNvSpPr txBox="1"/>
          <p:nvPr/>
        </p:nvSpPr>
        <p:spPr>
          <a:xfrm>
            <a:off x="6355080" y="3757295"/>
            <a:ext cx="510540" cy="34544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Indecs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60" name="文本框 359"/>
          <p:cNvSpPr txBox="1"/>
          <p:nvPr/>
        </p:nvSpPr>
        <p:spPr>
          <a:xfrm>
            <a:off x="10082530" y="455295"/>
            <a:ext cx="963930" cy="288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800" b="1">
                <a:latin typeface="Times New Roman" panose="02020603050405020304" charset="0"/>
                <a:ea typeface="MS Mincho" charset="0"/>
                <a:cs typeface="Times New Roman" panose="02020603050405020304" charset="0"/>
              </a:rPr>
              <a:t>K-means Init </a:t>
            </a:r>
            <a:endParaRPr lang="en-US" altLang="zh-CN" sz="800" b="1">
              <a:latin typeface="Times New Roman" panose="02020603050405020304" charset="0"/>
              <a:ea typeface="MS Mincho" charset="0"/>
              <a:cs typeface="Times New Roman" panose="02020603050405020304" charset="0"/>
            </a:endParaRPr>
          </a:p>
          <a:p>
            <a:pPr algn="ctr"/>
            <a:r>
              <a:rPr lang="en-US" altLang="zh-CN" sz="800" b="1">
                <a:latin typeface="Times New Roman" panose="02020603050405020304" charset="0"/>
                <a:ea typeface="MS Mincho" charset="0"/>
                <a:cs typeface="Times New Roman" panose="02020603050405020304" charset="0"/>
              </a:rPr>
              <a:t> EMA Update</a:t>
            </a:r>
            <a:endParaRPr lang="en-US" altLang="zh-CN" sz="800" b="1">
              <a:latin typeface="Times New Roman" panose="02020603050405020304" charset="0"/>
              <a:ea typeface="MS Mincho" charset="0"/>
              <a:cs typeface="Times New Roman" panose="02020603050405020304" charset="0"/>
            </a:endParaRPr>
          </a:p>
        </p:txBody>
      </p:sp>
      <p:sp>
        <p:nvSpPr>
          <p:cNvPr id="361" name="文本框 360"/>
          <p:cNvSpPr txBox="1"/>
          <p:nvPr/>
        </p:nvSpPr>
        <p:spPr>
          <a:xfrm>
            <a:off x="10101580" y="1457960"/>
            <a:ext cx="963930" cy="288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800" b="1">
                <a:latin typeface="Times New Roman" panose="02020603050405020304" charset="0"/>
                <a:ea typeface="MS Mincho" charset="0"/>
                <a:cs typeface="Times New Roman" panose="02020603050405020304" charset="0"/>
              </a:rPr>
              <a:t>Nearest-Codeword Lookup</a:t>
            </a:r>
            <a:endParaRPr lang="en-US" altLang="zh-CN" sz="800" b="1">
              <a:latin typeface="Times New Roman" panose="02020603050405020304" charset="0"/>
              <a:ea typeface="MS Mincho" charset="0"/>
              <a:cs typeface="Times New Roman" panose="02020603050405020304" charset="0"/>
            </a:endParaRPr>
          </a:p>
        </p:txBody>
      </p:sp>
      <p:pic>
        <p:nvPicPr>
          <p:cNvPr id="363" name="图片 362" descr="da533246-d97b-4bf7-a9b6-245cfd0fcf38"/>
          <p:cNvPicPr>
            <a:picLocks noChangeAspect="1"/>
          </p:cNvPicPr>
          <p:nvPr/>
        </p:nvPicPr>
        <p:blipFill>
          <a:blip r:embed="rId38"/>
          <a:srcRect l="12863" t="6431" r="9139" b="7640"/>
          <a:stretch>
            <a:fillRect/>
          </a:stretch>
        </p:blipFill>
        <p:spPr>
          <a:xfrm flipH="1">
            <a:off x="7132320" y="514350"/>
            <a:ext cx="749300" cy="939800"/>
          </a:xfrm>
          <a:prstGeom prst="rect">
            <a:avLst/>
          </a:prstGeom>
        </p:spPr>
      </p:pic>
      <p:cxnSp>
        <p:nvCxnSpPr>
          <p:cNvPr id="364" name="肘形连接符 363"/>
          <p:cNvCxnSpPr>
            <a:stCxn id="306" idx="0"/>
            <a:endCxn id="363" idx="0"/>
          </p:cNvCxnSpPr>
          <p:nvPr/>
        </p:nvCxnSpPr>
        <p:spPr>
          <a:xfrm rot="16200000">
            <a:off x="6567488" y="-409257"/>
            <a:ext cx="15875" cy="1863090"/>
          </a:xfrm>
          <a:prstGeom prst="bentConnector3">
            <a:avLst>
              <a:gd name="adj1" fmla="val 820000"/>
            </a:avLst>
          </a:prstGeom>
          <a:ln w="12700" cap="flat" cmpd="sng" algn="ctr">
            <a:solidFill>
              <a:schemeClr val="accent1"/>
            </a:solidFill>
            <a:prstDash val="dash"/>
            <a:miter lim="800000"/>
            <a:tailEnd type="triangl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5" name="文本框 364"/>
          <p:cNvSpPr txBox="1"/>
          <p:nvPr/>
        </p:nvSpPr>
        <p:spPr>
          <a:xfrm>
            <a:off x="6363970" y="332740"/>
            <a:ext cx="591820" cy="15176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 anchorCtr="1">
            <a:no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TRAIN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7" name="圆角矩形 366"/>
          <p:cNvSpPr/>
          <p:nvPr/>
        </p:nvSpPr>
        <p:spPr>
          <a:xfrm>
            <a:off x="4415155" y="2117725"/>
            <a:ext cx="1781175" cy="2080895"/>
          </a:xfrm>
          <a:prstGeom prst="roundRect">
            <a:avLst>
              <a:gd name="adj" fmla="val 188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9" name="圆角矩形 368"/>
          <p:cNvSpPr/>
          <p:nvPr/>
        </p:nvSpPr>
        <p:spPr>
          <a:xfrm>
            <a:off x="4437380" y="2032000"/>
            <a:ext cx="1563370" cy="198755"/>
          </a:xfrm>
          <a:prstGeom prst="roundRect">
            <a:avLst>
              <a:gd name="adj" fmla="val 1883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/>
          <a:p>
            <a:pPr algn="l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4 Transmission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70" name="文本框 369"/>
          <p:cNvSpPr txBox="1"/>
          <p:nvPr/>
        </p:nvSpPr>
        <p:spPr>
          <a:xfrm>
            <a:off x="4683125" y="3677920"/>
            <a:ext cx="1317625" cy="35941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QKD-Assisted 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Secure Transmission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2" name="圆角矩形 371"/>
          <p:cNvSpPr/>
          <p:nvPr/>
        </p:nvSpPr>
        <p:spPr>
          <a:xfrm>
            <a:off x="219075" y="4563110"/>
            <a:ext cx="5358765" cy="2080260"/>
          </a:xfrm>
          <a:prstGeom prst="roundRect">
            <a:avLst>
              <a:gd name="adj" fmla="val 188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374" name="组合 373"/>
          <p:cNvGrpSpPr/>
          <p:nvPr/>
        </p:nvGrpSpPr>
        <p:grpSpPr>
          <a:xfrm>
            <a:off x="2209800" y="5769610"/>
            <a:ext cx="604520" cy="640715"/>
            <a:chOff x="3748" y="9361"/>
            <a:chExt cx="952" cy="1009"/>
          </a:xfrm>
        </p:grpSpPr>
        <p:pic>
          <p:nvPicPr>
            <p:cNvPr id="147" name="图片 146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3749" y="9361"/>
              <a:ext cx="951" cy="602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3" name="文本框 372"/>
                <p:cNvSpPr txBox="1"/>
                <p:nvPr/>
              </p:nvSpPr>
              <p:spPr>
                <a:xfrm>
                  <a:off x="3748" y="9962"/>
                  <a:ext cx="952" cy="408"/>
                </a:xfrm>
                <a:prstGeom prst="rect">
                  <a:avLst/>
                </a:prstGeom>
              </p:spPr>
              <p:txBody>
                <a:bodyPr lIns="0" tIns="0" rIns="0" bIns="0" anchor="ctr" anchorCtr="1">
                  <a:noAutofit/>
                  <a:extLst>
                    <a:ext uri="{4A0BC546-FE56-4ADE-93B0-CB8AF2F6F144}">
                      <wpsdc:textFrameExt xmlns:wpsdc="http://www.wps.cn/officeDocument/2022/drawingmlCustomData" type="text"/>
                    </a:ext>
                  </a:extLst>
                </a:bodyPr>
                <a:p>
                  <a:pPr algn="ctr"/>
                  <a:r>
                    <a:rPr lang="en-US" altLang="zh-CN" sz="800"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Reconstructed </a:t>
                  </a:r>
                  <a:endParaRPr lang="en-US" altLang="zh-CN" sz="800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  <a:p>
                  <a:pPr algn="ctr"/>
                  <a:r>
                    <a:rPr lang="en-US" altLang="zh-CN" sz="800"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Speech </a:t>
                  </a:r>
                  <a14:m>
                    <m:oMath xmlns:m="http://schemas.openxmlformats.org/officeDocument/2006/math">
                      <m:acc>
                        <m:accPr>
                          <m:ctrlPr>
                            <a:rPr lang="en-US" altLang="zh-CN" sz="8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8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acc>
                    </m:oMath>
                  </a14:m>
                  <a:endParaRPr lang="en-US" altLang="zh-CN" sz="800" i="1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373" name="文本框 3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8" y="9962"/>
                  <a:ext cx="952" cy="408"/>
                </a:xfrm>
                <a:prstGeom prst="rect">
                  <a:avLst/>
                </a:prstGeom>
                <a:blipFill rotWithShape="1">
                  <a:blip r:embed="rId4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5" name="组合 384"/>
          <p:cNvGrpSpPr/>
          <p:nvPr/>
        </p:nvGrpSpPr>
        <p:grpSpPr>
          <a:xfrm>
            <a:off x="2882900" y="4673600"/>
            <a:ext cx="1192530" cy="1096010"/>
            <a:chOff x="4540" y="7360"/>
            <a:chExt cx="1878" cy="1726"/>
          </a:xfrm>
        </p:grpSpPr>
        <p:grpSp>
          <p:nvGrpSpPr>
            <p:cNvPr id="135" name="组合 134"/>
            <p:cNvGrpSpPr/>
            <p:nvPr/>
          </p:nvGrpSpPr>
          <p:grpSpPr>
            <a:xfrm rot="0">
              <a:off x="4568" y="7753"/>
              <a:ext cx="1788" cy="1332"/>
              <a:chOff x="8413" y="7972"/>
              <a:chExt cx="1788" cy="1332"/>
            </a:xfrm>
          </p:grpSpPr>
          <p:sp>
            <p:nvSpPr>
              <p:cNvPr id="123" name="圆角矩形 122"/>
              <p:cNvSpPr/>
              <p:nvPr/>
            </p:nvSpPr>
            <p:spPr>
              <a:xfrm flipH="1">
                <a:off x="8809" y="7992"/>
                <a:ext cx="981" cy="367"/>
              </a:xfrm>
              <a:prstGeom prst="roundRect">
                <a:avLst>
                  <a:gd name="adj" fmla="val 1883"/>
                </a:avLst>
              </a:prstGeom>
              <a:solidFill>
                <a:srgbClr val="E6F3FE"/>
              </a:solidFill>
            </p:spPr>
            <p:style>
              <a:lnRef idx="0">
                <a:srgbClr val="FFFFFF"/>
              </a:lnRef>
              <a:fillRef idx="2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r">
                  <a:buClrTx/>
                  <a:buSzTx/>
                  <a:buFontTx/>
                </a:pPr>
                <a:r>
                  <a:rPr lang="en-US" altLang="zh-CN" sz="8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Waveform</a:t>
                </a:r>
                <a:endParaRPr lang="en-US" altLang="zh-CN" sz="8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24" name="圆角矩形 123"/>
              <p:cNvSpPr/>
              <p:nvPr/>
            </p:nvSpPr>
            <p:spPr>
              <a:xfrm flipH="1">
                <a:off x="8813" y="8465"/>
                <a:ext cx="977" cy="288"/>
              </a:xfrm>
              <a:prstGeom prst="roundRect">
                <a:avLst>
                  <a:gd name="adj" fmla="val 1883"/>
                </a:avLst>
              </a:prstGeom>
              <a:solidFill>
                <a:srgbClr val="E6F3FE"/>
              </a:solidFill>
            </p:spPr>
            <p:style>
              <a:lnRef idx="0">
                <a:srgbClr val="FFFFFF"/>
              </a:lnRef>
              <a:fillRef idx="2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8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Periodict</a:t>
                </a:r>
                <a:endParaRPr lang="en-US" altLang="zh-CN" sz="8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25" name="圆角矩形 124"/>
              <p:cNvSpPr/>
              <p:nvPr/>
            </p:nvSpPr>
            <p:spPr>
              <a:xfrm flipH="1">
                <a:off x="8829" y="8811"/>
                <a:ext cx="1372" cy="289"/>
              </a:xfrm>
              <a:prstGeom prst="roundRect">
                <a:avLst>
                  <a:gd name="adj" fmla="val 1883"/>
                </a:avLst>
              </a:prstGeom>
              <a:solidFill>
                <a:srgbClr val="E6F3FE"/>
              </a:solidFill>
            </p:spPr>
            <p:style>
              <a:lnRef idx="0">
                <a:srgbClr val="FFFFFF"/>
              </a:lnRef>
              <a:fillRef idx="2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8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Time</a:t>
                </a:r>
                <a:r>
                  <a:rPr lang="en-US" altLang="zh-CN" sz="8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-</a:t>
                </a:r>
                <a:r>
                  <a:rPr lang="en-US" altLang="zh-CN" sz="8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Frequency</a:t>
                </a:r>
                <a:endParaRPr lang="en-US" altLang="zh-CN" sz="8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pic>
            <p:nvPicPr>
              <p:cNvPr id="131" name="图片 130" descr="cc3b91b1-8189-41d5-9da9-3bfd8725ed8e"/>
              <p:cNvPicPr>
                <a:picLocks noChangeAspect="1"/>
              </p:cNvPicPr>
              <p:nvPr/>
            </p:nvPicPr>
            <p:blipFill>
              <a:blip r:embed="rId39"/>
              <a:srcRect l="28419" t="11889" r="28291" b="11148"/>
              <a:stretch>
                <a:fillRect/>
              </a:stretch>
            </p:blipFill>
            <p:spPr>
              <a:xfrm>
                <a:off x="8413" y="7972"/>
                <a:ext cx="373" cy="471"/>
              </a:xfrm>
              <a:prstGeom prst="rect">
                <a:avLst/>
              </a:prstGeom>
            </p:spPr>
          </p:pic>
          <p:pic>
            <p:nvPicPr>
              <p:cNvPr id="132" name="图片 131" descr="cc3b91b1-8189-41d5-9da9-3bfd8725ed8e"/>
              <p:cNvPicPr>
                <a:picLocks noChangeAspect="1"/>
              </p:cNvPicPr>
              <p:nvPr/>
            </p:nvPicPr>
            <p:blipFill>
              <a:blip r:embed="rId39"/>
              <a:srcRect l="28419" t="11889" r="28291" b="11148"/>
              <a:stretch>
                <a:fillRect/>
              </a:stretch>
            </p:blipFill>
            <p:spPr>
              <a:xfrm>
                <a:off x="8440" y="8393"/>
                <a:ext cx="373" cy="471"/>
              </a:xfrm>
              <a:prstGeom prst="rect">
                <a:avLst/>
              </a:prstGeom>
            </p:spPr>
          </p:pic>
          <p:pic>
            <p:nvPicPr>
              <p:cNvPr id="134" name="图片 133" descr="1e26f853-d7f1-4482-a54f-9c3a2cc5ff44"/>
              <p:cNvPicPr>
                <a:picLocks noChangeAspect="1"/>
              </p:cNvPicPr>
              <p:nvPr/>
            </p:nvPicPr>
            <p:blipFill>
              <a:blip r:embed="rId48"/>
              <a:srcRect l="22839" t="50000" r="62302" b="5938"/>
              <a:stretch>
                <a:fillRect/>
              </a:stretch>
            </p:blipFill>
            <p:spPr>
              <a:xfrm>
                <a:off x="8460" y="8777"/>
                <a:ext cx="378" cy="527"/>
              </a:xfrm>
              <a:prstGeom prst="rect">
                <a:avLst/>
              </a:prstGeom>
            </p:spPr>
          </p:pic>
        </p:grpSp>
        <p:sp>
          <p:nvSpPr>
            <p:cNvPr id="136" name="圆角矩形 135"/>
            <p:cNvSpPr/>
            <p:nvPr/>
          </p:nvSpPr>
          <p:spPr>
            <a:xfrm>
              <a:off x="4540" y="7360"/>
              <a:ext cx="1878" cy="1726"/>
            </a:xfrm>
            <a:prstGeom prst="roundRect">
              <a:avLst>
                <a:gd name="adj" fmla="val 1883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75" name="文本框 374"/>
            <p:cNvSpPr txBox="1"/>
            <p:nvPr/>
          </p:nvSpPr>
          <p:spPr>
            <a:xfrm>
              <a:off x="4615" y="7449"/>
              <a:ext cx="1713" cy="193"/>
            </a:xfrm>
            <a:prstGeom prst="rect">
              <a:avLst/>
            </a:prstGeom>
          </p:spPr>
          <p:txBody>
            <a:bodyPr lIns="0" tIns="0" rIns="0" bIns="0" anchor="ctr" anchorCtr="1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ctr"/>
              <a:r>
                <a:rPr lang="en-US" altLang="zh-CN" sz="800" b="1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Multi-Scale GAN Discriminators</a:t>
              </a:r>
              <a:endParaRPr lang="en-US" altLang="zh-CN" sz="8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</p:grpSp>
      <p:cxnSp>
        <p:nvCxnSpPr>
          <p:cNvPr id="377" name="直接箭头连接符 376"/>
          <p:cNvCxnSpPr/>
          <p:nvPr/>
        </p:nvCxnSpPr>
        <p:spPr>
          <a:xfrm flipV="1">
            <a:off x="1317625" y="5841365"/>
            <a:ext cx="225425" cy="1905"/>
          </a:xfrm>
          <a:prstGeom prst="straightConnector1">
            <a:avLst/>
          </a:prstGeom>
          <a:ln>
            <a:tailEnd type="triangle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9" name="任意多边形 378"/>
          <p:cNvSpPr/>
          <p:nvPr/>
        </p:nvSpPr>
        <p:spPr>
          <a:xfrm>
            <a:off x="1320800" y="6022340"/>
            <a:ext cx="3530600" cy="553720"/>
          </a:xfrm>
          <a:custGeom>
            <a:avLst/>
            <a:gdLst>
              <a:gd name="connisteX0" fmla="*/ 3530600 w 3530600"/>
              <a:gd name="connsiteY0" fmla="*/ 325120 h 553720"/>
              <a:gd name="connisteX1" fmla="*/ 3530600 w 3530600"/>
              <a:gd name="connsiteY1" fmla="*/ 553720 h 553720"/>
              <a:gd name="connisteX2" fmla="*/ 447040 w 3530600"/>
              <a:gd name="connsiteY2" fmla="*/ 548640 h 553720"/>
              <a:gd name="connisteX3" fmla="*/ 447040 w 3530600"/>
              <a:gd name="connsiteY3" fmla="*/ 0 h 553720"/>
              <a:gd name="connisteX4" fmla="*/ 0 w 3530600"/>
              <a:gd name="connsiteY4" fmla="*/ 0 h 55372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530600" h="553720">
                <a:moveTo>
                  <a:pt x="3530600" y="325120"/>
                </a:moveTo>
                <a:lnTo>
                  <a:pt x="3530600" y="553720"/>
                </a:lnTo>
                <a:lnTo>
                  <a:pt x="447040" y="548640"/>
                </a:lnTo>
                <a:lnTo>
                  <a:pt x="447040" y="0"/>
                </a:lnTo>
                <a:lnTo>
                  <a:pt x="0" y="0"/>
                </a:lnTo>
              </a:path>
            </a:pathLst>
          </a:custGeom>
          <a:noFill/>
          <a:ln>
            <a:prstDash val="dash"/>
            <a:headEnd type="triangle" w="sm" len="sm"/>
            <a:tailEnd type="triangle" w="sm" len="sm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1" name="任意多边形 380"/>
          <p:cNvSpPr/>
          <p:nvPr/>
        </p:nvSpPr>
        <p:spPr>
          <a:xfrm>
            <a:off x="2336165" y="5509260"/>
            <a:ext cx="287655" cy="194945"/>
          </a:xfrm>
          <a:custGeom>
            <a:avLst/>
            <a:gdLst>
              <a:gd name="connisteX0" fmla="*/ 0 w 223520"/>
              <a:gd name="connsiteY0" fmla="*/ 1270 h 174625"/>
              <a:gd name="connisteX1" fmla="*/ 223520 w 223520"/>
              <a:gd name="connsiteY1" fmla="*/ 0 h 174625"/>
              <a:gd name="connisteX2" fmla="*/ 222250 w 223520"/>
              <a:gd name="connsiteY2" fmla="*/ 174625 h 17462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23520" h="174625">
                <a:moveTo>
                  <a:pt x="0" y="1270"/>
                </a:moveTo>
                <a:lnTo>
                  <a:pt x="223520" y="0"/>
                </a:lnTo>
                <a:lnTo>
                  <a:pt x="222250" y="174625"/>
                </a:lnTo>
              </a:path>
            </a:pathLst>
          </a:custGeom>
          <a:noFill/>
          <a:ln w="9525">
            <a:tailEnd type="triangle" w="sm" len="sm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2" name="任意多边形 381"/>
          <p:cNvSpPr/>
          <p:nvPr/>
        </p:nvSpPr>
        <p:spPr>
          <a:xfrm>
            <a:off x="406400" y="4612005"/>
            <a:ext cx="4566920" cy="274320"/>
          </a:xfrm>
          <a:custGeom>
            <a:avLst/>
            <a:gdLst>
              <a:gd name="connisteX0" fmla="*/ 0 w 4566920"/>
              <a:gd name="connsiteY0" fmla="*/ 274320 h 274320"/>
              <a:gd name="connisteX1" fmla="*/ 0 w 4566920"/>
              <a:gd name="connsiteY1" fmla="*/ 5080 h 274320"/>
              <a:gd name="connisteX2" fmla="*/ 4566920 w 4566920"/>
              <a:gd name="connsiteY2" fmla="*/ 0 h 274320"/>
              <a:gd name="connisteX3" fmla="*/ 4566920 w 4566920"/>
              <a:gd name="connsiteY3" fmla="*/ 147320 h 27432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4566920" h="274320">
                <a:moveTo>
                  <a:pt x="0" y="274320"/>
                </a:moveTo>
                <a:lnTo>
                  <a:pt x="0" y="5080"/>
                </a:lnTo>
                <a:lnTo>
                  <a:pt x="4566920" y="0"/>
                </a:lnTo>
                <a:lnTo>
                  <a:pt x="4566920" y="147320"/>
                </a:lnTo>
              </a:path>
            </a:pathLst>
          </a:custGeom>
          <a:noFill/>
          <a:ln w="6350">
            <a:tailEnd type="triangle" w="sm" len="sm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3" name="文本框 382"/>
          <p:cNvSpPr txBox="1"/>
          <p:nvPr/>
        </p:nvSpPr>
        <p:spPr>
          <a:xfrm>
            <a:off x="695325" y="4577080"/>
            <a:ext cx="1552575" cy="9652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noAutofit/>
          </a:bodyPr>
          <a:p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</a:rPr>
              <a:t>x: direct reconstruction reference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9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图片 370" descr="017fef03-06b3-4241-a01c-d4ae7548a2fb"/>
          <p:cNvPicPr>
            <a:picLocks noChangeAspect="1"/>
          </p:cNvPicPr>
          <p:nvPr/>
        </p:nvPicPr>
        <p:blipFill>
          <a:blip r:embed="rId1"/>
          <a:srcRect t="15120" b="18046"/>
          <a:stretch>
            <a:fillRect/>
          </a:stretch>
        </p:blipFill>
        <p:spPr>
          <a:xfrm>
            <a:off x="4513580" y="2626360"/>
            <a:ext cx="1607820" cy="1075055"/>
          </a:xfrm>
          <a:prstGeom prst="rect">
            <a:avLst/>
          </a:prstGeom>
        </p:spPr>
      </p:pic>
      <p:sp>
        <p:nvSpPr>
          <p:cNvPr id="12" name="圆角矩形 11"/>
          <p:cNvSpPr/>
          <p:nvPr/>
        </p:nvSpPr>
        <p:spPr>
          <a:xfrm>
            <a:off x="144145" y="4370705"/>
            <a:ext cx="8257540" cy="2355215"/>
          </a:xfrm>
          <a:prstGeom prst="roundRect">
            <a:avLst>
              <a:gd name="adj" fmla="val 188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144145" y="2117725"/>
            <a:ext cx="4186555" cy="2081530"/>
          </a:xfrm>
          <a:prstGeom prst="roundRect">
            <a:avLst>
              <a:gd name="adj" fmla="val 188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144780" y="165735"/>
            <a:ext cx="6051550" cy="1795145"/>
          </a:xfrm>
          <a:prstGeom prst="roundRect">
            <a:avLst>
              <a:gd name="adj" fmla="val 188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6256655" y="2117725"/>
            <a:ext cx="5842000" cy="2080895"/>
          </a:xfrm>
          <a:prstGeom prst="roundRect">
            <a:avLst>
              <a:gd name="adj" fmla="val 188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8574405" y="4370070"/>
            <a:ext cx="3487420" cy="2355850"/>
          </a:xfrm>
          <a:prstGeom prst="roundRect">
            <a:avLst>
              <a:gd name="adj" fmla="val 188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1252220" y="57785"/>
            <a:ext cx="3836670" cy="275590"/>
          </a:xfrm>
          <a:prstGeom prst="roundRect">
            <a:avLst>
              <a:gd name="adj" fmla="val 1883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/>
          <a:p>
            <a:pPr algn="l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1 Offline Encoder Architecture Search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257175" y="455429"/>
            <a:ext cx="1007852" cy="1196344"/>
            <a:chOff x="781" y="916"/>
            <a:chExt cx="3377" cy="2046"/>
          </a:xfrm>
        </p:grpSpPr>
        <p:pic>
          <p:nvPicPr>
            <p:cNvPr id="19" name="图片 18" descr="cc1ebeea-71a4-433c-afac-5d7c93ec5479"/>
            <p:cNvPicPr>
              <a:picLocks noChangeAspect="1"/>
            </p:cNvPicPr>
            <p:nvPr/>
          </p:nvPicPr>
          <p:blipFill>
            <a:blip r:embed="rId2"/>
            <a:srcRect l="833" t="11047" r="77781" b="53687"/>
            <a:stretch>
              <a:fillRect/>
            </a:stretch>
          </p:blipFill>
          <p:spPr>
            <a:xfrm>
              <a:off x="782" y="916"/>
              <a:ext cx="2921" cy="1606"/>
            </a:xfrm>
            <a:prstGeom prst="rect">
              <a:avLst/>
            </a:prstGeom>
          </p:spPr>
        </p:pic>
        <p:sp>
          <p:nvSpPr>
            <p:cNvPr id="23" name="圆角矩形 22"/>
            <p:cNvSpPr/>
            <p:nvPr/>
          </p:nvSpPr>
          <p:spPr>
            <a:xfrm>
              <a:off x="781" y="2573"/>
              <a:ext cx="3377" cy="389"/>
            </a:xfrm>
            <a:prstGeom prst="roundRect">
              <a:avLst>
                <a:gd name="adj" fmla="val 1883"/>
              </a:avLst>
            </a:prstGeom>
            <a:solidFill>
              <a:schemeClr val="bg1"/>
            </a:solidFill>
            <a:ln w="12700" cmpd="sng">
              <a:noFill/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Candidate Encoder Space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410335" y="506229"/>
            <a:ext cx="1102092" cy="1176020"/>
            <a:chOff x="4482" y="1064"/>
            <a:chExt cx="1843" cy="1852"/>
          </a:xfrm>
        </p:grpSpPr>
        <p:pic>
          <p:nvPicPr>
            <p:cNvPr id="25" name="图片 24" descr="cc1ebeea-71a4-433c-afac-5d7c93ec5479"/>
            <p:cNvPicPr>
              <a:picLocks noChangeAspect="1"/>
            </p:cNvPicPr>
            <p:nvPr/>
          </p:nvPicPr>
          <p:blipFill>
            <a:blip r:embed="rId2"/>
            <a:srcRect l="22927" t="15063" r="58057" b="60313"/>
            <a:stretch>
              <a:fillRect/>
            </a:stretch>
          </p:blipFill>
          <p:spPr>
            <a:xfrm>
              <a:off x="4505" y="1334"/>
              <a:ext cx="1798" cy="1058"/>
            </a:xfrm>
            <a:prstGeom prst="rect">
              <a:avLst/>
            </a:prstGeom>
          </p:spPr>
        </p:pic>
        <p:sp>
          <p:nvSpPr>
            <p:cNvPr id="26" name="圆角矩形 25"/>
            <p:cNvSpPr/>
            <p:nvPr/>
          </p:nvSpPr>
          <p:spPr>
            <a:xfrm>
              <a:off x="4483" y="2510"/>
              <a:ext cx="1842" cy="406"/>
            </a:xfrm>
            <a:prstGeom prst="roundRect">
              <a:avLst>
                <a:gd name="adj" fmla="val 1883"/>
              </a:avLst>
            </a:prstGeom>
            <a:solidFill>
              <a:schemeClr val="bg1"/>
            </a:solidFill>
            <a:ln w="12700" cmpd="sng">
              <a:noFill/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0" rIns="0" bIns="0" rtlCol="0" anchor="ctr"/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Teahcer-Guied</a:t>
              </a:r>
              <a:b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</a:br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Proxy Training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4482" y="1064"/>
              <a:ext cx="875" cy="269"/>
            </a:xfrm>
            <a:prstGeom prst="roundRect">
              <a:avLst>
                <a:gd name="adj" fmla="val 1883"/>
              </a:avLst>
            </a:prstGeom>
            <a:solidFill>
              <a:schemeClr val="bg1"/>
            </a:solidFill>
            <a:ln w="12700" cmpd="sng">
              <a:noFill/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0" rIns="0" bIns="0" rtlCol="0" anchor="ctr"/>
            <a:p>
              <a:pPr algn="ctr"/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Teahcer</a:t>
              </a:r>
              <a:endParaRPr lang="en-US" altLang="zh-CN"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5358" y="1064"/>
              <a:ext cx="964" cy="270"/>
            </a:xfrm>
            <a:prstGeom prst="roundRect">
              <a:avLst>
                <a:gd name="adj" fmla="val 1883"/>
              </a:avLst>
            </a:prstGeom>
            <a:solidFill>
              <a:schemeClr val="bg1"/>
            </a:solidFill>
            <a:ln w="12700" cmpd="sng">
              <a:noFill/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lIns="0" tIns="0" rIns="0" bIns="0" rtlCol="0" anchor="ctr"/>
            <a:p>
              <a:pPr algn="ctr"/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Student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782570" y="383857"/>
            <a:ext cx="1133475" cy="1278122"/>
            <a:chOff x="8895" y="617"/>
            <a:chExt cx="2945" cy="2939"/>
          </a:xfrm>
        </p:grpSpPr>
        <p:grpSp>
          <p:nvGrpSpPr>
            <p:cNvPr id="40" name="组合 39"/>
            <p:cNvGrpSpPr/>
            <p:nvPr/>
          </p:nvGrpSpPr>
          <p:grpSpPr>
            <a:xfrm>
              <a:off x="8956" y="617"/>
              <a:ext cx="2884" cy="1994"/>
              <a:chOff x="8990" y="617"/>
              <a:chExt cx="3541" cy="2570"/>
            </a:xfrm>
          </p:grpSpPr>
          <p:pic>
            <p:nvPicPr>
              <p:cNvPr id="30" name="图片 29" descr="cc1ebeea-71a4-433c-afac-5d7c93ec5479"/>
              <p:cNvPicPr>
                <a:picLocks noChangeAspect="1"/>
              </p:cNvPicPr>
              <p:nvPr/>
            </p:nvPicPr>
            <p:blipFill>
              <a:blip r:embed="rId2"/>
              <a:srcRect l="44073" t="6781" r="40615" b="54391"/>
              <a:stretch>
                <a:fillRect/>
              </a:stretch>
            </p:blipFill>
            <p:spPr>
              <a:xfrm>
                <a:off x="9428" y="617"/>
                <a:ext cx="2940" cy="2485"/>
              </a:xfrm>
              <a:prstGeom prst="rect">
                <a:avLst/>
              </a:prstGeom>
            </p:spPr>
          </p:pic>
          <p:cxnSp>
            <p:nvCxnSpPr>
              <p:cNvPr id="32" name="直接箭头连接符 31"/>
              <p:cNvCxnSpPr/>
              <p:nvPr/>
            </p:nvCxnSpPr>
            <p:spPr>
              <a:xfrm rot="60000" flipV="1">
                <a:off x="9353" y="1147"/>
                <a:ext cx="13" cy="140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/>
              <p:cNvCxnSpPr/>
              <p:nvPr/>
            </p:nvCxnSpPr>
            <p:spPr>
              <a:xfrm rot="60000">
                <a:off x="9353" y="2540"/>
                <a:ext cx="1374" cy="57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/>
              <p:cNvCxnSpPr/>
              <p:nvPr/>
            </p:nvCxnSpPr>
            <p:spPr>
              <a:xfrm rot="60000" flipV="1">
                <a:off x="10979" y="2446"/>
                <a:ext cx="1367" cy="74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6" name="文本框 35"/>
              <p:cNvSpPr txBox="1"/>
              <p:nvPr/>
            </p:nvSpPr>
            <p:spPr>
              <a:xfrm>
                <a:off x="8990" y="1428"/>
                <a:ext cx="391" cy="1364"/>
              </a:xfrm>
              <a:prstGeom prst="rect">
                <a:avLst/>
              </a:prstGeom>
              <a:noFill/>
            </p:spPr>
            <p:txBody>
              <a:bodyPr vert="eaVert" wrap="square" rtlCol="0" anchor="ctr" anchorCtr="1">
                <a:noAutofit/>
              </a:bodyPr>
              <a:p>
                <a:r>
                  <a:rPr lang="en-US" altLang="zh-CN" sz="600">
                    <a:latin typeface="Times New Roman" panose="02020603050405020304" charset="0"/>
                    <a:cs typeface="Times New Roman" panose="02020603050405020304" charset="0"/>
                  </a:rPr>
                  <a:t>Quanlity</a:t>
                </a:r>
                <a:endParaRPr lang="en-US" altLang="zh-CN" sz="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 rot="1380000">
                <a:off x="9016" y="2768"/>
                <a:ext cx="1669" cy="316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noAutofit/>
              </a:bodyPr>
              <a:p>
                <a:r>
                  <a:rPr lang="en-US" altLang="zh-CN" sz="800">
                    <a:latin typeface="Times New Roman" panose="02020603050405020304" charset="0"/>
                    <a:cs typeface="Times New Roman" panose="02020603050405020304" charset="0"/>
                  </a:rPr>
                  <a:t>Latency</a:t>
                </a:r>
                <a:endParaRPr lang="en-US" altLang="zh-CN" sz="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 rot="19800000">
                <a:off x="10692" y="2877"/>
                <a:ext cx="1839" cy="309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noAutofit/>
              </a:bodyPr>
              <a:p>
                <a:r>
                  <a:rPr lang="en-US" altLang="zh-CN" sz="600">
                    <a:latin typeface="Times New Roman" panose="02020603050405020304" charset="0"/>
                    <a:cs typeface="Times New Roman" panose="02020603050405020304" charset="0"/>
                  </a:rPr>
                  <a:t>Model Size</a:t>
                </a:r>
                <a:endParaRPr lang="en-US" altLang="zh-CN" sz="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41" name="文本框 40"/>
            <p:cNvSpPr txBox="1"/>
            <p:nvPr/>
          </p:nvSpPr>
          <p:spPr>
            <a:xfrm>
              <a:off x="8895" y="2880"/>
              <a:ext cx="2922" cy="67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Resource and 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quality Profiling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4108450" y="439862"/>
            <a:ext cx="921385" cy="1308754"/>
            <a:chOff x="12700" y="894"/>
            <a:chExt cx="2530" cy="2863"/>
          </a:xfrm>
        </p:grpSpPr>
        <p:grpSp>
          <p:nvGrpSpPr>
            <p:cNvPr id="47" name="组合 46"/>
            <p:cNvGrpSpPr/>
            <p:nvPr/>
          </p:nvGrpSpPr>
          <p:grpSpPr>
            <a:xfrm>
              <a:off x="12991" y="894"/>
              <a:ext cx="1857" cy="1461"/>
              <a:chOff x="12991" y="894"/>
              <a:chExt cx="1634" cy="1317"/>
            </a:xfrm>
          </p:grpSpPr>
          <p:pic>
            <p:nvPicPr>
              <p:cNvPr id="43" name="图片 42" descr="cc1ebeea-71a4-433c-afac-5d7c93ec5479"/>
              <p:cNvPicPr>
                <a:picLocks noChangeAspect="1"/>
              </p:cNvPicPr>
              <p:nvPr/>
            </p:nvPicPr>
            <p:blipFill>
              <a:blip r:embed="rId2"/>
              <a:srcRect l="62797" t="11719" r="21719" b="56609"/>
              <a:stretch>
                <a:fillRect/>
              </a:stretch>
            </p:blipFill>
            <p:spPr>
              <a:xfrm>
                <a:off x="13003" y="1122"/>
                <a:ext cx="1594" cy="1088"/>
              </a:xfrm>
              <a:prstGeom prst="rect">
                <a:avLst/>
              </a:prstGeom>
            </p:spPr>
          </p:pic>
          <p:cxnSp>
            <p:nvCxnSpPr>
              <p:cNvPr id="45" name="直接箭头连接符 44"/>
              <p:cNvCxnSpPr/>
              <p:nvPr/>
            </p:nvCxnSpPr>
            <p:spPr>
              <a:xfrm flipH="1" flipV="1">
                <a:off x="12991" y="894"/>
                <a:ext cx="12" cy="13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/>
              <p:cNvCxnSpPr/>
              <p:nvPr/>
            </p:nvCxnSpPr>
            <p:spPr>
              <a:xfrm>
                <a:off x="13008" y="2211"/>
                <a:ext cx="161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48" name="文本框 47"/>
            <p:cNvSpPr txBox="1"/>
            <p:nvPr/>
          </p:nvSpPr>
          <p:spPr>
            <a:xfrm>
              <a:off x="13055" y="2385"/>
              <a:ext cx="1767" cy="381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 sz="600">
                  <a:latin typeface="Times New Roman" panose="02020603050405020304" charset="0"/>
                  <a:cs typeface="Times New Roman" panose="02020603050405020304" charset="0"/>
                </a:rPr>
                <a:t>Resource Cost </a:t>
              </a:r>
              <a:endParaRPr lang="en-US" altLang="zh-CN" sz="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2700" y="3136"/>
              <a:ext cx="2530" cy="6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ParetoSelection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5222240" y="1470025"/>
            <a:ext cx="875030" cy="197485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NAS-Selected Encoder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173855" y="395605"/>
            <a:ext cx="1167130" cy="2336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Pareto Front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8" name="圆角矩形 77"/>
          <p:cNvSpPr/>
          <p:nvPr/>
        </p:nvSpPr>
        <p:spPr>
          <a:xfrm>
            <a:off x="539115" y="2032000"/>
            <a:ext cx="3396615" cy="254635"/>
          </a:xfrm>
          <a:prstGeom prst="roundRect">
            <a:avLst>
              <a:gd name="adj" fmla="val 1883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/>
          <a:p>
            <a:pPr algn="l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3 Index Packing and Packetization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306758" y="2546350"/>
            <a:ext cx="867665" cy="1316355"/>
            <a:chOff x="9853" y="4744"/>
            <a:chExt cx="1364" cy="2073"/>
          </a:xfrm>
        </p:grpSpPr>
        <p:pic>
          <p:nvPicPr>
            <p:cNvPr id="83" name="图片 82" descr="d7194677-731e-404a-8019-7c4bca95c540"/>
            <p:cNvPicPr>
              <a:picLocks noChangeAspect="1"/>
            </p:cNvPicPr>
            <p:nvPr/>
          </p:nvPicPr>
          <p:blipFill>
            <a:blip r:embed="rId3"/>
            <a:srcRect l="21924" t="19179" r="21361" b="15168"/>
            <a:stretch>
              <a:fillRect/>
            </a:stretch>
          </p:blipFill>
          <p:spPr>
            <a:xfrm>
              <a:off x="9853" y="4744"/>
              <a:ext cx="1364" cy="1141"/>
            </a:xfrm>
            <a:prstGeom prst="rect">
              <a:avLst/>
            </a:prstGeom>
          </p:spPr>
        </p:pic>
        <p:sp>
          <p:nvSpPr>
            <p:cNvPr id="84" name="文本框 83"/>
            <p:cNvSpPr txBox="1"/>
            <p:nvPr/>
          </p:nvSpPr>
          <p:spPr>
            <a:xfrm>
              <a:off x="9994" y="6051"/>
              <a:ext cx="1136" cy="766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Three-layer</a:t>
              </a:r>
              <a:b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</a:br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Discrete Indices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1799897" y="2436495"/>
            <a:ext cx="885190" cy="1370330"/>
            <a:chOff x="11409" y="4333"/>
            <a:chExt cx="1394" cy="2158"/>
          </a:xfrm>
        </p:grpSpPr>
        <p:pic>
          <p:nvPicPr>
            <p:cNvPr id="80" name="图片 79" descr="9bf390ca-be59-4b23-80f1-c32c53ed7727"/>
            <p:cNvPicPr>
              <a:picLocks noChangeAspect="1"/>
            </p:cNvPicPr>
            <p:nvPr/>
          </p:nvPicPr>
          <p:blipFill>
            <a:blip r:embed="rId4"/>
            <a:srcRect l="21667" t="8542" r="62417" b="51708"/>
            <a:stretch>
              <a:fillRect/>
            </a:stretch>
          </p:blipFill>
          <p:spPr>
            <a:xfrm>
              <a:off x="11409" y="4333"/>
              <a:ext cx="1345" cy="1408"/>
            </a:xfrm>
            <a:prstGeom prst="rect">
              <a:avLst/>
            </a:prstGeom>
          </p:spPr>
        </p:pic>
        <p:sp>
          <p:nvSpPr>
            <p:cNvPr id="85" name="文本框 84"/>
            <p:cNvSpPr txBox="1"/>
            <p:nvPr/>
          </p:nvSpPr>
          <p:spPr>
            <a:xfrm>
              <a:off x="11409" y="6032"/>
              <a:ext cx="1394" cy="459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Indices Packing 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3310562" y="2446020"/>
            <a:ext cx="721360" cy="1443990"/>
            <a:chOff x="13052" y="4499"/>
            <a:chExt cx="1136" cy="2274"/>
          </a:xfrm>
        </p:grpSpPr>
        <p:pic>
          <p:nvPicPr>
            <p:cNvPr id="81" name="图片 80" descr="9bf390ca-be59-4b23-80f1-c32c53ed7727"/>
            <p:cNvPicPr>
              <a:picLocks noChangeAspect="1"/>
            </p:cNvPicPr>
            <p:nvPr/>
          </p:nvPicPr>
          <p:blipFill>
            <a:blip r:embed="rId4"/>
            <a:srcRect l="41917" t="12708" r="45667" b="55292"/>
            <a:stretch>
              <a:fillRect/>
            </a:stretch>
          </p:blipFill>
          <p:spPr>
            <a:xfrm>
              <a:off x="13169" y="4499"/>
              <a:ext cx="1019" cy="1393"/>
            </a:xfrm>
            <a:prstGeom prst="rect">
              <a:avLst/>
            </a:prstGeom>
          </p:spPr>
        </p:pic>
        <p:sp>
          <p:nvSpPr>
            <p:cNvPr id="86" name="文本框 85"/>
            <p:cNvSpPr txBox="1"/>
            <p:nvPr/>
          </p:nvSpPr>
          <p:spPr>
            <a:xfrm>
              <a:off x="13052" y="6007"/>
              <a:ext cx="1136" cy="766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Discrete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Index</a:t>
              </a:r>
              <a:b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</a:br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Bitstream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87" name="文本框 86"/>
          <p:cNvSpPr txBox="1"/>
          <p:nvPr/>
        </p:nvSpPr>
        <p:spPr>
          <a:xfrm>
            <a:off x="4415155" y="2325370"/>
            <a:ext cx="1659890" cy="302260"/>
          </a:xfrm>
          <a:prstGeom prst="rect">
            <a:avLst/>
          </a:prstGeom>
          <a:noFill/>
        </p:spPr>
        <p:txBody>
          <a:bodyPr wrap="square" lIns="0" rIns="0" rtlCol="0" anchor="ctr" anchorCtr="1">
            <a:noAutofit/>
          </a:bodyPr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Nominal Index Payload</a:t>
            </a:r>
            <a:b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1.5k bit/s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4" name="图片 103" descr="16_three_codebook_vector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925" y="2701290"/>
            <a:ext cx="353060" cy="908050"/>
          </a:xfrm>
          <a:prstGeom prst="rect">
            <a:avLst/>
          </a:prstGeom>
        </p:spPr>
      </p:pic>
      <p:sp>
        <p:nvSpPr>
          <p:cNvPr id="105" name="圆角矩形 104"/>
          <p:cNvSpPr/>
          <p:nvPr/>
        </p:nvSpPr>
        <p:spPr>
          <a:xfrm>
            <a:off x="7634923" y="2032000"/>
            <a:ext cx="3085465" cy="255270"/>
          </a:xfrm>
          <a:prstGeom prst="roundRect">
            <a:avLst>
              <a:gd name="adj" fmla="val 1883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rIns="0" rtlCol="0" anchor="ctr"/>
          <a:p>
            <a:pPr algn="l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5 Shared Codebook Decoding 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6844665" y="3843655"/>
            <a:ext cx="878205" cy="21907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Preshared Codebooks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文本框 111"/>
              <p:cNvSpPr txBox="1"/>
              <p:nvPr/>
            </p:nvSpPr>
            <p:spPr>
              <a:xfrm>
                <a:off x="6319520" y="2828925"/>
                <a:ext cx="236855" cy="182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12" name="文本框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520" y="2828925"/>
                <a:ext cx="236855" cy="182880"/>
              </a:xfrm>
              <a:prstGeom prst="rect">
                <a:avLst/>
              </a:prstGeom>
              <a:blipFill rotWithShape="1">
                <a:blip r:embed="rId6"/>
                <a:stretch>
                  <a:fillRect b="-2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文本框 114"/>
              <p:cNvSpPr txBox="1"/>
              <p:nvPr/>
            </p:nvSpPr>
            <p:spPr>
              <a:xfrm>
                <a:off x="9148445" y="3641090"/>
                <a:ext cx="922020" cy="4216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>
                  <a:buClrTx/>
                  <a:buSzTx/>
                  <a:buNone/>
                </a:pPr>
                <a:r>
                  <a:rPr lang="en-US" altLang="zh-CN" sz="1000" b="1">
                    <a:latin typeface="Times New Roman" panose="02020603050405020304" charset="0"/>
                    <a:cs typeface="Times New Roman" panose="02020603050405020304" charset="0"/>
                  </a:rPr>
                  <a:t>Recovered</a:t>
                </a:r>
                <a:endParaRPr lang="en-US" altLang="zh-CN" sz="1000" b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>
                  <a:buClrTx/>
                  <a:buSzTx/>
                  <a:buNone/>
                </a:pPr>
                <a:r>
                  <a:rPr lang="en-US" altLang="zh-CN" sz="1000" b="1">
                    <a:latin typeface="Times New Roman" panose="02020603050405020304" charset="0"/>
                    <a:cs typeface="Times New Roman" panose="02020603050405020304" charset="0"/>
                  </a:rPr>
                  <a:t>Quantized Latent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altLang="zh-CN" sz="10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5" name="文本框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8445" y="3641090"/>
                <a:ext cx="922020" cy="421640"/>
              </a:xfrm>
              <a:prstGeom prst="rect">
                <a:avLst/>
              </a:prstGeom>
              <a:blipFill rotWithShape="1">
                <a:blip r:embed="rId7"/>
                <a:stretch>
                  <a:fillRect b="-231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文本框 115"/>
          <p:cNvSpPr txBox="1"/>
          <p:nvPr/>
        </p:nvSpPr>
        <p:spPr>
          <a:xfrm>
            <a:off x="10421620" y="3856990"/>
            <a:ext cx="488950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ctr">
              <a:buClrTx/>
              <a:buSzTx/>
              <a:buNone/>
            </a:pPr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SEANet</a:t>
            </a:r>
            <a:b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Decoder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圆角矩形 151"/>
              <p:cNvSpPr/>
              <p:nvPr/>
            </p:nvSpPr>
            <p:spPr>
              <a:xfrm flipH="1">
                <a:off x="5678805" y="4699000"/>
                <a:ext cx="2661285" cy="183515"/>
              </a:xfrm>
              <a:prstGeom prst="roundRect">
                <a:avLst>
                  <a:gd name="adj" fmla="val 1883"/>
                </a:avLst>
              </a:prstGeom>
              <a:solidFill>
                <a:srgbClr val="E6F3FE"/>
              </a:solidFill>
              <a:ln w="12700" cmpd="sng">
                <a:solidFill>
                  <a:schemeClr val="accent1">
                    <a:shade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vertOverflow="overflow" horzOverflow="overflow" vert="horz" wrap="square" lIns="0" tIns="0" rIns="0" bIns="0" numCol="1" spcCol="0" rtlCol="0" fromWordArt="0" anchor="ctr" anchorCtr="1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000" b="1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Ramdom RVQ-Deepth Sampling </a:t>
                </a:r>
                <a14:m>
                  <m:oMath xmlns:m="http://schemas.openxmlformats.org/officeDocument/2006/math">
                    <m:r>
                      <a:rPr lang="en-US" altLang="zh-CN" sz="1000" b="1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𝑳</m:t>
                    </m:r>
                    <m:r>
                      <a:rPr lang="en-US" altLang="zh-CN" sz="1000" b="1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∈{</m:t>
                    </m:r>
                    <m:r>
                      <a:rPr lang="en-US" altLang="zh-CN" sz="1000" b="1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𝟏</m:t>
                    </m:r>
                    <m:r>
                      <a:rPr lang="en-US" altLang="zh-CN" sz="1000" b="1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,</m:t>
                    </m:r>
                    <m:r>
                      <a:rPr lang="en-US" altLang="zh-CN" sz="1000" b="1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𝟐</m:t>
                    </m:r>
                    <m:r>
                      <a:rPr lang="en-US" altLang="zh-CN" sz="1000" b="1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,</m:t>
                    </m:r>
                    <m:r>
                      <a:rPr lang="en-US" altLang="zh-CN" sz="1000" b="1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𝟑</m:t>
                    </m:r>
                    <m:r>
                      <a:rPr lang="en-US" altLang="zh-CN" sz="1000" b="1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}</m:t>
                    </m:r>
                  </m:oMath>
                </a14:m>
                <a:endParaRPr lang="en-US" altLang="zh-CN" sz="1000" b="1" i="1">
                  <a:latin typeface="Cambria Math" panose="02040503050406030204" charset="0"/>
                  <a:ea typeface="MS Mincho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152" name="圆角矩形 1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678805" y="4699000"/>
                <a:ext cx="2661285" cy="183515"/>
              </a:xfrm>
              <a:prstGeom prst="roundRect">
                <a:avLst>
                  <a:gd name="adj" fmla="val 1883"/>
                </a:avLst>
              </a:prstGeom>
              <a:blipFill rotWithShape="1">
                <a:blip r:embed="rId8"/>
                <a:stretch>
                  <a:fillRect l="-239" t="-3460" r="-239" b="-3460"/>
                </a:stretch>
              </a:blipFill>
              <a:ln w="12700" cmpd="sng">
                <a:solidFill>
                  <a:schemeClr val="accent1">
                    <a:shade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圆角矩形 152"/>
          <p:cNvSpPr/>
          <p:nvPr/>
        </p:nvSpPr>
        <p:spPr>
          <a:xfrm flipH="1">
            <a:off x="5839460" y="5656580"/>
            <a:ext cx="565150" cy="346710"/>
          </a:xfrm>
          <a:prstGeom prst="roundRect">
            <a:avLst>
              <a:gd name="adj" fmla="val 1883"/>
            </a:avLst>
          </a:prstGeom>
          <a:solidFill>
            <a:srgbClr val="E6F3FE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index perturbation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154" name="图片 153" descr="f0ca6182-a653-4a85-b473-8430671b4905"/>
          <p:cNvPicPr>
            <a:picLocks noChangeAspect="1"/>
          </p:cNvPicPr>
          <p:nvPr/>
        </p:nvPicPr>
        <p:blipFill>
          <a:blip r:embed="rId9"/>
          <a:srcRect l="15519" t="11065" r="15343" b="11963"/>
          <a:stretch>
            <a:fillRect/>
          </a:stretch>
        </p:blipFill>
        <p:spPr>
          <a:xfrm>
            <a:off x="6762750" y="5107940"/>
            <a:ext cx="382905" cy="426720"/>
          </a:xfrm>
          <a:prstGeom prst="rect">
            <a:avLst/>
          </a:prstGeom>
        </p:spPr>
      </p:pic>
      <p:grpSp>
        <p:nvGrpSpPr>
          <p:cNvPr id="160" name="组合 159"/>
          <p:cNvGrpSpPr/>
          <p:nvPr/>
        </p:nvGrpSpPr>
        <p:grpSpPr>
          <a:xfrm>
            <a:off x="7493635" y="4914900"/>
            <a:ext cx="621030" cy="471805"/>
            <a:chOff x="9111" y="8699"/>
            <a:chExt cx="978" cy="743"/>
          </a:xfrm>
        </p:grpSpPr>
        <p:pic>
          <p:nvPicPr>
            <p:cNvPr id="158" name="图片 157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345" y="8978"/>
              <a:ext cx="511" cy="465"/>
            </a:xfrm>
            <a:prstGeom prst="rect">
              <a:avLst/>
            </a:prstGeom>
          </p:spPr>
        </p:pic>
        <p:sp>
          <p:nvSpPr>
            <p:cNvPr id="159" name="文本框 158"/>
            <p:cNvSpPr txBox="1"/>
            <p:nvPr/>
          </p:nvSpPr>
          <p:spPr>
            <a:xfrm>
              <a:off x="9111" y="8699"/>
              <a:ext cx="979" cy="25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algn="ctr">
                <a:buClrTx/>
                <a:buSzTx/>
                <a:buNone/>
              </a:pPr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Cleaned Mel</a:t>
              </a:r>
              <a:endParaRPr lang="en-US" altLang="zh-CN" sz="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61" name="组合 160"/>
          <p:cNvGrpSpPr/>
          <p:nvPr/>
        </p:nvGrpSpPr>
        <p:grpSpPr>
          <a:xfrm>
            <a:off x="7493635" y="6156325"/>
            <a:ext cx="621665" cy="478790"/>
            <a:chOff x="9111" y="8197"/>
            <a:chExt cx="979" cy="754"/>
          </a:xfrm>
        </p:grpSpPr>
        <p:pic>
          <p:nvPicPr>
            <p:cNvPr id="162" name="图片 16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345" y="8197"/>
              <a:ext cx="511" cy="465"/>
            </a:xfrm>
            <a:prstGeom prst="rect">
              <a:avLst/>
            </a:prstGeom>
          </p:spPr>
        </p:pic>
        <p:sp>
          <p:nvSpPr>
            <p:cNvPr id="163" name="文本框 162"/>
            <p:cNvSpPr txBox="1"/>
            <p:nvPr/>
          </p:nvSpPr>
          <p:spPr>
            <a:xfrm>
              <a:off x="9111" y="8699"/>
              <a:ext cx="979" cy="25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algn="ctr">
                <a:buClrTx/>
                <a:buSzTx/>
                <a:buNone/>
              </a:pPr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Perturbed MEl</a:t>
              </a:r>
              <a:endParaRPr lang="en-US" altLang="zh-CN" sz="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79" name="组合 178"/>
          <p:cNvGrpSpPr/>
          <p:nvPr/>
        </p:nvGrpSpPr>
        <p:grpSpPr>
          <a:xfrm>
            <a:off x="5745480" y="5076825"/>
            <a:ext cx="734060" cy="385445"/>
            <a:chOff x="14239" y="8743"/>
            <a:chExt cx="1156" cy="766"/>
          </a:xfrm>
        </p:grpSpPr>
        <p:grpSp>
          <p:nvGrpSpPr>
            <p:cNvPr id="177" name="组合 176"/>
            <p:cNvGrpSpPr/>
            <p:nvPr/>
          </p:nvGrpSpPr>
          <p:grpSpPr>
            <a:xfrm>
              <a:off x="14239" y="8915"/>
              <a:ext cx="1070" cy="594"/>
              <a:chOff x="13822" y="8958"/>
              <a:chExt cx="1070" cy="594"/>
            </a:xfrm>
          </p:grpSpPr>
          <p:grpSp>
            <p:nvGrpSpPr>
              <p:cNvPr id="170" name="组合 169"/>
              <p:cNvGrpSpPr/>
              <p:nvPr/>
            </p:nvGrpSpPr>
            <p:grpSpPr>
              <a:xfrm>
                <a:off x="13829" y="9225"/>
                <a:ext cx="1063" cy="327"/>
                <a:chOff x="1962" y="2164"/>
                <a:chExt cx="5869" cy="2283"/>
              </a:xfrm>
            </p:grpSpPr>
            <p:pic>
              <p:nvPicPr>
                <p:cNvPr id="171" name="图片 170" descr="d7194677-731e-404a-8019-7c4bca95c540"/>
                <p:cNvPicPr>
                  <a:picLocks noChangeAspect="1"/>
                </p:cNvPicPr>
                <p:nvPr/>
              </p:nvPicPr>
              <p:blipFill>
                <a:blip r:embed="rId3"/>
                <a:srcRect l="22514" t="20306" r="63424" b="59454"/>
                <a:stretch>
                  <a:fillRect/>
                </a:stretch>
              </p:blipFill>
              <p:spPr>
                <a:xfrm>
                  <a:off x="1962" y="2261"/>
                  <a:ext cx="2025" cy="2186"/>
                </a:xfrm>
                <a:prstGeom prst="rect">
                  <a:avLst/>
                </a:prstGeom>
              </p:spPr>
            </p:pic>
            <p:pic>
              <p:nvPicPr>
                <p:cNvPr id="172" name="图片 171" descr="d7194677-731e-404a-8019-7c4bca95c540"/>
                <p:cNvPicPr>
                  <a:picLocks noChangeAspect="1"/>
                </p:cNvPicPr>
                <p:nvPr/>
              </p:nvPicPr>
              <p:blipFill>
                <a:blip r:embed="rId3"/>
                <a:srcRect l="22514" t="63693" r="63424" b="16067"/>
                <a:stretch>
                  <a:fillRect/>
                </a:stretch>
              </p:blipFill>
              <p:spPr>
                <a:xfrm>
                  <a:off x="5807" y="2164"/>
                  <a:ext cx="2025" cy="2186"/>
                </a:xfrm>
                <a:prstGeom prst="rect">
                  <a:avLst/>
                </a:prstGeom>
              </p:spPr>
            </p:pic>
            <p:pic>
              <p:nvPicPr>
                <p:cNvPr id="173" name="图片 172" descr="d7194677-731e-404a-8019-7c4bca95c540"/>
                <p:cNvPicPr>
                  <a:picLocks noChangeAspect="1"/>
                </p:cNvPicPr>
                <p:nvPr/>
              </p:nvPicPr>
              <p:blipFill>
                <a:blip r:embed="rId3"/>
                <a:srcRect l="22361" t="42194" r="63577" b="37566"/>
                <a:stretch>
                  <a:fillRect/>
                </a:stretch>
              </p:blipFill>
              <p:spPr>
                <a:xfrm>
                  <a:off x="3850" y="2261"/>
                  <a:ext cx="2025" cy="2186"/>
                </a:xfrm>
                <a:prstGeom prst="rect">
                  <a:avLst/>
                </a:prstGeom>
              </p:spPr>
            </p:pic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4" name="文本框 173"/>
                  <p:cNvSpPr txBox="1"/>
                  <p:nvPr/>
                </p:nvSpPr>
                <p:spPr>
                  <a:xfrm>
                    <a:off x="13822" y="8972"/>
                    <a:ext cx="342" cy="2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1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74" name="文本框 17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822" y="8972"/>
                    <a:ext cx="342" cy="266"/>
                  </a:xfrm>
                  <a:prstGeom prst="rect">
                    <a:avLst/>
                  </a:prstGeom>
                  <a:blipFill rotWithShape="1">
                    <a:blip r:embed="rId1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5" name="文本框 174"/>
                  <p:cNvSpPr txBox="1"/>
                  <p:nvPr/>
                </p:nvSpPr>
                <p:spPr>
                  <a:xfrm>
                    <a:off x="14196" y="8958"/>
                    <a:ext cx="342" cy="2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1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75" name="文本框 17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96" y="8958"/>
                    <a:ext cx="342" cy="266"/>
                  </a:xfrm>
                  <a:prstGeom prst="rect">
                    <a:avLst/>
                  </a:prstGeom>
                  <a:blipFill rotWithShape="1">
                    <a:blip r:embed="rId1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6" name="文本框 175"/>
                  <p:cNvSpPr txBox="1"/>
                  <p:nvPr/>
                </p:nvSpPr>
                <p:spPr>
                  <a:xfrm>
                    <a:off x="14549" y="8972"/>
                    <a:ext cx="342" cy="2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 anchorCtr="1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76" name="文本框 17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9" y="8972"/>
                    <a:ext cx="342" cy="266"/>
                  </a:xfrm>
                  <a:prstGeom prst="rect">
                    <a:avLst/>
                  </a:prstGeom>
                  <a:blipFill rotWithShape="1">
                    <a:blip r:embed="rId1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8" name="文本框 177"/>
            <p:cNvSpPr txBox="1"/>
            <p:nvPr/>
          </p:nvSpPr>
          <p:spPr>
            <a:xfrm>
              <a:off x="14246" y="8743"/>
              <a:ext cx="1149" cy="18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algn="ctr">
                <a:buClrTx/>
                <a:buSzTx/>
                <a:buNone/>
              </a:pPr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Cleaned</a:t>
              </a:r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 lndices</a:t>
              </a:r>
              <a:endParaRPr lang="en-US" altLang="zh-CN" sz="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81" name="组合 180"/>
          <p:cNvGrpSpPr/>
          <p:nvPr/>
        </p:nvGrpSpPr>
        <p:grpSpPr>
          <a:xfrm>
            <a:off x="5745480" y="6174134"/>
            <a:ext cx="729615" cy="460981"/>
            <a:chOff x="14210" y="8885"/>
            <a:chExt cx="1149" cy="884"/>
          </a:xfrm>
        </p:grpSpPr>
        <p:grpSp>
          <p:nvGrpSpPr>
            <p:cNvPr id="182" name="组合 181"/>
            <p:cNvGrpSpPr/>
            <p:nvPr/>
          </p:nvGrpSpPr>
          <p:grpSpPr>
            <a:xfrm>
              <a:off x="14246" y="8885"/>
              <a:ext cx="1063" cy="624"/>
              <a:chOff x="13829" y="8928"/>
              <a:chExt cx="1063" cy="624"/>
            </a:xfrm>
          </p:grpSpPr>
          <p:grpSp>
            <p:nvGrpSpPr>
              <p:cNvPr id="183" name="组合 182"/>
              <p:cNvGrpSpPr/>
              <p:nvPr/>
            </p:nvGrpSpPr>
            <p:grpSpPr>
              <a:xfrm>
                <a:off x="13829" y="9225"/>
                <a:ext cx="1063" cy="327"/>
                <a:chOff x="1962" y="2164"/>
                <a:chExt cx="5869" cy="2283"/>
              </a:xfrm>
            </p:grpSpPr>
            <p:pic>
              <p:nvPicPr>
                <p:cNvPr id="184" name="图片 183" descr="d7194677-731e-404a-8019-7c4bca95c540"/>
                <p:cNvPicPr>
                  <a:picLocks noChangeAspect="1"/>
                </p:cNvPicPr>
                <p:nvPr/>
              </p:nvPicPr>
              <p:blipFill>
                <a:blip r:embed="rId3"/>
                <a:srcRect l="22514" t="20306" r="63424" b="59454"/>
                <a:stretch>
                  <a:fillRect/>
                </a:stretch>
              </p:blipFill>
              <p:spPr>
                <a:xfrm>
                  <a:off x="1962" y="2261"/>
                  <a:ext cx="2025" cy="2186"/>
                </a:xfrm>
                <a:prstGeom prst="rect">
                  <a:avLst/>
                </a:prstGeom>
              </p:spPr>
            </p:pic>
            <p:pic>
              <p:nvPicPr>
                <p:cNvPr id="185" name="图片 184" descr="d7194677-731e-404a-8019-7c4bca95c540"/>
                <p:cNvPicPr>
                  <a:picLocks noChangeAspect="1"/>
                </p:cNvPicPr>
                <p:nvPr/>
              </p:nvPicPr>
              <p:blipFill>
                <a:blip r:embed="rId3"/>
                <a:srcRect l="22514" t="63693" r="63424" b="16067"/>
                <a:stretch>
                  <a:fillRect/>
                </a:stretch>
              </p:blipFill>
              <p:spPr>
                <a:xfrm>
                  <a:off x="5807" y="2164"/>
                  <a:ext cx="2025" cy="2186"/>
                </a:xfrm>
                <a:prstGeom prst="rect">
                  <a:avLst/>
                </a:prstGeom>
              </p:spPr>
            </p:pic>
            <p:pic>
              <p:nvPicPr>
                <p:cNvPr id="186" name="图片 185" descr="d7194677-731e-404a-8019-7c4bca95c540"/>
                <p:cNvPicPr>
                  <a:picLocks noChangeAspect="1"/>
                </p:cNvPicPr>
                <p:nvPr/>
              </p:nvPicPr>
              <p:blipFill>
                <a:blip r:embed="rId3"/>
                <a:srcRect l="22361" t="42194" r="63577" b="37566"/>
                <a:stretch>
                  <a:fillRect/>
                </a:stretch>
              </p:blipFill>
              <p:spPr>
                <a:xfrm>
                  <a:off x="3850" y="2261"/>
                  <a:ext cx="2025" cy="2186"/>
                </a:xfrm>
                <a:prstGeom prst="rect">
                  <a:avLst/>
                </a:prstGeom>
              </p:spPr>
            </p:pic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7" name="文本框 186"/>
                  <p:cNvSpPr txBox="1"/>
                  <p:nvPr/>
                </p:nvSpPr>
                <p:spPr>
                  <a:xfrm>
                    <a:off x="13829" y="8928"/>
                    <a:ext cx="342" cy="2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87" name="文本框 18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829" y="8928"/>
                    <a:ext cx="342" cy="266"/>
                  </a:xfrm>
                  <a:prstGeom prst="rect">
                    <a:avLst/>
                  </a:prstGeom>
                  <a:blipFill rotWithShape="1">
                    <a:blip r:embed="rId1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0" name="文本框 189"/>
            <p:cNvSpPr txBox="1"/>
            <p:nvPr/>
          </p:nvSpPr>
          <p:spPr>
            <a:xfrm>
              <a:off x="14210" y="9589"/>
              <a:ext cx="1149" cy="18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algn="ctr">
                <a:buClrTx/>
                <a:buSzTx/>
                <a:buNone/>
              </a:pPr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Perturbed</a:t>
              </a:r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 lndices</a:t>
              </a:r>
              <a:endParaRPr lang="en-US" altLang="zh-CN" sz="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94" name="圆角矩形 193"/>
          <p:cNvSpPr/>
          <p:nvPr/>
        </p:nvSpPr>
        <p:spPr>
          <a:xfrm>
            <a:off x="9993630" y="4650740"/>
            <a:ext cx="803275" cy="441325"/>
          </a:xfrm>
          <a:prstGeom prst="roundRect">
            <a:avLst>
              <a:gd name="adj" fmla="val 6477"/>
            </a:avLst>
          </a:prstGeom>
          <a:solidFill>
            <a:srgbClr val="7030A0">
              <a:alpha val="54000"/>
            </a:srgb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Trainable RVQ Token</a:t>
            </a:r>
            <a:br>
              <a:rPr lang="en-US" altLang="zh-CN" sz="800" b="1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zh-CN" sz="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Encoder</a:t>
            </a: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9" name="图片 8" descr="18_reconstructed_speech_waveform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77910" y="5414010"/>
            <a:ext cx="244475" cy="629920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11036567" y="4577080"/>
            <a:ext cx="959306" cy="716915"/>
            <a:chOff x="14841" y="8883"/>
            <a:chExt cx="1961" cy="1129"/>
          </a:xfrm>
        </p:grpSpPr>
        <p:pic>
          <p:nvPicPr>
            <p:cNvPr id="11" name="图片 10" descr="dfc0eb08-8648-49bc-b9e7-1b32206086d8"/>
            <p:cNvPicPr>
              <a:picLocks noChangeAspect="1"/>
            </p:cNvPicPr>
            <p:nvPr/>
          </p:nvPicPr>
          <p:blipFill>
            <a:blip r:embed="rId16">
              <a:duotone>
                <a:prstClr val="black"/>
                <a:srgbClr val="B28FCC">
                  <a:tint val="45000"/>
                  <a:satMod val="400000"/>
                </a:srgbClr>
              </a:duotone>
            </a:blip>
            <a:srcRect l="32333" t="21704" r="31852" b="17685"/>
            <a:stretch>
              <a:fillRect/>
            </a:stretch>
          </p:blipFill>
          <p:spPr>
            <a:xfrm>
              <a:off x="16304" y="9238"/>
              <a:ext cx="456" cy="774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14841" y="8883"/>
              <a:ext cx="1961" cy="3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ctr">
                <a:buClrTx/>
                <a:buSzTx/>
                <a:buNone/>
              </a:pPr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Token Speaker Embeding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1064603" y="5154930"/>
            <a:ext cx="722630" cy="615950"/>
            <a:chOff x="15655" y="8796"/>
            <a:chExt cx="1337" cy="970"/>
          </a:xfrm>
        </p:grpSpPr>
        <p:pic>
          <p:nvPicPr>
            <p:cNvPr id="31" name="图片 30" descr="dfc0eb08-8648-49bc-b9e7-1b32206086d8"/>
            <p:cNvPicPr>
              <a:picLocks noChangeAspect="1"/>
            </p:cNvPicPr>
            <p:nvPr/>
          </p:nvPicPr>
          <p:blipFill>
            <a:blip r:embed="rId16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rcRect l="32333" t="21704" r="31852" b="17685"/>
            <a:stretch>
              <a:fillRect/>
            </a:stretch>
          </p:blipFill>
          <p:spPr>
            <a:xfrm>
              <a:off x="16539" y="9230"/>
              <a:ext cx="316" cy="536"/>
            </a:xfrm>
            <a:prstGeom prst="rect">
              <a:avLst/>
            </a:prstGeom>
          </p:spPr>
        </p:pic>
        <p:sp>
          <p:nvSpPr>
            <p:cNvPr id="34" name="文本框 33"/>
            <p:cNvSpPr txBox="1"/>
            <p:nvPr/>
          </p:nvSpPr>
          <p:spPr>
            <a:xfrm>
              <a:off x="15655" y="8796"/>
              <a:ext cx="1337" cy="3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algn="ctr">
                <a:buClrTx/>
                <a:buSzTx/>
                <a:buNone/>
              </a:pPr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Audio Speaker Embeding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37" name="圆角矩形 36"/>
          <p:cNvSpPr/>
          <p:nvPr/>
        </p:nvSpPr>
        <p:spPr>
          <a:xfrm>
            <a:off x="9622790" y="5326380"/>
            <a:ext cx="510540" cy="554355"/>
          </a:xfrm>
          <a:prstGeom prst="roundRect">
            <a:avLst>
              <a:gd name="adj" fmla="val 6477"/>
            </a:avLst>
          </a:prstGeom>
          <a:solidFill>
            <a:srgbClr val="E1F3EF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ECAPA-TDNN</a:t>
            </a: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圆角矩形 43"/>
              <p:cNvSpPr/>
              <p:nvPr/>
            </p:nvSpPr>
            <p:spPr>
              <a:xfrm>
                <a:off x="10889615" y="6336030"/>
                <a:ext cx="1106170" cy="275590"/>
              </a:xfrm>
              <a:prstGeom prst="roundRect">
                <a:avLst>
                  <a:gd name="adj" fmla="val 6477"/>
                </a:avLst>
              </a:prstGeom>
              <a:solidFill>
                <a:srgbClr val="FFF0DA"/>
              </a:solidFill>
              <a:ln w="12700" cmpd="sng">
                <a:solidFill>
                  <a:schemeClr val="accent1">
                    <a:shade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000" b="1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Learned Gate </a:t>
                </a:r>
                <a14:m>
                  <m:oMath xmlns:m="http://schemas.openxmlformats.org/officeDocument/2006/math">
                    <m:r>
                      <a:rPr lang="en-US" altLang="zh-CN" sz="1000" b="1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𝒈</m:t>
                    </m:r>
                  </m:oMath>
                </a14:m>
                <a:endParaRPr lang="en-US" altLang="zh-CN" sz="1000" b="1" i="1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44" name="圆角矩形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9615" y="6336030"/>
                <a:ext cx="1106170" cy="275590"/>
              </a:xfrm>
              <a:prstGeom prst="roundRect">
                <a:avLst>
                  <a:gd name="adj" fmla="val 6477"/>
                </a:avLst>
              </a:prstGeom>
              <a:blipFill rotWithShape="1">
                <a:blip r:embed="rId17"/>
                <a:stretch>
                  <a:fillRect l="-574" t="-2304" r="-574" b="-2304"/>
                </a:stretch>
              </a:blipFill>
              <a:ln w="12700" cmpd="sng">
                <a:solidFill>
                  <a:schemeClr val="accent1">
                    <a:shade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组合 52"/>
          <p:cNvGrpSpPr/>
          <p:nvPr/>
        </p:nvGrpSpPr>
        <p:grpSpPr>
          <a:xfrm>
            <a:off x="9892030" y="5969000"/>
            <a:ext cx="828675" cy="694369"/>
            <a:chOff x="15870" y="8840"/>
            <a:chExt cx="864" cy="774"/>
          </a:xfrm>
        </p:grpSpPr>
        <p:pic>
          <p:nvPicPr>
            <p:cNvPr id="64" name="图片 63" descr="dfc0eb08-8648-49bc-b9e7-1b32206086d8"/>
            <p:cNvPicPr>
              <a:picLocks noChangeAspect="1"/>
            </p:cNvPicPr>
            <p:nvPr/>
          </p:nvPicPr>
          <p:blipFill>
            <a:blip r:embed="rId16"/>
            <a:srcRect l="32333" t="21704" r="31852" b="17685"/>
            <a:stretch>
              <a:fillRect/>
            </a:stretch>
          </p:blipFill>
          <p:spPr>
            <a:xfrm>
              <a:off x="16181" y="9125"/>
              <a:ext cx="288" cy="489"/>
            </a:xfrm>
            <a:prstGeom prst="rect">
              <a:avLst/>
            </a:prstGeom>
          </p:spPr>
        </p:pic>
        <p:sp>
          <p:nvSpPr>
            <p:cNvPr id="79" name="文本框 78"/>
            <p:cNvSpPr txBox="1"/>
            <p:nvPr/>
          </p:nvSpPr>
          <p:spPr>
            <a:xfrm>
              <a:off x="15870" y="8840"/>
              <a:ext cx="864" cy="2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algn="ctr">
                <a:buClrTx/>
                <a:buSzTx/>
                <a:buNone/>
              </a:pPr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  Speaker 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>
                <a:buClrTx/>
                <a:buSzTx/>
                <a:buNone/>
              </a:pPr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Classifier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13" name="组合 112"/>
          <p:cNvGrpSpPr/>
          <p:nvPr/>
        </p:nvGrpSpPr>
        <p:grpSpPr>
          <a:xfrm>
            <a:off x="8608060" y="6090285"/>
            <a:ext cx="1158240" cy="572770"/>
            <a:chOff x="17067" y="9456"/>
            <a:chExt cx="1824" cy="902"/>
          </a:xfrm>
        </p:grpSpPr>
        <p:pic>
          <p:nvPicPr>
            <p:cNvPr id="89" name="图片 88" descr="60eb5109-f9d3-43b6-ab4a-76e0ec37e330"/>
            <p:cNvPicPr>
              <a:picLocks noChangeAspect="1"/>
            </p:cNvPicPr>
            <p:nvPr/>
          </p:nvPicPr>
          <p:blipFill>
            <a:blip r:embed="rId18"/>
            <a:srcRect l="20704" t="22074" r="20435" b="23407"/>
            <a:stretch>
              <a:fillRect/>
            </a:stretch>
          </p:blipFill>
          <p:spPr>
            <a:xfrm>
              <a:off x="17918" y="9456"/>
              <a:ext cx="973" cy="902"/>
            </a:xfrm>
            <a:prstGeom prst="rect">
              <a:avLst/>
            </a:prstGeom>
          </p:spPr>
        </p:pic>
        <p:sp>
          <p:nvSpPr>
            <p:cNvPr id="93" name="文本框 92"/>
            <p:cNvSpPr txBox="1"/>
            <p:nvPr/>
          </p:nvSpPr>
          <p:spPr>
            <a:xfrm>
              <a:off x="17067" y="9927"/>
              <a:ext cx="892" cy="3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algn="ctr">
                <a:buClrTx/>
                <a:buSzTx/>
                <a:buNone/>
              </a:pPr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Predicted Speaker ID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0" name="圆角矩形 9"/>
          <p:cNvSpPr/>
          <p:nvPr/>
        </p:nvSpPr>
        <p:spPr>
          <a:xfrm>
            <a:off x="219075" y="4271645"/>
            <a:ext cx="5901690" cy="278130"/>
          </a:xfrm>
          <a:prstGeom prst="roundRect">
            <a:avLst>
              <a:gd name="adj" fmla="val 1883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6 Adversarial Training and Channel-Aware Fine-Tuning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06" name="组合 205"/>
          <p:cNvGrpSpPr/>
          <p:nvPr/>
        </p:nvGrpSpPr>
        <p:grpSpPr>
          <a:xfrm>
            <a:off x="8589645" y="4675959"/>
            <a:ext cx="1403626" cy="642302"/>
            <a:chOff x="13714" y="7966"/>
            <a:chExt cx="1206" cy="833"/>
          </a:xfrm>
        </p:grpSpPr>
        <p:grpSp>
          <p:nvGrpSpPr>
            <p:cNvPr id="8" name="组合 7"/>
            <p:cNvGrpSpPr/>
            <p:nvPr/>
          </p:nvGrpSpPr>
          <p:grpSpPr>
            <a:xfrm>
              <a:off x="13714" y="7966"/>
              <a:ext cx="712" cy="833"/>
              <a:chOff x="13781" y="8468"/>
              <a:chExt cx="951" cy="1027"/>
            </a:xfrm>
          </p:grpSpPr>
          <p:pic>
            <p:nvPicPr>
              <p:cNvPr id="192" name="图片 191" descr="d7194677-731e-404a-8019-7c4bca95c540"/>
              <p:cNvPicPr>
                <a:picLocks noChangeAspect="1"/>
              </p:cNvPicPr>
              <p:nvPr/>
            </p:nvPicPr>
            <p:blipFill>
              <a:blip r:embed="rId3"/>
              <a:srcRect l="21924" t="19179" r="36166" b="15168"/>
              <a:stretch>
                <a:fillRect/>
              </a:stretch>
            </p:blipFill>
            <p:spPr>
              <a:xfrm>
                <a:off x="13962" y="8699"/>
                <a:ext cx="770" cy="797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" name="文本框 1"/>
                  <p:cNvSpPr txBox="1"/>
                  <p:nvPr/>
                </p:nvSpPr>
                <p:spPr>
                  <a:xfrm>
                    <a:off x="14004" y="8468"/>
                    <a:ext cx="207" cy="2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 anchorCtr="1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2" name="文本框 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004" y="8468"/>
                    <a:ext cx="207" cy="265"/>
                  </a:xfrm>
                  <a:prstGeom prst="rect">
                    <a:avLst/>
                  </a:prstGeom>
                  <a:blipFill rotWithShape="1">
                    <a:blip r:embed="rId19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" name="文本框 2"/>
                  <p:cNvSpPr txBox="1"/>
                  <p:nvPr/>
                </p:nvSpPr>
                <p:spPr>
                  <a:xfrm>
                    <a:off x="14244" y="8468"/>
                    <a:ext cx="207" cy="2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 anchorCtr="1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3" name="文本框 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244" y="8468"/>
                    <a:ext cx="207" cy="265"/>
                  </a:xfrm>
                  <a:prstGeom prst="rect">
                    <a:avLst/>
                  </a:prstGeom>
                  <a:blipFill rotWithShape="1">
                    <a:blip r:embed="rId2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" name="文本框 3"/>
                  <p:cNvSpPr txBox="1"/>
                  <p:nvPr/>
                </p:nvSpPr>
                <p:spPr>
                  <a:xfrm>
                    <a:off x="14500" y="8468"/>
                    <a:ext cx="207" cy="2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 anchorCtr="1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4" name="文本框 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00" y="8468"/>
                    <a:ext cx="207" cy="265"/>
                  </a:xfrm>
                  <a:prstGeom prst="rect">
                    <a:avLst/>
                  </a:prstGeom>
                  <a:blipFill rotWithShape="1">
                    <a:blip r:embed="rId2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" name="文本框 4"/>
                  <p:cNvSpPr txBox="1"/>
                  <p:nvPr/>
                </p:nvSpPr>
                <p:spPr>
                  <a:xfrm>
                    <a:off x="13781" y="8713"/>
                    <a:ext cx="207" cy="2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 anchorCtr="1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5" name="文本框 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781" y="8713"/>
                    <a:ext cx="207" cy="265"/>
                  </a:xfrm>
                  <a:prstGeom prst="rect">
                    <a:avLst/>
                  </a:prstGeom>
                  <a:blipFill rotWithShape="1">
                    <a:blip r:embed="rId19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" name="文本框 5"/>
                  <p:cNvSpPr txBox="1"/>
                  <p:nvPr/>
                </p:nvSpPr>
                <p:spPr>
                  <a:xfrm>
                    <a:off x="13781" y="8962"/>
                    <a:ext cx="207" cy="2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 anchorCtr="1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6" name="文本框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781" y="8962"/>
                    <a:ext cx="207" cy="265"/>
                  </a:xfrm>
                  <a:prstGeom prst="rect">
                    <a:avLst/>
                  </a:prstGeom>
                  <a:blipFill rotWithShape="1">
                    <a:blip r:embed="rId2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" name="文本框 6"/>
                  <p:cNvSpPr txBox="1"/>
                  <p:nvPr/>
                </p:nvSpPr>
                <p:spPr>
                  <a:xfrm>
                    <a:off x="13781" y="9227"/>
                    <a:ext cx="207" cy="2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 anchorCtr="1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7" name="文本框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781" y="9227"/>
                    <a:ext cx="207" cy="265"/>
                  </a:xfrm>
                  <a:prstGeom prst="rect">
                    <a:avLst/>
                  </a:prstGeom>
                  <a:blipFill rotWithShape="1">
                    <a:blip r:embed="rId2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05" name="文本框 204"/>
            <p:cNvSpPr txBox="1"/>
            <p:nvPr/>
          </p:nvSpPr>
          <p:spPr>
            <a:xfrm>
              <a:off x="14325" y="8348"/>
              <a:ext cx="595" cy="21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p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indices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07" name="圆角矩形 206"/>
          <p:cNvSpPr/>
          <p:nvPr/>
        </p:nvSpPr>
        <p:spPr>
          <a:xfrm>
            <a:off x="10466705" y="5450205"/>
            <a:ext cx="711835" cy="351155"/>
          </a:xfrm>
          <a:prstGeom prst="roundRect">
            <a:avLst>
              <a:gd name="adj" fmla="val 6477"/>
            </a:avLst>
          </a:prstGeom>
          <a:solidFill>
            <a:srgbClr val="E1F3EF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0" rIns="0" bIns="0" numCol="1" spcCol="0" rtlCol="0" fromWordArt="0" anchor="ctr" anchorCtr="1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Trainable </a:t>
            </a:r>
            <a:br>
              <a:rPr lang="en-US" altLang="zh-CN" sz="1000" b="1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Projection</a:t>
            </a: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218" name="直接箭头连接符 217"/>
          <p:cNvCxnSpPr/>
          <p:nvPr/>
        </p:nvCxnSpPr>
        <p:spPr>
          <a:xfrm flipH="1">
            <a:off x="10551160" y="6512560"/>
            <a:ext cx="245745" cy="5080"/>
          </a:xfrm>
          <a:prstGeom prst="straightConnector1">
            <a:avLst/>
          </a:prstGeom>
          <a:ln w="25400">
            <a:solidFill>
              <a:srgbClr val="D79539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9" name="直接箭头连接符 218"/>
          <p:cNvCxnSpPr/>
          <p:nvPr/>
        </p:nvCxnSpPr>
        <p:spPr>
          <a:xfrm flipH="1">
            <a:off x="9789795" y="6512560"/>
            <a:ext cx="211455" cy="508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3" name="右箭头 242"/>
          <p:cNvSpPr/>
          <p:nvPr/>
        </p:nvSpPr>
        <p:spPr>
          <a:xfrm>
            <a:off x="1264920" y="788487"/>
            <a:ext cx="112395" cy="611505"/>
          </a:xfrm>
          <a:prstGeom prst="rightArrow">
            <a:avLst/>
          </a:prstGeom>
          <a:gradFill>
            <a:gsLst>
              <a:gs pos="75000">
                <a:schemeClr val="accent1">
                  <a:lumMod val="20000"/>
                  <a:lumOff val="8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4" name="右箭头 243"/>
          <p:cNvSpPr/>
          <p:nvPr/>
        </p:nvSpPr>
        <p:spPr>
          <a:xfrm>
            <a:off x="2623185" y="788487"/>
            <a:ext cx="126365" cy="611505"/>
          </a:xfrm>
          <a:prstGeom prst="rightArrow">
            <a:avLst/>
          </a:prstGeom>
          <a:gradFill>
            <a:gsLst>
              <a:gs pos="75000">
                <a:schemeClr val="accent1">
                  <a:lumMod val="20000"/>
                  <a:lumOff val="8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7" name="圆角矩形 246"/>
          <p:cNvSpPr/>
          <p:nvPr/>
        </p:nvSpPr>
        <p:spPr>
          <a:xfrm>
            <a:off x="8796655" y="4272280"/>
            <a:ext cx="2955925" cy="312420"/>
          </a:xfrm>
          <a:prstGeom prst="roundRect">
            <a:avLst>
              <a:gd name="adj" fmla="val 1883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1"/>
          <a:p>
            <a:pPr algn="ctr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7 Speaker Classification 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7" name="圆角矩形 256"/>
          <p:cNvSpPr/>
          <p:nvPr/>
        </p:nvSpPr>
        <p:spPr>
          <a:xfrm>
            <a:off x="6256655" y="165735"/>
            <a:ext cx="5842000" cy="1795145"/>
          </a:xfrm>
          <a:prstGeom prst="roundRect">
            <a:avLst>
              <a:gd name="adj" fmla="val 188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8" name="圆角矩形 257"/>
          <p:cNvSpPr/>
          <p:nvPr/>
        </p:nvSpPr>
        <p:spPr>
          <a:xfrm>
            <a:off x="6886575" y="57785"/>
            <a:ext cx="4582160" cy="275590"/>
          </a:xfrm>
          <a:prstGeom prst="roundRect">
            <a:avLst>
              <a:gd name="adj" fmla="val 1883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2 Speech Encoding and Three-Layer RVQ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9" name="右箭头 258"/>
          <p:cNvSpPr/>
          <p:nvPr/>
        </p:nvSpPr>
        <p:spPr>
          <a:xfrm>
            <a:off x="3949065" y="788487"/>
            <a:ext cx="126365" cy="611505"/>
          </a:xfrm>
          <a:prstGeom prst="rightArrow">
            <a:avLst/>
          </a:prstGeom>
          <a:gradFill>
            <a:gsLst>
              <a:gs pos="75000">
                <a:schemeClr val="accent1">
                  <a:lumMod val="20000"/>
                  <a:lumOff val="8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0" name="右箭头 259"/>
          <p:cNvSpPr/>
          <p:nvPr/>
        </p:nvSpPr>
        <p:spPr>
          <a:xfrm>
            <a:off x="5062855" y="788487"/>
            <a:ext cx="126365" cy="611505"/>
          </a:xfrm>
          <a:prstGeom prst="rightArrow">
            <a:avLst/>
          </a:prstGeom>
          <a:gradFill>
            <a:gsLst>
              <a:gs pos="75000">
                <a:schemeClr val="accent1">
                  <a:lumMod val="20000"/>
                  <a:lumOff val="8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61" name="组合 260"/>
          <p:cNvGrpSpPr/>
          <p:nvPr/>
        </p:nvGrpSpPr>
        <p:grpSpPr>
          <a:xfrm>
            <a:off x="6256655" y="580390"/>
            <a:ext cx="777240" cy="1380490"/>
            <a:chOff x="224" y="4438"/>
            <a:chExt cx="1224" cy="2174"/>
          </a:xfrm>
        </p:grpSpPr>
        <p:pic>
          <p:nvPicPr>
            <p:cNvPr id="262" name="图片 261" descr="cc1ebeea-71a4-433c-afac-5d7c93ec5479"/>
            <p:cNvPicPr>
              <a:picLocks noChangeAspect="1"/>
            </p:cNvPicPr>
            <p:nvPr/>
          </p:nvPicPr>
          <p:blipFill>
            <a:blip r:embed="rId2"/>
            <a:srcRect l="1760" t="52437" r="86365" b="7984"/>
            <a:stretch>
              <a:fillRect/>
            </a:stretch>
          </p:blipFill>
          <p:spPr>
            <a:xfrm>
              <a:off x="224" y="4438"/>
              <a:ext cx="1224" cy="1360"/>
            </a:xfrm>
            <a:prstGeom prst="rect">
              <a:avLst/>
            </a:prstGeom>
          </p:spPr>
        </p:pic>
        <p:sp>
          <p:nvSpPr>
            <p:cNvPr id="263" name="文本框 262"/>
            <p:cNvSpPr txBox="1"/>
            <p:nvPr/>
          </p:nvSpPr>
          <p:spPr>
            <a:xfrm>
              <a:off x="224" y="5846"/>
              <a:ext cx="1200" cy="766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16k Hz </a:t>
              </a:r>
              <a:b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</a:br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Input Speech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66" name="文本框 265"/>
          <p:cNvSpPr txBox="1"/>
          <p:nvPr/>
        </p:nvSpPr>
        <p:spPr>
          <a:xfrm>
            <a:off x="7149465" y="1474470"/>
            <a:ext cx="828675" cy="48641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SEANet Encoder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67" name="组合 266"/>
          <p:cNvGrpSpPr/>
          <p:nvPr/>
        </p:nvGrpSpPr>
        <p:grpSpPr>
          <a:xfrm>
            <a:off x="8093710" y="534670"/>
            <a:ext cx="922020" cy="1426210"/>
            <a:chOff x="3162" y="4402"/>
            <a:chExt cx="1452" cy="2246"/>
          </a:xfrm>
        </p:grpSpPr>
        <p:pic>
          <p:nvPicPr>
            <p:cNvPr id="268" name="图片 267" descr="cc1ebeea-71a4-433c-afac-5d7c93ec5479"/>
            <p:cNvPicPr>
              <a:picLocks noChangeAspect="1"/>
            </p:cNvPicPr>
            <p:nvPr/>
          </p:nvPicPr>
          <p:blipFill>
            <a:blip r:embed="rId2"/>
            <a:srcRect l="30167" t="53989" r="58375" b="4429"/>
            <a:stretch>
              <a:fillRect/>
            </a:stretch>
          </p:blipFill>
          <p:spPr>
            <a:xfrm>
              <a:off x="3162" y="4402"/>
              <a:ext cx="1452" cy="1480"/>
            </a:xfrm>
            <a:prstGeom prst="rect">
              <a:avLst/>
            </a:prstGeom>
          </p:spPr>
        </p:pic>
        <p:sp>
          <p:nvSpPr>
            <p:cNvPr id="269" name="文本框 268"/>
            <p:cNvSpPr txBox="1"/>
            <p:nvPr/>
          </p:nvSpPr>
          <p:spPr>
            <a:xfrm>
              <a:off x="3162" y="5882"/>
              <a:ext cx="1387" cy="766"/>
            </a:xfrm>
            <a:prstGeom prst="rect">
              <a:avLst/>
            </a:prstGeom>
            <a:noFill/>
          </p:spPr>
          <p:txBody>
            <a:bodyPr wrap="square" lIns="0" rIns="0" rtlCol="0" anchor="ctr" anchorCtr="1">
              <a:noAutofit/>
            </a:bodyPr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Continuous Latent z</a:t>
              </a:r>
              <a:b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</a:br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50 HZ,d=1024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84" name="右箭头 283"/>
          <p:cNvSpPr/>
          <p:nvPr/>
        </p:nvSpPr>
        <p:spPr>
          <a:xfrm>
            <a:off x="6967220" y="1120140"/>
            <a:ext cx="120015" cy="323850"/>
          </a:xfrm>
          <a:prstGeom prst="rightArrow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5" name="右箭头 284"/>
          <p:cNvSpPr/>
          <p:nvPr/>
        </p:nvSpPr>
        <p:spPr>
          <a:xfrm>
            <a:off x="7943850" y="1154430"/>
            <a:ext cx="120015" cy="323850"/>
          </a:xfrm>
          <a:prstGeom prst="rightArrow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6" name="右箭头 285"/>
          <p:cNvSpPr/>
          <p:nvPr/>
        </p:nvSpPr>
        <p:spPr>
          <a:xfrm>
            <a:off x="9054465" y="1144905"/>
            <a:ext cx="120015" cy="323850"/>
          </a:xfrm>
          <a:prstGeom prst="rightArrow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7" name="右箭头 286"/>
          <p:cNvSpPr/>
          <p:nvPr/>
        </p:nvSpPr>
        <p:spPr>
          <a:xfrm>
            <a:off x="1355725" y="2659380"/>
            <a:ext cx="246380" cy="611505"/>
          </a:xfrm>
          <a:prstGeom prst="rightArrow">
            <a:avLst/>
          </a:prstGeom>
          <a:gradFill>
            <a:gsLst>
              <a:gs pos="75000">
                <a:schemeClr val="accent1">
                  <a:lumMod val="20000"/>
                  <a:lumOff val="8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8" name="右箭头 287"/>
          <p:cNvSpPr/>
          <p:nvPr/>
        </p:nvSpPr>
        <p:spPr>
          <a:xfrm>
            <a:off x="2814320" y="2588260"/>
            <a:ext cx="270510" cy="611505"/>
          </a:xfrm>
          <a:prstGeom prst="rightArrow">
            <a:avLst/>
          </a:prstGeom>
          <a:gradFill>
            <a:gsLst>
              <a:gs pos="75000">
                <a:schemeClr val="accent1">
                  <a:lumMod val="20000"/>
                  <a:lumOff val="8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9" name="文本框 288"/>
              <p:cNvSpPr txBox="1"/>
              <p:nvPr/>
            </p:nvSpPr>
            <p:spPr>
              <a:xfrm>
                <a:off x="6319520" y="3088005"/>
                <a:ext cx="236855" cy="182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289" name="文本框 2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520" y="3088005"/>
                <a:ext cx="236855" cy="182880"/>
              </a:xfrm>
              <a:prstGeom prst="rect">
                <a:avLst/>
              </a:prstGeom>
              <a:blipFill rotWithShape="1">
                <a:blip r:embed="rId22"/>
                <a:stretch>
                  <a:fillRect b="-2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0" name="文本框 289"/>
              <p:cNvSpPr txBox="1"/>
              <p:nvPr/>
            </p:nvSpPr>
            <p:spPr>
              <a:xfrm>
                <a:off x="6319520" y="3359785"/>
                <a:ext cx="236855" cy="182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290" name="文本框 2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520" y="3359785"/>
                <a:ext cx="236855" cy="182880"/>
              </a:xfrm>
              <a:prstGeom prst="rect">
                <a:avLst/>
              </a:prstGeom>
              <a:blipFill rotWithShape="1">
                <a:blip r:embed="rId23"/>
                <a:stretch>
                  <a:fillRect b="-2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4" name="图片 293" descr="2700e02a-2252-4111-99bd-e5ef509f3aa3"/>
          <p:cNvPicPr>
            <a:picLocks noChangeAspect="1"/>
          </p:cNvPicPr>
          <p:nvPr/>
        </p:nvPicPr>
        <p:blipFill>
          <a:blip r:embed="rId24"/>
          <a:srcRect l="6694" t="5593" r="6481" b="7611"/>
          <a:stretch>
            <a:fillRect/>
          </a:stretch>
        </p:blipFill>
        <p:spPr>
          <a:xfrm>
            <a:off x="9239885" y="550545"/>
            <a:ext cx="893445" cy="89344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95" name="文本框 294"/>
              <p:cNvSpPr txBox="1"/>
              <p:nvPr/>
            </p:nvSpPr>
            <p:spPr>
              <a:xfrm>
                <a:off x="9272905" y="1524635"/>
                <a:ext cx="828675" cy="3048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000" b="1">
                    <a:latin typeface="Times New Roman" panose="02020603050405020304" charset="0"/>
                    <a:cs typeface="Times New Roman" panose="02020603050405020304" charset="0"/>
                  </a:rPr>
                  <a:t>Code Books</a:t>
                </a:r>
                <a:br>
                  <a:rPr lang="en-US" altLang="zh-CN" sz="1000" b="1">
                    <a:latin typeface="Times New Roman" panose="02020603050405020304" charset="0"/>
                    <a:cs typeface="Times New Roman" panose="0202060305040502030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000" b="1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000" b="1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10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95" name="文本框 2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905" y="1524635"/>
                <a:ext cx="828675" cy="304800"/>
              </a:xfrm>
              <a:prstGeom prst="rect">
                <a:avLst/>
              </a:prstGeom>
              <a:blipFill rotWithShape="1">
                <a:blip r:embed="rId2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9" name="组合 348"/>
          <p:cNvGrpSpPr/>
          <p:nvPr/>
        </p:nvGrpSpPr>
        <p:grpSpPr>
          <a:xfrm>
            <a:off x="11043285" y="1257935"/>
            <a:ext cx="669290" cy="394335"/>
            <a:chOff x="17234" y="2199"/>
            <a:chExt cx="1479" cy="784"/>
          </a:xfrm>
        </p:grpSpPr>
        <p:pic>
          <p:nvPicPr>
            <p:cNvPr id="94" name="图片 93" descr="c8f1a6ca-b578-483a-865a-ce4a1dbec616"/>
            <p:cNvPicPr>
              <a:picLocks noChangeAspect="1"/>
            </p:cNvPicPr>
            <p:nvPr/>
          </p:nvPicPr>
          <p:blipFill>
            <a:blip r:embed="rId26"/>
            <a:srcRect l="14519" t="15157" r="12815" b="13583"/>
            <a:stretch>
              <a:fillRect/>
            </a:stretch>
          </p:blipFill>
          <p:spPr>
            <a:xfrm>
              <a:off x="17234" y="2199"/>
              <a:ext cx="753" cy="451"/>
            </a:xfrm>
            <a:prstGeom prst="rect">
              <a:avLst/>
            </a:prstGeom>
          </p:spPr>
        </p:pic>
        <p:pic>
          <p:nvPicPr>
            <p:cNvPr id="95" name="图片 94" descr="7862e301-edaf-4de6-9dfa-2ad5d7503949"/>
            <p:cNvPicPr>
              <a:picLocks noChangeAspect="1"/>
            </p:cNvPicPr>
            <p:nvPr/>
          </p:nvPicPr>
          <p:blipFill>
            <a:blip r:embed="rId27"/>
            <a:srcRect l="13676" t="14167" r="13296" b="12065"/>
            <a:stretch>
              <a:fillRect/>
            </a:stretch>
          </p:blipFill>
          <p:spPr>
            <a:xfrm>
              <a:off x="17959" y="2274"/>
              <a:ext cx="755" cy="466"/>
            </a:xfrm>
            <a:prstGeom prst="rect">
              <a:avLst/>
            </a:prstGeom>
          </p:spPr>
        </p:pic>
        <p:pic>
          <p:nvPicPr>
            <p:cNvPr id="299" name="图片 298" descr="bd4ac1a9-6e21-4e47-99b4-9574fba68f2d"/>
            <p:cNvPicPr>
              <a:picLocks noChangeAspect="1"/>
            </p:cNvPicPr>
            <p:nvPr/>
          </p:nvPicPr>
          <p:blipFill>
            <a:blip r:embed="rId28"/>
            <a:srcRect l="11750" t="15815" r="11972" b="12991"/>
            <a:stretch>
              <a:fillRect/>
            </a:stretch>
          </p:blipFill>
          <p:spPr>
            <a:xfrm>
              <a:off x="17677" y="2553"/>
              <a:ext cx="753" cy="430"/>
            </a:xfrm>
            <a:prstGeom prst="rect">
              <a:avLst/>
            </a:prstGeom>
          </p:spPr>
        </p:pic>
      </p:grpSp>
      <p:pic>
        <p:nvPicPr>
          <p:cNvPr id="306" name="图片 305" descr="3b334145-41a7-4c9b-bb17-8b819ee7ef53"/>
          <p:cNvPicPr>
            <a:picLocks noChangeAspect="1"/>
          </p:cNvPicPr>
          <p:nvPr/>
        </p:nvPicPr>
        <p:blipFill>
          <a:blip r:embed="rId29"/>
          <a:srcRect l="11194" t="5046" r="7185" b="3593"/>
          <a:stretch>
            <a:fillRect/>
          </a:stretch>
        </p:blipFill>
        <p:spPr>
          <a:xfrm>
            <a:off x="5287010" y="530225"/>
            <a:ext cx="713740" cy="799465"/>
          </a:xfrm>
          <a:prstGeom prst="rect">
            <a:avLst/>
          </a:prstGeom>
        </p:spPr>
      </p:pic>
      <p:pic>
        <p:nvPicPr>
          <p:cNvPr id="307" name="图片 306" descr="a4a9d313-01bf-4d7c-9e36-8fd7c5cceb9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132320" y="2375535"/>
            <a:ext cx="503555" cy="503555"/>
          </a:xfrm>
          <a:prstGeom prst="rect">
            <a:avLst/>
          </a:prstGeom>
        </p:spPr>
      </p:pic>
      <p:pic>
        <p:nvPicPr>
          <p:cNvPr id="308" name="图片 307" descr="bd3cc964-27fc-4d77-8316-c93172e7d5ee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132320" y="3432175"/>
            <a:ext cx="504190" cy="503555"/>
          </a:xfrm>
          <a:prstGeom prst="rect">
            <a:avLst/>
          </a:prstGeom>
        </p:spPr>
      </p:pic>
      <p:pic>
        <p:nvPicPr>
          <p:cNvPr id="309" name="图片 308" descr="7b55b00a-a0c9-4a0d-a228-f80952194deb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132320" y="2903855"/>
            <a:ext cx="503555" cy="503555"/>
          </a:xfrm>
          <a:prstGeom prst="rect">
            <a:avLst/>
          </a:prstGeom>
        </p:spPr>
      </p:pic>
      <p:pic>
        <p:nvPicPr>
          <p:cNvPr id="310" name="图片 309" descr="c8f1a6ca-b578-483a-865a-ce4a1dbec616"/>
          <p:cNvPicPr>
            <a:picLocks noChangeAspect="1"/>
          </p:cNvPicPr>
          <p:nvPr/>
        </p:nvPicPr>
        <p:blipFill>
          <a:blip r:embed="rId26"/>
          <a:srcRect l="14519" t="15157" r="12815" b="13583"/>
          <a:stretch>
            <a:fillRect/>
          </a:stretch>
        </p:blipFill>
        <p:spPr>
          <a:xfrm>
            <a:off x="7967345" y="2465388"/>
            <a:ext cx="540385" cy="323850"/>
          </a:xfrm>
          <a:prstGeom prst="rect">
            <a:avLst/>
          </a:prstGeom>
        </p:spPr>
      </p:pic>
      <p:pic>
        <p:nvPicPr>
          <p:cNvPr id="311" name="图片 310" descr="7862e301-edaf-4de6-9dfa-2ad5d7503949"/>
          <p:cNvPicPr>
            <a:picLocks noChangeAspect="1"/>
          </p:cNvPicPr>
          <p:nvPr/>
        </p:nvPicPr>
        <p:blipFill>
          <a:blip r:embed="rId27"/>
          <a:srcRect l="13676" t="14167" r="13296" b="12065"/>
          <a:stretch>
            <a:fillRect/>
          </a:stretch>
        </p:blipFill>
        <p:spPr>
          <a:xfrm>
            <a:off x="7960360" y="3035935"/>
            <a:ext cx="540385" cy="3333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12" name="文本框 311"/>
              <p:cNvSpPr txBox="1"/>
              <p:nvPr/>
            </p:nvSpPr>
            <p:spPr>
              <a:xfrm>
                <a:off x="8123555" y="2366010"/>
                <a:ext cx="384175" cy="2222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312" name="文本框 3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555" y="2366010"/>
                <a:ext cx="384175" cy="222250"/>
              </a:xfrm>
              <a:prstGeom prst="rect">
                <a:avLst/>
              </a:prstGeom>
              <a:blipFill rotWithShape="1">
                <a:blip r:embed="rId33"/>
                <a:stretch>
                  <a:fillRect b="-18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3" name="文本框 312"/>
              <p:cNvSpPr txBox="1"/>
              <p:nvPr/>
            </p:nvSpPr>
            <p:spPr>
              <a:xfrm>
                <a:off x="8093710" y="2865755"/>
                <a:ext cx="384175" cy="2222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313" name="文本框 3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3710" y="2865755"/>
                <a:ext cx="384175" cy="222250"/>
              </a:xfrm>
              <a:prstGeom prst="rect">
                <a:avLst/>
              </a:prstGeom>
              <a:blipFill rotWithShape="1">
                <a:blip r:embed="rId34"/>
                <a:stretch>
                  <a:fillRect b="-18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4" name="图片 313" descr="bd4ac1a9-6e21-4e47-99b4-9574fba68f2d"/>
          <p:cNvPicPr>
            <a:picLocks noChangeAspect="1"/>
          </p:cNvPicPr>
          <p:nvPr/>
        </p:nvPicPr>
        <p:blipFill>
          <a:blip r:embed="rId28"/>
          <a:srcRect l="11750" t="15815" r="11972" b="12991"/>
          <a:stretch>
            <a:fillRect/>
          </a:stretch>
        </p:blipFill>
        <p:spPr>
          <a:xfrm>
            <a:off x="7967345" y="3532823"/>
            <a:ext cx="528955" cy="3022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15" name="文本框 314"/>
              <p:cNvSpPr txBox="1"/>
              <p:nvPr/>
            </p:nvSpPr>
            <p:spPr>
              <a:xfrm>
                <a:off x="8093710" y="3425825"/>
                <a:ext cx="384175" cy="2222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315" name="文本框 3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3710" y="3425825"/>
                <a:ext cx="384175" cy="222250"/>
              </a:xfrm>
              <a:prstGeom prst="rect">
                <a:avLst/>
              </a:prstGeom>
              <a:blipFill rotWithShape="1">
                <a:blip r:embed="rId35"/>
                <a:stretch>
                  <a:fillRect b="-18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7" name="图片 316" descr="dc050bba-d4ad-48da-89b4-f344745e7686"/>
          <p:cNvPicPr>
            <a:picLocks noChangeAspect="1"/>
          </p:cNvPicPr>
          <p:nvPr/>
        </p:nvPicPr>
        <p:blipFill>
          <a:blip r:embed="rId36"/>
          <a:srcRect l="9241" t="9019" r="8935" b="10611"/>
          <a:stretch>
            <a:fillRect/>
          </a:stretch>
        </p:blipFill>
        <p:spPr>
          <a:xfrm>
            <a:off x="8796655" y="2949575"/>
            <a:ext cx="410845" cy="404495"/>
          </a:xfrm>
          <a:prstGeom prst="rect">
            <a:avLst/>
          </a:prstGeom>
        </p:spPr>
      </p:pic>
      <p:pic>
        <p:nvPicPr>
          <p:cNvPr id="319" name="图片 318" descr="da533246-d97b-4bf7-a9b6-245cfd0fcf38"/>
          <p:cNvPicPr>
            <a:picLocks noChangeAspect="1"/>
          </p:cNvPicPr>
          <p:nvPr/>
        </p:nvPicPr>
        <p:blipFill>
          <a:blip r:embed="rId37"/>
          <a:srcRect l="12863" t="6431" r="9139" b="7640"/>
          <a:stretch>
            <a:fillRect/>
          </a:stretch>
        </p:blipFill>
        <p:spPr>
          <a:xfrm>
            <a:off x="10109200" y="2588260"/>
            <a:ext cx="1024255" cy="1128395"/>
          </a:xfrm>
          <a:prstGeom prst="rect">
            <a:avLst/>
          </a:prstGeom>
        </p:spPr>
      </p:pic>
      <p:pic>
        <p:nvPicPr>
          <p:cNvPr id="320" name="图片 319" descr="cc1ebeea-71a4-433c-afac-5d7c93ec5479"/>
          <p:cNvPicPr>
            <a:picLocks noChangeAspect="1"/>
          </p:cNvPicPr>
          <p:nvPr/>
        </p:nvPicPr>
        <p:blipFill>
          <a:blip r:embed="rId2"/>
          <a:srcRect l="1760" t="52437" r="86365" b="7984"/>
          <a:stretch>
            <a:fillRect/>
          </a:stretch>
        </p:blipFill>
        <p:spPr>
          <a:xfrm>
            <a:off x="11442700" y="2741930"/>
            <a:ext cx="523240" cy="863600"/>
          </a:xfrm>
          <a:prstGeom prst="rect">
            <a:avLst/>
          </a:prstGeom>
        </p:spPr>
      </p:pic>
      <p:pic>
        <p:nvPicPr>
          <p:cNvPr id="321" name="图片 320" descr="cc3b91b1-8189-41d5-9da9-3bfd8725ed8e"/>
          <p:cNvPicPr>
            <a:picLocks noChangeAspect="1"/>
          </p:cNvPicPr>
          <p:nvPr/>
        </p:nvPicPr>
        <p:blipFill>
          <a:blip r:embed="rId38"/>
          <a:srcRect l="28419" t="11889" r="28291" b="11148"/>
          <a:stretch>
            <a:fillRect/>
          </a:stretch>
        </p:blipFill>
        <p:spPr>
          <a:xfrm>
            <a:off x="9437370" y="2680970"/>
            <a:ext cx="362585" cy="928370"/>
          </a:xfrm>
          <a:prstGeom prst="rect">
            <a:avLst/>
          </a:prstGeom>
        </p:spPr>
      </p:pic>
      <p:cxnSp>
        <p:nvCxnSpPr>
          <p:cNvPr id="324" name="肘形连接符 323"/>
          <p:cNvCxnSpPr>
            <a:stCxn id="104" idx="3"/>
            <a:endCxn id="307" idx="1"/>
          </p:cNvCxnSpPr>
          <p:nvPr/>
        </p:nvCxnSpPr>
        <p:spPr>
          <a:xfrm flipV="1">
            <a:off x="6864985" y="2627630"/>
            <a:ext cx="267335" cy="527685"/>
          </a:xfrm>
          <a:prstGeom prst="bentConnector3">
            <a:avLst>
              <a:gd name="adj1" fmla="val 50119"/>
            </a:avLst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5" name="直接箭头连接符 324"/>
          <p:cNvCxnSpPr>
            <a:stCxn id="104" idx="3"/>
            <a:endCxn id="309" idx="1"/>
          </p:cNvCxnSpPr>
          <p:nvPr/>
        </p:nvCxnSpPr>
        <p:spPr>
          <a:xfrm>
            <a:off x="6864985" y="3155315"/>
            <a:ext cx="267335" cy="63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8" name="肘形连接符 327"/>
          <p:cNvCxnSpPr>
            <a:endCxn id="308" idx="1"/>
          </p:cNvCxnSpPr>
          <p:nvPr/>
        </p:nvCxnSpPr>
        <p:spPr>
          <a:xfrm rot="5400000" flipV="1">
            <a:off x="6800850" y="3352800"/>
            <a:ext cx="527685" cy="134620"/>
          </a:xfrm>
          <a:prstGeom prst="bentConnector2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1" name="直接箭头连接符 330"/>
          <p:cNvCxnSpPr/>
          <p:nvPr/>
        </p:nvCxnSpPr>
        <p:spPr>
          <a:xfrm flipV="1">
            <a:off x="7671435" y="3677920"/>
            <a:ext cx="222885" cy="3175"/>
          </a:xfrm>
          <a:prstGeom prst="straightConnector1">
            <a:avLst/>
          </a:prstGeom>
          <a:ln w="28575">
            <a:solidFill>
              <a:srgbClr val="A685F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2" name="直接箭头连接符 331"/>
          <p:cNvCxnSpPr/>
          <p:nvPr/>
        </p:nvCxnSpPr>
        <p:spPr>
          <a:xfrm flipV="1">
            <a:off x="7671435" y="3155315"/>
            <a:ext cx="222885" cy="3175"/>
          </a:xfrm>
          <a:prstGeom prst="straightConnector1">
            <a:avLst/>
          </a:prstGeom>
          <a:ln w="28575">
            <a:solidFill>
              <a:srgbClr val="79E5B2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3" name="直接箭头连接符 332"/>
          <p:cNvCxnSpPr/>
          <p:nvPr/>
        </p:nvCxnSpPr>
        <p:spPr>
          <a:xfrm flipV="1">
            <a:off x="7671435" y="2623185"/>
            <a:ext cx="222885" cy="3175"/>
          </a:xfrm>
          <a:prstGeom prst="straightConnector1">
            <a:avLst/>
          </a:prstGeom>
          <a:ln w="28575">
            <a:solidFill>
              <a:srgbClr val="FDC592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9" name="右箭头 338"/>
          <p:cNvSpPr/>
          <p:nvPr/>
        </p:nvSpPr>
        <p:spPr>
          <a:xfrm>
            <a:off x="9291955" y="2885257"/>
            <a:ext cx="126365" cy="611505"/>
          </a:xfrm>
          <a:prstGeom prst="rightArrow">
            <a:avLst/>
          </a:prstGeom>
          <a:gradFill>
            <a:gsLst>
              <a:gs pos="75000">
                <a:schemeClr val="accent1">
                  <a:lumMod val="20000"/>
                  <a:lumOff val="8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0" name="右箭头 339"/>
          <p:cNvSpPr/>
          <p:nvPr/>
        </p:nvSpPr>
        <p:spPr>
          <a:xfrm>
            <a:off x="9891395" y="2885257"/>
            <a:ext cx="126365" cy="611505"/>
          </a:xfrm>
          <a:prstGeom prst="rightArrow">
            <a:avLst/>
          </a:prstGeom>
          <a:gradFill>
            <a:gsLst>
              <a:gs pos="75000">
                <a:schemeClr val="accent1">
                  <a:lumMod val="20000"/>
                  <a:lumOff val="8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1" name="右箭头 340"/>
          <p:cNvSpPr/>
          <p:nvPr/>
        </p:nvSpPr>
        <p:spPr>
          <a:xfrm>
            <a:off x="11224895" y="2865572"/>
            <a:ext cx="126365" cy="611505"/>
          </a:xfrm>
          <a:prstGeom prst="rightArrow">
            <a:avLst/>
          </a:prstGeom>
          <a:gradFill>
            <a:gsLst>
              <a:gs pos="75000">
                <a:schemeClr val="accent1">
                  <a:lumMod val="20000"/>
                  <a:lumOff val="80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4" name="文本框 343"/>
          <p:cNvSpPr txBox="1"/>
          <p:nvPr/>
        </p:nvSpPr>
        <p:spPr>
          <a:xfrm>
            <a:off x="7894320" y="3883660"/>
            <a:ext cx="878205" cy="21907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p>
            <a:pPr algn="ctr"/>
            <a:endParaRPr lang="en-US" altLang="zh-CN" sz="1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350" name="组合 349"/>
          <p:cNvGrpSpPr/>
          <p:nvPr/>
        </p:nvGrpSpPr>
        <p:grpSpPr>
          <a:xfrm>
            <a:off x="11046460" y="669925"/>
            <a:ext cx="693420" cy="551815"/>
            <a:chOff x="17388" y="488"/>
            <a:chExt cx="1096" cy="1050"/>
          </a:xfrm>
        </p:grpSpPr>
        <p:pic>
          <p:nvPicPr>
            <p:cNvPr id="342" name="图片 341" descr="residual-features-transparent"/>
            <p:cNvPicPr>
              <a:picLocks noChangeAspect="1"/>
            </p:cNvPicPr>
            <p:nvPr/>
          </p:nvPicPr>
          <p:blipFill>
            <a:blip r:embed="rId39"/>
            <a:srcRect l="25778" r="24819" b="64531"/>
            <a:stretch>
              <a:fillRect/>
            </a:stretch>
          </p:blipFill>
          <p:spPr>
            <a:xfrm>
              <a:off x="17388" y="488"/>
              <a:ext cx="632" cy="681"/>
            </a:xfrm>
            <a:prstGeom prst="rect">
              <a:avLst/>
            </a:prstGeom>
          </p:spPr>
        </p:pic>
        <p:pic>
          <p:nvPicPr>
            <p:cNvPr id="345" name="图片 344" descr="residual-features-transparent"/>
            <p:cNvPicPr>
              <a:picLocks noChangeAspect="1"/>
            </p:cNvPicPr>
            <p:nvPr/>
          </p:nvPicPr>
          <p:blipFill>
            <a:blip r:embed="rId39"/>
            <a:srcRect l="26872" t="35677" r="27555" b="32552"/>
            <a:stretch>
              <a:fillRect/>
            </a:stretch>
          </p:blipFill>
          <p:spPr>
            <a:xfrm>
              <a:off x="17902" y="488"/>
              <a:ext cx="583" cy="610"/>
            </a:xfrm>
            <a:prstGeom prst="rect">
              <a:avLst/>
            </a:prstGeom>
          </p:spPr>
        </p:pic>
        <p:pic>
          <p:nvPicPr>
            <p:cNvPr id="346" name="图片 345" descr="residual-features-transparent"/>
            <p:cNvPicPr>
              <a:picLocks noChangeAspect="1"/>
            </p:cNvPicPr>
            <p:nvPr/>
          </p:nvPicPr>
          <p:blipFill>
            <a:blip r:embed="rId39"/>
            <a:srcRect l="26794" t="67448" r="27633" b="1458"/>
            <a:stretch>
              <a:fillRect/>
            </a:stretch>
          </p:blipFill>
          <p:spPr>
            <a:xfrm>
              <a:off x="17670" y="942"/>
              <a:ext cx="583" cy="597"/>
            </a:xfrm>
            <a:prstGeom prst="rect">
              <a:avLst/>
            </a:prstGeom>
          </p:spPr>
        </p:pic>
      </p:grpSp>
      <p:sp>
        <p:nvSpPr>
          <p:cNvPr id="347" name="文本框 346"/>
          <p:cNvSpPr txBox="1"/>
          <p:nvPr/>
        </p:nvSpPr>
        <p:spPr>
          <a:xfrm>
            <a:off x="7798435" y="3883660"/>
            <a:ext cx="1209040" cy="28067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Retrieved Codebook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Vectors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8" name="文本框 347"/>
          <p:cNvSpPr txBox="1"/>
          <p:nvPr/>
        </p:nvSpPr>
        <p:spPr>
          <a:xfrm>
            <a:off x="11133455" y="3856990"/>
            <a:ext cx="1020445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ctr">
              <a:buClrTx/>
              <a:buSzTx/>
              <a:buNone/>
            </a:pPr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Reconstructed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buClrTx/>
              <a:buSzTx/>
              <a:buNone/>
            </a:pPr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Speech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2" name="文本框 351"/>
              <p:cNvSpPr txBox="1"/>
              <p:nvPr/>
            </p:nvSpPr>
            <p:spPr>
              <a:xfrm>
                <a:off x="10829290" y="354965"/>
                <a:ext cx="1166495" cy="31496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800" b="1">
                    <a:latin typeface="Times New Roman" panose="02020603050405020304" charset="0"/>
                    <a:cs typeface="Times New Roman" panose="02020603050405020304" charset="0"/>
                  </a:rPr>
                  <a:t>Residual Features </a:t>
                </a:r>
                <a:br>
                  <a:rPr lang="en-US" altLang="zh-CN" sz="800" b="1">
                    <a:latin typeface="Times New Roman" panose="02020603050405020304" charset="0"/>
                    <a:cs typeface="Times New Roman" panose="0202060305040502030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sz="800" b="1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800" b="1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zh-CN" sz="800" b="1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52" name="文本框 3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9290" y="354965"/>
                <a:ext cx="1166495" cy="314960"/>
              </a:xfrm>
              <a:prstGeom prst="rect">
                <a:avLst/>
              </a:prstGeom>
              <a:blipFill rotWithShape="1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3" name="文本框 352"/>
              <p:cNvSpPr txBox="1"/>
              <p:nvPr/>
            </p:nvSpPr>
            <p:spPr>
              <a:xfrm>
                <a:off x="10732135" y="1590675"/>
                <a:ext cx="1421765" cy="4044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𝑰𝒏𝒅𝒊𝒄𝒆𝒔</m:t>
                      </m:r>
                      <m:r>
                        <a:rPr lang="en-US" altLang="zh-CN" sz="8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:</m:t>
                      </m:r>
                      <m:sSub>
                        <m:sSubPr>
                          <m:ctrlP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8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8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8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800" b="1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ctr"/>
                <a:r>
                  <a:rPr lang="en-US" altLang="zh-CN" sz="800" b="1" i="1">
                    <a:latin typeface="Cambria Math" panose="02040503050406030204" charset="0"/>
                    <a:cs typeface="Cambria Math" panose="02040503050406030204" charset="0"/>
                  </a:rPr>
                  <a:t>Codewords</a:t>
                </a:r>
                <a:r>
                  <a:rPr lang="en-US" altLang="zh-CN" sz="800" b="1" i="1">
                    <a:latin typeface="Cambria Math" panose="02040503050406030204" charset="0"/>
                    <a:cs typeface="Cambria Math" panose="02040503050406030204" charset="0"/>
                  </a:rPr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𝑞</m:t>
                        </m:r>
                      </m:e>
                      <m:sub>
                        <m: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sz="800" b="1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𝑞</m:t>
                        </m:r>
                      </m:e>
                      <m:sub>
                        <m: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  <m:r>
                      <a:rPr lang="en-US" altLang="zh-CN" sz="800" b="1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𝑞</m:t>
                        </m:r>
                      </m:e>
                      <m:sub>
                        <m: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zh-CN" sz="8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53" name="文本框 3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2135" y="1590675"/>
                <a:ext cx="1421765" cy="404495"/>
              </a:xfrm>
              <a:prstGeom prst="rect">
                <a:avLst/>
              </a:prstGeom>
              <a:blipFill rotWithShape="1"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5" name="图片 354" descr="箭头-尖尾-向左"/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 rot="11160000">
            <a:off x="10281285" y="1257300"/>
            <a:ext cx="643890" cy="238125"/>
          </a:xfrm>
          <a:prstGeom prst="rect">
            <a:avLst/>
          </a:prstGeom>
        </p:spPr>
      </p:pic>
      <p:pic>
        <p:nvPicPr>
          <p:cNvPr id="356" name="图片 355" descr="箭头-尖尾-向左"/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 rot="20880000">
            <a:off x="10307955" y="774065"/>
            <a:ext cx="643890" cy="238125"/>
          </a:xfrm>
          <a:prstGeom prst="rect">
            <a:avLst/>
          </a:prstGeom>
        </p:spPr>
      </p:pic>
      <p:sp>
        <p:nvSpPr>
          <p:cNvPr id="358" name="文本框 357"/>
          <p:cNvSpPr txBox="1"/>
          <p:nvPr/>
        </p:nvSpPr>
        <p:spPr>
          <a:xfrm>
            <a:off x="6355080" y="3757295"/>
            <a:ext cx="510540" cy="34544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Indices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60" name="文本框 359"/>
          <p:cNvSpPr txBox="1"/>
          <p:nvPr/>
        </p:nvSpPr>
        <p:spPr>
          <a:xfrm>
            <a:off x="10082530" y="455295"/>
            <a:ext cx="963930" cy="288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800" b="1">
                <a:latin typeface="Times New Roman" panose="02020603050405020304" charset="0"/>
                <a:ea typeface="MS Mincho" charset="0"/>
                <a:cs typeface="Times New Roman" panose="02020603050405020304" charset="0"/>
              </a:rPr>
              <a:t>K-means Init </a:t>
            </a:r>
            <a:endParaRPr lang="en-US" altLang="zh-CN" sz="800" b="1">
              <a:latin typeface="Times New Roman" panose="02020603050405020304" charset="0"/>
              <a:ea typeface="MS Mincho" charset="0"/>
              <a:cs typeface="Times New Roman" panose="02020603050405020304" charset="0"/>
            </a:endParaRPr>
          </a:p>
          <a:p>
            <a:pPr algn="ctr"/>
            <a:r>
              <a:rPr lang="en-US" altLang="zh-CN" sz="800" b="1">
                <a:latin typeface="Times New Roman" panose="02020603050405020304" charset="0"/>
                <a:ea typeface="MS Mincho" charset="0"/>
                <a:cs typeface="Times New Roman" panose="02020603050405020304" charset="0"/>
              </a:rPr>
              <a:t> EMA Update</a:t>
            </a:r>
            <a:endParaRPr lang="en-US" altLang="zh-CN" sz="800" b="1">
              <a:latin typeface="Times New Roman" panose="02020603050405020304" charset="0"/>
              <a:ea typeface="MS Mincho" charset="0"/>
              <a:cs typeface="Times New Roman" panose="02020603050405020304" charset="0"/>
            </a:endParaRPr>
          </a:p>
        </p:txBody>
      </p:sp>
      <p:sp>
        <p:nvSpPr>
          <p:cNvPr id="361" name="文本框 360"/>
          <p:cNvSpPr txBox="1"/>
          <p:nvPr/>
        </p:nvSpPr>
        <p:spPr>
          <a:xfrm>
            <a:off x="10101580" y="1457960"/>
            <a:ext cx="963930" cy="288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800" b="1">
                <a:latin typeface="Times New Roman" panose="02020603050405020304" charset="0"/>
                <a:ea typeface="MS Mincho" charset="0"/>
                <a:cs typeface="Times New Roman" panose="02020603050405020304" charset="0"/>
              </a:rPr>
              <a:t>Nearest-Codeword Lookup</a:t>
            </a:r>
            <a:endParaRPr lang="en-US" altLang="zh-CN" sz="800" b="1">
              <a:latin typeface="Times New Roman" panose="02020603050405020304" charset="0"/>
              <a:ea typeface="MS Mincho" charset="0"/>
              <a:cs typeface="Times New Roman" panose="02020603050405020304" charset="0"/>
            </a:endParaRPr>
          </a:p>
        </p:txBody>
      </p:sp>
      <p:pic>
        <p:nvPicPr>
          <p:cNvPr id="363" name="图片 362" descr="da533246-d97b-4bf7-a9b6-245cfd0fcf38"/>
          <p:cNvPicPr>
            <a:picLocks noChangeAspect="1"/>
          </p:cNvPicPr>
          <p:nvPr/>
        </p:nvPicPr>
        <p:blipFill>
          <a:blip r:embed="rId37"/>
          <a:srcRect l="12863" t="6431" r="9139" b="7640"/>
          <a:stretch>
            <a:fillRect/>
          </a:stretch>
        </p:blipFill>
        <p:spPr>
          <a:xfrm flipH="1">
            <a:off x="7132320" y="514350"/>
            <a:ext cx="749300" cy="939800"/>
          </a:xfrm>
          <a:prstGeom prst="rect">
            <a:avLst/>
          </a:prstGeom>
        </p:spPr>
      </p:pic>
      <p:cxnSp>
        <p:nvCxnSpPr>
          <p:cNvPr id="364" name="肘形连接符 363"/>
          <p:cNvCxnSpPr>
            <a:stCxn id="306" idx="0"/>
            <a:endCxn id="363" idx="0"/>
          </p:cNvCxnSpPr>
          <p:nvPr/>
        </p:nvCxnSpPr>
        <p:spPr>
          <a:xfrm rot="16200000">
            <a:off x="6567488" y="-409257"/>
            <a:ext cx="15875" cy="1863090"/>
          </a:xfrm>
          <a:prstGeom prst="bentConnector3">
            <a:avLst>
              <a:gd name="adj1" fmla="val 820000"/>
            </a:avLst>
          </a:prstGeom>
          <a:ln w="12700" cap="flat" cmpd="sng" algn="ctr">
            <a:solidFill>
              <a:schemeClr val="accent1"/>
            </a:solidFill>
            <a:prstDash val="dash"/>
            <a:miter lim="800000"/>
            <a:tailEnd type="triangle" w="sm" len="sm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5" name="文本框 364"/>
          <p:cNvSpPr txBox="1"/>
          <p:nvPr/>
        </p:nvSpPr>
        <p:spPr>
          <a:xfrm>
            <a:off x="6363970" y="332740"/>
            <a:ext cx="591820" cy="15176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 anchorCtr="1">
            <a:no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TRAIN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7" name="圆角矩形 366"/>
          <p:cNvSpPr/>
          <p:nvPr/>
        </p:nvSpPr>
        <p:spPr>
          <a:xfrm>
            <a:off x="4415155" y="2117725"/>
            <a:ext cx="1781175" cy="2080895"/>
          </a:xfrm>
          <a:prstGeom prst="roundRect">
            <a:avLst>
              <a:gd name="adj" fmla="val 188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9" name="圆角矩形 368"/>
          <p:cNvSpPr/>
          <p:nvPr/>
        </p:nvSpPr>
        <p:spPr>
          <a:xfrm>
            <a:off x="4538345" y="2032000"/>
            <a:ext cx="1563370" cy="254635"/>
          </a:xfrm>
          <a:prstGeom prst="roundRect">
            <a:avLst>
              <a:gd name="adj" fmla="val 1883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rtlCol="0" anchor="ctr" anchorCtr="0"/>
          <a:p>
            <a:pPr algn="ctr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4 Transmission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70" name="文本框 369"/>
          <p:cNvSpPr txBox="1"/>
          <p:nvPr/>
        </p:nvSpPr>
        <p:spPr>
          <a:xfrm>
            <a:off x="4683125" y="3677920"/>
            <a:ext cx="1317625" cy="35941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QKD-Assisted 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Secure Transmission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06375" y="4592320"/>
            <a:ext cx="2292985" cy="201295"/>
          </a:xfrm>
          <a:prstGeom prst="roundRect">
            <a:avLst/>
          </a:prstGeom>
          <a:gradFill>
            <a:gsLst>
              <a:gs pos="0">
                <a:schemeClr val="accent1">
                  <a:lumOff val="17500"/>
                </a:schemeClr>
              </a:gs>
              <a:gs pos="64000">
                <a:schemeClr val="tx2">
                  <a:lumMod val="20000"/>
                  <a:lumOff val="80000"/>
                </a:schemeClr>
              </a:gs>
              <a:gs pos="94000">
                <a:schemeClr val="accent1"/>
              </a:gs>
            </a:gsLst>
          </a:gradFill>
          <a:ln>
            <a:solidFill>
              <a:srgbClr val="325395"/>
            </a:solidFill>
            <a:prstDash val="dash"/>
          </a:ln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1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SCIT-Speech-BaseTraining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pic>
        <p:nvPicPr>
          <p:cNvPr id="50" name="图片 49" descr="cc1ebeea-71a4-433c-afac-5d7c93ec5479"/>
          <p:cNvPicPr>
            <a:picLocks noChangeAspect="1"/>
          </p:cNvPicPr>
          <p:nvPr/>
        </p:nvPicPr>
        <p:blipFill>
          <a:blip r:embed="rId2"/>
          <a:srcRect l="1760" t="52437" r="86365" b="7984"/>
          <a:stretch>
            <a:fillRect/>
          </a:stretch>
        </p:blipFill>
        <p:spPr>
          <a:xfrm>
            <a:off x="306705" y="5037455"/>
            <a:ext cx="276225" cy="763905"/>
          </a:xfrm>
          <a:prstGeom prst="rect">
            <a:avLst/>
          </a:prstGeom>
        </p:spPr>
      </p:pic>
      <p:sp>
        <p:nvSpPr>
          <p:cNvPr id="57" name="文本框 56"/>
          <p:cNvSpPr txBox="1"/>
          <p:nvPr/>
        </p:nvSpPr>
        <p:spPr>
          <a:xfrm>
            <a:off x="1377315" y="5900420"/>
            <a:ext cx="1659890" cy="29781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Generator G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3449089" y="4585335"/>
            <a:ext cx="2053483" cy="552757"/>
            <a:chOff x="3749" y="9361"/>
            <a:chExt cx="1976" cy="602"/>
          </a:xfrm>
        </p:grpSpPr>
        <p:pic>
          <p:nvPicPr>
            <p:cNvPr id="59" name="图片 58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3749" y="9361"/>
              <a:ext cx="1094" cy="602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文本框 59"/>
                <p:cNvSpPr txBox="1"/>
                <p:nvPr/>
              </p:nvSpPr>
              <p:spPr>
                <a:xfrm>
                  <a:off x="4773" y="9430"/>
                  <a:ext cx="952" cy="408"/>
                </a:xfrm>
                <a:prstGeom prst="rect">
                  <a:avLst/>
                </a:prstGeom>
              </p:spPr>
              <p:txBody>
                <a:bodyPr lIns="0" tIns="0" rIns="0" bIns="0" anchor="ctr" anchorCtr="1">
                  <a:noAutofit/>
                  <a:extLst>
                    <a:ext uri="{4A0BC546-FE56-4ADE-93B0-CB8AF2F6F144}">
                      <wpsdc:textFrameExt xmlns:wpsdc="http://www.wps.cn/officeDocument/2022/drawingmlCustomData" type="text"/>
                    </a:ext>
                  </a:extLst>
                </a:bodyPr>
                <a:p>
                  <a:pPr algn="ctr"/>
                  <a:r>
                    <a:rPr lang="en-US" altLang="zh-CN" sz="1000" b="1"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Reconstructed </a:t>
                  </a:r>
                  <a:endParaRPr lang="en-US" altLang="zh-CN" sz="1000" b="1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  <a:p>
                  <a:pPr algn="ctr"/>
                  <a:r>
                    <a:rPr lang="en-US" altLang="zh-CN" sz="1000" b="1"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Speech </a:t>
                  </a:r>
                  <a14:m>
                    <m:oMath xmlns:m="http://schemas.openxmlformats.org/officeDocument/2006/math">
                      <m:acc>
                        <m:accPr>
                          <m:ctrlPr>
                            <a:rPr lang="en-US" altLang="zh-CN" sz="1000" b="1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1000" b="1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𝒙</m:t>
                          </m:r>
                        </m:e>
                      </m:acc>
                    </m:oMath>
                  </a14:m>
                  <a:endParaRPr lang="en-US" altLang="zh-CN" sz="1000" b="1" i="1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60" name="文本框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3" y="9430"/>
                  <a:ext cx="952" cy="408"/>
                </a:xfrm>
                <a:prstGeom prst="rect">
                  <a:avLst/>
                </a:prstGeom>
                <a:blipFill rotWithShape="1">
                  <a:blip r:embed="rId4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63" name="图片 62" descr="1edf18d1-ddcc-44ee-a1d3-073cc1b6e1d2"/>
          <p:cNvPicPr>
            <a:picLocks noChangeAspect="1"/>
          </p:cNvPicPr>
          <p:nvPr/>
        </p:nvPicPr>
        <p:blipFill>
          <a:blip r:embed="rId47"/>
          <a:srcRect l="18486" t="32611" r="18215" b="32694"/>
          <a:stretch>
            <a:fillRect/>
          </a:stretch>
        </p:blipFill>
        <p:spPr>
          <a:xfrm>
            <a:off x="563245" y="5905500"/>
            <a:ext cx="1038860" cy="404495"/>
          </a:xfrm>
          <a:prstGeom prst="rect">
            <a:avLst/>
          </a:prstGeom>
        </p:spPr>
      </p:pic>
      <p:sp>
        <p:nvSpPr>
          <p:cNvPr id="65" name="圆角矩形 64"/>
          <p:cNvSpPr/>
          <p:nvPr/>
        </p:nvSpPr>
        <p:spPr>
          <a:xfrm>
            <a:off x="509270" y="5880735"/>
            <a:ext cx="1166495" cy="696595"/>
          </a:xfrm>
          <a:prstGeom prst="roundRect">
            <a:avLst>
              <a:gd name="adj" fmla="val 188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33" name="组合 132"/>
          <p:cNvGrpSpPr/>
          <p:nvPr/>
        </p:nvGrpSpPr>
        <p:grpSpPr>
          <a:xfrm>
            <a:off x="3451225" y="5532120"/>
            <a:ext cx="1953895" cy="1128395"/>
            <a:chOff x="4824" y="7216"/>
            <a:chExt cx="3077" cy="1777"/>
          </a:xfrm>
        </p:grpSpPr>
        <p:grpSp>
          <p:nvGrpSpPr>
            <p:cNvPr id="385" name="组合 384"/>
            <p:cNvGrpSpPr/>
            <p:nvPr/>
          </p:nvGrpSpPr>
          <p:grpSpPr>
            <a:xfrm>
              <a:off x="4824" y="7216"/>
              <a:ext cx="1878" cy="1777"/>
              <a:chOff x="4540" y="7309"/>
              <a:chExt cx="1878" cy="1777"/>
            </a:xfrm>
          </p:grpSpPr>
          <p:grpSp>
            <p:nvGrpSpPr>
              <p:cNvPr id="69" name="组合 68"/>
              <p:cNvGrpSpPr/>
              <p:nvPr/>
            </p:nvGrpSpPr>
            <p:grpSpPr>
              <a:xfrm rot="0">
                <a:off x="4568" y="7753"/>
                <a:ext cx="1788" cy="1332"/>
                <a:chOff x="8413" y="7972"/>
                <a:chExt cx="1788" cy="1332"/>
              </a:xfrm>
            </p:grpSpPr>
            <p:sp>
              <p:nvSpPr>
                <p:cNvPr id="70" name="圆角矩形 69"/>
                <p:cNvSpPr/>
                <p:nvPr/>
              </p:nvSpPr>
              <p:spPr>
                <a:xfrm flipH="1">
                  <a:off x="8809" y="7992"/>
                  <a:ext cx="981" cy="367"/>
                </a:xfrm>
                <a:prstGeom prst="roundRect">
                  <a:avLst>
                    <a:gd name="adj" fmla="val 1883"/>
                  </a:avLst>
                </a:prstGeom>
                <a:solidFill>
                  <a:srgbClr val="E6F3FE"/>
                </a:solidFill>
              </p:spPr>
              <p:style>
                <a:lnRef idx="0">
                  <a:srgbClr val="FFFFFF"/>
                </a:lnRef>
                <a:fillRef idx="2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r">
                    <a:buClrTx/>
                    <a:buSzTx/>
                    <a:buFontTx/>
                  </a:pPr>
                  <a:r>
                    <a:rPr lang="en-US" altLang="zh-CN" sz="8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Waveform</a:t>
                  </a:r>
                  <a:endParaRPr lang="en-US" altLang="zh-CN" sz="8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endParaRPr>
                </a:p>
              </p:txBody>
            </p:sp>
            <p:sp>
              <p:nvSpPr>
                <p:cNvPr id="71" name="圆角矩形 70"/>
                <p:cNvSpPr/>
                <p:nvPr/>
              </p:nvSpPr>
              <p:spPr>
                <a:xfrm flipH="1">
                  <a:off x="8813" y="8465"/>
                  <a:ext cx="977" cy="288"/>
                </a:xfrm>
                <a:prstGeom prst="roundRect">
                  <a:avLst>
                    <a:gd name="adj" fmla="val 1883"/>
                  </a:avLst>
                </a:prstGeom>
                <a:solidFill>
                  <a:srgbClr val="E6F3FE"/>
                </a:solidFill>
              </p:spPr>
              <p:style>
                <a:lnRef idx="0">
                  <a:srgbClr val="FFFFFF"/>
                </a:lnRef>
                <a:fillRef idx="2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8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Periodic</a:t>
                  </a:r>
                  <a:endParaRPr lang="en-US" altLang="zh-CN" sz="8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endParaRPr>
                </a:p>
              </p:txBody>
            </p:sp>
            <p:sp>
              <p:nvSpPr>
                <p:cNvPr id="72" name="圆角矩形 71"/>
                <p:cNvSpPr/>
                <p:nvPr/>
              </p:nvSpPr>
              <p:spPr>
                <a:xfrm flipH="1">
                  <a:off x="8829" y="8811"/>
                  <a:ext cx="1372" cy="289"/>
                </a:xfrm>
                <a:prstGeom prst="roundRect">
                  <a:avLst>
                    <a:gd name="adj" fmla="val 1883"/>
                  </a:avLst>
                </a:prstGeom>
                <a:solidFill>
                  <a:srgbClr val="E6F3FE"/>
                </a:solidFill>
              </p:spPr>
              <p:style>
                <a:lnRef idx="0">
                  <a:srgbClr val="FFFFFF"/>
                </a:lnRef>
                <a:fillRef idx="2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8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Time</a:t>
                  </a:r>
                  <a:r>
                    <a:rPr lang="en-US" altLang="zh-CN" sz="8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-</a:t>
                  </a:r>
                  <a:r>
                    <a:rPr lang="en-US" altLang="zh-CN" sz="8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Frequency</a:t>
                  </a:r>
                  <a:endParaRPr lang="en-US" altLang="zh-CN" sz="8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endParaRPr>
                </a:p>
              </p:txBody>
            </p:sp>
            <p:pic>
              <p:nvPicPr>
                <p:cNvPr id="73" name="图片 72" descr="cc3b91b1-8189-41d5-9da9-3bfd8725ed8e"/>
                <p:cNvPicPr>
                  <a:picLocks noChangeAspect="1"/>
                </p:cNvPicPr>
                <p:nvPr/>
              </p:nvPicPr>
              <p:blipFill>
                <a:blip r:embed="rId38"/>
                <a:srcRect l="28419" t="11889" r="28291" b="11148"/>
                <a:stretch>
                  <a:fillRect/>
                </a:stretch>
              </p:blipFill>
              <p:spPr>
                <a:xfrm>
                  <a:off x="8413" y="7972"/>
                  <a:ext cx="373" cy="471"/>
                </a:xfrm>
                <a:prstGeom prst="rect">
                  <a:avLst/>
                </a:prstGeom>
              </p:spPr>
            </p:pic>
            <p:pic>
              <p:nvPicPr>
                <p:cNvPr id="74" name="图片 73" descr="cc3b91b1-8189-41d5-9da9-3bfd8725ed8e"/>
                <p:cNvPicPr>
                  <a:picLocks noChangeAspect="1"/>
                </p:cNvPicPr>
                <p:nvPr/>
              </p:nvPicPr>
              <p:blipFill>
                <a:blip r:embed="rId38"/>
                <a:srcRect l="28419" t="11889" r="28291" b="11148"/>
                <a:stretch>
                  <a:fillRect/>
                </a:stretch>
              </p:blipFill>
              <p:spPr>
                <a:xfrm>
                  <a:off x="8440" y="8393"/>
                  <a:ext cx="373" cy="471"/>
                </a:xfrm>
                <a:prstGeom prst="rect">
                  <a:avLst/>
                </a:prstGeom>
              </p:spPr>
            </p:pic>
            <p:pic>
              <p:nvPicPr>
                <p:cNvPr id="75" name="图片 74" descr="1e26f853-d7f1-4482-a54f-9c3a2cc5ff44"/>
                <p:cNvPicPr>
                  <a:picLocks noChangeAspect="1"/>
                </p:cNvPicPr>
                <p:nvPr/>
              </p:nvPicPr>
              <p:blipFill>
                <a:blip r:embed="rId48"/>
                <a:srcRect l="22839" t="50000" r="62302" b="5938"/>
                <a:stretch>
                  <a:fillRect/>
                </a:stretch>
              </p:blipFill>
              <p:spPr>
                <a:xfrm>
                  <a:off x="8460" y="8777"/>
                  <a:ext cx="378" cy="527"/>
                </a:xfrm>
                <a:prstGeom prst="rect">
                  <a:avLst/>
                </a:prstGeom>
              </p:spPr>
            </p:pic>
          </p:grpSp>
          <p:sp>
            <p:nvSpPr>
              <p:cNvPr id="76" name="圆角矩形 75"/>
              <p:cNvSpPr/>
              <p:nvPr/>
            </p:nvSpPr>
            <p:spPr>
              <a:xfrm>
                <a:off x="4540" y="7309"/>
                <a:ext cx="1878" cy="1777"/>
              </a:xfrm>
              <a:prstGeom prst="roundRect">
                <a:avLst>
                  <a:gd name="adj" fmla="val 1883"/>
                </a:avLst>
              </a:prstGeom>
              <a:ln w="12700" cmpd="sng">
                <a:solidFill>
                  <a:schemeClr val="accent1">
                    <a:shade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77" name="文本框 76"/>
              <p:cNvSpPr txBox="1"/>
              <p:nvPr/>
            </p:nvSpPr>
            <p:spPr>
              <a:xfrm>
                <a:off x="4615" y="7449"/>
                <a:ext cx="1713" cy="193"/>
              </a:xfrm>
              <a:prstGeom prst="rect">
                <a:avLst/>
              </a:prstGeom>
            </p:spPr>
            <p:txBody>
              <a:bodyPr lIns="0" tIns="0" rIns="0" bIns="0" anchor="ctr" anchorCtr="1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p>
                <a:pPr algn="ctr"/>
                <a:r>
                  <a:rPr lang="en-US" altLang="zh-CN" sz="1000" b="1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Multi-Scale GAN Discriminators</a:t>
                </a:r>
                <a:endParaRPr lang="en-US" altLang="zh-CN" sz="1000" b="1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p:grpSp>
        <p:sp>
          <p:nvSpPr>
            <p:cNvPr id="110" name="任意多边形 109"/>
            <p:cNvSpPr/>
            <p:nvPr/>
          </p:nvSpPr>
          <p:spPr>
            <a:xfrm>
              <a:off x="6692" y="7584"/>
              <a:ext cx="568" cy="928"/>
            </a:xfrm>
            <a:custGeom>
              <a:avLst/>
              <a:gdLst>
                <a:gd name="connisteX0" fmla="*/ 0 w 360680"/>
                <a:gd name="connsiteY0" fmla="*/ 0 h 589280"/>
                <a:gd name="connisteX1" fmla="*/ 360680 w 360680"/>
                <a:gd name="connsiteY1" fmla="*/ 0 h 589280"/>
                <a:gd name="connisteX2" fmla="*/ 360680 w 360680"/>
                <a:gd name="connsiteY2" fmla="*/ 589280 h 589280"/>
                <a:gd name="connisteX3" fmla="*/ 15240 w 360680"/>
                <a:gd name="connsiteY3" fmla="*/ 584200 h 58928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360680" h="589280">
                  <a:moveTo>
                    <a:pt x="0" y="0"/>
                  </a:moveTo>
                  <a:lnTo>
                    <a:pt x="360680" y="0"/>
                  </a:lnTo>
                  <a:lnTo>
                    <a:pt x="360680" y="589280"/>
                  </a:lnTo>
                  <a:lnTo>
                    <a:pt x="15240" y="584200"/>
                  </a:ln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文本框 113"/>
                <p:cNvSpPr txBox="1"/>
                <p:nvPr/>
              </p:nvSpPr>
              <p:spPr>
                <a:xfrm>
                  <a:off x="6702" y="7804"/>
                  <a:ext cx="1199" cy="51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 anchor="ctr" anchorCtr="0">
                  <a:noAutofit/>
                </a:bodyPr>
                <a:p>
                  <a:pPr algn="ctr"/>
                  <a:r>
                    <a:rPr lang="en-US" altLang="zh-CN" sz="1000"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  <a:sym typeface="+mn-ea"/>
                    </a:rPr>
                    <a:t>DiscriminatorLoss</a:t>
                  </a:r>
                  <a:r>
                    <a:rPr lang="en-US" altLang="zh-CN" sz="1000">
                      <a:latin typeface="Arial" panose="020B0604020202020204" pitchFamily="34" charset="0"/>
                      <a:ea typeface="微软雅黑" panose="020B0503020204020204" charset="-122"/>
                      <a:sym typeface="+mn-ea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𝐷</m:t>
                          </m:r>
                        </m:sub>
                      </m:sSub>
                    </m:oMath>
                  </a14:m>
                  <a:endParaRPr lang="en-US" altLang="zh-CN" sz="1000" i="1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  <a:sym typeface="+mn-ea"/>
                  </a:endParaRPr>
                </a:p>
              </p:txBody>
            </p:sp>
          </mc:Choice>
          <mc:Fallback>
            <p:sp>
              <p:nvSpPr>
                <p:cNvPr id="114" name="文本框 1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2" y="7804"/>
                  <a:ext cx="1199" cy="513"/>
                </a:xfrm>
                <a:prstGeom prst="rect">
                  <a:avLst/>
                </a:prstGeom>
                <a:blipFill rotWithShape="1">
                  <a:blip r:embed="rId4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80" name="直接箭头连接符 179"/>
          <p:cNvCxnSpPr/>
          <p:nvPr/>
        </p:nvCxnSpPr>
        <p:spPr>
          <a:xfrm flipV="1">
            <a:off x="633095" y="5414010"/>
            <a:ext cx="746760" cy="508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5" name="任意多边形 194"/>
          <p:cNvSpPr/>
          <p:nvPr/>
        </p:nvSpPr>
        <p:spPr>
          <a:xfrm>
            <a:off x="2708275" y="4838065"/>
            <a:ext cx="676275" cy="438785"/>
          </a:xfrm>
          <a:custGeom>
            <a:avLst/>
            <a:gdLst>
              <a:gd name="connisteX0" fmla="*/ 3175 w 352425"/>
              <a:gd name="connsiteY0" fmla="*/ 361950 h 361950"/>
              <a:gd name="connisteX1" fmla="*/ 0 w 352425"/>
              <a:gd name="connsiteY1" fmla="*/ 0 h 361950"/>
              <a:gd name="connisteX2" fmla="*/ 352425 w 352425"/>
              <a:gd name="connsiteY2" fmla="*/ 0 h 3619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52425" h="361950">
                <a:moveTo>
                  <a:pt x="3175" y="361950"/>
                </a:moveTo>
                <a:lnTo>
                  <a:pt x="0" y="0"/>
                </a:lnTo>
                <a:lnTo>
                  <a:pt x="352425" y="0"/>
                </a:lnTo>
              </a:path>
            </a:pathLst>
          </a:custGeom>
          <a:noFill/>
          <a:ln w="25400"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6" name="任意多边形 195"/>
          <p:cNvSpPr/>
          <p:nvPr/>
        </p:nvSpPr>
        <p:spPr>
          <a:xfrm rot="16200000">
            <a:off x="2853690" y="5864225"/>
            <a:ext cx="387350" cy="594995"/>
          </a:xfrm>
          <a:custGeom>
            <a:avLst/>
            <a:gdLst>
              <a:gd name="connisteX0" fmla="*/ 3175 w 352425"/>
              <a:gd name="connsiteY0" fmla="*/ 361950 h 361950"/>
              <a:gd name="connisteX1" fmla="*/ 0 w 352425"/>
              <a:gd name="connsiteY1" fmla="*/ 0 h 361950"/>
              <a:gd name="connisteX2" fmla="*/ 352425 w 352425"/>
              <a:gd name="connsiteY2" fmla="*/ 0 h 3619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52425" h="361950">
                <a:moveTo>
                  <a:pt x="3175" y="361950"/>
                </a:moveTo>
                <a:lnTo>
                  <a:pt x="0" y="0"/>
                </a:lnTo>
                <a:lnTo>
                  <a:pt x="352425" y="0"/>
                </a:lnTo>
              </a:path>
            </a:pathLst>
          </a:custGeom>
          <a:noFill/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7" name="文本框 196"/>
          <p:cNvSpPr txBox="1"/>
          <p:nvPr/>
        </p:nvSpPr>
        <p:spPr>
          <a:xfrm>
            <a:off x="1253490" y="4882515"/>
            <a:ext cx="1369695" cy="426720"/>
          </a:xfrm>
          <a:prstGeom prst="rect">
            <a:avLst/>
          </a:prstGeom>
        </p:spPr>
        <p:txBody>
          <a:bodyPr lIns="0" tIns="0" rIns="0" bIns="0" anchor="ctr" anchorCtr="1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800" b="1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Q1: frozen HuBERT distillation</a:t>
            </a:r>
            <a:endParaRPr lang="en-US" altLang="zh-CN" sz="800" b="1" i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ctr"/>
            <a:r>
              <a:rPr lang="en-US" altLang="zh-CN" sz="800" b="1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RVQ: commitment loss</a:t>
            </a:r>
            <a:endParaRPr lang="en-US" altLang="zh-CN" sz="800" b="1" i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08" name="任意多边形 207"/>
          <p:cNvSpPr/>
          <p:nvPr/>
        </p:nvSpPr>
        <p:spPr>
          <a:xfrm>
            <a:off x="406400" y="5838825"/>
            <a:ext cx="2978150" cy="804545"/>
          </a:xfrm>
          <a:custGeom>
            <a:avLst/>
            <a:gdLst>
              <a:gd name="connisteX0" fmla="*/ 6350 w 2978150"/>
              <a:gd name="connsiteY0" fmla="*/ 0 h 666750"/>
              <a:gd name="connisteX1" fmla="*/ 0 w 2978150"/>
              <a:gd name="connsiteY1" fmla="*/ 660400 h 666750"/>
              <a:gd name="connisteX2" fmla="*/ 2978150 w 2978150"/>
              <a:gd name="connsiteY2" fmla="*/ 666750 h 6667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978150" h="666750">
                <a:moveTo>
                  <a:pt x="6350" y="0"/>
                </a:moveTo>
                <a:lnTo>
                  <a:pt x="0" y="660400"/>
                </a:lnTo>
                <a:lnTo>
                  <a:pt x="2978150" y="666750"/>
                </a:ln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0" name="文本框 209"/>
              <p:cNvSpPr txBox="1"/>
              <p:nvPr/>
            </p:nvSpPr>
            <p:spPr>
              <a:xfrm>
                <a:off x="563245" y="6325870"/>
                <a:ext cx="1061720" cy="223520"/>
              </a:xfrm>
              <a:prstGeom prst="rect">
                <a:avLst/>
              </a:prstGeom>
            </p:spPr>
            <p:txBody>
              <a:bodyPr lIns="0" tIns="0" rIns="0" bIns="0" anchor="ctr" anchorCtr="1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p>
                <a:pPr algn="ctr"/>
                <a:r>
                  <a:rPr lang="en-US" altLang="zh-CN" sz="800" b="1" i="1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Reconstruction loss:</a:t>
                </a:r>
                <a:endParaRPr lang="en-US" altLang="zh-CN" sz="800" b="1" i="1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800" b="1" i="1"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compare x and 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en-US" altLang="zh-CN" sz="800" b="1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sz="800" b="1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𝑥</m:t>
                        </m:r>
                      </m:e>
                    </m:acc>
                  </m:oMath>
                </a14:m>
                <a:endParaRPr lang="en-US" altLang="zh-CN" sz="800" b="1" i="1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10" name="文本框 2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45" y="6325870"/>
                <a:ext cx="1061720" cy="223520"/>
              </a:xfrm>
              <a:prstGeom prst="rect">
                <a:avLst/>
              </a:prstGeom>
              <a:blipFill rotWithShape="1">
                <a:blip r:embed="rId50"/>
                <a:stretch>
                  <a:fillRect t="-4261" b="-4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文本框 219"/>
          <p:cNvSpPr txBox="1"/>
          <p:nvPr/>
        </p:nvSpPr>
        <p:spPr>
          <a:xfrm>
            <a:off x="117475" y="4820285"/>
            <a:ext cx="922020" cy="314960"/>
          </a:xfrm>
          <a:prstGeom prst="rect">
            <a:avLst/>
          </a:prstGeom>
        </p:spPr>
        <p:txBody>
          <a:bodyPr lIns="0" tIns="0" rIns="0" bIns="0" anchor="ctr" anchorCtr="1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800" b="1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Real speech x</a:t>
            </a:r>
            <a:endParaRPr lang="en-US" altLang="zh-CN" sz="800" b="1" i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cxnSp>
        <p:nvCxnSpPr>
          <p:cNvPr id="221" name="直接箭头连接符 220"/>
          <p:cNvCxnSpPr/>
          <p:nvPr/>
        </p:nvCxnSpPr>
        <p:spPr>
          <a:xfrm>
            <a:off x="4614545" y="5071110"/>
            <a:ext cx="5715" cy="41910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2" name="文本框 221"/>
          <p:cNvSpPr txBox="1"/>
          <p:nvPr/>
        </p:nvSpPr>
        <p:spPr>
          <a:xfrm>
            <a:off x="1934210" y="6165850"/>
            <a:ext cx="1192530" cy="334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Adversarial + feature matching</a:t>
            </a:r>
            <a:endParaRPr lang="en-US" altLang="zh-CN" sz="1000">
              <a:solidFill>
                <a:schemeClr val="accent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3" name="文本框 222"/>
          <p:cNvSpPr txBox="1"/>
          <p:nvPr/>
        </p:nvSpPr>
        <p:spPr>
          <a:xfrm>
            <a:off x="3810000" y="5163820"/>
            <a:ext cx="776605" cy="223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000" b="1">
                <a:solidFill>
                  <a:srgbClr val="4874C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Generated</a:t>
            </a:r>
            <a:endParaRPr lang="en-US" altLang="zh-CN" sz="1000" b="1">
              <a:solidFill>
                <a:srgbClr val="4874CB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pSp>
        <p:nvGrpSpPr>
          <p:cNvPr id="224" name="组合 223"/>
          <p:cNvGrpSpPr/>
          <p:nvPr/>
        </p:nvGrpSpPr>
        <p:grpSpPr>
          <a:xfrm>
            <a:off x="6604000" y="5935980"/>
            <a:ext cx="682625" cy="688340"/>
            <a:chOff x="10631" y="8556"/>
            <a:chExt cx="1075" cy="1084"/>
          </a:xfrm>
        </p:grpSpPr>
        <p:pic>
          <p:nvPicPr>
            <p:cNvPr id="225" name="图片 224" descr="f0ca6182-a653-4a85-b473-8430671b4905"/>
            <p:cNvPicPr>
              <a:picLocks noChangeAspect="1"/>
            </p:cNvPicPr>
            <p:nvPr/>
          </p:nvPicPr>
          <p:blipFill>
            <a:blip r:embed="rId9"/>
            <a:srcRect l="15519" t="11065" r="15343" b="11963"/>
            <a:stretch>
              <a:fillRect/>
            </a:stretch>
          </p:blipFill>
          <p:spPr>
            <a:xfrm>
              <a:off x="10860" y="8968"/>
              <a:ext cx="603" cy="672"/>
            </a:xfrm>
            <a:prstGeom prst="rect">
              <a:avLst/>
            </a:prstGeom>
          </p:spPr>
        </p:pic>
        <p:sp>
          <p:nvSpPr>
            <p:cNvPr id="226" name="文本框 225"/>
            <p:cNvSpPr txBox="1"/>
            <p:nvPr/>
          </p:nvSpPr>
          <p:spPr>
            <a:xfrm>
              <a:off x="10631" y="8556"/>
              <a:ext cx="1075" cy="46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p>
              <a:pPr algn="ctr">
                <a:buClrTx/>
                <a:buSzTx/>
                <a:buNone/>
              </a:pPr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Decode+</a:t>
              </a:r>
              <a:b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</a:br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Mel Transform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28" name="圆角矩形 227"/>
          <p:cNvSpPr/>
          <p:nvPr/>
        </p:nvSpPr>
        <p:spPr>
          <a:xfrm flipH="1">
            <a:off x="6955155" y="5692140"/>
            <a:ext cx="1108710" cy="208280"/>
          </a:xfrm>
          <a:prstGeom prst="roundRect">
            <a:avLst>
              <a:gd name="adj" fmla="val 1883"/>
            </a:avLst>
          </a:prstGeom>
          <a:solidFill>
            <a:srgbClr val="E6F3FE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Mel consistency loss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229" name="直接箭头连接符 228"/>
          <p:cNvCxnSpPr/>
          <p:nvPr/>
        </p:nvCxnSpPr>
        <p:spPr>
          <a:xfrm>
            <a:off x="6097270" y="4906010"/>
            <a:ext cx="4445" cy="14732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0" name="直接箭头连接符 229"/>
          <p:cNvCxnSpPr/>
          <p:nvPr/>
        </p:nvCxnSpPr>
        <p:spPr>
          <a:xfrm>
            <a:off x="6092825" y="5485765"/>
            <a:ext cx="4445" cy="14732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1" name="直接箭头连接符 230"/>
          <p:cNvCxnSpPr/>
          <p:nvPr/>
        </p:nvCxnSpPr>
        <p:spPr>
          <a:xfrm>
            <a:off x="6088380" y="6026785"/>
            <a:ext cx="4445" cy="14732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2" name="直接箭头连接符 231"/>
          <p:cNvCxnSpPr/>
          <p:nvPr/>
        </p:nvCxnSpPr>
        <p:spPr>
          <a:xfrm flipV="1">
            <a:off x="6478905" y="5323205"/>
            <a:ext cx="219710" cy="3175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3" name="直接箭头连接符 232"/>
          <p:cNvCxnSpPr/>
          <p:nvPr/>
        </p:nvCxnSpPr>
        <p:spPr>
          <a:xfrm flipV="1">
            <a:off x="7303135" y="5293995"/>
            <a:ext cx="219710" cy="3175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4" name="直接箭头连接符 233"/>
          <p:cNvCxnSpPr/>
          <p:nvPr/>
        </p:nvCxnSpPr>
        <p:spPr>
          <a:xfrm flipV="1">
            <a:off x="7287260" y="6418580"/>
            <a:ext cx="219710" cy="3175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/>
          <p:nvPr/>
        </p:nvCxnSpPr>
        <p:spPr>
          <a:xfrm flipV="1">
            <a:off x="6479540" y="6421755"/>
            <a:ext cx="219710" cy="3175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6" name="直接箭头连接符 235"/>
          <p:cNvCxnSpPr/>
          <p:nvPr/>
        </p:nvCxnSpPr>
        <p:spPr>
          <a:xfrm flipH="1">
            <a:off x="7816215" y="5430520"/>
            <a:ext cx="2540" cy="131445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7" name="直接箭头连接符 236"/>
          <p:cNvCxnSpPr/>
          <p:nvPr/>
        </p:nvCxnSpPr>
        <p:spPr>
          <a:xfrm flipH="1" flipV="1">
            <a:off x="7820660" y="5967095"/>
            <a:ext cx="4445" cy="13081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8" name="圆角矩形 237"/>
          <p:cNvSpPr/>
          <p:nvPr/>
        </p:nvSpPr>
        <p:spPr>
          <a:xfrm>
            <a:off x="6256020" y="4447540"/>
            <a:ext cx="2084070" cy="201930"/>
          </a:xfrm>
          <a:prstGeom prst="roundRect">
            <a:avLst/>
          </a:prstGeom>
          <a:gradFill>
            <a:gsLst>
              <a:gs pos="0">
                <a:schemeClr val="accent1">
                  <a:lumOff val="17500"/>
                </a:schemeClr>
              </a:gs>
              <a:gs pos="64000">
                <a:schemeClr val="tx2">
                  <a:lumMod val="20000"/>
                  <a:lumOff val="80000"/>
                </a:schemeClr>
              </a:gs>
              <a:gs pos="94000">
                <a:schemeClr val="accent1"/>
              </a:gs>
            </a:gsLst>
          </a:gradFill>
          <a:ln>
            <a:solidFill>
              <a:srgbClr val="325395"/>
            </a:solidFill>
            <a:prstDash val="dash"/>
          </a:ln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 anchorCtr="1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Channel-Aware Fine-Tuning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cxnSp>
        <p:nvCxnSpPr>
          <p:cNvPr id="239" name="直接连接符 238"/>
          <p:cNvCxnSpPr/>
          <p:nvPr/>
        </p:nvCxnSpPr>
        <p:spPr>
          <a:xfrm>
            <a:off x="5489575" y="4641850"/>
            <a:ext cx="15875" cy="1983105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0" name="直接箭头连接符 239"/>
          <p:cNvCxnSpPr/>
          <p:nvPr/>
        </p:nvCxnSpPr>
        <p:spPr>
          <a:xfrm flipV="1">
            <a:off x="9084945" y="5634990"/>
            <a:ext cx="418465" cy="127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1" name="直接箭头连接符 240"/>
          <p:cNvCxnSpPr/>
          <p:nvPr/>
        </p:nvCxnSpPr>
        <p:spPr>
          <a:xfrm flipV="1">
            <a:off x="9472930" y="4894580"/>
            <a:ext cx="418465" cy="127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2" name="直接箭头连接符 241"/>
          <p:cNvCxnSpPr/>
          <p:nvPr/>
        </p:nvCxnSpPr>
        <p:spPr>
          <a:xfrm flipV="1">
            <a:off x="10829290" y="4895850"/>
            <a:ext cx="803275" cy="3175"/>
          </a:xfrm>
          <a:prstGeom prst="straightConnector1">
            <a:avLst/>
          </a:prstGeom>
          <a:ln w="25400">
            <a:solidFill>
              <a:srgbClr val="B28FCC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5" name="直接箭头连接符 244"/>
          <p:cNvCxnSpPr/>
          <p:nvPr/>
        </p:nvCxnSpPr>
        <p:spPr>
          <a:xfrm flipV="1">
            <a:off x="10175240" y="5615940"/>
            <a:ext cx="246380" cy="508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6" name="直接箭头连接符 245"/>
          <p:cNvCxnSpPr/>
          <p:nvPr/>
        </p:nvCxnSpPr>
        <p:spPr>
          <a:xfrm flipV="1">
            <a:off x="11243945" y="5610860"/>
            <a:ext cx="246380" cy="508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0" name="直接箭头连接符 249"/>
          <p:cNvCxnSpPr/>
          <p:nvPr/>
        </p:nvCxnSpPr>
        <p:spPr>
          <a:xfrm>
            <a:off x="11644630" y="5844540"/>
            <a:ext cx="5080" cy="38608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1" name="直接箭头连接符 250"/>
          <p:cNvCxnSpPr/>
          <p:nvPr/>
        </p:nvCxnSpPr>
        <p:spPr>
          <a:xfrm>
            <a:off x="11908790" y="5400675"/>
            <a:ext cx="10160" cy="809625"/>
          </a:xfrm>
          <a:prstGeom prst="straightConnector1">
            <a:avLst/>
          </a:prstGeom>
          <a:ln w="25400">
            <a:solidFill>
              <a:srgbClr val="B28FCC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2" name="文本框 251"/>
          <p:cNvSpPr txBox="1"/>
          <p:nvPr/>
        </p:nvSpPr>
        <p:spPr>
          <a:xfrm>
            <a:off x="8816975" y="5844540"/>
            <a:ext cx="686435" cy="2336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ctr">
              <a:buClrTx/>
              <a:buSzTx/>
              <a:buNone/>
            </a:pPr>
            <a:r>
              <a:rPr lang="en-US" altLang="zh-CN" sz="800" b="1">
                <a:latin typeface="Times New Roman" panose="02020603050405020304" charset="0"/>
                <a:cs typeface="Times New Roman" panose="02020603050405020304" charset="0"/>
              </a:rPr>
              <a:t>Reconstructed Speech</a:t>
            </a:r>
            <a:endParaRPr lang="en-US" altLang="zh-CN" sz="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53" name="图片 252" descr="雪花"/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9958070" y="5177790"/>
            <a:ext cx="312420" cy="3124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54" name="文本框 253"/>
              <p:cNvSpPr txBox="1"/>
              <p:nvPr/>
            </p:nvSpPr>
            <p:spPr>
              <a:xfrm>
                <a:off x="6001385" y="6174034"/>
                <a:ext cx="217170" cy="1387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</m:acc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54" name="文本框 2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1385" y="6174034"/>
                <a:ext cx="217170" cy="138712"/>
              </a:xfrm>
              <a:prstGeom prst="rect">
                <a:avLst/>
              </a:prstGeom>
              <a:blipFill rotWithShape="1">
                <a:blip r:embed="rId53"/>
                <a:stretch>
                  <a:fillRect t="-407" b="-71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5" name="文本框 254"/>
              <p:cNvSpPr txBox="1"/>
              <p:nvPr/>
            </p:nvSpPr>
            <p:spPr>
              <a:xfrm>
                <a:off x="6230620" y="6174034"/>
                <a:ext cx="217170" cy="1387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</m:acc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55" name="文本框 2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620" y="6174034"/>
                <a:ext cx="217170" cy="138712"/>
              </a:xfrm>
              <a:prstGeom prst="rect">
                <a:avLst/>
              </a:prstGeom>
              <a:blipFill rotWithShape="1">
                <a:blip r:embed="rId54"/>
                <a:stretch>
                  <a:fillRect t="-407" b="-76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4" name="图片 263" descr="92df9bfe-c377-48b9-9568-f230c9182ea0"/>
          <p:cNvPicPr>
            <a:picLocks noChangeAspect="1"/>
          </p:cNvPicPr>
          <p:nvPr/>
        </p:nvPicPr>
        <p:blipFill>
          <a:blip r:embed="rId55"/>
          <a:srcRect t="16833" b="18898"/>
          <a:stretch>
            <a:fillRect/>
          </a:stretch>
        </p:blipFill>
        <p:spPr>
          <a:xfrm>
            <a:off x="1675765" y="5259070"/>
            <a:ext cx="1607820" cy="646430"/>
          </a:xfrm>
          <a:prstGeom prst="rect">
            <a:avLst/>
          </a:prstGeom>
        </p:spPr>
      </p:pic>
      <p:sp>
        <p:nvSpPr>
          <p:cNvPr id="270" name="任意多边形 269"/>
          <p:cNvSpPr/>
          <p:nvPr/>
        </p:nvSpPr>
        <p:spPr>
          <a:xfrm>
            <a:off x="8542655" y="2612390"/>
            <a:ext cx="431800" cy="271145"/>
          </a:xfrm>
          <a:custGeom>
            <a:avLst/>
            <a:gdLst>
              <a:gd name="connisteX0" fmla="*/ 0 w 431800"/>
              <a:gd name="connsiteY0" fmla="*/ 4445 h 271145"/>
              <a:gd name="connisteX1" fmla="*/ 429895 w 431800"/>
              <a:gd name="connsiteY1" fmla="*/ 0 h 271145"/>
              <a:gd name="connisteX2" fmla="*/ 431800 w 431800"/>
              <a:gd name="connsiteY2" fmla="*/ 271145 h 27114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431800" h="271145">
                <a:moveTo>
                  <a:pt x="0" y="4445"/>
                </a:moveTo>
                <a:lnTo>
                  <a:pt x="429895" y="0"/>
                </a:lnTo>
                <a:lnTo>
                  <a:pt x="431800" y="271145"/>
                </a:lnTo>
              </a:path>
            </a:pathLst>
          </a:custGeom>
          <a:ln w="28575">
            <a:solidFill>
              <a:srgbClr val="FDC592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2" name="任意多边形 271"/>
          <p:cNvSpPr/>
          <p:nvPr/>
        </p:nvSpPr>
        <p:spPr>
          <a:xfrm>
            <a:off x="8563610" y="3425190"/>
            <a:ext cx="410845" cy="295910"/>
          </a:xfrm>
          <a:custGeom>
            <a:avLst/>
            <a:gdLst>
              <a:gd name="connisteX0" fmla="*/ 0 w 410845"/>
              <a:gd name="connsiteY0" fmla="*/ 262890 h 262890"/>
              <a:gd name="connisteX1" fmla="*/ 408940 w 410845"/>
              <a:gd name="connsiteY1" fmla="*/ 262890 h 262890"/>
              <a:gd name="connisteX2" fmla="*/ 410845 w 410845"/>
              <a:gd name="connsiteY2" fmla="*/ 0 h 26289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410845" h="262890">
                <a:moveTo>
                  <a:pt x="0" y="262890"/>
                </a:moveTo>
                <a:lnTo>
                  <a:pt x="408940" y="262890"/>
                </a:lnTo>
                <a:lnTo>
                  <a:pt x="410845" y="0"/>
                </a:lnTo>
              </a:path>
            </a:pathLst>
          </a:custGeom>
          <a:ln w="28575">
            <a:solidFill>
              <a:srgbClr val="A685F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73" name="直接箭头连接符 272"/>
          <p:cNvCxnSpPr/>
          <p:nvPr/>
        </p:nvCxnSpPr>
        <p:spPr>
          <a:xfrm flipV="1">
            <a:off x="8561070" y="3158490"/>
            <a:ext cx="222885" cy="3175"/>
          </a:xfrm>
          <a:prstGeom prst="straightConnector1">
            <a:avLst/>
          </a:prstGeom>
          <a:ln w="28575">
            <a:solidFill>
              <a:srgbClr val="79E5B2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5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c1ebeea-71a4-433c-afac-5d7c93ec5479"/>
          <p:cNvPicPr>
            <a:picLocks noChangeAspect="1"/>
          </p:cNvPicPr>
          <p:nvPr/>
        </p:nvPicPr>
        <p:blipFill>
          <a:blip r:embed="rId1"/>
          <a:srcRect l="-73" t="-1421" r="-115" b="9"/>
          <a:stretch>
            <a:fillRect/>
          </a:stretch>
        </p:blipFill>
        <p:spPr>
          <a:xfrm>
            <a:off x="165100" y="322580"/>
            <a:ext cx="11603990" cy="36677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9bf390ca-be59-4b23-80f1-c32c53ed7727"/>
          <p:cNvPicPr>
            <a:picLocks noChangeAspect="1"/>
          </p:cNvPicPr>
          <p:nvPr/>
        </p:nvPicPr>
        <p:blipFill>
          <a:blip r:embed="rId1"/>
          <a:srcRect l="20000" t="13812" r="67583" b="54188"/>
          <a:stretch>
            <a:fillRect/>
          </a:stretch>
        </p:blipFill>
        <p:spPr>
          <a:xfrm>
            <a:off x="2844800" y="1191260"/>
            <a:ext cx="1513840" cy="19507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1e26f853-d7f1-4482-a54f-9c3a2cc5ff44"/>
          <p:cNvPicPr>
            <a:picLocks noChangeAspect="1"/>
          </p:cNvPicPr>
          <p:nvPr/>
        </p:nvPicPr>
        <p:blipFill>
          <a:blip r:embed="rId1"/>
          <a:srcRect l="22839" t="50000" r="62302" b="5938"/>
          <a:stretch>
            <a:fillRect/>
          </a:stretch>
        </p:blipFill>
        <p:spPr>
          <a:xfrm>
            <a:off x="2784475" y="3429000"/>
            <a:ext cx="1811655" cy="17907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odex 图像 2026年9月8日 14_14_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470" y="0"/>
            <a:ext cx="11893550" cy="67716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>
            <a:off x="1245870" y="2514600"/>
            <a:ext cx="1782445" cy="701675"/>
            <a:chOff x="1962" y="2164"/>
            <a:chExt cx="5869" cy="2283"/>
          </a:xfrm>
        </p:grpSpPr>
        <p:pic>
          <p:nvPicPr>
            <p:cNvPr id="165" name="图片 164" descr="d7194677-731e-404a-8019-7c4bca95c540"/>
            <p:cNvPicPr>
              <a:picLocks noChangeAspect="1"/>
            </p:cNvPicPr>
            <p:nvPr/>
          </p:nvPicPr>
          <p:blipFill>
            <a:blip r:embed="rId1"/>
            <a:srcRect l="22514" t="20306" r="63424" b="59454"/>
            <a:stretch>
              <a:fillRect/>
            </a:stretch>
          </p:blipFill>
          <p:spPr>
            <a:xfrm>
              <a:off x="1962" y="2261"/>
              <a:ext cx="2025" cy="2186"/>
            </a:xfrm>
            <a:prstGeom prst="rect">
              <a:avLst/>
            </a:prstGeom>
          </p:spPr>
        </p:pic>
        <p:pic>
          <p:nvPicPr>
            <p:cNvPr id="4" name="图片 3" descr="d7194677-731e-404a-8019-7c4bca95c540"/>
            <p:cNvPicPr>
              <a:picLocks noChangeAspect="1"/>
            </p:cNvPicPr>
            <p:nvPr/>
          </p:nvPicPr>
          <p:blipFill>
            <a:blip r:embed="rId1"/>
            <a:srcRect l="22514" t="63693" r="63424" b="16067"/>
            <a:stretch>
              <a:fillRect/>
            </a:stretch>
          </p:blipFill>
          <p:spPr>
            <a:xfrm>
              <a:off x="5807" y="2164"/>
              <a:ext cx="2025" cy="2186"/>
            </a:xfrm>
            <a:prstGeom prst="rect">
              <a:avLst/>
            </a:prstGeom>
          </p:spPr>
        </p:pic>
        <p:pic>
          <p:nvPicPr>
            <p:cNvPr id="5" name="图片 4" descr="d7194677-731e-404a-8019-7c4bca95c540"/>
            <p:cNvPicPr>
              <a:picLocks noChangeAspect="1"/>
            </p:cNvPicPr>
            <p:nvPr/>
          </p:nvPicPr>
          <p:blipFill>
            <a:blip r:embed="rId1"/>
            <a:srcRect l="22361" t="42194" r="63577" b="37566"/>
            <a:stretch>
              <a:fillRect/>
            </a:stretch>
          </p:blipFill>
          <p:spPr>
            <a:xfrm>
              <a:off x="3850" y="2261"/>
              <a:ext cx="2025" cy="2186"/>
            </a:xfrm>
            <a:prstGeom prst="rect">
              <a:avLst/>
            </a:prstGeom>
          </p:spPr>
        </p:pic>
      </p:grp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3351</Words>
  <Application>WPS 演示</Application>
  <PresentationFormat>宽屏</PresentationFormat>
  <Paragraphs>432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Times New Roman</vt:lpstr>
      <vt:lpstr>Cambria Math</vt:lpstr>
      <vt:lpstr>MS Mincho</vt:lpstr>
      <vt:lpstr>Segoe Print</vt:lpstr>
      <vt:lpstr>微软雅黑</vt:lpstr>
      <vt:lpstr>Arial Unicode MS</vt:lpstr>
      <vt:lpstr>Calibri</vt:lpstr>
      <vt:lpstr>BatangChe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章报晖</cp:lastModifiedBy>
  <cp:revision>172</cp:revision>
  <dcterms:created xsi:type="dcterms:W3CDTF">2019-06-19T02:08:00Z</dcterms:created>
  <dcterms:modified xsi:type="dcterms:W3CDTF">2026-09-09T20:11:14Z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9C3A26A7BB4045A082143EB7A91F789A_13</vt:lpwstr>
  </property>
</Properties>
</file>