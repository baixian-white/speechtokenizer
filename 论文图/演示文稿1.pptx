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3F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63.xml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144145" y="4645025"/>
            <a:ext cx="825754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44780" y="2405380"/>
            <a:ext cx="584200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44780" y="165735"/>
            <a:ext cx="11903075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096000" y="2405380"/>
            <a:ext cx="304292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9248140" y="2405380"/>
            <a:ext cx="281305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74405" y="4645025"/>
            <a:ext cx="3487420" cy="2080895"/>
          </a:xfrm>
          <a:prstGeom prst="roundRect">
            <a:avLst>
              <a:gd name="adj" fmla="val 1883"/>
            </a:avLst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71780" y="57785"/>
            <a:ext cx="6101715" cy="21399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1 OFFLINE ENCODEER ARCHITECTURE SEACH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95935" y="581660"/>
            <a:ext cx="1871980" cy="1387475"/>
            <a:chOff x="781" y="916"/>
            <a:chExt cx="3266" cy="2185"/>
          </a:xfrm>
        </p:grpSpPr>
        <p:pic>
          <p:nvPicPr>
            <p:cNvPr id="19" name="图片 18" descr="cc1ebeea-71a4-433c-afac-5d7c93ec5479"/>
            <p:cNvPicPr>
              <a:picLocks noChangeAspect="1"/>
            </p:cNvPicPr>
            <p:nvPr/>
          </p:nvPicPr>
          <p:blipFill>
            <a:blip r:embed="rId1"/>
            <a:srcRect l="833" t="11047" r="77781" b="53687"/>
            <a:stretch>
              <a:fillRect/>
            </a:stretch>
          </p:blipFill>
          <p:spPr>
            <a:xfrm>
              <a:off x="782" y="916"/>
              <a:ext cx="2921" cy="1606"/>
            </a:xfrm>
            <a:prstGeom prst="rect">
              <a:avLst/>
            </a:prstGeom>
          </p:spPr>
        </p:pic>
        <p:sp>
          <p:nvSpPr>
            <p:cNvPr id="23" name="圆角矩形 22"/>
            <p:cNvSpPr/>
            <p:nvPr/>
          </p:nvSpPr>
          <p:spPr>
            <a:xfrm>
              <a:off x="781" y="2765"/>
              <a:ext cx="3267" cy="337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Canditate Ecoder Space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900680" y="494665"/>
            <a:ext cx="2318385" cy="1474470"/>
            <a:chOff x="4523" y="779"/>
            <a:chExt cx="3651" cy="2322"/>
          </a:xfrm>
        </p:grpSpPr>
        <p:pic>
          <p:nvPicPr>
            <p:cNvPr id="25" name="图片 24" descr="cc1ebeea-71a4-433c-afac-5d7c93ec5479"/>
            <p:cNvPicPr>
              <a:picLocks noChangeAspect="1"/>
            </p:cNvPicPr>
            <p:nvPr/>
          </p:nvPicPr>
          <p:blipFill>
            <a:blip r:embed="rId1"/>
            <a:srcRect l="22927" t="15063" r="58057" b="60313"/>
            <a:stretch>
              <a:fillRect/>
            </a:stretch>
          </p:blipFill>
          <p:spPr>
            <a:xfrm>
              <a:off x="4523" y="1152"/>
              <a:ext cx="3651" cy="1576"/>
            </a:xfrm>
            <a:prstGeom prst="rect">
              <a:avLst/>
            </a:prstGeom>
          </p:spPr>
        </p:pic>
        <p:sp>
          <p:nvSpPr>
            <p:cNvPr id="26" name="圆角矩形 25"/>
            <p:cNvSpPr/>
            <p:nvPr/>
          </p:nvSpPr>
          <p:spPr>
            <a:xfrm>
              <a:off x="4874" y="2764"/>
              <a:ext cx="2949" cy="337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Teahcer-Guied</a:t>
              </a:r>
              <a:b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Proxy Training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4523" y="916"/>
              <a:ext cx="1428" cy="337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Teahcer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6753" y="779"/>
              <a:ext cx="1299" cy="337"/>
            </a:xfrm>
            <a:prstGeom prst="roundRect">
              <a:avLst>
                <a:gd name="adj" fmla="val 1883"/>
              </a:avLst>
            </a:prstGeom>
            <a:solidFill>
              <a:schemeClr val="bg1"/>
            </a:solidFill>
            <a:ln w="12700" cmpd="sng">
              <a:noFill/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400">
                  <a:latin typeface="Times New Roman" panose="02020603050405020304" charset="0"/>
                  <a:cs typeface="Times New Roman" panose="02020603050405020304" charset="0"/>
                </a:rPr>
                <a:t>Student</a:t>
              </a:r>
              <a:endParaRPr lang="en-US" altLang="zh-CN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751830" y="391795"/>
            <a:ext cx="1779270" cy="1710690"/>
            <a:chOff x="9021" y="617"/>
            <a:chExt cx="2803" cy="2694"/>
          </a:xfrm>
        </p:grpSpPr>
        <p:grpSp>
          <p:nvGrpSpPr>
            <p:cNvPr id="40" name="组合 39"/>
            <p:cNvGrpSpPr/>
            <p:nvPr/>
          </p:nvGrpSpPr>
          <p:grpSpPr>
            <a:xfrm>
              <a:off x="9021" y="617"/>
              <a:ext cx="2803" cy="1994"/>
              <a:chOff x="9070" y="617"/>
              <a:chExt cx="3441" cy="2570"/>
            </a:xfrm>
          </p:grpSpPr>
          <p:pic>
            <p:nvPicPr>
              <p:cNvPr id="30" name="图片 29" descr="cc1ebeea-71a4-433c-afac-5d7c93ec5479"/>
              <p:cNvPicPr>
                <a:picLocks noChangeAspect="1"/>
              </p:cNvPicPr>
              <p:nvPr/>
            </p:nvPicPr>
            <p:blipFill>
              <a:blip r:embed="rId1"/>
              <a:srcRect l="44073" t="6781" r="40615" b="54391"/>
              <a:stretch>
                <a:fillRect/>
              </a:stretch>
            </p:blipFill>
            <p:spPr>
              <a:xfrm>
                <a:off x="9428" y="617"/>
                <a:ext cx="2940" cy="2485"/>
              </a:xfrm>
              <a:prstGeom prst="rect">
                <a:avLst/>
              </a:prstGeom>
            </p:spPr>
          </p:pic>
          <p:cxnSp>
            <p:nvCxnSpPr>
              <p:cNvPr id="32" name="直接箭头连接符 31"/>
              <p:cNvCxnSpPr/>
              <p:nvPr/>
            </p:nvCxnSpPr>
            <p:spPr>
              <a:xfrm rot="60000" flipV="1">
                <a:off x="9353" y="1147"/>
                <a:ext cx="13" cy="140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 rot="60000">
                <a:off x="9353" y="2540"/>
                <a:ext cx="1374" cy="5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rot="60000" flipV="1">
                <a:off x="10979" y="2446"/>
                <a:ext cx="1367" cy="7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9070" y="1429"/>
                <a:ext cx="390" cy="1241"/>
              </a:xfrm>
              <a:prstGeom prst="rect">
                <a:avLst/>
              </a:prstGeom>
              <a:noFill/>
            </p:spPr>
            <p:txBody>
              <a:bodyPr vert="eaVert" wrap="square" rtlCol="0">
                <a:noAutofit/>
              </a:bodyPr>
              <a:p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Quanlity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 rot="1380000">
                <a:off x="9347" y="2733"/>
                <a:ext cx="1071" cy="1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Latency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 rot="19800000">
                <a:off x="11111" y="2773"/>
                <a:ext cx="1400" cy="33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Model Siz</a:t>
                </a: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41" name="文本框 40"/>
            <p:cNvSpPr txBox="1"/>
            <p:nvPr/>
          </p:nvSpPr>
          <p:spPr>
            <a:xfrm>
              <a:off x="9270" y="2679"/>
              <a:ext cx="2510" cy="6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Resource and 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quality Profiling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063865" y="567690"/>
            <a:ext cx="1606550" cy="1539240"/>
            <a:chOff x="12815" y="894"/>
            <a:chExt cx="2530" cy="2424"/>
          </a:xfrm>
        </p:grpSpPr>
        <p:grpSp>
          <p:nvGrpSpPr>
            <p:cNvPr id="47" name="组合 46"/>
            <p:cNvGrpSpPr/>
            <p:nvPr/>
          </p:nvGrpSpPr>
          <p:grpSpPr>
            <a:xfrm>
              <a:off x="12991" y="894"/>
              <a:ext cx="1857" cy="1461"/>
              <a:chOff x="12991" y="894"/>
              <a:chExt cx="1634" cy="1317"/>
            </a:xfrm>
          </p:grpSpPr>
          <p:pic>
            <p:nvPicPr>
              <p:cNvPr id="43" name="图片 42" descr="cc1ebeea-71a4-433c-afac-5d7c93ec5479"/>
              <p:cNvPicPr>
                <a:picLocks noChangeAspect="1"/>
              </p:cNvPicPr>
              <p:nvPr/>
            </p:nvPicPr>
            <p:blipFill>
              <a:blip r:embed="rId1"/>
              <a:srcRect l="62797" t="11719" r="21719" b="56609"/>
              <a:stretch>
                <a:fillRect/>
              </a:stretch>
            </p:blipFill>
            <p:spPr>
              <a:xfrm>
                <a:off x="13003" y="1122"/>
                <a:ext cx="1594" cy="1088"/>
              </a:xfrm>
              <a:prstGeom prst="rect">
                <a:avLst/>
              </a:prstGeom>
            </p:spPr>
          </p:pic>
          <p:cxnSp>
            <p:nvCxnSpPr>
              <p:cNvPr id="45" name="直接箭头连接符 44"/>
              <p:cNvCxnSpPr/>
              <p:nvPr/>
            </p:nvCxnSpPr>
            <p:spPr>
              <a:xfrm flipH="1" flipV="1">
                <a:off x="12991" y="894"/>
                <a:ext cx="12" cy="13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/>
              <p:nvPr/>
            </p:nvCxnSpPr>
            <p:spPr>
              <a:xfrm>
                <a:off x="13008" y="2211"/>
                <a:ext cx="161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8" name="文本框 47"/>
            <p:cNvSpPr txBox="1"/>
            <p:nvPr/>
          </p:nvSpPr>
          <p:spPr>
            <a:xfrm>
              <a:off x="13056" y="2384"/>
              <a:ext cx="1767" cy="44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Resource Cost 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2815" y="2824"/>
              <a:ext cx="2530" cy="49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Pareto Selection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0203180" y="497205"/>
            <a:ext cx="1606550" cy="1548765"/>
            <a:chOff x="16066" y="783"/>
            <a:chExt cx="2530" cy="2439"/>
          </a:xfrm>
        </p:grpSpPr>
        <p:pic>
          <p:nvPicPr>
            <p:cNvPr id="50" name="图片 49" descr="cc1ebeea-71a4-433c-afac-5d7c93ec5479"/>
            <p:cNvPicPr>
              <a:picLocks noChangeAspect="1"/>
            </p:cNvPicPr>
            <p:nvPr/>
          </p:nvPicPr>
          <p:blipFill>
            <a:blip r:embed="rId1"/>
            <a:srcRect l="81792" t="10547" r="3135" b="53438"/>
            <a:stretch>
              <a:fillRect/>
            </a:stretch>
          </p:blipFill>
          <p:spPr>
            <a:xfrm>
              <a:off x="16066" y="783"/>
              <a:ext cx="2212" cy="1762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>
              <a:off x="16066" y="2728"/>
              <a:ext cx="2530" cy="494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NAS-Selected Encoder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8646160" y="581660"/>
            <a:ext cx="1167130" cy="233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Pareto Front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142240" y="2818130"/>
            <a:ext cx="777240" cy="1380490"/>
            <a:chOff x="224" y="4438"/>
            <a:chExt cx="1224" cy="2174"/>
          </a:xfrm>
        </p:grpSpPr>
        <p:pic>
          <p:nvPicPr>
            <p:cNvPr id="56" name="图片 55" descr="cc1ebeea-71a4-433c-afac-5d7c93ec5479"/>
            <p:cNvPicPr>
              <a:picLocks noChangeAspect="1"/>
            </p:cNvPicPr>
            <p:nvPr/>
          </p:nvPicPr>
          <p:blipFill>
            <a:blip r:embed="rId1"/>
            <a:srcRect l="1760" t="52437" r="86365" b="7984"/>
            <a:stretch>
              <a:fillRect/>
            </a:stretch>
          </p:blipFill>
          <p:spPr>
            <a:xfrm>
              <a:off x="224" y="4438"/>
              <a:ext cx="1224" cy="1360"/>
            </a:xfrm>
            <a:prstGeom prst="rect">
              <a:avLst/>
            </a:prstGeom>
          </p:spPr>
        </p:pic>
        <p:sp>
          <p:nvSpPr>
            <p:cNvPr id="62" name="文本框 61"/>
            <p:cNvSpPr txBox="1"/>
            <p:nvPr/>
          </p:nvSpPr>
          <p:spPr>
            <a:xfrm>
              <a:off x="224" y="5846"/>
              <a:ext cx="1200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16k Hz </a:t>
              </a:r>
              <a:b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Input Speech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035050" y="2855595"/>
            <a:ext cx="828675" cy="1343025"/>
            <a:chOff x="1699" y="4497"/>
            <a:chExt cx="1305" cy="2115"/>
          </a:xfrm>
        </p:grpSpPr>
        <p:pic>
          <p:nvPicPr>
            <p:cNvPr id="57" name="图片 56" descr="cc1ebeea-71a4-433c-afac-5d7c93ec5479"/>
            <p:cNvPicPr>
              <a:picLocks noChangeAspect="1"/>
            </p:cNvPicPr>
            <p:nvPr/>
          </p:nvPicPr>
          <p:blipFill>
            <a:blip r:embed="rId1"/>
            <a:srcRect l="16901" t="52437" r="72198" b="6734"/>
            <a:stretch>
              <a:fillRect/>
            </a:stretch>
          </p:blipFill>
          <p:spPr>
            <a:xfrm>
              <a:off x="1831" y="4497"/>
              <a:ext cx="1041" cy="1301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1699" y="5846"/>
              <a:ext cx="1305" cy="7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Nas-Selected SEANet Encoder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1979295" y="2772410"/>
            <a:ext cx="922020" cy="1426210"/>
            <a:chOff x="3162" y="4402"/>
            <a:chExt cx="1452" cy="2246"/>
          </a:xfrm>
        </p:grpSpPr>
        <p:pic>
          <p:nvPicPr>
            <p:cNvPr id="58" name="图片 57" descr="cc1ebeea-71a4-433c-afac-5d7c93ec5479"/>
            <p:cNvPicPr>
              <a:picLocks noChangeAspect="1"/>
            </p:cNvPicPr>
            <p:nvPr/>
          </p:nvPicPr>
          <p:blipFill>
            <a:blip r:embed="rId1"/>
            <a:srcRect l="30167" t="53989" r="58375" b="4429"/>
            <a:stretch>
              <a:fillRect/>
            </a:stretch>
          </p:blipFill>
          <p:spPr>
            <a:xfrm>
              <a:off x="3162" y="4402"/>
              <a:ext cx="1452" cy="1480"/>
            </a:xfrm>
            <a:prstGeom prst="rect">
              <a:avLst/>
            </a:prstGeom>
          </p:spPr>
        </p:pic>
        <p:sp>
          <p:nvSpPr>
            <p:cNvPr id="65" name="文本框 64"/>
            <p:cNvSpPr txBox="1"/>
            <p:nvPr/>
          </p:nvSpPr>
          <p:spPr>
            <a:xfrm>
              <a:off x="3162" y="5882"/>
              <a:ext cx="1387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Conytinous Latent z</a:t>
              </a:r>
              <a:b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50 Hz,d~1014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016885" y="2543175"/>
            <a:ext cx="2884805" cy="1548130"/>
            <a:chOff x="4751" y="4005"/>
            <a:chExt cx="4543" cy="2438"/>
          </a:xfrm>
        </p:grpSpPr>
        <p:grpSp>
          <p:nvGrpSpPr>
            <p:cNvPr id="73" name="组合 72"/>
            <p:cNvGrpSpPr/>
            <p:nvPr/>
          </p:nvGrpSpPr>
          <p:grpSpPr>
            <a:xfrm>
              <a:off x="4751" y="4005"/>
              <a:ext cx="1388" cy="2227"/>
              <a:chOff x="4816" y="4005"/>
              <a:chExt cx="1388" cy="2227"/>
            </a:xfrm>
          </p:grpSpPr>
          <p:pic>
            <p:nvPicPr>
              <p:cNvPr id="59" name="图片 58" descr="cc1ebeea-71a4-433c-afac-5d7c93ec5479"/>
              <p:cNvPicPr>
                <a:picLocks noChangeAspect="1"/>
              </p:cNvPicPr>
              <p:nvPr/>
            </p:nvPicPr>
            <p:blipFill>
              <a:blip r:embed="rId1"/>
              <a:srcRect l="45375" t="53989" r="39766" b="4646"/>
              <a:stretch>
                <a:fillRect/>
              </a:stretch>
            </p:blipFill>
            <p:spPr>
              <a:xfrm>
                <a:off x="4816" y="4005"/>
                <a:ext cx="1388" cy="1207"/>
              </a:xfrm>
              <a:prstGeom prst="rect">
                <a:avLst/>
              </a:prstGeom>
            </p:spPr>
          </p:pic>
          <p:sp>
            <p:nvSpPr>
              <p:cNvPr id="68" name="文本框 67"/>
              <p:cNvSpPr txBox="1"/>
              <p:nvPr/>
            </p:nvSpPr>
            <p:spPr>
              <a:xfrm>
                <a:off x="4819" y="5400"/>
                <a:ext cx="1382" cy="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p>
                <a:pPr algn="ctr"/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Q1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Codebook C1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Coarse Content</a:t>
                </a:r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6321" y="4005"/>
              <a:ext cx="1371" cy="2399"/>
              <a:chOff x="6302" y="4005"/>
              <a:chExt cx="1371" cy="2399"/>
            </a:xfrm>
          </p:grpSpPr>
          <p:pic>
            <p:nvPicPr>
              <p:cNvPr id="60" name="图片 59" descr="cc1ebeea-71a4-433c-afac-5d7c93ec5479"/>
              <p:cNvPicPr>
                <a:picLocks noChangeAspect="1"/>
              </p:cNvPicPr>
              <p:nvPr/>
            </p:nvPicPr>
            <p:blipFill>
              <a:blip r:embed="rId1"/>
              <a:srcRect l="63083" t="53989" r="22198" b="4646"/>
              <a:stretch>
                <a:fillRect/>
              </a:stretch>
            </p:blipFill>
            <p:spPr>
              <a:xfrm>
                <a:off x="6302" y="4005"/>
                <a:ext cx="1371" cy="1204"/>
              </a:xfrm>
              <a:prstGeom prst="rect">
                <a:avLst/>
              </a:prstGeom>
            </p:spPr>
          </p:pic>
          <p:sp>
            <p:nvSpPr>
              <p:cNvPr id="69" name="文本框 68"/>
              <p:cNvSpPr txBox="1"/>
              <p:nvPr/>
            </p:nvSpPr>
            <p:spPr>
              <a:xfrm>
                <a:off x="6303" y="5424"/>
                <a:ext cx="1370" cy="98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p>
                <a:pPr algn="ctr"/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Q2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Codebook C2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Acoustic Refinement</a:t>
                </a:r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874" y="4005"/>
              <a:ext cx="1420" cy="2439"/>
              <a:chOff x="7875" y="4005"/>
              <a:chExt cx="1420" cy="2439"/>
            </a:xfrm>
          </p:grpSpPr>
          <p:pic>
            <p:nvPicPr>
              <p:cNvPr id="61" name="图片 60" descr="cc1ebeea-71a4-433c-afac-5d7c93ec5479"/>
              <p:cNvPicPr>
                <a:picLocks noChangeAspect="1"/>
              </p:cNvPicPr>
              <p:nvPr/>
            </p:nvPicPr>
            <p:blipFill>
              <a:blip r:embed="rId1"/>
              <a:srcRect l="82318" t="53772" r="3031" b="4646"/>
              <a:stretch>
                <a:fillRect/>
              </a:stretch>
            </p:blipFill>
            <p:spPr>
              <a:xfrm>
                <a:off x="7875" y="4005"/>
                <a:ext cx="1420" cy="1259"/>
              </a:xfrm>
              <a:prstGeom prst="rect">
                <a:avLst/>
              </a:prstGeom>
            </p:spPr>
          </p:pic>
          <p:sp>
            <p:nvSpPr>
              <p:cNvPr id="70" name="文本框 69"/>
              <p:cNvSpPr txBox="1"/>
              <p:nvPr/>
            </p:nvSpPr>
            <p:spPr>
              <a:xfrm>
                <a:off x="7892" y="5424"/>
                <a:ext cx="1386" cy="10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noAutofit/>
              </a:bodyPr>
              <a:p>
                <a:pPr algn="ctr"/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Q3</a:t>
                </a:r>
                <a:b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</a:br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Codebook C3</a:t>
                </a:r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Fine Acoustic Refinement</a:t>
                </a:r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75" name="右大括号 74"/>
          <p:cNvSpPr/>
          <p:nvPr/>
        </p:nvSpPr>
        <p:spPr>
          <a:xfrm rot="5400000">
            <a:off x="4383723" y="3201670"/>
            <a:ext cx="151130" cy="1709420"/>
          </a:xfrm>
          <a:prstGeom prst="rightBrace">
            <a:avLst>
              <a:gd name="adj1" fmla="val 16502"/>
              <a:gd name="adj2" fmla="val 489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/>
              <p:cNvSpPr txBox="1"/>
              <p:nvPr/>
            </p:nvSpPr>
            <p:spPr>
              <a:xfrm>
                <a:off x="3662680" y="4198620"/>
                <a:ext cx="1710055" cy="1822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800" b="1">
                    <a:latin typeface="Times New Roman" panose="02020603050405020304" charset="0"/>
                    <a:cs typeface="Times New Roman" panose="02020603050405020304" charset="0"/>
                  </a:rPr>
                  <a:t>Quantized Latent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𝒒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sz="8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𝒒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sz="800" b="1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8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𝒒</m:t>
                        </m:r>
                      </m:e>
                      <m:sub>
                        <m:r>
                          <a:rPr lang="en-US" altLang="zh-CN" sz="800" b="1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7" name="文本框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680" y="4198620"/>
                <a:ext cx="1710055" cy="1822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圆角矩形 77"/>
          <p:cNvSpPr/>
          <p:nvPr/>
        </p:nvSpPr>
        <p:spPr>
          <a:xfrm>
            <a:off x="271780" y="2329180"/>
            <a:ext cx="5456555" cy="213995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2 SPEECH ENCODING AND THREE-LAYER RVQ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2" name="图片 81" descr="15_communication_chan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970" y="2802890"/>
            <a:ext cx="710565" cy="1005840"/>
          </a:xfrm>
          <a:prstGeom prst="rect">
            <a:avLst/>
          </a:prstGeom>
        </p:spPr>
      </p:pic>
      <p:grpSp>
        <p:nvGrpSpPr>
          <p:cNvPr id="92" name="组合 91"/>
          <p:cNvGrpSpPr/>
          <p:nvPr/>
        </p:nvGrpSpPr>
        <p:grpSpPr>
          <a:xfrm>
            <a:off x="6226810" y="2941320"/>
            <a:ext cx="721360" cy="1190625"/>
            <a:chOff x="9806" y="4632"/>
            <a:chExt cx="1136" cy="1875"/>
          </a:xfrm>
        </p:grpSpPr>
        <p:pic>
          <p:nvPicPr>
            <p:cNvPr id="83" name="图片 82" descr="d7194677-731e-404a-8019-7c4bca95c540"/>
            <p:cNvPicPr>
              <a:picLocks noChangeAspect="1"/>
            </p:cNvPicPr>
            <p:nvPr/>
          </p:nvPicPr>
          <p:blipFill>
            <a:blip r:embed="rId4"/>
            <a:srcRect l="21924" t="19179" r="21361" b="15168"/>
            <a:stretch>
              <a:fillRect/>
            </a:stretch>
          </p:blipFill>
          <p:spPr>
            <a:xfrm>
              <a:off x="9853" y="4632"/>
              <a:ext cx="1042" cy="872"/>
            </a:xfrm>
            <a:prstGeom prst="rect">
              <a:avLst/>
            </a:prstGeom>
          </p:spPr>
        </p:pic>
        <p:sp>
          <p:nvSpPr>
            <p:cNvPr id="84" name="文本框 83"/>
            <p:cNvSpPr txBox="1"/>
            <p:nvPr/>
          </p:nvSpPr>
          <p:spPr>
            <a:xfrm>
              <a:off x="9806" y="5741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Three-layers</a:t>
              </a:r>
              <a:b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Descrete indices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7119620" y="2895600"/>
            <a:ext cx="721360" cy="1236345"/>
            <a:chOff x="11409" y="4560"/>
            <a:chExt cx="1136" cy="1947"/>
          </a:xfrm>
        </p:grpSpPr>
        <p:pic>
          <p:nvPicPr>
            <p:cNvPr id="80" name="图片 79" descr="9bf390ca-be59-4b23-80f1-c32c53ed7727"/>
            <p:cNvPicPr>
              <a:picLocks noChangeAspect="1"/>
            </p:cNvPicPr>
            <p:nvPr/>
          </p:nvPicPr>
          <p:blipFill>
            <a:blip r:embed="rId5"/>
            <a:srcRect l="21667" t="8542" r="62417" b="51708"/>
            <a:stretch>
              <a:fillRect/>
            </a:stretch>
          </p:blipFill>
          <p:spPr>
            <a:xfrm>
              <a:off x="11456" y="4560"/>
              <a:ext cx="1042" cy="1091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11409" y="5741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indices packing and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packetization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8012430" y="2855595"/>
            <a:ext cx="721360" cy="1272540"/>
            <a:chOff x="13052" y="4560"/>
            <a:chExt cx="1136" cy="2004"/>
          </a:xfrm>
        </p:grpSpPr>
        <p:pic>
          <p:nvPicPr>
            <p:cNvPr id="81" name="图片 80" descr="9bf390ca-be59-4b23-80f1-c32c53ed7727"/>
            <p:cNvPicPr>
              <a:picLocks noChangeAspect="1"/>
            </p:cNvPicPr>
            <p:nvPr/>
          </p:nvPicPr>
          <p:blipFill>
            <a:blip r:embed="rId5"/>
            <a:srcRect l="41917" t="12708" r="45667" b="55292"/>
            <a:stretch>
              <a:fillRect/>
            </a:stretch>
          </p:blipFill>
          <p:spPr>
            <a:xfrm>
              <a:off x="13388" y="4560"/>
              <a:ext cx="465" cy="1057"/>
            </a:xfrm>
            <a:prstGeom prst="rect">
              <a:avLst/>
            </a:prstGeom>
          </p:spPr>
        </p:pic>
        <p:sp>
          <p:nvSpPr>
            <p:cNvPr id="86" name="文本框 85"/>
            <p:cNvSpPr txBox="1"/>
            <p:nvPr/>
          </p:nvSpPr>
          <p:spPr>
            <a:xfrm>
              <a:off x="13052" y="5798"/>
              <a:ext cx="1136" cy="766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Descrete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Index</a:t>
              </a:r>
              <a:b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</a:b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Bitstream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6713855" y="4198620"/>
            <a:ext cx="1807210" cy="21907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Nominal Index Payload:1.5k bit/s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6196330" y="2329180"/>
            <a:ext cx="2813050" cy="47371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3 DISCRETE INDEX TRANSMISSION</a:t>
            </a: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9871075" y="2941320"/>
            <a:ext cx="295275" cy="1151255"/>
            <a:chOff x="15545" y="4632"/>
            <a:chExt cx="465" cy="1813"/>
          </a:xfrm>
        </p:grpSpPr>
        <p:pic>
          <p:nvPicPr>
            <p:cNvPr id="94" name="图片 93" descr="c8f1a6ca-b578-483a-865a-ce4a1dbec616"/>
            <p:cNvPicPr>
              <a:picLocks noChangeAspect="1"/>
            </p:cNvPicPr>
            <p:nvPr/>
          </p:nvPicPr>
          <p:blipFill>
            <a:blip r:embed="rId6"/>
            <a:srcRect l="14519" t="15157" r="12815" b="13583"/>
            <a:stretch>
              <a:fillRect/>
            </a:stretch>
          </p:blipFill>
          <p:spPr>
            <a:xfrm>
              <a:off x="15546" y="4632"/>
              <a:ext cx="464" cy="455"/>
            </a:xfrm>
            <a:prstGeom prst="rect">
              <a:avLst/>
            </a:prstGeom>
          </p:spPr>
        </p:pic>
        <p:pic>
          <p:nvPicPr>
            <p:cNvPr id="95" name="图片 94" descr="7862e301-edaf-4de6-9dfa-2ad5d7503949"/>
            <p:cNvPicPr>
              <a:picLocks noChangeAspect="1"/>
            </p:cNvPicPr>
            <p:nvPr/>
          </p:nvPicPr>
          <p:blipFill>
            <a:blip r:embed="rId7"/>
            <a:srcRect l="13676" t="14167" r="13296" b="12065"/>
            <a:stretch>
              <a:fillRect/>
            </a:stretch>
          </p:blipFill>
          <p:spPr>
            <a:xfrm>
              <a:off x="15545" y="5314"/>
              <a:ext cx="465" cy="470"/>
            </a:xfrm>
            <a:prstGeom prst="rect">
              <a:avLst/>
            </a:prstGeom>
          </p:spPr>
        </p:pic>
        <p:pic>
          <p:nvPicPr>
            <p:cNvPr id="96" name="图片 95" descr="bd4ac1a9-6e21-4e47-99b4-9574fba68f2d"/>
            <p:cNvPicPr>
              <a:picLocks noChangeAspect="1"/>
            </p:cNvPicPr>
            <p:nvPr/>
          </p:nvPicPr>
          <p:blipFill>
            <a:blip r:embed="rId8"/>
            <a:srcRect l="11750" t="15815" r="11972" b="12991"/>
            <a:stretch>
              <a:fillRect/>
            </a:stretch>
          </p:blipFill>
          <p:spPr>
            <a:xfrm>
              <a:off x="15545" y="6011"/>
              <a:ext cx="464" cy="434"/>
            </a:xfrm>
            <a:prstGeom prst="rect">
              <a:avLst/>
            </a:prstGeom>
          </p:spPr>
        </p:pic>
      </p:grpSp>
      <p:grpSp>
        <p:nvGrpSpPr>
          <p:cNvPr id="107" name="组合 106"/>
          <p:cNvGrpSpPr/>
          <p:nvPr/>
        </p:nvGrpSpPr>
        <p:grpSpPr>
          <a:xfrm>
            <a:off x="10346690" y="3006090"/>
            <a:ext cx="132080" cy="1085850"/>
            <a:chOff x="16294" y="4734"/>
            <a:chExt cx="208" cy="1710"/>
          </a:xfrm>
        </p:grpSpPr>
        <p:pic>
          <p:nvPicPr>
            <p:cNvPr id="97" name="图片 96" descr="dfc0eb08-8648-49bc-b9e7-1b32206086d8"/>
            <p:cNvPicPr>
              <a:picLocks noChangeAspect="1"/>
            </p:cNvPicPr>
            <p:nvPr/>
          </p:nvPicPr>
          <p:blipFill>
            <a:blip r:embed="rId9"/>
            <a:srcRect l="32333" t="21704" r="31852" b="17685"/>
            <a:stretch>
              <a:fillRect/>
            </a:stretch>
          </p:blipFill>
          <p:spPr>
            <a:xfrm>
              <a:off x="16294" y="4734"/>
              <a:ext cx="208" cy="353"/>
            </a:xfrm>
            <a:prstGeom prst="rect">
              <a:avLst/>
            </a:prstGeom>
          </p:spPr>
        </p:pic>
        <p:pic>
          <p:nvPicPr>
            <p:cNvPr id="98" name="图片 97" descr="dfc0eb08-8648-49bc-b9e7-1b32206086d8"/>
            <p:cNvPicPr>
              <a:picLocks noChangeAspect="1"/>
            </p:cNvPicPr>
            <p:nvPr/>
          </p:nvPicPr>
          <p:blipFill>
            <a:blip r:embed="rId9"/>
            <a:srcRect l="32333" t="21704" r="31852" b="17685"/>
            <a:stretch>
              <a:fillRect/>
            </a:stretch>
          </p:blipFill>
          <p:spPr>
            <a:xfrm>
              <a:off x="16294" y="5413"/>
              <a:ext cx="208" cy="353"/>
            </a:xfrm>
            <a:prstGeom prst="rect">
              <a:avLst/>
            </a:prstGeom>
          </p:spPr>
        </p:pic>
        <p:pic>
          <p:nvPicPr>
            <p:cNvPr id="99" name="图片 98" descr="dfc0eb08-8648-49bc-b9e7-1b32206086d8"/>
            <p:cNvPicPr>
              <a:picLocks noChangeAspect="1"/>
            </p:cNvPicPr>
            <p:nvPr/>
          </p:nvPicPr>
          <p:blipFill>
            <a:blip r:embed="rId9"/>
            <a:srcRect l="32333" t="21704" r="31852" b="17685"/>
            <a:stretch>
              <a:fillRect/>
            </a:stretch>
          </p:blipFill>
          <p:spPr>
            <a:xfrm>
              <a:off x="16294" y="6092"/>
              <a:ext cx="208" cy="353"/>
            </a:xfrm>
            <a:prstGeom prst="rect">
              <a:avLst/>
            </a:prstGeom>
          </p:spPr>
        </p:pic>
      </p:grpSp>
      <p:pic>
        <p:nvPicPr>
          <p:cNvPr id="100" name="图片 99" descr="dc050bba-d4ad-48da-89b4-f344745e7686"/>
          <p:cNvPicPr>
            <a:picLocks noChangeAspect="1"/>
          </p:cNvPicPr>
          <p:nvPr/>
        </p:nvPicPr>
        <p:blipFill>
          <a:blip r:embed="rId10"/>
          <a:srcRect l="9241" t="9019" r="8935" b="10611"/>
          <a:stretch>
            <a:fillRect/>
          </a:stretch>
        </p:blipFill>
        <p:spPr>
          <a:xfrm>
            <a:off x="10652760" y="3432493"/>
            <a:ext cx="236855" cy="233045"/>
          </a:xfrm>
          <a:prstGeom prst="rect">
            <a:avLst/>
          </a:prstGeom>
        </p:spPr>
      </p:pic>
      <p:pic>
        <p:nvPicPr>
          <p:cNvPr id="101" name="图片 100" descr="cc3b91b1-8189-41d5-9da9-3bfd8725ed8e"/>
          <p:cNvPicPr>
            <a:picLocks noChangeAspect="1"/>
          </p:cNvPicPr>
          <p:nvPr/>
        </p:nvPicPr>
        <p:blipFill>
          <a:blip r:embed="rId11"/>
          <a:srcRect l="28419" t="11889" r="28291" b="11148"/>
          <a:stretch>
            <a:fillRect/>
          </a:stretch>
        </p:blipFill>
        <p:spPr>
          <a:xfrm>
            <a:off x="11000105" y="3391853"/>
            <a:ext cx="178435" cy="314325"/>
          </a:xfrm>
          <a:prstGeom prst="rect">
            <a:avLst/>
          </a:prstGeom>
        </p:spPr>
      </p:pic>
      <p:pic>
        <p:nvPicPr>
          <p:cNvPr id="102" name="图片 101" descr="c3303f19-7763-40bd-a6a6-b1eb2552d00a"/>
          <p:cNvPicPr>
            <a:picLocks noChangeAspect="1"/>
          </p:cNvPicPr>
          <p:nvPr/>
        </p:nvPicPr>
        <p:blipFill>
          <a:blip r:embed="rId12"/>
          <a:srcRect l="20204" t="4787" r="18944" b="3944"/>
          <a:stretch>
            <a:fillRect/>
          </a:stretch>
        </p:blipFill>
        <p:spPr>
          <a:xfrm>
            <a:off x="11320780" y="3305810"/>
            <a:ext cx="324485" cy="486410"/>
          </a:xfrm>
          <a:prstGeom prst="rect">
            <a:avLst/>
          </a:prstGeom>
        </p:spPr>
      </p:pic>
      <p:pic>
        <p:nvPicPr>
          <p:cNvPr id="103" name="图片 102" descr="18_reconstructed_speech_wavefor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87505" y="3320415"/>
            <a:ext cx="177800" cy="457200"/>
          </a:xfrm>
          <a:prstGeom prst="rect">
            <a:avLst/>
          </a:prstGeom>
        </p:spPr>
      </p:pic>
      <p:pic>
        <p:nvPicPr>
          <p:cNvPr id="104" name="图片 103" descr="16_three_codebook_vector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7535" y="3230245"/>
            <a:ext cx="205105" cy="527685"/>
          </a:xfrm>
          <a:prstGeom prst="rect">
            <a:avLst/>
          </a:prstGeom>
        </p:spPr>
      </p:pic>
      <p:sp>
        <p:nvSpPr>
          <p:cNvPr id="105" name="圆角矩形 104"/>
          <p:cNvSpPr/>
          <p:nvPr/>
        </p:nvSpPr>
        <p:spPr>
          <a:xfrm>
            <a:off x="9334500" y="2298700"/>
            <a:ext cx="2631440" cy="473710"/>
          </a:xfrm>
          <a:prstGeom prst="roundRect">
            <a:avLst>
              <a:gd name="adj" fmla="val 1883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0" rIns="0"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4 SHARED CODEBOOK  DECODING 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9777730" y="4131945"/>
            <a:ext cx="569595" cy="28067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Preshared Codebooks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10387330" y="2895600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330" y="2895600"/>
                <a:ext cx="236855" cy="182880"/>
              </a:xfrm>
              <a:prstGeom prst="rect">
                <a:avLst/>
              </a:prstGeom>
              <a:blipFill rotWithShape="1">
                <a:blip r:embed="rId15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/>
              <p:cNvSpPr txBox="1"/>
              <p:nvPr/>
            </p:nvSpPr>
            <p:spPr>
              <a:xfrm>
                <a:off x="10410825" y="3278505"/>
                <a:ext cx="18986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0" name="文本框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825" y="3278505"/>
                <a:ext cx="189865" cy="182880"/>
              </a:xfrm>
              <a:prstGeom prst="rect">
                <a:avLst/>
              </a:prstGeom>
              <a:blipFill rotWithShape="1">
                <a:blip r:embed="rId16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/>
              <p:cNvSpPr txBox="1"/>
              <p:nvPr/>
            </p:nvSpPr>
            <p:spPr>
              <a:xfrm>
                <a:off x="10410825" y="3726180"/>
                <a:ext cx="177800" cy="1676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1" name="文本框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0825" y="3726180"/>
                <a:ext cx="177800" cy="167640"/>
              </a:xfrm>
              <a:prstGeom prst="rect">
                <a:avLst/>
              </a:prstGeom>
              <a:blipFill rotWithShape="1">
                <a:blip r:embed="rId17"/>
                <a:stretch>
                  <a:fillRect b="-28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/>
              <p:cNvSpPr txBox="1"/>
              <p:nvPr/>
            </p:nvSpPr>
            <p:spPr>
              <a:xfrm>
                <a:off x="9455785" y="3022600"/>
                <a:ext cx="236855" cy="1828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1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8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2" name="文本框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785" y="3022600"/>
                <a:ext cx="236855" cy="182880"/>
              </a:xfrm>
              <a:prstGeom prst="rect">
                <a:avLst/>
              </a:prstGeom>
              <a:blipFill rotWithShape="1">
                <a:blip r:embed="rId18"/>
                <a:stretch>
                  <a:fillRect b="-2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本框 113"/>
          <p:cNvSpPr txBox="1"/>
          <p:nvPr/>
        </p:nvSpPr>
        <p:spPr>
          <a:xfrm>
            <a:off x="10804525" y="3028950"/>
            <a:ext cx="569595" cy="28067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endParaRPr lang="en-US" altLang="zh-CN" sz="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0739755" y="3816985"/>
            <a:ext cx="690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Recovered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ClrTx/>
              <a:buSzTx/>
              <a:buNone/>
            </a:pP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Quantized Latent z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1238230" y="3022600"/>
            <a:ext cx="488950" cy="245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>
              <a:buClrTx/>
              <a:buSzTx/>
              <a:buNone/>
            </a:pP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SEANet</a:t>
            </a:r>
            <a:b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Decoder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9" name="图片 118" descr="cc1ebeea-71a4-433c-afac-5d7c93ec5479"/>
          <p:cNvPicPr>
            <a:picLocks noChangeAspect="1"/>
          </p:cNvPicPr>
          <p:nvPr/>
        </p:nvPicPr>
        <p:blipFill>
          <a:blip r:embed="rId1"/>
          <a:srcRect l="1760" t="52437" r="86365" b="7984"/>
          <a:stretch>
            <a:fillRect/>
          </a:stretch>
        </p:blipFill>
        <p:spPr>
          <a:xfrm>
            <a:off x="271780" y="5173980"/>
            <a:ext cx="370205" cy="863600"/>
          </a:xfrm>
          <a:prstGeom prst="rect">
            <a:avLst/>
          </a:prstGeom>
        </p:spPr>
      </p:pic>
      <p:sp>
        <p:nvSpPr>
          <p:cNvPr id="121" name="圆角矩形 120"/>
          <p:cNvSpPr/>
          <p:nvPr/>
        </p:nvSpPr>
        <p:spPr>
          <a:xfrm>
            <a:off x="673735" y="4753610"/>
            <a:ext cx="1106170" cy="275590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Frozen HUBERT Teacher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756920" y="6317615"/>
            <a:ext cx="809625" cy="21971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VQ Commitent</a:t>
            </a: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7" name="圆角矩形 126"/>
          <p:cNvSpPr/>
          <p:nvPr/>
        </p:nvSpPr>
        <p:spPr>
          <a:xfrm flipH="1">
            <a:off x="2957195" y="6353810"/>
            <a:ext cx="1129665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reconstruction loss</a:t>
            </a:r>
            <a:endParaRPr lang="zh-CN" altLang="en-US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951230" y="5252720"/>
            <a:ext cx="1413510" cy="873125"/>
            <a:chOff x="2176" y="8284"/>
            <a:chExt cx="2226" cy="1375"/>
          </a:xfrm>
        </p:grpSpPr>
        <p:pic>
          <p:nvPicPr>
            <p:cNvPr id="128" name="图片 127" descr="443e1ca6-7837-4a68-81e8-dcd92647944d"/>
            <p:cNvPicPr>
              <a:picLocks noChangeAspect="1"/>
            </p:cNvPicPr>
            <p:nvPr/>
          </p:nvPicPr>
          <p:blipFill>
            <a:blip r:embed="rId19"/>
            <a:srcRect l="6773" t="27491" r="6081" b="31028"/>
            <a:stretch>
              <a:fillRect/>
            </a:stretch>
          </p:blipFill>
          <p:spPr>
            <a:xfrm>
              <a:off x="2308" y="8284"/>
              <a:ext cx="1962" cy="955"/>
            </a:xfrm>
            <a:prstGeom prst="rect">
              <a:avLst/>
            </a:prstGeom>
          </p:spPr>
        </p:pic>
        <p:sp>
          <p:nvSpPr>
            <p:cNvPr id="129" name="文本框 128"/>
            <p:cNvSpPr txBox="1"/>
            <p:nvPr/>
          </p:nvSpPr>
          <p:spPr>
            <a:xfrm>
              <a:off x="2176" y="9239"/>
              <a:ext cx="2226" cy="420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p>
              <a:pPr algn="ctr"/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SCIT-Speech Generator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>
            <a:off x="2578100" y="4763135"/>
            <a:ext cx="1192530" cy="1096010"/>
            <a:chOff x="4919" y="7515"/>
            <a:chExt cx="1878" cy="1726"/>
          </a:xfrm>
        </p:grpSpPr>
        <p:grpSp>
          <p:nvGrpSpPr>
            <p:cNvPr id="135" name="组合 134"/>
            <p:cNvGrpSpPr/>
            <p:nvPr/>
          </p:nvGrpSpPr>
          <p:grpSpPr>
            <a:xfrm>
              <a:off x="4994" y="7613"/>
              <a:ext cx="1741" cy="1626"/>
              <a:chOff x="8460" y="7677"/>
              <a:chExt cx="1741" cy="1626"/>
            </a:xfrm>
          </p:grpSpPr>
          <p:sp>
            <p:nvSpPr>
              <p:cNvPr id="123" name="圆角矩形 122"/>
              <p:cNvSpPr/>
              <p:nvPr/>
            </p:nvSpPr>
            <p:spPr>
              <a:xfrm flipH="1">
                <a:off x="8834" y="7677"/>
                <a:ext cx="981" cy="367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r">
                  <a:buClrTx/>
                  <a:buSzTx/>
                  <a:buFontTx/>
                </a:pP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Waveform</a:t>
                </a:r>
                <a:endPara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4" name="圆角矩形 123"/>
              <p:cNvSpPr/>
              <p:nvPr/>
            </p:nvSpPr>
            <p:spPr>
              <a:xfrm flipH="1">
                <a:off x="8838" y="8284"/>
                <a:ext cx="977" cy="288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Periodict</a:t>
                </a:r>
                <a:endPara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25" name="圆角矩形 124"/>
              <p:cNvSpPr/>
              <p:nvPr/>
            </p:nvSpPr>
            <p:spPr>
              <a:xfrm flipH="1">
                <a:off x="8829" y="8811"/>
                <a:ext cx="1372" cy="289"/>
              </a:xfrm>
              <a:prstGeom prst="roundRect">
                <a:avLst>
                  <a:gd name="adj" fmla="val 1883"/>
                </a:avLst>
              </a:prstGeom>
              <a:solidFill>
                <a:srgbClr val="E6F3FE"/>
              </a:solidFill>
            </p:spPr>
            <p:style>
              <a:lnRef idx="0">
                <a:srgbClr val="FFFFFF"/>
              </a:lnRef>
              <a:fillRef idx="2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Time</a:t>
                </a: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Frequency</a:t>
                </a:r>
                <a:endPara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131" name="图片 130" descr="cc3b91b1-8189-41d5-9da9-3bfd8725ed8e"/>
              <p:cNvPicPr>
                <a:picLocks noChangeAspect="1"/>
              </p:cNvPicPr>
              <p:nvPr/>
            </p:nvPicPr>
            <p:blipFill>
              <a:blip r:embed="rId11"/>
              <a:srcRect l="28419" t="11889" r="28291" b="11148"/>
              <a:stretch>
                <a:fillRect/>
              </a:stretch>
            </p:blipFill>
            <p:spPr>
              <a:xfrm>
                <a:off x="8461" y="7677"/>
                <a:ext cx="373" cy="471"/>
              </a:xfrm>
              <a:prstGeom prst="rect">
                <a:avLst/>
              </a:prstGeom>
            </p:spPr>
          </p:pic>
          <p:pic>
            <p:nvPicPr>
              <p:cNvPr id="132" name="图片 131" descr="cc3b91b1-8189-41d5-9da9-3bfd8725ed8e"/>
              <p:cNvPicPr>
                <a:picLocks noChangeAspect="1"/>
              </p:cNvPicPr>
              <p:nvPr/>
            </p:nvPicPr>
            <p:blipFill>
              <a:blip r:embed="rId11"/>
              <a:srcRect l="28419" t="11889" r="28291" b="11148"/>
              <a:stretch>
                <a:fillRect/>
              </a:stretch>
            </p:blipFill>
            <p:spPr>
              <a:xfrm>
                <a:off x="8461" y="8230"/>
                <a:ext cx="373" cy="471"/>
              </a:xfrm>
              <a:prstGeom prst="rect">
                <a:avLst/>
              </a:prstGeom>
            </p:spPr>
          </p:pic>
          <p:pic>
            <p:nvPicPr>
              <p:cNvPr id="134" name="图片 133" descr="1e26f853-d7f1-4482-a54f-9c3a2cc5ff44"/>
              <p:cNvPicPr>
                <a:picLocks noChangeAspect="1"/>
              </p:cNvPicPr>
              <p:nvPr/>
            </p:nvPicPr>
            <p:blipFill>
              <a:blip r:embed="rId20"/>
              <a:srcRect l="22839" t="50000" r="62302" b="5938"/>
              <a:stretch>
                <a:fillRect/>
              </a:stretch>
            </p:blipFill>
            <p:spPr>
              <a:xfrm>
                <a:off x="8460" y="8777"/>
                <a:ext cx="378" cy="527"/>
              </a:xfrm>
              <a:prstGeom prst="rect">
                <a:avLst/>
              </a:prstGeom>
            </p:spPr>
          </p:pic>
        </p:grpSp>
        <p:sp>
          <p:nvSpPr>
            <p:cNvPr id="136" name="圆角矩形 135"/>
            <p:cNvSpPr/>
            <p:nvPr/>
          </p:nvSpPr>
          <p:spPr>
            <a:xfrm>
              <a:off x="4919" y="7515"/>
              <a:ext cx="1878" cy="1726"/>
            </a:xfrm>
            <a:prstGeom prst="roundRect">
              <a:avLst>
                <a:gd name="adj" fmla="val 1883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4192270" y="4864735"/>
            <a:ext cx="1121410" cy="863600"/>
            <a:chOff x="7019" y="7486"/>
            <a:chExt cx="1766" cy="1360"/>
          </a:xfrm>
        </p:grpSpPr>
        <p:sp>
          <p:nvSpPr>
            <p:cNvPr id="126" name="圆角矩形 125"/>
            <p:cNvSpPr/>
            <p:nvPr/>
          </p:nvSpPr>
          <p:spPr>
            <a:xfrm flipH="1">
              <a:off x="7133" y="7572"/>
              <a:ext cx="1576" cy="511"/>
            </a:xfrm>
            <a:prstGeom prst="roundRect">
              <a:avLst>
                <a:gd name="adj" fmla="val 1883"/>
              </a:avLst>
            </a:prstGeom>
            <a:solidFill>
              <a:srgbClr val="E6F3FE"/>
            </a:solidFill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8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Waveform and Mel reconstruction</a:t>
              </a:r>
              <a:endParaRPr lang="en-US" altLang="zh-CN" sz="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138" name="图片 137" descr="1edf18d1-ddcc-44ee-a1d3-073cc1b6e1d2"/>
            <p:cNvPicPr>
              <a:picLocks noChangeAspect="1"/>
            </p:cNvPicPr>
            <p:nvPr/>
          </p:nvPicPr>
          <p:blipFill>
            <a:blip r:embed="rId21"/>
            <a:srcRect l="18486" t="32611" r="18215" b="32694"/>
            <a:stretch>
              <a:fillRect/>
            </a:stretch>
          </p:blipFill>
          <p:spPr>
            <a:xfrm>
              <a:off x="7133" y="8166"/>
              <a:ext cx="1548" cy="637"/>
            </a:xfrm>
            <a:prstGeom prst="rect">
              <a:avLst/>
            </a:prstGeom>
          </p:spPr>
        </p:pic>
        <p:sp>
          <p:nvSpPr>
            <p:cNvPr id="148" name="圆角矩形 147"/>
            <p:cNvSpPr/>
            <p:nvPr/>
          </p:nvSpPr>
          <p:spPr>
            <a:xfrm>
              <a:off x="7019" y="7486"/>
              <a:ext cx="1767" cy="1361"/>
            </a:xfrm>
            <a:prstGeom prst="roundRect">
              <a:avLst>
                <a:gd name="adj" fmla="val 1883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51" name="圆角矩形 150"/>
          <p:cNvSpPr/>
          <p:nvPr/>
        </p:nvSpPr>
        <p:spPr>
          <a:xfrm flipH="1">
            <a:off x="5542915" y="4825365"/>
            <a:ext cx="830580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Best Model Checkpoint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2" name="圆角矩形 151"/>
          <p:cNvSpPr/>
          <p:nvPr/>
        </p:nvSpPr>
        <p:spPr>
          <a:xfrm flipH="1">
            <a:off x="6544945" y="4864735"/>
            <a:ext cx="830580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Ramdam RVQ DeepSampling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3" name="圆角矩形 152"/>
          <p:cNvSpPr/>
          <p:nvPr/>
        </p:nvSpPr>
        <p:spPr>
          <a:xfrm flipH="1">
            <a:off x="6544945" y="5296535"/>
            <a:ext cx="830580" cy="260350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index perturbation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6674485" y="5662930"/>
            <a:ext cx="566420" cy="791210"/>
            <a:chOff x="10573" y="8918"/>
            <a:chExt cx="892" cy="1246"/>
          </a:xfrm>
        </p:grpSpPr>
        <p:pic>
          <p:nvPicPr>
            <p:cNvPr id="154" name="图片 153" descr="f0ca6182-a653-4a85-b473-8430671b4905"/>
            <p:cNvPicPr>
              <a:picLocks noChangeAspect="1"/>
            </p:cNvPicPr>
            <p:nvPr/>
          </p:nvPicPr>
          <p:blipFill>
            <a:blip r:embed="rId22"/>
            <a:srcRect l="15519" t="11065" r="15343" b="11963"/>
            <a:stretch>
              <a:fillRect/>
            </a:stretch>
          </p:blipFill>
          <p:spPr>
            <a:xfrm>
              <a:off x="10718" y="8918"/>
              <a:ext cx="603" cy="672"/>
            </a:xfrm>
            <a:prstGeom prst="rect">
              <a:avLst/>
            </a:prstGeom>
          </p:spPr>
        </p:pic>
        <p:sp>
          <p:nvSpPr>
            <p:cNvPr id="155" name="文本框 154"/>
            <p:cNvSpPr txBox="1"/>
            <p:nvPr/>
          </p:nvSpPr>
          <p:spPr>
            <a:xfrm>
              <a:off x="10573" y="9634"/>
              <a:ext cx="89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Shared Decoder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5785485" y="5523865"/>
            <a:ext cx="621030" cy="471805"/>
            <a:chOff x="9111" y="8699"/>
            <a:chExt cx="978" cy="743"/>
          </a:xfrm>
        </p:grpSpPr>
        <p:pic>
          <p:nvPicPr>
            <p:cNvPr id="158" name="图片 157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345" y="8978"/>
              <a:ext cx="511" cy="465"/>
            </a:xfrm>
            <a:prstGeom prst="rect">
              <a:avLst/>
            </a:prstGeom>
          </p:spPr>
        </p:pic>
        <p:sp>
          <p:nvSpPr>
            <p:cNvPr id="159" name="文本框 158"/>
            <p:cNvSpPr txBox="1"/>
            <p:nvPr/>
          </p:nvSpPr>
          <p:spPr>
            <a:xfrm>
              <a:off x="9111" y="8699"/>
              <a:ext cx="979" cy="2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Cleaned MEl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7449185" y="5617845"/>
            <a:ext cx="621030" cy="471805"/>
            <a:chOff x="9111" y="8699"/>
            <a:chExt cx="978" cy="743"/>
          </a:xfrm>
        </p:grpSpPr>
        <p:pic>
          <p:nvPicPr>
            <p:cNvPr id="162" name="图片 161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9345" y="8978"/>
              <a:ext cx="511" cy="465"/>
            </a:xfrm>
            <a:prstGeom prst="rect">
              <a:avLst/>
            </a:prstGeom>
          </p:spPr>
        </p:pic>
        <p:sp>
          <p:nvSpPr>
            <p:cNvPr id="163" name="文本框 162"/>
            <p:cNvSpPr txBox="1"/>
            <p:nvPr/>
          </p:nvSpPr>
          <p:spPr>
            <a:xfrm>
              <a:off x="9111" y="8699"/>
              <a:ext cx="979" cy="25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Perturbed MEl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64" name="圆角矩形 163"/>
          <p:cNvSpPr/>
          <p:nvPr/>
        </p:nvSpPr>
        <p:spPr>
          <a:xfrm flipH="1">
            <a:off x="5965190" y="6427470"/>
            <a:ext cx="1884045" cy="213995"/>
          </a:xfrm>
          <a:prstGeom prst="roundRect">
            <a:avLst>
              <a:gd name="adj" fmla="val 1883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clean-perturbed Mel Consistency Loss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4264660" y="5839460"/>
            <a:ext cx="728980" cy="513080"/>
            <a:chOff x="14199" y="8699"/>
            <a:chExt cx="1148" cy="80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4239" y="8875"/>
              <a:ext cx="1069" cy="633"/>
              <a:chOff x="13822" y="8918"/>
              <a:chExt cx="1069" cy="633"/>
            </a:xfrm>
          </p:grpSpPr>
          <p:grpSp>
            <p:nvGrpSpPr>
              <p:cNvPr id="170" name="组合 169"/>
              <p:cNvGrpSpPr/>
              <p:nvPr/>
            </p:nvGrpSpPr>
            <p:grpSpPr>
              <a:xfrm>
                <a:off x="13829" y="9225"/>
                <a:ext cx="1063" cy="327"/>
                <a:chOff x="1962" y="2164"/>
                <a:chExt cx="5869" cy="2283"/>
              </a:xfrm>
            </p:grpSpPr>
            <p:pic>
              <p:nvPicPr>
                <p:cNvPr id="171" name="图片 170" descr="d7194677-731e-404a-8019-7c4bca95c540"/>
                <p:cNvPicPr>
                  <a:picLocks noChangeAspect="1"/>
                </p:cNvPicPr>
                <p:nvPr/>
              </p:nvPicPr>
              <p:blipFill>
                <a:blip r:embed="rId4"/>
                <a:srcRect l="22514" t="20306" r="63424" b="59454"/>
                <a:stretch>
                  <a:fillRect/>
                </a:stretch>
              </p:blipFill>
              <p:spPr>
                <a:xfrm>
                  <a:off x="1962" y="2261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72" name="图片 171" descr="d7194677-731e-404a-8019-7c4bca95c540"/>
                <p:cNvPicPr>
                  <a:picLocks noChangeAspect="1"/>
                </p:cNvPicPr>
                <p:nvPr/>
              </p:nvPicPr>
              <p:blipFill>
                <a:blip r:embed="rId4"/>
                <a:srcRect l="22514" t="63693" r="63424" b="16067"/>
                <a:stretch>
                  <a:fillRect/>
                </a:stretch>
              </p:blipFill>
              <p:spPr>
                <a:xfrm>
                  <a:off x="5807" y="2164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73" name="图片 172" descr="d7194677-731e-404a-8019-7c4bca95c540"/>
                <p:cNvPicPr>
                  <a:picLocks noChangeAspect="1"/>
                </p:cNvPicPr>
                <p:nvPr/>
              </p:nvPicPr>
              <p:blipFill>
                <a:blip r:embed="rId4"/>
                <a:srcRect l="22361" t="42194" r="63577" b="37566"/>
                <a:stretch>
                  <a:fillRect/>
                </a:stretch>
              </p:blipFill>
              <p:spPr>
                <a:xfrm>
                  <a:off x="3850" y="2261"/>
                  <a:ext cx="2025" cy="21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4" name="文本框 173"/>
                  <p:cNvSpPr txBox="1"/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4" name="文本框 17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2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5" name="文本框 174"/>
                  <p:cNvSpPr txBox="1"/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5" name="文本框 1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2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2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8" name="文本框 177"/>
            <p:cNvSpPr txBox="1"/>
            <p:nvPr/>
          </p:nvSpPr>
          <p:spPr>
            <a:xfrm>
              <a:off x="14199" y="8699"/>
              <a:ext cx="1149" cy="1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Perturbed lndeces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81" name="组合 180"/>
          <p:cNvGrpSpPr/>
          <p:nvPr/>
        </p:nvGrpSpPr>
        <p:grpSpPr>
          <a:xfrm>
            <a:off x="5259070" y="5892800"/>
            <a:ext cx="728980" cy="513080"/>
            <a:chOff x="14199" y="8699"/>
            <a:chExt cx="1148" cy="808"/>
          </a:xfrm>
        </p:grpSpPr>
        <p:grpSp>
          <p:nvGrpSpPr>
            <p:cNvPr id="182" name="组合 181"/>
            <p:cNvGrpSpPr/>
            <p:nvPr/>
          </p:nvGrpSpPr>
          <p:grpSpPr>
            <a:xfrm>
              <a:off x="14239" y="8875"/>
              <a:ext cx="1069" cy="633"/>
              <a:chOff x="13822" y="8918"/>
              <a:chExt cx="1069" cy="633"/>
            </a:xfrm>
          </p:grpSpPr>
          <p:grpSp>
            <p:nvGrpSpPr>
              <p:cNvPr id="183" name="组合 182"/>
              <p:cNvGrpSpPr/>
              <p:nvPr/>
            </p:nvGrpSpPr>
            <p:grpSpPr>
              <a:xfrm>
                <a:off x="13829" y="9225"/>
                <a:ext cx="1063" cy="327"/>
                <a:chOff x="1962" y="2164"/>
                <a:chExt cx="5869" cy="2283"/>
              </a:xfrm>
            </p:grpSpPr>
            <p:pic>
              <p:nvPicPr>
                <p:cNvPr id="184" name="图片 183" descr="d7194677-731e-404a-8019-7c4bca95c540"/>
                <p:cNvPicPr>
                  <a:picLocks noChangeAspect="1"/>
                </p:cNvPicPr>
                <p:nvPr/>
              </p:nvPicPr>
              <p:blipFill>
                <a:blip r:embed="rId4"/>
                <a:srcRect l="22514" t="20306" r="63424" b="59454"/>
                <a:stretch>
                  <a:fillRect/>
                </a:stretch>
              </p:blipFill>
              <p:spPr>
                <a:xfrm>
                  <a:off x="1962" y="2261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85" name="图片 184" descr="d7194677-731e-404a-8019-7c4bca95c540"/>
                <p:cNvPicPr>
                  <a:picLocks noChangeAspect="1"/>
                </p:cNvPicPr>
                <p:nvPr/>
              </p:nvPicPr>
              <p:blipFill>
                <a:blip r:embed="rId4"/>
                <a:srcRect l="22514" t="63693" r="63424" b="16067"/>
                <a:stretch>
                  <a:fillRect/>
                </a:stretch>
              </p:blipFill>
              <p:spPr>
                <a:xfrm>
                  <a:off x="5807" y="2164"/>
                  <a:ext cx="2025" cy="2186"/>
                </a:xfrm>
                <a:prstGeom prst="rect">
                  <a:avLst/>
                </a:prstGeom>
              </p:spPr>
            </p:pic>
            <p:pic>
              <p:nvPicPr>
                <p:cNvPr id="186" name="图片 185" descr="d7194677-731e-404a-8019-7c4bca95c540"/>
                <p:cNvPicPr>
                  <a:picLocks noChangeAspect="1"/>
                </p:cNvPicPr>
                <p:nvPr/>
              </p:nvPicPr>
              <p:blipFill>
                <a:blip r:embed="rId4"/>
                <a:srcRect l="22361" t="42194" r="63577" b="37566"/>
                <a:stretch>
                  <a:fillRect/>
                </a:stretch>
              </p:blipFill>
              <p:spPr>
                <a:xfrm>
                  <a:off x="3850" y="2261"/>
                  <a:ext cx="2025" cy="21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7" name="文本框 186"/>
                  <p:cNvSpPr txBox="1"/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7" name="文本框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22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2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8" name="文本框 187"/>
                  <p:cNvSpPr txBox="1"/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8" name="文本框 1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96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2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9" name="文本框 188"/>
                  <p:cNvSpPr txBox="1"/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0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89" name="文本框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9" y="8918"/>
                    <a:ext cx="342" cy="266"/>
                  </a:xfrm>
                  <a:prstGeom prst="rect">
                    <a:avLst/>
                  </a:prstGeom>
                  <a:blipFill rotWithShape="1">
                    <a:blip r:embed="rId2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0" name="文本框 189"/>
            <p:cNvSpPr txBox="1"/>
            <p:nvPr/>
          </p:nvSpPr>
          <p:spPr>
            <a:xfrm>
              <a:off x="14199" y="8699"/>
              <a:ext cx="1149" cy="18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algn="ctr">
                <a:buClrTx/>
                <a:buSzTx/>
                <a:buNone/>
              </a:pP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Cleaned lndeces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94" name="圆角矩形 193"/>
          <p:cNvSpPr/>
          <p:nvPr/>
        </p:nvSpPr>
        <p:spPr>
          <a:xfrm>
            <a:off x="9338945" y="4753610"/>
            <a:ext cx="1106170" cy="275590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Trainable RVQ Token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708390" y="5058410"/>
            <a:ext cx="452120" cy="528955"/>
            <a:chOff x="13781" y="8468"/>
            <a:chExt cx="951" cy="1027"/>
          </a:xfrm>
        </p:grpSpPr>
        <p:pic>
          <p:nvPicPr>
            <p:cNvPr id="192" name="图片 191" descr="d7194677-731e-404a-8019-7c4bca95c540"/>
            <p:cNvPicPr>
              <a:picLocks noChangeAspect="1"/>
            </p:cNvPicPr>
            <p:nvPr/>
          </p:nvPicPr>
          <p:blipFill>
            <a:blip r:embed="rId4"/>
            <a:srcRect l="21924" t="19179" r="36166" b="15168"/>
            <a:stretch>
              <a:fillRect/>
            </a:stretch>
          </p:blipFill>
          <p:spPr>
            <a:xfrm>
              <a:off x="13962" y="8699"/>
              <a:ext cx="770" cy="79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14004" y="8468"/>
                  <a:ext cx="207" cy="2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1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4" y="8468"/>
                  <a:ext cx="207" cy="265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4244" y="8468"/>
                  <a:ext cx="207" cy="2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1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44" y="8468"/>
                  <a:ext cx="207" cy="265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4500" y="8468"/>
                  <a:ext cx="207" cy="2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1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0" y="8468"/>
                  <a:ext cx="207" cy="265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3781" y="8713"/>
                  <a:ext cx="207" cy="2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1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zh-CN" sz="1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81" y="8713"/>
                  <a:ext cx="207" cy="265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13781" y="8962"/>
                  <a:ext cx="207" cy="2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1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81" y="8962"/>
                  <a:ext cx="207" cy="265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3781" y="9227"/>
                  <a:ext cx="207" cy="2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1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zh-CN" sz="10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81" y="9227"/>
                  <a:ext cx="207" cy="265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图片 8" descr="18_reconstructed_speech_wavefor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4750" y="5751195"/>
            <a:ext cx="177800" cy="457200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9956165" y="5613400"/>
            <a:ext cx="848360" cy="476250"/>
            <a:chOff x="15679" y="8840"/>
            <a:chExt cx="1336" cy="750"/>
          </a:xfrm>
        </p:grpSpPr>
        <p:pic>
          <p:nvPicPr>
            <p:cNvPr id="11" name="图片 10" descr="dfc0eb08-8648-49bc-b9e7-1b32206086d8"/>
            <p:cNvPicPr>
              <a:picLocks noChangeAspect="1"/>
            </p:cNvPicPr>
            <p:nvPr/>
          </p:nvPicPr>
          <p:blipFill>
            <a:blip r:embed="rId9"/>
            <a:srcRect l="32333" t="21704" r="31852" b="17685"/>
            <a:stretch>
              <a:fillRect/>
            </a:stretch>
          </p:blipFill>
          <p:spPr>
            <a:xfrm>
              <a:off x="16244" y="9238"/>
              <a:ext cx="208" cy="353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15679" y="8840"/>
              <a:ext cx="1337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TokenSpeaker Embeding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151110" y="6173470"/>
            <a:ext cx="848995" cy="476885"/>
            <a:chOff x="15679" y="8840"/>
            <a:chExt cx="1337" cy="751"/>
          </a:xfrm>
        </p:grpSpPr>
        <p:pic>
          <p:nvPicPr>
            <p:cNvPr id="31" name="图片 30" descr="dfc0eb08-8648-49bc-b9e7-1b32206086d8"/>
            <p:cNvPicPr>
              <a:picLocks noChangeAspect="1"/>
            </p:cNvPicPr>
            <p:nvPr/>
          </p:nvPicPr>
          <p:blipFill>
            <a:blip r:embed="rId9"/>
            <a:srcRect l="32333" t="21704" r="31852" b="17685"/>
            <a:stretch>
              <a:fillRect/>
            </a:stretch>
          </p:blipFill>
          <p:spPr>
            <a:xfrm>
              <a:off x="16244" y="9238"/>
              <a:ext cx="208" cy="353"/>
            </a:xfrm>
            <a:prstGeom prst="rect">
              <a:avLst/>
            </a:prstGeom>
          </p:spPr>
        </p:pic>
        <p:sp>
          <p:nvSpPr>
            <p:cNvPr id="34" name="文本框 33"/>
            <p:cNvSpPr txBox="1"/>
            <p:nvPr/>
          </p:nvSpPr>
          <p:spPr>
            <a:xfrm>
              <a:off x="15679" y="8840"/>
              <a:ext cx="1337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 Audio Speaker Embeding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37" name="圆角矩形 36"/>
          <p:cNvSpPr/>
          <p:nvPr/>
        </p:nvSpPr>
        <p:spPr>
          <a:xfrm>
            <a:off x="8814435" y="6242050"/>
            <a:ext cx="1106170" cy="275590"/>
          </a:xfrm>
          <a:prstGeom prst="roundRect">
            <a:avLst>
              <a:gd name="adj" fmla="val 6477"/>
            </a:avLst>
          </a:prstGeom>
          <a:solidFill>
            <a:srgbClr val="E6F3FE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Frozen ECAPA-TDMN 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圆角矩形 43"/>
              <p:cNvSpPr/>
              <p:nvPr/>
            </p:nvSpPr>
            <p:spPr>
              <a:xfrm>
                <a:off x="10001885" y="5173980"/>
                <a:ext cx="1106170" cy="275590"/>
              </a:xfrm>
              <a:prstGeom prst="roundRect">
                <a:avLst>
                  <a:gd name="adj" fmla="val 6477"/>
                </a:avLst>
              </a:prstGeom>
              <a:solidFill>
                <a:srgbClr val="E6F3FE"/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Learned Gate </a:t>
                </a:r>
                <a14:m>
                  <m:oMath xmlns:m="http://schemas.openxmlformats.org/officeDocument/2006/math">
                    <m:r>
                      <a:rPr lang="en-US" altLang="zh-CN" sz="8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𝑔</m:t>
                    </m:r>
                  </m:oMath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mc:Choice>
        <mc:Fallback>
          <p:sp>
            <p:nvSpPr>
              <p:cNvPr id="44" name="圆角矩形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885" y="5173980"/>
                <a:ext cx="1106170" cy="275590"/>
              </a:xfrm>
              <a:prstGeom prst="roundRect">
                <a:avLst>
                  <a:gd name="adj" fmla="val 6477"/>
                </a:avLst>
              </a:prstGeom>
              <a:blipFill rotWithShape="1">
                <a:blip r:embed="rId30"/>
                <a:stretch>
                  <a:fillRect l="-574" t="-2304" r="-574" b="-2304"/>
                </a:stretch>
              </a:blipFill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组合 52"/>
          <p:cNvGrpSpPr/>
          <p:nvPr/>
        </p:nvGrpSpPr>
        <p:grpSpPr>
          <a:xfrm>
            <a:off x="11374120" y="4836160"/>
            <a:ext cx="548640" cy="476885"/>
            <a:chOff x="15870" y="8840"/>
            <a:chExt cx="864" cy="751"/>
          </a:xfrm>
        </p:grpSpPr>
        <p:pic>
          <p:nvPicPr>
            <p:cNvPr id="64" name="图片 63" descr="dfc0eb08-8648-49bc-b9e7-1b32206086d8"/>
            <p:cNvPicPr>
              <a:picLocks noChangeAspect="1"/>
            </p:cNvPicPr>
            <p:nvPr/>
          </p:nvPicPr>
          <p:blipFill>
            <a:blip r:embed="rId9"/>
            <a:srcRect l="32333" t="21704" r="31852" b="17685"/>
            <a:stretch>
              <a:fillRect/>
            </a:stretch>
          </p:blipFill>
          <p:spPr>
            <a:xfrm>
              <a:off x="16244" y="9238"/>
              <a:ext cx="208" cy="353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15870" y="8840"/>
              <a:ext cx="864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  Speaker 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Classifier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11285855" y="6004560"/>
            <a:ext cx="566420" cy="608965"/>
            <a:chOff x="17773" y="9456"/>
            <a:chExt cx="892" cy="959"/>
          </a:xfrm>
        </p:grpSpPr>
        <p:pic>
          <p:nvPicPr>
            <p:cNvPr id="89" name="图片 88" descr="60eb5109-f9d3-43b6-ab4a-76e0ec37e330"/>
            <p:cNvPicPr>
              <a:picLocks noChangeAspect="1"/>
            </p:cNvPicPr>
            <p:nvPr/>
          </p:nvPicPr>
          <p:blipFill>
            <a:blip r:embed="rId31"/>
            <a:srcRect l="20704" t="22074" r="20435" b="23407"/>
            <a:stretch>
              <a:fillRect/>
            </a:stretch>
          </p:blipFill>
          <p:spPr>
            <a:xfrm>
              <a:off x="17960" y="9935"/>
              <a:ext cx="519" cy="481"/>
            </a:xfrm>
            <a:prstGeom prst="rect">
              <a:avLst/>
            </a:prstGeom>
          </p:spPr>
        </p:pic>
        <p:sp>
          <p:nvSpPr>
            <p:cNvPr id="93" name="文本框 92"/>
            <p:cNvSpPr txBox="1"/>
            <p:nvPr/>
          </p:nvSpPr>
          <p:spPr>
            <a:xfrm>
              <a:off x="17773" y="9456"/>
              <a:ext cx="892" cy="3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algn="ctr">
                <a:buClrTx/>
                <a:buSzTx/>
                <a:buNone/>
              </a:pPr>
              <a:r>
                <a:rPr lang="en-US" altLang="zh-CN" sz="800" b="1">
                  <a:latin typeface="Times New Roman" panose="02020603050405020304" charset="0"/>
                  <a:cs typeface="Times New Roman" panose="02020603050405020304" charset="0"/>
                </a:rPr>
                <a:t>Predicted Speaker ID</a:t>
              </a:r>
              <a:endParaRPr lang="en-US" altLang="zh-CN" sz="8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cxnSp>
        <p:nvCxnSpPr>
          <p:cNvPr id="117" name="肘形连接符 116"/>
          <p:cNvCxnSpPr>
            <a:stCxn id="119" idx="0"/>
            <a:endCxn id="121" idx="1"/>
          </p:cNvCxnSpPr>
          <p:nvPr/>
        </p:nvCxnSpPr>
        <p:spPr>
          <a:xfrm rot="16200000">
            <a:off x="424180" y="4924425"/>
            <a:ext cx="282575" cy="21653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肘形连接符 119"/>
          <p:cNvCxnSpPr>
            <a:stCxn id="121" idx="3"/>
            <a:endCxn id="128" idx="0"/>
          </p:cNvCxnSpPr>
          <p:nvPr/>
        </p:nvCxnSpPr>
        <p:spPr>
          <a:xfrm flipH="1">
            <a:off x="1657985" y="4891405"/>
            <a:ext cx="121920" cy="361315"/>
          </a:xfrm>
          <a:prstGeom prst="bentConnector4">
            <a:avLst>
              <a:gd name="adj1" fmla="val -134375"/>
              <a:gd name="adj2" fmla="val 6906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2482850" y="5932805"/>
            <a:ext cx="1413510" cy="26670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p>
            <a:pPr algn="ctr"/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SCIT-Speech D</a:t>
            </a:r>
            <a:r>
              <a:rPr lang="en-US" altLang="zh-CN" sz="800" b="1">
                <a:latin typeface="Times New Roman" panose="02020603050405020304" charset="0"/>
                <a:cs typeface="Times New Roman" panose="02020603050405020304" charset="0"/>
              </a:rPr>
              <a:t>iscri</a:t>
            </a:r>
            <a:endParaRPr lang="en-US" altLang="zh-CN" sz="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c1ebeea-71a4-433c-afac-5d7c93ec5479"/>
          <p:cNvPicPr>
            <a:picLocks noChangeAspect="1"/>
          </p:cNvPicPr>
          <p:nvPr/>
        </p:nvPicPr>
        <p:blipFill>
          <a:blip r:embed="rId1"/>
          <a:srcRect l="-73" t="-1421" r="-115" b="9"/>
          <a:stretch>
            <a:fillRect/>
          </a:stretch>
        </p:blipFill>
        <p:spPr>
          <a:xfrm>
            <a:off x="165100" y="322580"/>
            <a:ext cx="11603990" cy="3667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9bf390ca-be59-4b23-80f1-c32c53ed7727"/>
          <p:cNvPicPr>
            <a:picLocks noChangeAspect="1"/>
          </p:cNvPicPr>
          <p:nvPr/>
        </p:nvPicPr>
        <p:blipFill>
          <a:blip r:embed="rId1"/>
          <a:srcRect l="20000" t="13812" r="67583" b="54188"/>
          <a:stretch>
            <a:fillRect/>
          </a:stretch>
        </p:blipFill>
        <p:spPr>
          <a:xfrm>
            <a:off x="2844800" y="1191260"/>
            <a:ext cx="1513840" cy="1950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1e26f853-d7f1-4482-a54f-9c3a2cc5ff44"/>
          <p:cNvPicPr>
            <a:picLocks noChangeAspect="1"/>
          </p:cNvPicPr>
          <p:nvPr/>
        </p:nvPicPr>
        <p:blipFill>
          <a:blip r:embed="rId1"/>
          <a:srcRect l="22839" t="50000" r="62302" b="5938"/>
          <a:stretch>
            <a:fillRect/>
          </a:stretch>
        </p:blipFill>
        <p:spPr>
          <a:xfrm>
            <a:off x="2784475" y="3429000"/>
            <a:ext cx="1811655" cy="1790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odex 图像 2026年9月8日 14_14_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" y="-1438910"/>
            <a:ext cx="1204468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1245870" y="2514600"/>
            <a:ext cx="1782445" cy="701675"/>
            <a:chOff x="1962" y="2164"/>
            <a:chExt cx="5869" cy="2283"/>
          </a:xfrm>
        </p:grpSpPr>
        <p:pic>
          <p:nvPicPr>
            <p:cNvPr id="165" name="图片 164" descr="d7194677-731e-404a-8019-7c4bca95c540"/>
            <p:cNvPicPr>
              <a:picLocks noChangeAspect="1"/>
            </p:cNvPicPr>
            <p:nvPr/>
          </p:nvPicPr>
          <p:blipFill>
            <a:blip r:embed="rId1"/>
            <a:srcRect l="22514" t="20306" r="63424" b="59454"/>
            <a:stretch>
              <a:fillRect/>
            </a:stretch>
          </p:blipFill>
          <p:spPr>
            <a:xfrm>
              <a:off x="1962" y="2261"/>
              <a:ext cx="2025" cy="2186"/>
            </a:xfrm>
            <a:prstGeom prst="rect">
              <a:avLst/>
            </a:prstGeom>
          </p:spPr>
        </p:pic>
        <p:pic>
          <p:nvPicPr>
            <p:cNvPr id="4" name="图片 3" descr="d7194677-731e-404a-8019-7c4bca95c540"/>
            <p:cNvPicPr>
              <a:picLocks noChangeAspect="1"/>
            </p:cNvPicPr>
            <p:nvPr/>
          </p:nvPicPr>
          <p:blipFill>
            <a:blip r:embed="rId1"/>
            <a:srcRect l="22514" t="63693" r="63424" b="16067"/>
            <a:stretch>
              <a:fillRect/>
            </a:stretch>
          </p:blipFill>
          <p:spPr>
            <a:xfrm>
              <a:off x="5807" y="2164"/>
              <a:ext cx="2025" cy="2186"/>
            </a:xfrm>
            <a:prstGeom prst="rect">
              <a:avLst/>
            </a:prstGeom>
          </p:spPr>
        </p:pic>
        <p:pic>
          <p:nvPicPr>
            <p:cNvPr id="5" name="图片 4" descr="d7194677-731e-404a-8019-7c4bca95c540"/>
            <p:cNvPicPr>
              <a:picLocks noChangeAspect="1"/>
            </p:cNvPicPr>
            <p:nvPr/>
          </p:nvPicPr>
          <p:blipFill>
            <a:blip r:embed="rId1"/>
            <a:srcRect l="22361" t="42194" r="63577" b="37566"/>
            <a:stretch>
              <a:fillRect/>
            </a:stretch>
          </p:blipFill>
          <p:spPr>
            <a:xfrm>
              <a:off x="3850" y="2261"/>
              <a:ext cx="2025" cy="2186"/>
            </a:xfrm>
            <a:prstGeom prst="rect">
              <a:avLst/>
            </a:prstGeom>
          </p:spPr>
        </p:pic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1271</Words>
  <Application>WPS 演示</Application>
  <PresentationFormat>宽屏</PresentationFormat>
  <Paragraphs>164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Times New Roman</vt:lpstr>
      <vt:lpstr>Cambria Math</vt:lpstr>
      <vt:lpstr>MS Mincho</vt:lpstr>
      <vt:lpstr>FFont-Family</vt:lpstr>
      <vt:lpstr>微软雅黑</vt:lpstr>
      <vt:lpstr>Arial Unicode MS</vt:lpstr>
      <vt:lpstr>Calibri</vt:lpstr>
      <vt:lpstr>Ms.Luce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BaiXian</cp:lastModifiedBy>
  <cp:revision>163</cp:revision>
  <dcterms:created xsi:type="dcterms:W3CDTF">2019-06-19T02:08:00Z</dcterms:created>
  <dcterms:modified xsi:type="dcterms:W3CDTF">2026-09-09T02:10:30Z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6D8A39712AD84379869E0F4814541E5B_11</vt:lpwstr>
  </property>
</Properties>
</file>